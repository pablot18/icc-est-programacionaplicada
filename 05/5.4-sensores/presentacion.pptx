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bfe1cdad9c4595" /><Relationship Type="http://schemas.openxmlformats.org/officeDocument/2006/relationships/extended-properties" Target="/docProps/app.xml" Id="Rae452aac071e4f40" /><Relationship Type="http://schemas.openxmlformats.org/officeDocument/2006/relationships/officeDocument" Target="/ppt/presentation.xml" Id="R20abcbea9afd41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d79b097ea548d0"/>
  </p:sldMasterIdLst>
  <p:notesMasterIdLst>
    <p:notesMasterId xmlns:r="http://schemas.openxmlformats.org/officeDocument/2006/relationships" r:id="R02cbaea8ba2a4eb0"/>
  </p:notesMasterIdLst>
  <p:sldIdLst>
    <p:sldId xmlns:r="http://schemas.openxmlformats.org/officeDocument/2006/relationships" id="256" r:id="R7244e0d860234f01"/>
    <p:sldId xmlns:r="http://schemas.openxmlformats.org/officeDocument/2006/relationships" id="257" r:id="R6336af0c4ef64597"/>
    <p:sldId xmlns:r="http://schemas.openxmlformats.org/officeDocument/2006/relationships" id="258" r:id="R0f594112c42748b2"/>
    <p:sldId xmlns:r="http://schemas.openxmlformats.org/officeDocument/2006/relationships" id="259" r:id="R790685e1c3e84827"/>
    <p:sldId xmlns:r="http://schemas.openxmlformats.org/officeDocument/2006/relationships" id="260" r:id="R6db20e642987436c"/>
    <p:sldId xmlns:r="http://schemas.openxmlformats.org/officeDocument/2006/relationships" id="261" r:id="Radfa573ae11d4041"/>
    <p:sldId xmlns:r="http://schemas.openxmlformats.org/officeDocument/2006/relationships" id="262" r:id="R63993e365abe454a"/>
    <p:sldId xmlns:r="http://schemas.openxmlformats.org/officeDocument/2006/relationships" id="263" r:id="Rcd7d124c22a24f28"/>
    <p:sldId xmlns:r="http://schemas.openxmlformats.org/officeDocument/2006/relationships" id="264" r:id="Rae72a9a72c0f4d48"/>
    <p:sldId xmlns:r="http://schemas.openxmlformats.org/officeDocument/2006/relationships" id="265" r:id="Rd52b5068571245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a4dcee254c480b" /><Relationship Type="http://schemas.openxmlformats.org/officeDocument/2006/relationships/slideMaster" Target="/ppt/slideMasters/slideMaster1.xml" Id="R7cd79b097ea548d0" /><Relationship Type="http://schemas.openxmlformats.org/officeDocument/2006/relationships/notesMaster" Target="/ppt/notesMasters/notesMaster1.xml" Id="R02cbaea8ba2a4eb0" /><Relationship Type="http://schemas.openxmlformats.org/officeDocument/2006/relationships/presProps" Target="/ppt/presProps.xml" Id="Rb70adfd949384753" /><Relationship Type="http://schemas.openxmlformats.org/officeDocument/2006/relationships/tableStyles" Target="/ppt/tableStyles.xml" Id="Rdd1310659144430a" /><Relationship Type="http://schemas.openxmlformats.org/officeDocument/2006/relationships/slide" Target="/ppt/slides/slide1.xml" Id="R7244e0d860234f01" /><Relationship Type="http://schemas.openxmlformats.org/officeDocument/2006/relationships/slide" Target="/ppt/slides/slide2.xml" Id="R6336af0c4ef64597" /><Relationship Type="http://schemas.openxmlformats.org/officeDocument/2006/relationships/slide" Target="/ppt/slides/slide3.xml" Id="R0f594112c42748b2" /><Relationship Type="http://schemas.openxmlformats.org/officeDocument/2006/relationships/slide" Target="/ppt/slides/slide4.xml" Id="R790685e1c3e84827" /><Relationship Type="http://schemas.openxmlformats.org/officeDocument/2006/relationships/slide" Target="/ppt/slides/slide5.xml" Id="R6db20e642987436c" /><Relationship Type="http://schemas.openxmlformats.org/officeDocument/2006/relationships/slide" Target="/ppt/slides/slide6.xml" Id="Radfa573ae11d4041" /><Relationship Type="http://schemas.openxmlformats.org/officeDocument/2006/relationships/slide" Target="/ppt/slides/slide7.xml" Id="R63993e365abe454a" /><Relationship Type="http://schemas.openxmlformats.org/officeDocument/2006/relationships/slide" Target="/ppt/slides/slide8.xml" Id="Rcd7d124c22a24f28" /><Relationship Type="http://schemas.openxmlformats.org/officeDocument/2006/relationships/slide" Target="/ppt/slides/slide9.xml" Id="Rae72a9a72c0f4d48" /><Relationship Type="http://schemas.openxmlformats.org/officeDocument/2006/relationships/slide" Target="/ppt/slides/slide10.xml" Id="Rd52b5068571245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db08cb7e894a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404fd8de0344ee" /><Relationship Type="http://schemas.openxmlformats.org/officeDocument/2006/relationships/notesMaster" Target="/ppt/notesMasters/notesMaster1.xml" Id="R86626195774a4e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176026a6874f7f" /><Relationship Type="http://schemas.openxmlformats.org/officeDocument/2006/relationships/notesMaster" Target="/ppt/notesMasters/notesMaster1.xml" Id="R58a24e5580fe48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b32ad0d6d84d33" /><Relationship Type="http://schemas.openxmlformats.org/officeDocument/2006/relationships/notesMaster" Target="/ppt/notesMasters/notesMaster1.xml" Id="Rdd7d8637e7ac4c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7d46cbac8e4a89" /><Relationship Type="http://schemas.openxmlformats.org/officeDocument/2006/relationships/notesMaster" Target="/ppt/notesMasters/notesMaster1.xml" Id="R6fbf09e9d02547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6f9ef6b0334f2c" /><Relationship Type="http://schemas.openxmlformats.org/officeDocument/2006/relationships/notesMaster" Target="/ppt/notesMasters/notesMaster1.xml" Id="Rba5f14e7a4914b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722624317b44cf" /><Relationship Type="http://schemas.openxmlformats.org/officeDocument/2006/relationships/notesMaster" Target="/ppt/notesMasters/notesMaster1.xml" Id="R18c6880e0cf94e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53665b2dd84595" /><Relationship Type="http://schemas.openxmlformats.org/officeDocument/2006/relationships/notesMaster" Target="/ppt/notesMasters/notesMaster1.xml" Id="R9535753751ce40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3507febbb24645" /><Relationship Type="http://schemas.openxmlformats.org/officeDocument/2006/relationships/notesMaster" Target="/ppt/notesMasters/notesMaster1.xml" Id="R50b03fa97a5e4b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ed1ba1b03a4957" /><Relationship Type="http://schemas.openxmlformats.org/officeDocument/2006/relationships/notesMaster" Target="/ppt/notesMasters/notesMaster1.xml" Id="R087cb86cdcc141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7d9dd2a9ea45f2" /><Relationship Type="http://schemas.openxmlformats.org/officeDocument/2006/relationships/notesMaster" Target="/ppt/notesMasters/notesMaster1.xml" Id="Rb03d45e5f24e45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5.4. Sensores, muestreo y calibración. Autor: Ing. Pablo Torres, Mgtr.</a:t>
            </a:r>
          </a:p>
          <a:p xmlns:a="http://schemas.openxmlformats.org/drawingml/2006/main">
            <a:r>
              <a:t>Logo original proporcionado por el docente.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aplicación ya recibe cuentas ADC. Para mostrarlas con significado debemos transformar la señal, describir su incertidumbre y distinguir lectura cruda, filtrado y calibración.</a:t>
            </a:r>
          </a:p>
          <a:p xmlns:a="http://schemas.openxmlformats.org/drawingml/2006/main">
            <a:r>
              <a:t>Fuente del desarrollo: material.md, contexto.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analogRead convierte una tensión a un número. En UNO R3, la configuración usual entrega 10 bits: cuentas de 0 a 1023. La resolución no equivale a exactitud. El valor depende de la referencia, ruido, tolerancias y circuito. Una fórmula ideal V = raw × Vref / 1023 aproxima una escala por extremos, pero no sustituye una calibración ni el análisis de cuantización.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 potenciómetro representa una posición relativa. No debe etiquetarse como temperatura. Para un sensor real, usa su curva de conversión y ficha técnica. Si el sensor es digital, su protocolo puede ser I²C, SPI u otro y no corresponde aplicar directamente la fórmula de un ADC.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https://docs.arduino.cc/language-reference/</a:t>
            </a:r>
          </a:p>
          <a:p xmlns:a="http://schemas.openxmlformats.org/drawingml/2006/main">
            <a:r>
              <a:t>https://docs.arduino.cc/hardware/uno-rev3/</a:t>
            </a:r>
          </a:p>
          <a:p xmlns:a="http://schemas.openxmlformats.org/drawingml/2006/main">
            <a:r>
              <a:t>https://fazecast.github.io/jSerialComm/</a:t>
            </a:r>
          </a:p>
          <a:p xmlns:a="http://schemas.openxmlformats.org/drawingml/2006/main">
            <a:r>
              <a:t>https://docs.espressif.com/projects/arduino-esp32/en/latest/api/adc.html</a:t>
            </a:r>
          </a:p>
          <a:p xmlns:a="http://schemas.openxmlformats.org/drawingml/2006/main">
            <a:r>
              <a:t>Correspondencia: material.md, sección 1.1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calibración lineal usa dos pares conocidos para calcular pendiente y desplazamiento. Para un rango normalizado, porcentaje = 100 × (raw - mínimo) / (máximo - mínimo). Debe cumplirse máximo &gt; mínimo. Registrar solo una fórmula sin documentar cómo se obtuvieron los extremos no permite reproducir la calibración.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recortes automáticamente todos los valores fuera de rango sin avisar. Un valor bajo mínimo puede indicar una condición fuera de la calibración o un fallo de conexión. Conserva raw y estado de calidad. Para presentar un indicador de 0 a 100 puedes limitar la visualización, pero conserva el dato original para diagnóstico.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https://docs.arduino.cc/language-reference/</a:t>
            </a:r>
          </a:p>
          <a:p xmlns:a="http://schemas.openxmlformats.org/drawingml/2006/main">
            <a:r>
              <a:t>https://docs.arduino.cc/hardware/uno-rev3/</a:t>
            </a:r>
          </a:p>
          <a:p xmlns:a="http://schemas.openxmlformats.org/drawingml/2006/main">
            <a:r>
              <a:t>https://fazecast.github.io/jSerialComm/</a:t>
            </a:r>
          </a:p>
          <a:p xmlns:a="http://schemas.openxmlformats.org/drawingml/2006/main">
            <a:r>
              <a:t>https://docs.espressif.com/projects/arduino-esp32/en/latest/api/adc.html</a:t>
            </a:r>
          </a:p>
          <a:p xmlns:a="http://schemas.openxmlformats.org/drawingml/2006/main">
            <a:r>
              <a:t>Correspondencia: material.md, sección 1.2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media móvil reduce variaciones rápidas a costa de retrasar cambios. Con una ventana de N muestras, mantiene las últimas N y calcula su promedio. El filtro no recupera información perdida, no elimina cualquier ruido y no sustituye una frecuencia de muestreo adecuada.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ejemplo usa una ventana de tres y calcula sobre las muestras disponibles durante el arranque. Otra política sería no emitir hasta llenar la ventana; ambas deben documentarse. Una muestra inválida no se añade. Mantén separado el dato crudo del filtrado para poder revisar cómo cambió la señal.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https://docs.arduino.cc/language-reference/</a:t>
            </a:r>
          </a:p>
          <a:p xmlns:a="http://schemas.openxmlformats.org/drawingml/2006/main">
            <a:r>
              <a:t>https://docs.arduino.cc/hardware/uno-rev3/</a:t>
            </a:r>
          </a:p>
          <a:p xmlns:a="http://schemas.openxmlformats.org/drawingml/2006/main">
            <a:r>
              <a:t>https://fazecast.github.io/jSerialComm/</a:t>
            </a:r>
          </a:p>
          <a:p xmlns:a="http://schemas.openxmlformats.org/drawingml/2006/main">
            <a:r>
              <a:t>https://docs.espressif.com/projects/arduino-esp32/en/latest/api/adc.html</a:t>
            </a:r>
          </a:p>
          <a:p xmlns:a="http://schemas.openxmlformats.org/drawingml/2006/main">
            <a:r>
              <a:t>Correspondencia: material.md, sección 1.3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timestamp del PC indica recepción, mientras el del microcontrolador indica adquisición según su reloj. No son intercambiables. Una secuencia permite detectar faltantes y reinicios, pero el contador de 32 bits puede desbordarse. La aplicación debe decidir si un retroceso significa reinicio, desbordamiento o dato fuera de orden.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ESP32 ofrece variantes con ADC, conectividad y pines diferentes. Muchos modelos trabajan con lógica de 3.3 V y no toleran 5 V en entradas. No conectes sin adaptar el montaje de UNO R3. Selecciona un modelo exacto, revisa atenuación, resolución y calibración del ADC, y evita pines reservados. La variante se documenta al final como extensión, no como sustitución automática.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https://docs.arduino.cc/language-reference/</a:t>
            </a:r>
          </a:p>
          <a:p xmlns:a="http://schemas.openxmlformats.org/drawingml/2006/main">
            <a:r>
              <a:t>https://docs.arduino.cc/hardware/uno-rev3/</a:t>
            </a:r>
          </a:p>
          <a:p xmlns:a="http://schemas.openxmlformats.org/drawingml/2006/main">
            <a:r>
              <a:t>https://fazecast.github.io/jSerialComm/</a:t>
            </a:r>
          </a:p>
          <a:p xmlns:a="http://schemas.openxmlformats.org/drawingml/2006/main">
            <a:r>
              <a:t>https://docs.espressif.com/projects/arduino-esp32/en/latest/api/adc.html</a:t>
            </a:r>
          </a:p>
          <a:p xmlns:a="http://schemas.openxmlformats.org/drawingml/2006/main">
            <a:r>
              <a:t>Correspondencia: material.md, sección 1.4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completo:</a:t>
            </a:r>
          </a:p>
          <a:p xmlns:a="http://schemas.openxmlformats.org/drawingml/2006/main">
            <a:r>
              <a:t>package edu.ups.pap.u05;</a:t>
            </a:r>
          </a:p>
          <a:p xmlns:a="http://schemas.openxmlformats.org/drawingml/2006/main">
            <a:r>
              <a:t>import java.util.*;</a:t>
            </a:r>
          </a:p>
          <a:p xmlns:a="http://schemas.openxmlformats.org/drawingml/2006/main">
            <a:r>
              <a:t>public class SensoresDemo {</a:t>
            </a:r>
          </a:p>
          <a:p xmlns:a="http://schemas.openxmlformats.org/drawingml/2006/main">
            <a:r>
              <a:t>    static final class MediaMovil {</a:t>
            </a:r>
          </a:p>
          <a:p xmlns:a="http://schemas.openxmlformats.org/drawingml/2006/main">
            <a:r>
              <a:t>        private final int ventana;</a:t>
            </a:r>
          </a:p>
          <a:p xmlns:a="http://schemas.openxmlformats.org/drawingml/2006/main">
            <a:r>
              <a:t>        private final Deque&lt;Double&gt; valores = new ArrayDeque&lt;&gt;();</a:t>
            </a:r>
          </a:p>
          <a:p xmlns:a="http://schemas.openxmlformats.org/drawingml/2006/main">
            <a:r>
              <a:t>        private double suma;</a:t>
            </a:r>
          </a:p>
          <a:p xmlns:a="http://schemas.openxmlformats.org/drawingml/2006/main">
            <a:r>
              <a:t>        MediaMovil(int ventana) {</a:t>
            </a:r>
          </a:p>
          <a:p xmlns:a="http://schemas.openxmlformats.org/drawingml/2006/main">
            <a:r>
              <a:t>            if(ventana&lt;=0)throw new IllegalArgumentException("Ventana inválida");</a:t>
            </a:r>
          </a:p>
          <a:p xmlns:a="http://schemas.openxmlformats.org/drawingml/2006/main">
            <a:r>
              <a:t>            this.ventana=ventana;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double agregar(double valor) {</a:t>
            </a:r>
          </a:p>
          <a:p xmlns:a="http://schemas.openxmlformats.org/drawingml/2006/main">
            <a:r>
              <a:t>            if(!Double.isFinite(valor))throw new IllegalArgumentException("Valor no finito");</a:t>
            </a:r>
          </a:p>
          <a:p xmlns:a="http://schemas.openxmlformats.org/drawingml/2006/main">
            <a:r>
              <a:t>            valores.addLast(valor);suma+=valor;</a:t>
            </a:r>
          </a:p>
          <a:p xmlns:a="http://schemas.openxmlformats.org/drawingml/2006/main">
            <a:r>
              <a:t>            if(valores.size()&gt;ventana)suma-=valores.removeFirst();</a:t>
            </a:r>
          </a:p>
          <a:p xmlns:a="http://schemas.openxmlformats.org/drawingml/2006/main">
            <a:r>
              <a:t>            return suma/valores.size();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static double calibrar(int raw,int minimo,int maximo) {</a:t>
            </a:r>
          </a:p>
          <a:p xmlns:a="http://schemas.openxmlformats.org/drawingml/2006/main">
            <a:r>
              <a:t>        if(maximo&lt;=minimo)throw new IllegalArgumentException("Extremos inválidos");</a:t>
            </a:r>
          </a:p>
          <a:p xmlns:a="http://schemas.openxmlformats.org/drawingml/2006/main">
            <a:r>
              <a:t>        return 100.0*(raw-minimo)/(maximo-minimo);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public static void main(String[] args) {</a:t>
            </a:r>
          </a:p>
          <a:p xmlns:a="http://schemas.openxmlformats.org/drawingml/2006/main">
            <a:r>
              <a:t>        MediaMovil filtro=new MediaMovil(3);</a:t>
            </a:r>
          </a:p>
          <a:p xmlns:a="http://schemas.openxmlformats.org/drawingml/2006/main">
            <a:r>
              <a:t>        for(int raw:new int[]{100,300,500,700}) {</a:t>
            </a:r>
          </a:p>
          <a:p xmlns:a="http://schemas.openxmlformats.org/drawingml/2006/main">
            <a:r>
              <a:t>            double pct=calibrar(raw,100,900);</a:t>
            </a:r>
          </a:p>
          <a:p xmlns:a="http://schemas.openxmlformats.org/drawingml/2006/main">
            <a:r>
              <a:t>            System.out.printf(Locale.ROOT,"raw=%d pct=%.1f media=%.1f%n",raw,pct,filtro.agregar(pct));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Salida:</a:t>
            </a:r>
          </a:p>
          <a:p xmlns:a="http://schemas.openxmlformats.org/drawingml/2006/main">
            <a:r>
              <a:t>raw=100 pct=0.0 media=0.0</a:t>
            </a:r>
          </a:p>
          <a:p xmlns:a="http://schemas.openxmlformats.org/drawingml/2006/main">
            <a:r>
              <a:t>raw=300 pct=25.0 media=12.5</a:t>
            </a:r>
          </a:p>
          <a:p xmlns:a="http://schemas.openxmlformats.org/drawingml/2006/main">
            <a:r>
              <a:t>raw=500 pct=50.0 media=25.0</a:t>
            </a:r>
          </a:p>
          <a:p xmlns:a="http://schemas.openxmlformats.org/drawingml/2006/main">
            <a:r>
              <a:t>raw=700 pct=75.0 media=50.0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Salida esperada:</a:t>
            </a:r>
          </a:p>
          <a:p xmlns:a="http://schemas.openxmlformats.org/drawingml/2006/main">
            <a:r>
              <a:t>raw=100 pct=0.0 media=0.0</a:t>
            </a:r>
          </a:p>
          <a:p xmlns:a="http://schemas.openxmlformats.org/drawingml/2006/main">
            <a:r>
              <a:t>raw=300 pct=25.0 media=12.5</a:t>
            </a:r>
          </a:p>
          <a:p xmlns:a="http://schemas.openxmlformats.org/drawingml/2006/main">
            <a:r>
              <a:t>raw=500 pct=50.0 media=25.0</a:t>
            </a:r>
          </a:p>
          <a:p xmlns:a="http://schemas.openxmlformats.org/drawingml/2006/main">
            <a:r>
              <a:t>raw=700 pct=75.0 media=50.0</a:t>
            </a:r>
          </a:p>
          <a:p xmlns:a="http://schemas.openxmlformats.org/drawingml/2006/main">
            <a:r>
              <a:t>Casos de aceptación: material.md, sección 3.2.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Resuelve la ampliación en tu proyecto CampusMonitor.</a:t>
            </a:r>
          </a:p>
          <a:p xmlns:a="http://schemas.openxmlformats.org/drawingml/2006/main">
            <a:r>
              <a:t>Evidencia: evidencias/PC5.4.md y enlace al commit final.</a:t>
            </a:r>
          </a:p>
          <a:p xmlns:a="http://schemas.openxmlformats.org/drawingml/2006/main">
            <a:r>
              <a:t>Agrega calibración por sensor a CampusMonitor y conserva raw, valor convertido y marca temporal de recepción.</a:t>
            </a:r>
          </a:p>
          <a:p xmlns:a="http://schemas.openxmlformats.org/drawingml/2006/main">
            <a:r>
              <a:t>Implementa una media móvil de cinco muestras sin compartir una misma ventana entre sensores. Señala datos fuera del rango de calibración.</a:t>
            </a:r>
          </a:p>
          <a:p xmlns:a="http://schemas.openxmlformats.org/drawingml/2006/main">
            <a:r>
              <a:t>Documenta dos puntos medidos y compara señal cruda y filtrada. Si usas ESP32, identifica el modelo y adapta explícitamente límites eléctricos y ADC.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Síntesis del material. Revisa la sección 3 para la PC y la guía general para commits y evidencias.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4a3c7f66ba4a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dec7f4b9ef46e1" /><Relationship Type="http://schemas.openxmlformats.org/officeDocument/2006/relationships/slideLayout" Target="/ppt/slideLayouts/slideLayout1.xml" Id="R2a733a4468c24e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733a4468c24e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e3ac8411548c7" /><Relationship Type="http://schemas.openxmlformats.org/officeDocument/2006/relationships/image" Target="/ppt/media/image.png" Id="R59f2a01079a14c46" /><Relationship Type="http://schemas.openxmlformats.org/officeDocument/2006/relationships/notesSlide" Target="/ppt/notesSlides/notesSlide1.xml" Id="R5e0201ccf65241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120790d4d4c76" /><Relationship Type="http://schemas.openxmlformats.org/officeDocument/2006/relationships/notesSlide" Target="/ppt/notesSlides/notesSlide2.xml" Id="Rafdc424464fe4f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45d308e10459b" /><Relationship Type="http://schemas.openxmlformats.org/officeDocument/2006/relationships/notesSlide" Target="/ppt/notesSlides/notesSlide3.xml" Id="R9c00e174beec4c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27309b6ed4cbc" /><Relationship Type="http://schemas.openxmlformats.org/officeDocument/2006/relationships/notesSlide" Target="/ppt/notesSlides/notesSlide4.xml" Id="R31dd2289630f45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92f91934b47ad" /><Relationship Type="http://schemas.openxmlformats.org/officeDocument/2006/relationships/notesSlide" Target="/ppt/notesSlides/notesSlide5.xml" Id="Ra6e68548001744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79db50ae946ff" /><Relationship Type="http://schemas.openxmlformats.org/officeDocument/2006/relationships/notesSlide" Target="/ppt/notesSlides/notesSlide6.xml" Id="R5907274b809c48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c258e23ae4f07" /><Relationship Type="http://schemas.openxmlformats.org/officeDocument/2006/relationships/notesSlide" Target="/ppt/notesSlides/notesSlide7.xml" Id="R19326e9d25854f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e3a032a6c44ba" /><Relationship Type="http://schemas.openxmlformats.org/officeDocument/2006/relationships/notesSlide" Target="/ppt/notesSlides/notesSlide8.xml" Id="R3a9586e6f96341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dbb68a90b4817" /><Relationship Type="http://schemas.openxmlformats.org/officeDocument/2006/relationships/notesSlide" Target="/ppt/notesSlides/notesSlide9.xml" Id="Rf00b4271dc2c4f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e123578494b02" /><Relationship Type="http://schemas.openxmlformats.org/officeDocument/2006/relationships/notesSlide" Target="/ppt/notesSlides/notesSlide10.xml" Id="Rb2efebb8593946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2a01079a14c46"/>
          <a:stretch xmlns:a="http://schemas.openxmlformats.org/drawingml/2006/main"/>
        </p:blipFill>
        <p:spPr>
          <a:xfrm xmlns:a="http://schemas.openxmlformats.org/drawingml/2006/main">
            <a:off x="609600" y="545418"/>
            <a:ext cx="6858000" cy="112848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58E5A-D3B8-4D98-823E-7CB88745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Programación Aplicada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1E0D4-0046-4457-BC4A-2B86E2BE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Sensores, muestreo y calibración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5A6E9-2E54-4DD0-A65A-BA2C5F78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75599-4EAC-419E-897B-5E0985F8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Unidad 5 · 5.4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38571-739C-4D11-ABC0-88D7F7A8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8355637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1E0F2-389E-4451-A202-E91E9B4A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07B7E-0CDF-42A4-905A-2293E63A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El problema de CampusMonitor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C1F45-4381-4718-A924-6570D017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1ED13-6220-4877-A587-C3801962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5.4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E41A9-A61C-40D6-B0D1-88265328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F4C6F-C236-4EE6-8AEA-478038E9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477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aplicación ya recibe cuentas ADC. Para mostrarlas con significado debemos transformar la señal, describir su incertidumbre y distinguir lectura cruda, filtrado y calibración.</a:t>
            </a:r>
          </a:p>
        </p:txBody>
      </p:sp>
    </p:spTree>
    <p:extLst>
      <p:ext uri="{BB962C8B-B14F-4D97-AF65-F5344CB8AC3E}">
        <p14:creationId xmlns:p14="http://schemas.microsoft.com/office/powerpoint/2010/main" val="6392283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35A57-0EF0-456A-BFA5-79E5C84F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D7DCB-E7F2-4C93-971C-F9EF9838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Señal, resolución y referencia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CACD3-BE16-44EC-BC82-F0CB0BAF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66F42-6F26-409F-BD0F-844126F1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5.4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F9DE0-18EF-4E46-980A-E76B0D24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77046-4176-42EE-AFF0-EBEDFFED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Resolución y exactitud son diferentes.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F8092-4356-4D5C-87FD-3C447B8E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analogRead convierte una tensión a un número. En UNO R3, la configuración usual entrega 10 bits: cuentas de 0 a 1023. La resolución no equivale a exactitud. El valor depende de la referencia, ruido, tolerancias y circuito.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5686B-9FA6-4389-9614-F7AE77A8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9F722-F6AA-456D-A98D-49338E19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Un potenciómetro representa una posición relativa. No debe etiquetarse como temperatura. Para un sensor real, usa su curva de conversión y ficha técnica.</a:t>
            </a:r>
          </a:p>
        </p:txBody>
      </p:sp>
    </p:spTree>
    <p:extLst>
      <p:ext uri="{BB962C8B-B14F-4D97-AF65-F5344CB8AC3E}">
        <p14:creationId xmlns:p14="http://schemas.microsoft.com/office/powerpoint/2010/main" val="17370526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D65F3-11B1-47C2-A6B4-38922572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531A5-A09C-43B0-BE47-2428CF29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Calibración de dos puntos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41390-20B9-4984-90C3-3A418E4D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BAE52-08E7-4811-9074-BFFDFAF3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5.4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26140-EE1C-452E-86CC-78ADE212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AFE4F-9115-42E6-9FB4-418EB746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La calibración necesita referencias medidas.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0D7A0-5425-4C3C-B74B-98DDCFDE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Una calibración lineal usa dos pares conocidos para calcular pendiente y desplazamiento. Para un rango normalizado, porcentaje = 100 × (raw - mínimo) / (máximo - mínimo). Debe cumplirse máximo &gt; mínimo. Registrar solo una fórmula sin documentar cómo se obtuvieron los extremos no permite reproducir la calibración.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FA3CB-BA13-4DB8-95B0-2205B2B0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C1F9C-FC21-4EBE-BDED-6F3E0349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No recortes automáticamente todos los valores fuera de rango sin avisar. Un valor bajo mínimo puede indicar una condición fuera de la calibración o un fallo de conexión.</a:t>
            </a:r>
          </a:p>
        </p:txBody>
      </p:sp>
    </p:spTree>
    <p:extLst>
      <p:ext uri="{BB962C8B-B14F-4D97-AF65-F5344CB8AC3E}">
        <p14:creationId xmlns:p14="http://schemas.microsoft.com/office/powerpoint/2010/main" val="10516441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E22E4-61E1-4AF1-B484-1D19B83E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A8316-6461-4994-9D7A-3B885871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Filtrado y latencia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A461A-C8AD-494C-9015-69AF9938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9222C-251C-4721-ACB3-440AFD80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5.4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61F38-E4DA-4CFE-8F17-46E15BFD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83CFE-CC0D-4D1A-BF5C-95B6FAF3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La media móvil agrega latencia.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DC7E3A-90A6-4199-B668-77E6548D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Una media móvil reduce variaciones rápidas a costa de retrasar cambios. Con una ventana de N muestras, mantiene las últimas N y calcula su promedio. El filtro no recupera información perdida, no elimina cualquier ruido y no sustituye una frecuencia de muestreo adecuada.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D18D7-77AC-4BBF-8E1A-4D39D22F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C07BB1-1C51-47D4-87AD-04D2A908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El ejemplo usa una ventana de tres y calcula sobre las muestras disponibles durante el arranque. Otra política sería no emitir hasta llenar la ventana; ambas deben documentarse.</a:t>
            </a:r>
          </a:p>
        </p:txBody>
      </p:sp>
    </p:spTree>
    <p:extLst>
      <p:ext uri="{BB962C8B-B14F-4D97-AF65-F5344CB8AC3E}">
        <p14:creationId xmlns:p14="http://schemas.microsoft.com/office/powerpoint/2010/main" val="11749284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7CE75-D49E-4F6B-BCCC-6F75E297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31221-940F-4D66-A87A-56E354B0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Tiempo, secuencia y ESP32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5453F-CDE7-4850-8D09-743DBE12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BD63F-9772-4D76-8D30-9C76A893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5.4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B2E51-24C7-415C-B298-A4BE14B5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F57D0-8602-483B-95B0-FB7840FD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Raw y datos convertidos deben conservarse separados.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3B1A1-9690-4777-A42D-D008E344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timestamp del PC indica recepción, mientras el del microcontrolador indica adquisición según su reloj. No son intercambiables. Una secuencia permite detectar faltantes y reinicios, pero el contador de 32 bits puede desbordarse. La aplicación debe decidir si un retroceso significa reinicio, desbordamiento o dato fuera de orden.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5A86A-3BCA-4983-BA20-5949C549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653BC-6539-411D-A8C4-1CDD392E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ESP32 ofrece variantes con ADC, conectividad y pines diferentes. Muchos modelos trabajan con lógica de 3.3 V y no toleran 5 V en entradas.</a:t>
            </a:r>
          </a:p>
        </p:txBody>
      </p:sp>
    </p:spTree>
    <p:extLst>
      <p:ext uri="{BB962C8B-B14F-4D97-AF65-F5344CB8AC3E}">
        <p14:creationId xmlns:p14="http://schemas.microsoft.com/office/powerpoint/2010/main" val="8011549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22BA6-CD2F-48B2-8DB5-5319E0BD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729BF-8A30-4794-83F0-7CB6B4A6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resuelta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0456D-3D56-4EEF-84C4-5249CD1A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E5F7A-E2D7-4DC9-B999-A11FFE2F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5.4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4BDFC-331B-4BFB-BFC9-5E085965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83CE3-2275-4F1F-9DA8-70C1791F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90675"/>
            <a:ext cx="10953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E351B-4FF0-4CCB-84D3-69FC11F1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43075"/>
            <a:ext cx="10477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static double calibrar(int raw,int minimo,int maximo) {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if(maximo&lt;=minimo)throw new IllegalArgumentException("Extremos inválidos");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return 100.0*(raw-minimo)/(maximo-minimo);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}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public static void main(String[] args) {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MediaMovil filtro=new MediaMovil(3);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for(int raw:new int[]{100,300,500,700}) {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double pct=calibrar(raw,100,900);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System.out.printf(Locale.ROOT,"raw=%d pct=%.1f media=%.1f%n",raw,pct,filtro.agregar(pct));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}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}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4B9B6-0EF0-4672-9FB5-ED0BB7FF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Fragmento de SensoresDemo.java. Código completo y ejecución en material.md.</a:t>
            </a:r>
          </a:p>
        </p:txBody>
      </p:sp>
    </p:spTree>
    <p:extLst>
      <p:ext uri="{BB962C8B-B14F-4D97-AF65-F5344CB8AC3E}">
        <p14:creationId xmlns:p14="http://schemas.microsoft.com/office/powerpoint/2010/main" val="21184847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D5F4B-E2F0-4E10-BD77-EAC8A4ED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370B9-68CD-4CD9-BF8A-4DA59437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 de la 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2EF11-B479-4ADE-844F-816C307F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22A94-0C9C-42F6-93F6-102F040A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5.4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306B6-76B0-43DC-BD8D-BB9DA0C3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629400"/>
              </a:tblGrid>
              <a:tr h="7858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Caso</a:t>
                      </a:r>
                    </a:p>
                  </a:txBody>
                  <a:tcPr marL="152400" marR="152400" marT="133350" marB="114300" anchor="ctr">
                    <a:solidFill>
                      <a:srgbClr val="0037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Comportamiento requerido</a:t>
                      </a:r>
                    </a:p>
                  </a:txBody>
                  <a:tcPr marL="152400" marR="152400" marT="133350" marB="114300" anchor="ctr">
                    <a:solidFill>
                      <a:srgbClr val="003772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raw igual al mínimo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0 %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máximo igual al mínimo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Configuración rechazada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Cambio brusco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Filtro suaviza con latencia observable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9CB3D-51CD-41E7-8400-255ECDC8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Salida de la demostración: raw=100 pct=0.0 media=0.0 · raw=300 pct=25.0 media=12.5 · raw=500 pct=50.0 media=25.0 · raw=700 pct=75.0 media=50.0</a:t>
            </a:r>
          </a:p>
        </p:txBody>
      </p:sp>
    </p:spTree>
    <p:extLst>
      <p:ext uri="{BB962C8B-B14F-4D97-AF65-F5344CB8AC3E}">
        <p14:creationId xmlns:p14="http://schemas.microsoft.com/office/powerpoint/2010/main" val="17983857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B559B-FB13-490D-A352-A0F62302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F0A95-680F-493E-8AF3-87440DA9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PC5.4 · Ampliación del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3E9E4-1E94-4197-88CE-3F5C73D9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C7011-4854-4FAE-88B1-C7E0B65D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5.4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82CA8-FF27-4404-951F-D9F30D8B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7735B-9848-40EB-AF85-56C2A2AF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802E1-7207-4F57-87F6-C34F7B43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0153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Agrega calibración por sensor a CampusMonitor y conserva raw, valor convertido y marca temporal de recepción.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2FFBD-4938-4C70-BF14-150EE5D4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3AD08-058F-427D-A6CE-D2518ED7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24175"/>
            <a:ext cx="10153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Implementa una media móvil de cinco muestras sin compartir una misma ventana entre sensores. Señala datos fuera del rango de calibración.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9708F-6A15-456D-8ECB-535A13BD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C4CD3-F148-400C-8C5F-726A4C52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86250"/>
            <a:ext cx="10153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Documenta dos puntos medidos y compara señal cruda y filtrada. Si usas ESP32, identifica el modelo y adapta explícitamente límites eléctricos y ADC.</a:t>
            </a:r>
          </a:p>
        </p:txBody>
      </p:sp>
    </p:spTree>
    <p:extLst>
      <p:ext uri="{BB962C8B-B14F-4D97-AF65-F5344CB8AC3E}">
        <p14:creationId xmlns:p14="http://schemas.microsoft.com/office/powerpoint/2010/main" val="2644093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607DA-11F3-4258-8B0D-9362D282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0C4B7-9F18-4E3C-AB31-2A1F8C9E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E0460-3B6A-41A4-9EE7-37E01C29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2F4F3-9B9B-4ED6-A29E-691F17DA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5.4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F3EF2-BA6F-41A3-8C78-363A1AA3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3CFC75-E5F7-4F75-8792-664C0FFF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Resolución y exactitud son diferentes.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E8611-10B7-4C40-8522-46944815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calibración necesita referencias medidas.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CCC72-04A2-4E39-B6B2-9485A146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La media móvil agrega latencia.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203E9-5EEB-43C7-A917-1DAC711C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Raw y datos convertidos deben conservarse separados.</a:t>
            </a:r>
          </a:p>
        </p:txBody>
      </p:sp>
    </p:spTree>
    <p:extLst>
      <p:ext uri="{BB962C8B-B14F-4D97-AF65-F5344CB8AC3E}">
        <p14:creationId xmlns:p14="http://schemas.microsoft.com/office/powerpoint/2010/main" val="15774339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2026-09-10T23:07:44.4710000Z</dcterms:created>
  <dcterms:modified xsi:type="dcterms:W3CDTF">2026-09-10T23:07:44.4710000Z</dcterms:modified>
</coreProperties>
</file>