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29ff8c990a74777" /><Relationship Type="http://schemas.openxmlformats.org/officeDocument/2006/relationships/extended-properties" Target="/docProps/app.xml" Id="R4d0e42b0366d4803" /><Relationship Type="http://schemas.openxmlformats.org/officeDocument/2006/relationships/officeDocument" Target="/ppt/presentation.xml" Id="R52a13dfb99394929" /></Relationships>
</file>

<file path=ppt/presentation.xml><?xml version="1.0" encoding="utf-8"?>
<p:presentation xmlns:p="http://schemas.openxmlformats.org/presentationml/2006/main">
  <p:sldMasterIdLst>
    <p:sldMasterId xmlns:r="http://schemas.openxmlformats.org/officeDocument/2006/relationships" id="2147483648" r:id="Rd881f0c2278a43e8"/>
  </p:sldMasterIdLst>
  <p:notesMasterIdLst>
    <p:notesMasterId xmlns:r="http://schemas.openxmlformats.org/officeDocument/2006/relationships" r:id="R39b37bab40824812"/>
  </p:notesMasterIdLst>
  <p:sldIdLst>
    <p:sldId xmlns:r="http://schemas.openxmlformats.org/officeDocument/2006/relationships" id="256" r:id="R56961a89ba1d4ea7"/>
    <p:sldId xmlns:r="http://schemas.openxmlformats.org/officeDocument/2006/relationships" id="257" r:id="R98022f361ff5410e"/>
    <p:sldId xmlns:r="http://schemas.openxmlformats.org/officeDocument/2006/relationships" id="258" r:id="R8eb7fc3b54fc43c1"/>
    <p:sldId xmlns:r="http://schemas.openxmlformats.org/officeDocument/2006/relationships" id="259" r:id="R69e60f0263c4489c"/>
    <p:sldId xmlns:r="http://schemas.openxmlformats.org/officeDocument/2006/relationships" id="260" r:id="R1bcb6842289f4d34"/>
    <p:sldId xmlns:r="http://schemas.openxmlformats.org/officeDocument/2006/relationships" id="261" r:id="R165f188c14904216"/>
    <p:sldId xmlns:r="http://schemas.openxmlformats.org/officeDocument/2006/relationships" id="262" r:id="R43fff7df9ff14491"/>
    <p:sldId xmlns:r="http://schemas.openxmlformats.org/officeDocument/2006/relationships" id="263" r:id="Rfec38a0fa3424230"/>
    <p:sldId xmlns:r="http://schemas.openxmlformats.org/officeDocument/2006/relationships" id="264" r:id="R54a83a6a2dce4aba"/>
    <p:sldId xmlns:r="http://schemas.openxmlformats.org/officeDocument/2006/relationships" id="265" r:id="R570b71a9fd304c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5b7fc5c5e14212" /><Relationship Type="http://schemas.openxmlformats.org/officeDocument/2006/relationships/slideMaster" Target="/ppt/slideMasters/slideMaster1.xml" Id="Rd881f0c2278a43e8" /><Relationship Type="http://schemas.openxmlformats.org/officeDocument/2006/relationships/notesMaster" Target="/ppt/notesMasters/notesMaster1.xml" Id="R39b37bab40824812" /><Relationship Type="http://schemas.openxmlformats.org/officeDocument/2006/relationships/presProps" Target="/ppt/presProps.xml" Id="Rca4cfe18b3294e28" /><Relationship Type="http://schemas.openxmlformats.org/officeDocument/2006/relationships/tableStyles" Target="/ppt/tableStyles.xml" Id="R47e449cd5de54ac4" /><Relationship Type="http://schemas.openxmlformats.org/officeDocument/2006/relationships/slide" Target="/ppt/slides/slide1.xml" Id="R56961a89ba1d4ea7" /><Relationship Type="http://schemas.openxmlformats.org/officeDocument/2006/relationships/slide" Target="/ppt/slides/slide2.xml" Id="R98022f361ff5410e" /><Relationship Type="http://schemas.openxmlformats.org/officeDocument/2006/relationships/slide" Target="/ppt/slides/slide3.xml" Id="R8eb7fc3b54fc43c1" /><Relationship Type="http://schemas.openxmlformats.org/officeDocument/2006/relationships/slide" Target="/ppt/slides/slide4.xml" Id="R69e60f0263c4489c" /><Relationship Type="http://schemas.openxmlformats.org/officeDocument/2006/relationships/slide" Target="/ppt/slides/slide5.xml" Id="R1bcb6842289f4d34" /><Relationship Type="http://schemas.openxmlformats.org/officeDocument/2006/relationships/slide" Target="/ppt/slides/slide6.xml" Id="R165f188c14904216" /><Relationship Type="http://schemas.openxmlformats.org/officeDocument/2006/relationships/slide" Target="/ppt/slides/slide7.xml" Id="R43fff7df9ff14491" /><Relationship Type="http://schemas.openxmlformats.org/officeDocument/2006/relationships/slide" Target="/ppt/slides/slide8.xml" Id="Rfec38a0fa3424230" /><Relationship Type="http://schemas.openxmlformats.org/officeDocument/2006/relationships/slide" Target="/ppt/slides/slide9.xml" Id="R54a83a6a2dce4aba" /><Relationship Type="http://schemas.openxmlformats.org/officeDocument/2006/relationships/slide" Target="/ppt/slides/slide10.xml" Id="R570b71a9fd304c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742af485564d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026b2dd7d948e1" /><Relationship Type="http://schemas.openxmlformats.org/officeDocument/2006/relationships/notesMaster" Target="/ppt/notesMasters/notesMaster1.xml" Id="R1084c1a2f22840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60511c69074577" /><Relationship Type="http://schemas.openxmlformats.org/officeDocument/2006/relationships/notesMaster" Target="/ppt/notesMasters/notesMaster1.xml" Id="R79609c8d5f4f4b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9491c082f94ec0" /><Relationship Type="http://schemas.openxmlformats.org/officeDocument/2006/relationships/notesMaster" Target="/ppt/notesMasters/notesMaster1.xml" Id="Rd585f879d3e24a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5f6e22d7b74104" /><Relationship Type="http://schemas.openxmlformats.org/officeDocument/2006/relationships/notesMaster" Target="/ppt/notesMasters/notesMaster1.xml" Id="Raaf1bba22a2148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718aadda0f4bb5" /><Relationship Type="http://schemas.openxmlformats.org/officeDocument/2006/relationships/notesMaster" Target="/ppt/notesMasters/notesMaster1.xml" Id="R755e0e1e3dc347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7ab9f8dd5048dc" /><Relationship Type="http://schemas.openxmlformats.org/officeDocument/2006/relationships/notesMaster" Target="/ppt/notesMasters/notesMaster1.xml" Id="R162fb25e93b5459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f5de9ba21a4d3f" /><Relationship Type="http://schemas.openxmlformats.org/officeDocument/2006/relationships/notesMaster" Target="/ppt/notesMasters/notesMaster1.xml" Id="R4086ca3d7f764191" /></Relationships>
</file>

<file path=ppt/notesSlides/_rels/notesSlide8.xml.rels>&#65279;<?xml version="1.0" encoding="utf-8"?><Relationships xmlns="http://schemas.openxmlformats.org/package/2006/relationships"><Relationship Type="http://schemas.openxmlformats.org/officeDocument/2006/relationships/slide" Target="/ppt/slides/slide8.xml" Id="Rd5aed488179549c2" /><Relationship Type="http://schemas.openxmlformats.org/officeDocument/2006/relationships/notesMaster" Target="/ppt/notesMasters/notesMaster1.xml" Id="R91bb95e4bdac46c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909c86ea2a4292" /><Relationship Type="http://schemas.openxmlformats.org/officeDocument/2006/relationships/notesMaster" Target="/ppt/notesMasters/notesMaster1.xml" Id="R36b96936ddae48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ec171640acc4ab7" /><Relationship Type="http://schemas.openxmlformats.org/officeDocument/2006/relationships/notesMaster" Target="/ppt/notesMasters/notesMaster1.xml" Id="R866bc68b13fd49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5.3. Comunicación serial y delimitación de tramas. Autor: Ing. Pablo Torres, Mgtr.</a:t>
            </a:r>
          </a:p>
          <a:p xmlns:a="http://schemas.openxmlformats.org/drawingml/2006/main">
            <a:r>
              <a:t>Logo original proporcionado por el docente.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conexión serial entrega bytes, no mensajes completos. Una lectura puede contener media trama o varias tramas juntas. CampusMonitor necesita un protocolo con delimitador, longitud máxima, validación y confirmaciones.</a:t>
            </a:r>
          </a:p>
          <a:p xmlns:a="http://schemas.openxmlformats.org/drawingml/2006/main">
            <a:r>
              <a:t>Fuente del desarrollo: material.md, contexto.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puerto identifica una interfaz del sistema, por ejemplo COM3, /dev/ttyACM0 o /dev/cu.usbmodem.... La velocidad y los parámetros deben coincidir en ambos extremos. El protocolo del curso usa 115200 baudios, 8 bits de datos, sin paridad y un bit de parada.</a:t>
            </a:r>
          </a:p>
          <a:p xmlns:a="http://schemas.openxmlformats.org/drawingml/2006/main">
            <a:r>
              <a:t/>
            </a:r>
          </a:p>
          <a:p xmlns:a="http://schemas.openxmlformats.org/drawingml/2006/main">
            <a:r>
              <a:t>USB puede exponer un puerto serial virtual. Abrirlo puede reiniciar determinadas placas como UNO R3; espera una trama válida antes de enviar comandos críticos. El monitor serial del IDE debe estar cerrado para que Java pueda abrir el mismo puerto. La selección de puerto es explícita, sin asumir que el primero de la lista es el dispositivo correcto.</a:t>
            </a:r>
          </a:p>
          <a:p xmlns:a="http://schemas.openxmlformats.org/drawingml/2006/main">
            <a:r>
              <a:t/>
            </a:r>
          </a:p>
          <a:p xmlns:a="http://schemas.openxmlformats.org/drawingml/2006/main">
            <a:r>
              <a:t>Referencias:</a:t>
            </a:r>
          </a:p>
          <a:p xmlns:a="http://schemas.openxmlformats.org/drawingml/2006/main">
            <a:r>
              <a:t>https://docs.arduino.cc/language-reference/</a:t>
            </a:r>
          </a:p>
          <a:p xmlns:a="http://schemas.openxmlformats.org/drawingml/2006/main">
            <a:r>
              <a:t>https://docs.arduino.cc/hardware/uno-rev3/</a:t>
            </a:r>
          </a:p>
          <a:p xmlns:a="http://schemas.openxmlformats.org/drawingml/2006/main">
            <a:r>
              <a:t>https://fazecast.github.io/jSerialComm/</a:t>
            </a:r>
          </a:p>
          <a:p xmlns:a="http://schemas.openxmlformats.org/drawingml/2006/main">
            <a:r>
              <a:t>https://docs.espressif.com/projects/arduino-esp32/en/latest/api/adc.html</a:t>
            </a:r>
          </a:p>
          <a:p xmlns:a="http://schemas.openxmlformats.org/drawingml/2006/main">
            <a:r>
              <a:t>Correspondencia: material.md, sección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Cada trama contiene texto ASCII y termina en LF. El receptor admite CR inmediatamente anterior al LF para interoperar con Serial.println. DATA;secuencia;raw comunica una muestra ADC, SET;LED;0 y SET;LED;1 solicitan una salida, ACK;LED;estado confirma su aplicación y ERR;CMD informa de un comando rechazado.</a:t>
            </a:r>
          </a:p>
          <a:p xmlns:a="http://schemas.openxmlformats.org/drawingml/2006/main">
            <a:r>
              <a:t/>
            </a:r>
          </a:p>
          <a:p xmlns:a="http://schemas.openxmlformats.org/drawingml/2006/main">
            <a:r>
              <a:t>La longitud máxima es 80 caracteres antes del terminador. La secuencia es un entero sin signo de 32 bits del firmware. Los ejemplos Java la almacenan en long. El raw de UNO R3 está entre 0 y 1023. Este protocolo didáctico no incorpora autenticación ni checksum de aplicación y no se usa para control de cargas peligrosas.</a:t>
            </a:r>
          </a:p>
          <a:p xmlns:a="http://schemas.openxmlformats.org/drawingml/2006/main">
            <a:r>
              <a:t/>
            </a:r>
          </a:p>
          <a:p xmlns:a="http://schemas.openxmlformats.org/drawingml/2006/main">
            <a:r>
              <a:t>Referencias:</a:t>
            </a:r>
          </a:p>
          <a:p xmlns:a="http://schemas.openxmlformats.org/drawingml/2006/main">
            <a:r>
              <a:t>https://docs.arduino.cc/language-reference/</a:t>
            </a:r>
          </a:p>
          <a:p xmlns:a="http://schemas.openxmlformats.org/drawingml/2006/main">
            <a:r>
              <a:t>https://docs.arduino.cc/hardware/uno-rev3/</a:t>
            </a:r>
          </a:p>
          <a:p xmlns:a="http://schemas.openxmlformats.org/drawingml/2006/main">
            <a:r>
              <a:t>https://fazecast.github.io/jSerialComm/</a:t>
            </a:r>
          </a:p>
          <a:p xmlns:a="http://schemas.openxmlformats.org/drawingml/2006/main">
            <a:r>
              <a:t>https://docs.espressif.com/projects/arduino-esp32/en/latest/api/adc.html</a:t>
            </a:r>
          </a:p>
          <a:p xmlns:a="http://schemas.openxmlformats.org/drawingml/2006/main">
            <a:r>
              <a:t>Correspondencia: material.md, sección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decodificador agrega bytes a un buffer hasta encontrar LF. Solo entonces valida la línea. Si supera el límite, descarta hasta el siguiente LF y registra el error. No continúa acumulando memoria. Una única lectura del puerto puede producir cero, una o varias tramas.</a:t>
            </a:r>
          </a:p>
          <a:p xmlns:a="http://schemas.openxmlformats.org/drawingml/2006/main">
            <a:r>
              <a:t/>
            </a:r>
          </a:p>
          <a:p xmlns:a="http://schemas.openxmlformats.org/drawingml/2006/main">
            <a:r>
              <a:t>La clase compartida Protocolo.Decodificador implementa esa lógica y se prueba con fragmentos de distinto tamaño. El parser devuelve mensajes tipados y verifica número de campos, rango y valores. Mantiene ACK separado de DATA para no confundir una confirmación de comando con una lectura de sensor.</a:t>
            </a:r>
          </a:p>
          <a:p xmlns:a="http://schemas.openxmlformats.org/drawingml/2006/main">
            <a:r>
              <a:t/>
            </a:r>
          </a:p>
          <a:p xmlns:a="http://schemas.openxmlformats.org/drawingml/2006/main">
            <a:r>
              <a:t>Referencias:</a:t>
            </a:r>
          </a:p>
          <a:p xmlns:a="http://schemas.openxmlformats.org/drawingml/2006/main">
            <a:r>
              <a:t>https://docs.arduino.cc/language-reference/</a:t>
            </a:r>
          </a:p>
          <a:p xmlns:a="http://schemas.openxmlformats.org/drawingml/2006/main">
            <a:r>
              <a:t>https://docs.arduino.cc/hardware/uno-rev3/</a:t>
            </a:r>
          </a:p>
          <a:p xmlns:a="http://schemas.openxmlformats.org/drawingml/2006/main">
            <a:r>
              <a:t>https://fazecast.github.io/jSerialComm/</a:t>
            </a:r>
          </a:p>
          <a:p xmlns:a="http://schemas.openxmlformats.org/drawingml/2006/main">
            <a:r>
              <a:t>https://docs.espressif.com/projects/arduino-esp32/en/latest/api/adc.html</a:t>
            </a:r>
          </a:p>
          <a:p xmlns:a="http://schemas.openxmlformats.org/drawingml/2006/main">
            <a:r>
              <a:t>Correspondencia: material.md, sección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Enviar bytes correctamente no demuestra que el firmware aplicó el comando. El ACK debe corresponder al estado solicitado. Esta versión permite un solo comando LED pendiente. Si se requieren varios comandos simultáneos, añade un identificador de solicitud y una tabla de pendientes con plazos.</a:t>
            </a:r>
          </a:p>
          <a:p xmlns:a="http://schemas.openxmlformats.org/drawingml/2006/main">
            <a:r>
              <a:t/>
            </a:r>
          </a:p>
          <a:p xmlns:a="http://schemas.openxmlformats.org/drawingml/2006/main">
            <a:r>
              <a:t>Ante desconexión, detén el lector, cierra el puerto y actualiza la interfaz. Reintentar indefinidamente puede ocultar fallos. La demostración Java ofrece --simulate con las mismas reglas de delimitación y un modo --port para hardware. La simulación comprueba software y no valida voltajes, cableado ni comportamiento físico.</a:t>
            </a:r>
          </a:p>
          <a:p xmlns:a="http://schemas.openxmlformats.org/drawingml/2006/main">
            <a:r>
              <a:t/>
            </a:r>
          </a:p>
          <a:p xmlns:a="http://schemas.openxmlformats.org/drawingml/2006/main">
            <a:r>
              <a:t>Referencias:</a:t>
            </a:r>
          </a:p>
          <a:p xmlns:a="http://schemas.openxmlformats.org/drawingml/2006/main">
            <a:r>
              <a:t>https://docs.arduino.cc/language-reference/</a:t>
            </a:r>
          </a:p>
          <a:p xmlns:a="http://schemas.openxmlformats.org/drawingml/2006/main">
            <a:r>
              <a:t>https://docs.arduino.cc/hardware/uno-rev3/</a:t>
            </a:r>
          </a:p>
          <a:p xmlns:a="http://schemas.openxmlformats.org/drawingml/2006/main">
            <a:r>
              <a:t>https://fazecast.github.io/jSerialComm/</a:t>
            </a:r>
          </a:p>
          <a:p xmlns:a="http://schemas.openxmlformats.org/drawingml/2006/main">
            <a:r>
              <a:t>https://docs.espressif.com/projects/arduino-esp32/en/latest/api/adc.html</a:t>
            </a:r>
          </a:p>
          <a:p xmlns:a="http://schemas.openxmlformats.org/drawingml/2006/main">
            <a:r>
              <a:t>Correspondencia: material.md, sección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a:t>
            </a:r>
          </a:p>
          <a:p xmlns:a="http://schemas.openxmlformats.org/drawingml/2006/main">
            <a:r>
              <a:t>package edu.ups.pap.u05;</a:t>
            </a:r>
          </a:p>
          <a:p xmlns:a="http://schemas.openxmlformats.org/drawingml/2006/main">
            <a:r>
              <a:t>import edu.ups.pap.comun.Protocolo;</a:t>
            </a:r>
          </a:p>
          <a:p xmlns:a="http://schemas.openxmlformats.org/drawingml/2006/main">
            <a:r>
              <a:t>import com.fazecast.jSerialComm.*;</a:t>
            </a:r>
          </a:p>
          <a:p xmlns:a="http://schemas.openxmlformats.org/drawingml/2006/main">
            <a:r>
              <a:t>import java.io.*;</a:t>
            </a:r>
          </a:p>
          <a:p xmlns:a="http://schemas.openxmlformats.org/drawingml/2006/main">
            <a:r>
              <a:t>import java.nio.charset.StandardCharsets;</a:t>
            </a:r>
          </a:p>
          <a:p xmlns:a="http://schemas.openxmlformats.org/drawingml/2006/main">
            <a:r>
              <a:t>public class SerialDemo {</a:t>
            </a:r>
          </a:p>
          <a:p xmlns:a="http://schemas.openxmlformats.org/drawingml/2006/main">
            <a:r>
              <a:t>    static void recibir(InputStream in, long duracionMs) throws IOException {</a:t>
            </a:r>
          </a:p>
          <a:p xmlns:a="http://schemas.openxmlformats.org/drawingml/2006/main">
            <a:r>
              <a:t>        var decoder = new Protocolo.Decodificador(80);</a:t>
            </a:r>
          </a:p>
          <a:p xmlns:a="http://schemas.openxmlformats.org/drawingml/2006/main">
            <a:r>
              <a:t>        long fin = System.nanoTime() + duracionMs * 1_000_000L;</a:t>
            </a:r>
          </a:p>
          <a:p xmlns:a="http://schemas.openxmlformats.org/drawingml/2006/main">
            <a:r>
              <a:t>        while (System.nanoTime() &lt; fin) {</a:t>
            </a:r>
          </a:p>
          <a:p xmlns:a="http://schemas.openxmlformats.org/drawingml/2006/main">
            <a:r>
              <a:t>            int b;</a:t>
            </a:r>
          </a:p>
          <a:p xmlns:a="http://schemas.openxmlformats.org/drawingml/2006/main">
            <a:r>
              <a:t>            try {b=in.read();} catch(SerialPortTimeoutException e) {continue;}</a:t>
            </a:r>
          </a:p>
          <a:p xmlns:a="http://schemas.openxmlformats.org/drawingml/2006/main">
            <a:r>
              <a:t>            if(b&lt;0) break;</a:t>
            </a:r>
          </a:p>
          <a:p xmlns:a="http://schemas.openxmlformats.org/drawingml/2006/main">
            <a:r>
              <a:t>            try {</a:t>
            </a:r>
          </a:p>
          <a:p xmlns:a="http://schemas.openxmlformats.org/drawingml/2006/main">
            <a:r>
              <a:t>                String linea = decoder.aceptar(b);</a:t>
            </a:r>
          </a:p>
          <a:p xmlns:a="http://schemas.openxmlformats.org/drawingml/2006/main">
            <a:r>
              <a:t>                if(linea!=null) System.out.println(Protocolo.parsear(linea));</a:t>
            </a:r>
          </a:p>
          <a:p xmlns:a="http://schemas.openxmlformats.org/drawingml/2006/main">
            <a:r>
              <a:t>            } catch(IllegalArgumentException e) {System.out.println("Rechazo: "+e.getMessage());}</a:t>
            </a:r>
          </a:p>
          <a:p xmlns:a="http://schemas.openxmlformats.org/drawingml/2006/main">
            <a:r>
              <a:t>        }</a:t>
            </a:r>
          </a:p>
          <a:p xmlns:a="http://schemas.openxmlformats.org/drawingml/2006/main">
            <a:r>
              <a:t>    }</a:t>
            </a:r>
          </a:p>
          <a:p xmlns:a="http://schemas.openxmlformats.org/drawingml/2006/main">
            <a:r>
              <a:t>    public static void main(String[] args) throws Exception {</a:t>
            </a:r>
          </a:p>
          <a:p xmlns:a="http://schemas.openxmlformats.org/drawingml/2006/main">
            <a:r>
              <a:t>        if(args.length==0 || args[0].equals("--simulate")) {</a:t>
            </a:r>
          </a:p>
          <a:p xmlns:a="http://schemas.openxmlformats.org/drawingml/2006/main">
            <a:r>
              <a:t>            try(var in=new ByteArrayInputStream("DATA;1;512\nACK;LED;1\nMAL\n".getBytes(StandardCharsets.US_ASCII))) {</a:t>
            </a:r>
          </a:p>
          <a:p xmlns:a="http://schemas.openxmlformats.org/drawingml/2006/main">
            <a:r>
              <a:t>                recibir(in,1000);</a:t>
            </a:r>
          </a:p>
          <a:p xmlns:a="http://schemas.openxmlformats.org/drawingml/2006/main">
            <a:r>
              <a:t>            }</a:t>
            </a:r>
          </a:p>
          <a:p xmlns:a="http://schemas.openxmlformats.org/drawingml/2006/main">
            <a:r>
              <a:t>            return;</a:t>
            </a:r>
          </a:p>
          <a:p xmlns:a="http://schemas.openxmlformats.org/drawingml/2006/main">
            <a:r>
              <a:t>        }</a:t>
            </a:r>
          </a:p>
          <a:p xmlns:a="http://schemas.openxmlformats.org/drawingml/2006/main">
            <a:r>
              <a:t>        if(args.length!=2 || !args[0].equals("--port")) throw new IllegalArgumentException("Uso: --simulate | --port PUERTO");</a:t>
            </a:r>
          </a:p>
          <a:p xmlns:a="http://schemas.openxmlformats.org/drawingml/2006/main">
            <a:r>
              <a:t>        SerialPort puerto=SerialPort.getCommPort(args[1]);</a:t>
            </a:r>
          </a:p>
          <a:p xmlns:a="http://schemas.openxmlformats.org/drawingml/2006/main">
            <a:r>
              <a:t>        puerto.setComPortParameters(115200,8,SerialPort.ONE_STOP_BIT,SerialPort.NO_PARITY);</a:t>
            </a:r>
          </a:p>
          <a:p xmlns:a="http://schemas.openxmlformats.org/drawingml/2006/main">
            <a:r>
              <a:t>        puerto.setComPortTimeouts(SerialPort.TIMEOUT_READ_SEMI_BLOCKING,300,0);</a:t>
            </a:r>
          </a:p>
          <a:p xmlns:a="http://schemas.openxmlformats.org/drawingml/2006/main">
            <a:r>
              <a:t>        if(!puerto.openPort()) throw new IOException("No se pudo abrir el puerto");</a:t>
            </a:r>
          </a:p>
          <a:p xmlns:a="http://schemas.openxmlformats.org/drawingml/2006/main">
            <a:r>
              <a:t>        try(InputStream in=puerto.getInputStream();OutputStream out=puerto.getOutputStream()) {</a:t>
            </a:r>
          </a:p>
          <a:p xmlns:a="http://schemas.openxmlformats.org/drawingml/2006/main">
            <a:r>
              <a:t>            recibir(in,2200);</a:t>
            </a:r>
          </a:p>
          <a:p xmlns:a="http://schemas.openxmlformats.org/drawingml/2006/main">
            <a:r>
              <a:t>            out.write("SET;LED;1\n".getBytes(StandardCharsets.US_ASCII));out.flush();</a:t>
            </a:r>
          </a:p>
          <a:p xmlns:a="http://schemas.openxmlformats.org/drawingml/2006/main">
            <a:r>
              <a:t>            recibir(in,3000);</a:t>
            </a:r>
          </a:p>
          <a:p xmlns:a="http://schemas.openxmlformats.org/drawingml/2006/main">
            <a:r>
              <a:t>        } finally {puerto.closePort();}</a:t>
            </a:r>
          </a:p>
          <a:p xmlns:a="http://schemas.openxmlformats.org/drawingml/2006/main">
            <a:r>
              <a:t>    }</a:t>
            </a:r>
          </a:p>
          <a:p xmlns:a="http://schemas.openxmlformats.org/drawingml/2006/main">
            <a:r>
              <a:t>}</a:t>
            </a:r>
          </a:p>
          <a:p xmlns:a="http://schemas.openxmlformats.org/drawingml/2006/main">
            <a:r>
              <a:t/>
            </a:r>
          </a:p>
          <a:p xmlns:a="http://schemas.openxmlformats.org/drawingml/2006/main">
            <a:r>
              <a:t/>
            </a:r>
          </a:p>
          <a:p xmlns:a="http://schemas.openxmlformats.org/drawingml/2006/main">
            <a:r>
              <a:t>Salida:</a:t>
            </a:r>
          </a:p>
          <a:p xmlns:a="http://schemas.openxmlformats.org/drawingml/2006/main">
            <a:r>
              <a:t>Simulación: Dato[secuencia=1, raw=512], Ack[encendido=true] y un rechazo de MAL. Hardware: imprime DATA y ACK recibidos durante el plazo.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Salida esperada:</a:t>
            </a:r>
          </a:p>
          <a:p xmlns:a="http://schemas.openxmlformats.org/drawingml/2006/main">
            <a:r>
              <a:t>Simulación: Dato[secuencia=1, raw=512], Ack[encendido=true] y un rechazo de MAL. Hardware: imprime DATA y ACK recibidos durante el plazo.</a:t>
            </a:r>
          </a:p>
          <a:p xmlns:a="http://schemas.openxmlformats.org/drawingml/2006/main">
            <a:r>
              <a:t>Casos de aceptación: material.md, sección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Resuelve la ampliación en tu proyecto CampusMonitor.</a:t>
            </a:r>
          </a:p>
          <a:p xmlns:a="http://schemas.openxmlformats.org/drawingml/2006/main">
            <a:r>
              <a:t>Evidencia: evidencias/PC5.3.md y enlace al commit final.</a:t>
            </a:r>
          </a:p>
          <a:p xmlns:a="http://schemas.openxmlformats.org/drawingml/2006/main">
            <a:r>
              <a:t>Adapta el firmware al protocolo v1 y utiliza el receptor Java de bytes acotados como referencia. Conserva la lógica de muestreo sin delay.</a:t>
            </a:r>
          </a:p>
          <a:p xmlns:a="http://schemas.openxmlformats.org/drawingml/2006/main">
            <a:r>
              <a:t>Integra SET y ACK para el LED en CampusMonitor, con un solo comando pendiente y timeout de confirmación.</a:t>
            </a:r>
          </a:p>
          <a:p xmlns:a="http://schemas.openxmlformats.org/drawingml/2006/main">
            <a:r>
              <a:t>Prueba tramas fragmentadas, concatenadas, demasiado largas e inválidas. Después repite el intercambio con una placa real.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Síntesis del material. Revisa la sección 3 para la PC y la guía general para commits y evidencias.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7c0a8cd2684b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752376985f4b36" /><Relationship Type="http://schemas.openxmlformats.org/officeDocument/2006/relationships/slideLayout" Target="/ppt/slideLayouts/slideLayout1.xml" Id="R40b6ae583d214e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b6ae583d214e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7c34a9071a34223" /><Relationship Type="http://schemas.openxmlformats.org/officeDocument/2006/relationships/image" Target="/ppt/media/image.png" Id="Rbdc2c8b168a344f4" /><Relationship Type="http://schemas.openxmlformats.org/officeDocument/2006/relationships/notesSlide" Target="/ppt/notesSlides/notesSlide1.xml" Id="R972118843acb48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5705deb54b04835" /><Relationship Type="http://schemas.openxmlformats.org/officeDocument/2006/relationships/notesSlide" Target="/ppt/notesSlides/notesSlide2.xml" Id="R8c00807c14fd43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31402dfe31b4c8f" /><Relationship Type="http://schemas.openxmlformats.org/officeDocument/2006/relationships/notesSlide" Target="/ppt/notesSlides/notesSlide3.xml" Id="R50f697298c0748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c092d7f92c04fc1" /><Relationship Type="http://schemas.openxmlformats.org/officeDocument/2006/relationships/notesSlide" Target="/ppt/notesSlides/notesSlide4.xml" Id="Ra8376f49f21949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20fedd09c2a4230" /><Relationship Type="http://schemas.openxmlformats.org/officeDocument/2006/relationships/notesSlide" Target="/ppt/notesSlides/notesSlide5.xml" Id="Ra1e8edb6defc4c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5ea72ded6774a48" /><Relationship Type="http://schemas.openxmlformats.org/officeDocument/2006/relationships/notesSlide" Target="/ppt/notesSlides/notesSlide6.xml" Id="R7703efdbe2614d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686d37134541ac" /><Relationship Type="http://schemas.openxmlformats.org/officeDocument/2006/relationships/notesSlide" Target="/ppt/notesSlides/notesSlide7.xml" Id="R0f4573e2a8fe443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ca1c24cc62b4f66" /><Relationship Type="http://schemas.openxmlformats.org/officeDocument/2006/relationships/notesSlide" Target="/ppt/notesSlides/notesSlide8.xml" Id="Rc52578c0d5d14a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6fe57a5604f49c5" /><Relationship Type="http://schemas.openxmlformats.org/officeDocument/2006/relationships/notesSlide" Target="/ppt/notesSlides/notesSlide9.xml" Id="R1004af44b9b643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cbe79c084834c32" /><Relationship Type="http://schemas.openxmlformats.org/officeDocument/2006/relationships/notesSlide" Target="/ppt/notesSlides/notesSlide10.xml" Id="R4ce73e45037c4ee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dc2c8b168a344f4"/>
          <a:stretch xmlns:a="http://schemas.openxmlformats.org/drawingml/2006/main"/>
        </p:blipFill>
        <p:spPr>
          <a:xfrm xmlns:a="http://schemas.openxmlformats.org/drawingml/2006/main">
            <a:off x="609600" y="545418"/>
            <a:ext cx="6858000" cy="112848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C53193C-24F4-4A8E-978F-BFF1042DF1D7}"/>
              </a:ext>
            </a:extLst>
          </p:cNvPr>
          <p:cNvSpPr>
            <a:spLocks xmlns:a="http://schemas.openxmlformats.org/drawingml/2006/main" noGrp="1"/>
          </p:cNvSpPr>
          <p:nvPr/>
        </p:nvSpPr>
        <p:spPr>
          <a:xfrm xmlns:a="http://schemas.openxmlformats.org/drawingml/2006/main">
            <a:off x="609600" y="22383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003772"/>
                </a:solidFill>
                <a:latin typeface="DejaVu Sans"/>
                <a:ea typeface="DejaVu Sans"/>
                <a:cs typeface="DejaVu Sans"/>
              </a:defRPr>
            </a:pPr>
            <a:r>
              <a:rPr sz="3150" b="1">
                <a:solidFill>
                  <a:srgbClr val="003772"/>
                </a:solidFill>
                <a:latin typeface="DejaVu Sans"/>
                <a:ea typeface="DejaVu Sans"/>
                <a:cs typeface="DejaVu Sans"/>
              </a:rPr>
              <a:t>Programación Aplicada</a:t>
            </a:r>
          </a:p>
        </p:txBody>
      </p:sp>
      <p:sp>
        <p:nvSpPr>
          <p:cNvPr id="3" name="">
            <a:extLst xmlns:a="http://schemas.openxmlformats.org/drawingml/2006/main">
              <a:ext uri="{FF2B5EF4-FFF2-40B4-BE49-F238E27FC236}">
                <a16:creationId xmlns:a16="http://schemas.microsoft.com/office/drawing/2014/main" id="{04AB2F7A-EE58-440A-B441-C9DC22FF104B}"/>
              </a:ext>
            </a:extLst>
          </p:cNvPr>
          <p:cNvSpPr>
            <a:spLocks xmlns:a="http://schemas.openxmlformats.org/drawingml/2006/main" noGrp="1"/>
          </p:cNvSpPr>
          <p:nvPr/>
        </p:nvSpPr>
        <p:spPr>
          <a:xfrm xmlns:a="http://schemas.openxmlformats.org/drawingml/2006/main">
            <a:off x="609600" y="31623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003772"/>
                </a:solidFill>
                <a:latin typeface="DejaVu Sans"/>
                <a:ea typeface="DejaVu Sans"/>
                <a:cs typeface="DejaVu Sans"/>
              </a:defRPr>
            </a:pPr>
            <a:r>
              <a:rPr sz="2775" b="1">
                <a:solidFill>
                  <a:srgbClr val="003772"/>
                </a:solidFill>
                <a:latin typeface="DejaVu Sans"/>
                <a:ea typeface="DejaVu Sans"/>
                <a:cs typeface="DejaVu Sans"/>
              </a:rPr>
              <a:t>Comunicación serial y delimitación de tramas</a:t>
            </a:r>
          </a:p>
        </p:txBody>
      </p:sp>
      <p:sp>
        <p:nvSpPr>
          <p:cNvPr id="4" name="">
            <a:extLst xmlns:a="http://schemas.openxmlformats.org/drawingml/2006/main">
              <a:ext uri="{FF2B5EF4-FFF2-40B4-BE49-F238E27FC236}">
                <a16:creationId xmlns:a16="http://schemas.microsoft.com/office/drawing/2014/main" id="{E9D4EC4D-8321-42A8-B4FE-08DD6889E008}"/>
              </a:ext>
            </a:extLst>
          </p:cNvPr>
          <p:cNvSpPr>
            <a:spLocks xmlns:a="http://schemas.openxmlformats.org/drawingml/2006/main" noGrp="1"/>
          </p:cNvSpPr>
          <p:nvPr/>
        </p:nvSpPr>
        <p:spPr>
          <a:xfrm xmlns:a="http://schemas.openxmlformats.org/drawingml/2006/main">
            <a:off x="609600" y="4705350"/>
            <a:ext cx="1381125"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76C47D0-9192-4B85-8169-78400FCC02DA}"/>
              </a:ext>
            </a:extLst>
          </p:cNvPr>
          <p:cNvSpPr>
            <a:spLocks xmlns:a="http://schemas.openxmlformats.org/drawingml/2006/main" noGrp="1"/>
          </p:cNvSpPr>
          <p:nvPr/>
        </p:nvSpPr>
        <p:spPr>
          <a:xfrm xmlns:a="http://schemas.openxmlformats.org/drawingml/2006/main">
            <a:off x="609600" y="50673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Unidad 5 · 5.3</a:t>
            </a:r>
          </a:p>
        </p:txBody>
      </p:sp>
      <p:sp>
        <p:nvSpPr>
          <p:cNvPr id="6" name="">
            <a:extLst xmlns:a="http://schemas.openxmlformats.org/drawingml/2006/main">
              <a:ext uri="{FF2B5EF4-FFF2-40B4-BE49-F238E27FC236}">
                <a16:creationId xmlns:a16="http://schemas.microsoft.com/office/drawing/2014/main" id="{30FAC6ED-5AAD-4EE8-9375-0D64CBC28198}"/>
              </a:ext>
            </a:extLst>
          </p:cNvPr>
          <p:cNvSpPr>
            <a:spLocks xmlns:a="http://schemas.openxmlformats.org/drawingml/2006/main" noGrp="1"/>
          </p:cNvSpPr>
          <p:nvPr/>
        </p:nvSpPr>
        <p:spPr>
          <a:xfrm xmlns:a="http://schemas.openxmlformats.org/drawingml/2006/main">
            <a:off x="609600" y="5676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20016954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687F178-31FF-4DD8-81E4-7F0471A9D3A1}"/>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333E12-F607-47BF-B5B2-4E07547F5684}"/>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El problema de CampusMonitor</a:t>
            </a:r>
          </a:p>
        </p:txBody>
      </p:sp>
      <p:sp>
        <p:nvSpPr>
          <p:cNvPr id="3" name="">
            <a:extLst xmlns:a="http://schemas.openxmlformats.org/drawingml/2006/main">
              <a:ext uri="{FF2B5EF4-FFF2-40B4-BE49-F238E27FC236}">
                <a16:creationId xmlns:a16="http://schemas.microsoft.com/office/drawing/2014/main" id="{E631D329-7840-46FC-ADB7-0F644E8219B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9DF57D7-9A6E-489A-A86B-69F69FAC6AF5}"/>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5.3</a:t>
            </a:r>
          </a:p>
        </p:txBody>
      </p:sp>
      <p:sp>
        <p:nvSpPr>
          <p:cNvPr id="5" name="">
            <a:extLst xmlns:a="http://schemas.openxmlformats.org/drawingml/2006/main">
              <a:ext uri="{FF2B5EF4-FFF2-40B4-BE49-F238E27FC236}">
                <a16:creationId xmlns:a16="http://schemas.microsoft.com/office/drawing/2014/main" id="{353C83CD-427E-4F13-A25F-0127EB083AAC}"/>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102D8698-1FF0-4262-8E78-08184D849695}"/>
              </a:ext>
            </a:extLst>
          </p:cNvPr>
          <p:cNvSpPr>
            <a:spLocks xmlns:a="http://schemas.openxmlformats.org/drawingml/2006/main" noGrp="1"/>
          </p:cNvSpPr>
          <p:nvPr/>
        </p:nvSpPr>
        <p:spPr>
          <a:xfrm xmlns:a="http://schemas.openxmlformats.org/drawingml/2006/main">
            <a:off x="762000" y="1771650"/>
            <a:ext cx="10477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Una conexión serial entrega bytes, no mensajes completos. Una lectura puede contener media trama o varias tramas juntas. CampusMonitor necesita un protocolo con delimitador, longitud máxima, validación y confirmaciones.</a:t>
            </a:r>
          </a:p>
        </p:txBody>
      </p:sp>
    </p:spTree>
    <p:extLst>
      <p:ext uri="{BB962C8B-B14F-4D97-AF65-F5344CB8AC3E}">
        <p14:creationId xmlns:p14="http://schemas.microsoft.com/office/powerpoint/2010/main" val="3376720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ED6DA69-B54E-41ED-9210-F5A2B59ED9A8}"/>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C62465-DD45-4DAF-ACBB-03DBF411C4DB}"/>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Puerto, velocidad y formato</a:t>
            </a:r>
          </a:p>
        </p:txBody>
      </p:sp>
      <p:sp>
        <p:nvSpPr>
          <p:cNvPr id="3" name="">
            <a:extLst xmlns:a="http://schemas.openxmlformats.org/drawingml/2006/main">
              <a:ext uri="{FF2B5EF4-FFF2-40B4-BE49-F238E27FC236}">
                <a16:creationId xmlns:a16="http://schemas.microsoft.com/office/drawing/2014/main" id="{F6BD15E7-1FED-4CAF-8926-D04ECC9AC70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943DCFA-24BF-4E3D-B0CD-4A467047E666}"/>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5.3</a:t>
            </a:r>
          </a:p>
        </p:txBody>
      </p:sp>
      <p:sp>
        <p:nvSpPr>
          <p:cNvPr id="5" name="">
            <a:extLst xmlns:a="http://schemas.openxmlformats.org/drawingml/2006/main">
              <a:ext uri="{FF2B5EF4-FFF2-40B4-BE49-F238E27FC236}">
                <a16:creationId xmlns:a16="http://schemas.microsoft.com/office/drawing/2014/main" id="{63062A95-0DCA-4C74-9913-5A29D267768F}"/>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748639DE-3ACA-4187-A2F7-23D20205B79F}"/>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El puerto entrega bytes sin fronteras de mensaje.</a:t>
            </a:r>
          </a:p>
        </p:txBody>
      </p:sp>
      <p:sp>
        <p:nvSpPr>
          <p:cNvPr id="7" name="">
            <a:extLst xmlns:a="http://schemas.openxmlformats.org/drawingml/2006/main">
              <a:ext uri="{FF2B5EF4-FFF2-40B4-BE49-F238E27FC236}">
                <a16:creationId xmlns:a16="http://schemas.microsoft.com/office/drawing/2014/main" id="{DC7BC17F-6A7F-4636-962E-7CF0141018F5}"/>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El puerto identifica una interfaz del sistema, por ejemplo COM3, /dev/ttyACM0 o /dev/cu.usbmodem.... La velocidad y los parámetros deben coincidir en ambos extremos. El protocolo del curso usa 115200 baudios, 8 bits de datos, sin paridad y un bit de parada.</a:t>
            </a:r>
          </a:p>
        </p:txBody>
      </p:sp>
      <p:sp>
        <p:nvSpPr>
          <p:cNvPr id="8" name="">
            <a:extLst xmlns:a="http://schemas.openxmlformats.org/drawingml/2006/main">
              <a:ext uri="{FF2B5EF4-FFF2-40B4-BE49-F238E27FC236}">
                <a16:creationId xmlns:a16="http://schemas.microsoft.com/office/drawing/2014/main" id="{63C2621D-2C81-4F43-B62B-BB821C182A2C}"/>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B5B682F-C433-461E-AE5D-B22C5FDFB7DF}"/>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USB puede exponer un puerto serial virtual. Abrirlo puede reiniciar determinadas placas como UNO R3; espera una trama válida antes de enviar comandos críticos.</a:t>
            </a:r>
          </a:p>
        </p:txBody>
      </p:sp>
    </p:spTree>
    <p:extLst>
      <p:ext uri="{BB962C8B-B14F-4D97-AF65-F5344CB8AC3E}">
        <p14:creationId xmlns:p14="http://schemas.microsoft.com/office/powerpoint/2010/main" val="4870425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9D7AB00-616E-491A-AB30-D289FCB37AFE}"/>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E76716-BB4E-4E70-85AB-43E8D130FA08}"/>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Contrato del protocolo v1</a:t>
            </a:r>
          </a:p>
        </p:txBody>
      </p:sp>
      <p:sp>
        <p:nvSpPr>
          <p:cNvPr id="3" name="">
            <a:extLst xmlns:a="http://schemas.openxmlformats.org/drawingml/2006/main">
              <a:ext uri="{FF2B5EF4-FFF2-40B4-BE49-F238E27FC236}">
                <a16:creationId xmlns:a16="http://schemas.microsoft.com/office/drawing/2014/main" id="{99C99FA3-0F17-4F32-A3F4-B5F09980D8F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155E580-FDCA-485E-A8BC-2CFED1D788F0}"/>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5.3</a:t>
            </a:r>
          </a:p>
        </p:txBody>
      </p:sp>
      <p:sp>
        <p:nvSpPr>
          <p:cNvPr id="5" name="">
            <a:extLst xmlns:a="http://schemas.openxmlformats.org/drawingml/2006/main">
              <a:ext uri="{FF2B5EF4-FFF2-40B4-BE49-F238E27FC236}">
                <a16:creationId xmlns:a16="http://schemas.microsoft.com/office/drawing/2014/main" id="{62911372-8CB1-49B1-A050-480E76A22828}"/>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9C055885-9588-41B3-A3C9-C91C5EC8D39A}"/>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LF delimita cada trama.</a:t>
            </a:r>
          </a:p>
        </p:txBody>
      </p:sp>
      <p:sp>
        <p:nvSpPr>
          <p:cNvPr id="7" name="">
            <a:extLst xmlns:a="http://schemas.openxmlformats.org/drawingml/2006/main">
              <a:ext uri="{FF2B5EF4-FFF2-40B4-BE49-F238E27FC236}">
                <a16:creationId xmlns:a16="http://schemas.microsoft.com/office/drawing/2014/main" id="{E5059F30-A901-454F-BDCD-626DD18369E1}"/>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Cada trama contiene texto ASCII y termina en LF. El receptor admite CR inmediatamente anterior al LF para interoperar con Serial.println. DATA;secuencia;raw comunica una muestra ADC, SET;LED;0 y SET;LED;1 solicitan una salida, ACK;LED;estado confirma su aplicación y ERR;CMD informa de un comando rechazado.</a:t>
            </a:r>
          </a:p>
        </p:txBody>
      </p:sp>
      <p:sp>
        <p:nvSpPr>
          <p:cNvPr id="8" name="">
            <a:extLst xmlns:a="http://schemas.openxmlformats.org/drawingml/2006/main">
              <a:ext uri="{FF2B5EF4-FFF2-40B4-BE49-F238E27FC236}">
                <a16:creationId xmlns:a16="http://schemas.microsoft.com/office/drawing/2014/main" id="{8B0351C8-2C8E-4C84-AE96-3BF279E2E5B2}"/>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495BBA4-C41F-4953-B2A9-D9FA34E76F57}"/>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La longitud máxima es 80 caracteres antes del terminador. La secuencia es un entero sin signo de 32 bits del firmware. Los ejemplos Java la almacenan en long.</a:t>
            </a:r>
          </a:p>
        </p:txBody>
      </p:sp>
    </p:spTree>
    <p:extLst>
      <p:ext uri="{BB962C8B-B14F-4D97-AF65-F5344CB8AC3E}">
        <p14:creationId xmlns:p14="http://schemas.microsoft.com/office/powerpoint/2010/main" val="5701722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50426B6-3090-43F9-9D28-72CA14E92F9F}"/>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938030-2AF7-43B2-97B8-44184B659A97}"/>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Fragmentación, acumulación y límites</a:t>
            </a:r>
          </a:p>
        </p:txBody>
      </p:sp>
      <p:sp>
        <p:nvSpPr>
          <p:cNvPr id="3" name="">
            <a:extLst xmlns:a="http://schemas.openxmlformats.org/drawingml/2006/main">
              <a:ext uri="{FF2B5EF4-FFF2-40B4-BE49-F238E27FC236}">
                <a16:creationId xmlns:a16="http://schemas.microsoft.com/office/drawing/2014/main" id="{B892E97C-EEC1-4BD0-B474-BBC5648B5EF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437D4D4-C608-49E9-B68F-DEE20E2E500F}"/>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5.3</a:t>
            </a:r>
          </a:p>
        </p:txBody>
      </p:sp>
      <p:sp>
        <p:nvSpPr>
          <p:cNvPr id="5" name="">
            <a:extLst xmlns:a="http://schemas.openxmlformats.org/drawingml/2006/main">
              <a:ext uri="{FF2B5EF4-FFF2-40B4-BE49-F238E27FC236}">
                <a16:creationId xmlns:a16="http://schemas.microsoft.com/office/drawing/2014/main" id="{F5F73FA7-F372-406E-AF8C-89C25EC9FB52}"/>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B70D2529-9B33-4865-83A4-3BBA464EEE82}"/>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El buffer tiene una longitud máxima.</a:t>
            </a:r>
          </a:p>
        </p:txBody>
      </p:sp>
      <p:sp>
        <p:nvSpPr>
          <p:cNvPr id="7" name="">
            <a:extLst xmlns:a="http://schemas.openxmlformats.org/drawingml/2006/main">
              <a:ext uri="{FF2B5EF4-FFF2-40B4-BE49-F238E27FC236}">
                <a16:creationId xmlns:a16="http://schemas.microsoft.com/office/drawing/2014/main" id="{2A69B1BA-A223-41C0-9AF1-889CA8C88FE8}"/>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El decodificador agrega bytes a un buffer hasta encontrar LF. Solo entonces valida la línea. Si supera el límite, descarta hasta el siguiente LF y registra el error. No continúa acumulando memoria. Una única lectura del puerto puede producir cero, una o varias tramas.</a:t>
            </a:r>
          </a:p>
        </p:txBody>
      </p:sp>
      <p:sp>
        <p:nvSpPr>
          <p:cNvPr id="8" name="">
            <a:extLst xmlns:a="http://schemas.openxmlformats.org/drawingml/2006/main">
              <a:ext uri="{FF2B5EF4-FFF2-40B4-BE49-F238E27FC236}">
                <a16:creationId xmlns:a16="http://schemas.microsoft.com/office/drawing/2014/main" id="{19F10A8C-B989-4B22-A17B-BB645D26267D}"/>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A4BBCF1-43B1-402A-B2F9-2AF18102A677}"/>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La clase compartida Protocolo.Decodificador implementa esa lógica y se prueba con fragmentos de distinto tamaño. El parser devuelve mensajes tipados y verifica número de campos, rango y valores.</a:t>
            </a:r>
          </a:p>
        </p:txBody>
      </p:sp>
    </p:spTree>
    <p:extLst>
      <p:ext uri="{BB962C8B-B14F-4D97-AF65-F5344CB8AC3E}">
        <p14:creationId xmlns:p14="http://schemas.microsoft.com/office/powerpoint/2010/main" val="6052511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562E947-3AA9-4D5C-865A-5032BC35D860}"/>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06169E-6320-4348-84DE-F9E89734AF69}"/>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Comandos y confirmaciones</a:t>
            </a:r>
          </a:p>
        </p:txBody>
      </p:sp>
      <p:sp>
        <p:nvSpPr>
          <p:cNvPr id="3" name="">
            <a:extLst xmlns:a="http://schemas.openxmlformats.org/drawingml/2006/main">
              <a:ext uri="{FF2B5EF4-FFF2-40B4-BE49-F238E27FC236}">
                <a16:creationId xmlns:a16="http://schemas.microsoft.com/office/drawing/2014/main" id="{C7A077CC-0DC3-4506-A670-9D76A44E2AF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080C2AA-BFAE-40CC-B319-9085059B5848}"/>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5.3</a:t>
            </a:r>
          </a:p>
        </p:txBody>
      </p:sp>
      <p:sp>
        <p:nvSpPr>
          <p:cNvPr id="5" name="">
            <a:extLst xmlns:a="http://schemas.openxmlformats.org/drawingml/2006/main">
              <a:ext uri="{FF2B5EF4-FFF2-40B4-BE49-F238E27FC236}">
                <a16:creationId xmlns:a16="http://schemas.microsoft.com/office/drawing/2014/main" id="{1F122E01-C113-40FA-A128-F91630B6492C}"/>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EAD2D649-6B2F-4930-815A-B64F9D7C6B12}"/>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ACK confirma el estado aplicado.</a:t>
            </a:r>
          </a:p>
        </p:txBody>
      </p:sp>
      <p:sp>
        <p:nvSpPr>
          <p:cNvPr id="7" name="">
            <a:extLst xmlns:a="http://schemas.openxmlformats.org/drawingml/2006/main">
              <a:ext uri="{FF2B5EF4-FFF2-40B4-BE49-F238E27FC236}">
                <a16:creationId xmlns:a16="http://schemas.microsoft.com/office/drawing/2014/main" id="{5ABE7DCE-CD29-48C8-A475-585775522A24}"/>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Enviar bytes correctamente no demuestra que el firmware aplicó el comando. El ACK debe corresponder al estado solicitado. Esta versión permite un solo comando LED pendiente. Si se requieren varios comandos simultáneos, añade un identificador de solicitud y una tabla de pendientes con plazos.</a:t>
            </a:r>
          </a:p>
        </p:txBody>
      </p:sp>
      <p:sp>
        <p:nvSpPr>
          <p:cNvPr id="8" name="">
            <a:extLst xmlns:a="http://schemas.openxmlformats.org/drawingml/2006/main">
              <a:ext uri="{FF2B5EF4-FFF2-40B4-BE49-F238E27FC236}">
                <a16:creationId xmlns:a16="http://schemas.microsoft.com/office/drawing/2014/main" id="{3A2BA143-3EAE-483E-8C96-22FB1EF23F31}"/>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A6F24D1-2A5C-4001-842F-C4E8D9DFD50F}"/>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Ante desconexión, detén el lector, cierra el puerto y actualiza la interfaz. Reintentar indefinidamente puede ocultar fallos.</a:t>
            </a:r>
          </a:p>
        </p:txBody>
      </p:sp>
    </p:spTree>
    <p:extLst>
      <p:ext uri="{BB962C8B-B14F-4D97-AF65-F5344CB8AC3E}">
        <p14:creationId xmlns:p14="http://schemas.microsoft.com/office/powerpoint/2010/main" val="116387397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D3AE15D-8CE5-4C4C-BFD8-86B624B47555}"/>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47FFCE-ACB4-4311-A4B3-B2082146D6F2}"/>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Demostración resuelta</a:t>
            </a:r>
          </a:p>
        </p:txBody>
      </p:sp>
      <p:sp>
        <p:nvSpPr>
          <p:cNvPr id="3" name="">
            <a:extLst xmlns:a="http://schemas.openxmlformats.org/drawingml/2006/main">
              <a:ext uri="{FF2B5EF4-FFF2-40B4-BE49-F238E27FC236}">
                <a16:creationId xmlns:a16="http://schemas.microsoft.com/office/drawing/2014/main" id="{D7B07374-6975-4F63-A804-E10F21B9298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F42E77C-3E6C-4488-8133-BBC5F9CEA196}"/>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5.3</a:t>
            </a:r>
          </a:p>
        </p:txBody>
      </p:sp>
      <p:sp>
        <p:nvSpPr>
          <p:cNvPr id="5" name="">
            <a:extLst xmlns:a="http://schemas.openxmlformats.org/drawingml/2006/main">
              <a:ext uri="{FF2B5EF4-FFF2-40B4-BE49-F238E27FC236}">
                <a16:creationId xmlns:a16="http://schemas.microsoft.com/office/drawing/2014/main" id="{15E56E85-761C-4635-8CE4-23ABA47CE710}"/>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EE309EE7-F4FB-4533-8F1B-75609C525163}"/>
              </a:ext>
            </a:extLst>
          </p:cNvPr>
          <p:cNvSpPr>
            <a:spLocks xmlns:a="http://schemas.openxmlformats.org/drawingml/2006/main" noGrp="1"/>
          </p:cNvSpPr>
          <p:nvPr/>
        </p:nvSpPr>
        <p:spPr>
          <a:xfrm xmlns:a="http://schemas.openxmlformats.org/drawingml/2006/main">
            <a:off x="628650" y="1590675"/>
            <a:ext cx="10953750" cy="371475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3A61104-4CA9-49F9-AC20-123A0054D4EF}"/>
              </a:ext>
            </a:extLst>
          </p:cNvPr>
          <p:cNvSpPr>
            <a:spLocks xmlns:a="http://schemas.openxmlformats.org/drawingml/2006/main" noGrp="1"/>
          </p:cNvSpPr>
          <p:nvPr/>
        </p:nvSpPr>
        <p:spPr>
          <a:xfrm xmlns:a="http://schemas.openxmlformats.org/drawingml/2006/main">
            <a:off x="857250" y="1743075"/>
            <a:ext cx="10477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public static void main(String[] args) throws Exception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if(args.length==0 || args[0].equals("--simulate"))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try(var in=new ByteArrayInputStream("DATA;1;512\nACK;LED;1\nMAL\n".getBytes(StandardCharsets.US_ASCII)))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recibir(in,1000);</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return;</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if(args.length!=2 || !args[0].equals("--port")) throw new IllegalArgumentException("Uso: --simulate | --port PUERTO");</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SerialPort puerto=SerialPort.getCommPort(args[1]);</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puerto.setComPortParameters(115200,8,SerialPort.ONE_STOP_BIT,SerialPort.NO_PARITY);</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puerto.setComPortTimeouts(SerialPort.TIMEOUT_READ_SEMI_BLOCKING,300,0);</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if(!puerto.openPort()) throw new IOException("No se pudo abrir el puerto");</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try(InputStream in=puerto.getInputStream();OutputStream out=puerto.getOutputStream()) {</a:t>
            </a:r>
          </a:p>
        </p:txBody>
      </p:sp>
      <p:sp>
        <p:nvSpPr>
          <p:cNvPr id="8" name="">
            <a:extLst xmlns:a="http://schemas.openxmlformats.org/drawingml/2006/main">
              <a:ext uri="{FF2B5EF4-FFF2-40B4-BE49-F238E27FC236}">
                <a16:creationId xmlns:a16="http://schemas.microsoft.com/office/drawing/2014/main" id="{0C493A60-4CBB-4D6C-86A4-61AC0C79A6AC}"/>
              </a:ext>
            </a:extLst>
          </p:cNvPr>
          <p:cNvSpPr>
            <a:spLocks xmlns:a="http://schemas.openxmlformats.org/drawingml/2006/main" noGrp="1"/>
          </p:cNvSpPr>
          <p:nvPr/>
        </p:nvSpPr>
        <p:spPr>
          <a:xfrm xmlns:a="http://schemas.openxmlformats.org/drawingml/2006/main">
            <a:off x="685800" y="55816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Fragmento de SerialDemo.java. Código completo y ejecución en material.md.</a:t>
            </a:r>
          </a:p>
        </p:txBody>
      </p:sp>
    </p:spTree>
    <p:extLst>
      <p:ext uri="{BB962C8B-B14F-4D97-AF65-F5344CB8AC3E}">
        <p14:creationId xmlns:p14="http://schemas.microsoft.com/office/powerpoint/2010/main" val="94373978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AE15B1-E759-4A5B-8B67-249627716C4B}"/>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65C050-7A8D-48A7-A8D2-C33818893CB0}"/>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Casos de aceptación de la PC</a:t>
            </a:r>
          </a:p>
        </p:txBody>
      </p:sp>
      <p:sp>
        <p:nvSpPr>
          <p:cNvPr id="3" name="">
            <a:extLst xmlns:a="http://schemas.openxmlformats.org/drawingml/2006/main">
              <a:ext uri="{FF2B5EF4-FFF2-40B4-BE49-F238E27FC236}">
                <a16:creationId xmlns:a16="http://schemas.microsoft.com/office/drawing/2014/main" id="{8803A8AD-7465-4332-960D-9E7314ADB12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F12A2BE-2E98-4902-A6C2-4912D9A8A688}"/>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5.3</a:t>
            </a:r>
          </a:p>
        </p:txBody>
      </p:sp>
      <p:sp>
        <p:nvSpPr>
          <p:cNvPr id="5" name="">
            <a:extLst xmlns:a="http://schemas.openxmlformats.org/drawingml/2006/main">
              <a:ext uri="{FF2B5EF4-FFF2-40B4-BE49-F238E27FC236}">
                <a16:creationId xmlns:a16="http://schemas.microsoft.com/office/drawing/2014/main" id="{53D24B65-79EA-4505-8F3E-22966602DA3E}"/>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8</a:t>
            </a:r>
          </a:p>
        </p:txBody>
      </p:sp>
      <p:graphicFrame>
        <p:nvGraphicFramePr>
          <p:cNvPr id="13" name=""/>
          <p:cNvGraphicFramePr/>
          <p:nvPr/>
        </p:nvGraphicFramePr>
        <p:xfrm>
          <a:off xmlns:a="http://schemas.openxmlformats.org/drawingml/2006/main" x="609600" y="1638300"/>
          <a:ext xmlns:a="http://schemas.openxmlformats.org/drawingml/2006/main" cx="10972800" cy="3143250"/>
        </p:xfrm>
        <a:graphic xmlns:a="http://schemas.openxmlformats.org/drawingml/2006/main">
          <a:graphicData uri="http://schemas.openxmlformats.org/drawingml/2006/table">
            <a:tbl>
              <a:tblPr/>
              <a:tblGrid>
                <a:gridCol w="4191000"/>
                <a:gridCol w="6629400"/>
              </a:tblGrid>
              <a:tr h="785813">
                <a:tc>
                  <a:txBody>
                    <a:bodyPr/>
                    <a:lstStyle/>
                    <a:p>
                      <a:r>
                        <a:rPr sz="1725" b="1">
                          <a:solidFill>
                            <a:srgbClr val="FFFFFF"/>
                          </a:solidFill>
                          <a:latin typeface="DejaVu Sans"/>
                          <a:ea typeface="DejaVu Sans"/>
                          <a:cs typeface="DejaVu Sans"/>
                        </a:rPr>
                        <a:t>Caso</a:t>
                      </a:r>
                    </a:p>
                  </a:txBody>
                  <a:tcPr marL="152400" marR="152400" marT="133350" marB="114300" anchor="ctr">
                    <a:solidFill>
                      <a:srgbClr val="003772"/>
                    </a:solidFill>
                  </a:tcPr>
                </a:tc>
                <a:tc>
                  <a:txBody>
                    <a:bodyPr/>
                    <a:lstStyle/>
                    <a:p>
                      <a:r>
                        <a:rPr sz="1725" b="1">
                          <a:solidFill>
                            <a:srgbClr val="FFFFFF"/>
                          </a:solidFill>
                          <a:latin typeface="DejaVu Sans"/>
                          <a:ea typeface="DejaVu Sans"/>
                          <a:cs typeface="DejaVu Sans"/>
                        </a:rPr>
                        <a:t>Comportamiento requerido</a:t>
                      </a:r>
                    </a:p>
                  </a:txBody>
                  <a:tcPr marL="152400" marR="152400" marT="133350" marB="114300" anchor="ctr">
                    <a:solidFill>
                      <a:srgbClr val="003772"/>
                    </a:solidFill>
                  </a:tcPr>
                </a:tc>
              </a:tr>
              <a:tr h="785813">
                <a:tc>
                  <a:txBody>
                    <a:bodyPr/>
                    <a:lstStyle/>
                    <a:p>
                      <a:r>
                        <a:rPr sz="1725" b="0">
                          <a:solidFill>
                            <a:srgbClr val="403F3B"/>
                          </a:solidFill>
                          <a:latin typeface="DejaVu Sans"/>
                          <a:ea typeface="DejaVu Sans"/>
                          <a:cs typeface="DejaVu Sans"/>
                        </a:rPr>
                        <a:t>DATA;1;512 dividida en tres lecturas</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Una trama válida</a:t>
                      </a:r>
                    </a:p>
                  </a:txBody>
                  <a:tcPr marL="152400" marR="152400" marT="133350" marB="114300" anchor="ctr">
                    <a:solidFill>
                      <a:srgbClr val="F3F3FA"/>
                    </a:solidFill>
                  </a:tcPr>
                </a:tc>
              </a:tr>
              <a:tr h="785813">
                <a:tc>
                  <a:txBody>
                    <a:bodyPr/>
                    <a:lstStyle/>
                    <a:p>
                      <a:r>
                        <a:rPr sz="1725" b="0">
                          <a:solidFill>
                            <a:srgbClr val="403F3B"/>
                          </a:solidFill>
                          <a:latin typeface="DejaVu Sans"/>
                          <a:ea typeface="DejaVu Sans"/>
                          <a:cs typeface="DejaVu Sans"/>
                        </a:rPr>
                        <a:t>Dos líneas en el mismo bloque</a:t>
                      </a:r>
                    </a:p>
                  </a:txBody>
                  <a:tcPr marL="152400" marR="152400" marT="133350" marB="114300" anchor="ctr">
                    <a:solidFill>
                      <a:srgbClr val="FFFFFF"/>
                    </a:solidFill>
                  </a:tcPr>
                </a:tc>
                <a:tc>
                  <a:txBody>
                    <a:bodyPr/>
                    <a:lstStyle/>
                    <a:p>
                      <a:r>
                        <a:rPr sz="1725" b="0">
                          <a:solidFill>
                            <a:srgbClr val="403F3B"/>
                          </a:solidFill>
                          <a:latin typeface="DejaVu Sans"/>
                          <a:ea typeface="DejaVu Sans"/>
                          <a:cs typeface="DejaVu Sans"/>
                        </a:rPr>
                        <a:t>Dos mensajes</a:t>
                      </a:r>
                    </a:p>
                  </a:txBody>
                  <a:tcPr marL="152400" marR="152400" marT="133350" marB="114300" anchor="ctr">
                    <a:solidFill>
                      <a:srgbClr val="FFFFFF"/>
                    </a:solidFill>
                  </a:tcPr>
                </a:tc>
              </a:tr>
              <a:tr h="785813">
                <a:tc>
                  <a:txBody>
                    <a:bodyPr/>
                    <a:lstStyle/>
                    <a:p>
                      <a:r>
                        <a:rPr sz="1725" b="0">
                          <a:solidFill>
                            <a:srgbClr val="403F3B"/>
                          </a:solidFill>
                          <a:latin typeface="DejaVu Sans"/>
                          <a:ea typeface="DejaVu Sans"/>
                          <a:cs typeface="DejaVu Sans"/>
                        </a:rPr>
                        <a:t>Más de 80 caracteres</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Descarta hasta LF y continúa</a:t>
                      </a:r>
                    </a:p>
                  </a:txBody>
                  <a:tcPr marL="152400" marR="152400" marT="133350" marB="114300" anchor="ctr">
                    <a:solidFill>
                      <a:srgbClr val="F3F3FA"/>
                    </a:solidFill>
                  </a:tcPr>
                </a:tc>
              </a:tr>
            </a:tbl>
          </a:graphicData>
        </a:graphic>
      </p:graphicFrame>
      <p:sp>
        <p:nvSpPr>
          <p:cNvPr id="7" name="">
            <a:extLst xmlns:a="http://schemas.openxmlformats.org/drawingml/2006/main">
              <a:ext uri="{FF2B5EF4-FFF2-40B4-BE49-F238E27FC236}">
                <a16:creationId xmlns:a16="http://schemas.microsoft.com/office/drawing/2014/main" id="{7A510B23-0183-4924-A404-6416B3A8A28F}"/>
              </a:ext>
            </a:extLst>
          </p:cNvPr>
          <p:cNvSpPr>
            <a:spLocks xmlns:a="http://schemas.openxmlformats.org/drawingml/2006/main" noGrp="1"/>
          </p:cNvSpPr>
          <p:nvPr/>
        </p:nvSpPr>
        <p:spPr>
          <a:xfrm xmlns:a="http://schemas.openxmlformats.org/drawingml/2006/main">
            <a:off x="742950" y="52387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Salida de la demostración: Simulación: Dato[secuencia=1, raw=512], Ack[encendido=true] y un rechazo de MAL. Hardware: imprime DATA y ACK recibidos durante el plazo.</a:t>
            </a:r>
          </a:p>
        </p:txBody>
      </p:sp>
    </p:spTree>
    <p:extLst>
      <p:ext uri="{BB962C8B-B14F-4D97-AF65-F5344CB8AC3E}">
        <p14:creationId xmlns:p14="http://schemas.microsoft.com/office/powerpoint/2010/main" val="10997487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F70E912-07E3-4038-B34E-C4C77BF2900C}"/>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98DEAD-928C-4BA8-A2F1-6F47AD915FFA}"/>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PC5.3 · Ampliación del proyecto</a:t>
            </a:r>
          </a:p>
        </p:txBody>
      </p:sp>
      <p:sp>
        <p:nvSpPr>
          <p:cNvPr id="3" name="">
            <a:extLst xmlns:a="http://schemas.openxmlformats.org/drawingml/2006/main">
              <a:ext uri="{FF2B5EF4-FFF2-40B4-BE49-F238E27FC236}">
                <a16:creationId xmlns:a16="http://schemas.microsoft.com/office/drawing/2014/main" id="{718ECDD0-2E2E-47D8-B289-66A659DD9D0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2C57F68-9DA7-4C06-989C-4DEBCFFACB79}"/>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5.3</a:t>
            </a:r>
          </a:p>
        </p:txBody>
      </p:sp>
      <p:sp>
        <p:nvSpPr>
          <p:cNvPr id="5" name="">
            <a:extLst xmlns:a="http://schemas.openxmlformats.org/drawingml/2006/main">
              <a:ext uri="{FF2B5EF4-FFF2-40B4-BE49-F238E27FC236}">
                <a16:creationId xmlns:a16="http://schemas.microsoft.com/office/drawing/2014/main" id="{5EE06AA1-7F87-44B4-A084-04A5DB72C36D}"/>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F7AFD0E7-8A14-40BB-87B3-E0AE8E064C1C}"/>
              </a:ext>
            </a:extLst>
          </p:cNvPr>
          <p:cNvSpPr>
            <a:spLocks xmlns:a="http://schemas.openxmlformats.org/drawingml/2006/main" noGrp="1"/>
          </p:cNvSpPr>
          <p:nvPr/>
        </p:nvSpPr>
        <p:spPr>
          <a:xfrm xmlns:a="http://schemas.openxmlformats.org/drawingml/2006/main">
            <a:off x="685800" y="160020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1</a:t>
            </a:r>
          </a:p>
        </p:txBody>
      </p:sp>
      <p:sp>
        <p:nvSpPr>
          <p:cNvPr id="7" name="">
            <a:extLst xmlns:a="http://schemas.openxmlformats.org/drawingml/2006/main">
              <a:ext uri="{FF2B5EF4-FFF2-40B4-BE49-F238E27FC236}">
                <a16:creationId xmlns:a16="http://schemas.microsoft.com/office/drawing/2014/main" id="{CBD6EDDC-0028-457C-A372-43A494C96717}"/>
              </a:ext>
            </a:extLst>
          </p:cNvPr>
          <p:cNvSpPr>
            <a:spLocks xmlns:a="http://schemas.openxmlformats.org/drawingml/2006/main" noGrp="1"/>
          </p:cNvSpPr>
          <p:nvPr/>
        </p:nvSpPr>
        <p:spPr>
          <a:xfrm xmlns:a="http://schemas.openxmlformats.org/drawingml/2006/main">
            <a:off x="1219200" y="156210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Adapta el firmware al protocolo v1 y utiliza el receptor Java de bytes acotados como referencia. Conserva la lógica de muestreo sin delay.</a:t>
            </a:r>
          </a:p>
        </p:txBody>
      </p:sp>
      <p:sp>
        <p:nvSpPr>
          <p:cNvPr id="8" name="">
            <a:extLst xmlns:a="http://schemas.openxmlformats.org/drawingml/2006/main">
              <a:ext uri="{FF2B5EF4-FFF2-40B4-BE49-F238E27FC236}">
                <a16:creationId xmlns:a16="http://schemas.microsoft.com/office/drawing/2014/main" id="{7E3B19C0-A14D-4CB5-9FB6-9A593DB7B191}"/>
              </a:ext>
            </a:extLst>
          </p:cNvPr>
          <p:cNvSpPr>
            <a:spLocks xmlns:a="http://schemas.openxmlformats.org/drawingml/2006/main" noGrp="1"/>
          </p:cNvSpPr>
          <p:nvPr/>
        </p:nvSpPr>
        <p:spPr>
          <a:xfrm xmlns:a="http://schemas.openxmlformats.org/drawingml/2006/main">
            <a:off x="685800" y="2962275"/>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D0C57812-6921-4CD2-94D9-7AC7AD6B716A}"/>
              </a:ext>
            </a:extLst>
          </p:cNvPr>
          <p:cNvSpPr>
            <a:spLocks xmlns:a="http://schemas.openxmlformats.org/drawingml/2006/main" noGrp="1"/>
          </p:cNvSpPr>
          <p:nvPr/>
        </p:nvSpPr>
        <p:spPr>
          <a:xfrm xmlns:a="http://schemas.openxmlformats.org/drawingml/2006/main">
            <a:off x="1219200" y="2924175"/>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Integra SET y ACK para el LED en CampusMonitor, con un solo comando pendiente y timeout de confirmación.</a:t>
            </a:r>
          </a:p>
        </p:txBody>
      </p:sp>
      <p:sp>
        <p:nvSpPr>
          <p:cNvPr id="10" name="">
            <a:extLst xmlns:a="http://schemas.openxmlformats.org/drawingml/2006/main">
              <a:ext uri="{FF2B5EF4-FFF2-40B4-BE49-F238E27FC236}">
                <a16:creationId xmlns:a16="http://schemas.microsoft.com/office/drawing/2014/main" id="{CDAE78A3-1F9E-43A7-AEB0-E1158C8AD6BD}"/>
              </a:ext>
            </a:extLst>
          </p:cNvPr>
          <p:cNvSpPr>
            <a:spLocks xmlns:a="http://schemas.openxmlformats.org/drawingml/2006/main" noGrp="1"/>
          </p:cNvSpPr>
          <p:nvPr/>
        </p:nvSpPr>
        <p:spPr>
          <a:xfrm xmlns:a="http://schemas.openxmlformats.org/drawingml/2006/main">
            <a:off x="685800" y="432435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3</a:t>
            </a:r>
          </a:p>
        </p:txBody>
      </p:sp>
      <p:sp>
        <p:nvSpPr>
          <p:cNvPr id="11" name="">
            <a:extLst xmlns:a="http://schemas.openxmlformats.org/drawingml/2006/main">
              <a:ext uri="{FF2B5EF4-FFF2-40B4-BE49-F238E27FC236}">
                <a16:creationId xmlns:a16="http://schemas.microsoft.com/office/drawing/2014/main" id="{2312EE95-60CB-462F-AA8D-7B7C0C2AD127}"/>
              </a:ext>
            </a:extLst>
          </p:cNvPr>
          <p:cNvSpPr>
            <a:spLocks xmlns:a="http://schemas.openxmlformats.org/drawingml/2006/main" noGrp="1"/>
          </p:cNvSpPr>
          <p:nvPr/>
        </p:nvSpPr>
        <p:spPr>
          <a:xfrm xmlns:a="http://schemas.openxmlformats.org/drawingml/2006/main">
            <a:off x="1219200" y="428625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Prueba tramas fragmentadas, concatenadas, demasiado largas e inválidas. Después repite el intercambio con una placa real.</a:t>
            </a:r>
          </a:p>
        </p:txBody>
      </p:sp>
    </p:spTree>
    <p:extLst>
      <p:ext uri="{BB962C8B-B14F-4D97-AF65-F5344CB8AC3E}">
        <p14:creationId xmlns:p14="http://schemas.microsoft.com/office/powerpoint/2010/main" val="26307863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F45F359-B3D7-4BC1-8DDE-76F63E83C139}"/>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986C99-2D18-4B9C-BF00-A2295CF690A3}"/>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8C96FDBE-2DE1-4734-B39C-B307C1D3A4E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544F830-D08A-4B89-9111-19E142C75961}"/>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5.3</a:t>
            </a:r>
          </a:p>
        </p:txBody>
      </p:sp>
      <p:sp>
        <p:nvSpPr>
          <p:cNvPr id="5" name="">
            <a:extLst xmlns:a="http://schemas.openxmlformats.org/drawingml/2006/main">
              <a:ext uri="{FF2B5EF4-FFF2-40B4-BE49-F238E27FC236}">
                <a16:creationId xmlns:a16="http://schemas.microsoft.com/office/drawing/2014/main" id="{57B88C52-7122-49DC-A3B2-5CA3E0760E71}"/>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4145DB5F-B399-49A4-B929-50A0F14006D7}"/>
              </a:ext>
            </a:extLst>
          </p:cNvPr>
          <p:cNvSpPr>
            <a:spLocks xmlns:a="http://schemas.openxmlformats.org/drawingml/2006/main" noGrp="1"/>
          </p:cNvSpPr>
          <p:nvPr/>
        </p:nvSpPr>
        <p:spPr>
          <a:xfrm xmlns:a="http://schemas.openxmlformats.org/drawingml/2006/main">
            <a:off x="762000" y="17430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3772"/>
                </a:solidFill>
                <a:latin typeface="DejaVu Sans"/>
                <a:ea typeface="DejaVu Sans"/>
                <a:cs typeface="DejaVu Sans"/>
              </a:defRPr>
            </a:pPr>
            <a:r>
              <a:rPr sz="2175" b="1">
                <a:solidFill>
                  <a:srgbClr val="003772"/>
                </a:solidFill>
                <a:latin typeface="DejaVu Sans"/>
                <a:ea typeface="DejaVu Sans"/>
                <a:cs typeface="DejaVu Sans"/>
              </a:rPr>
              <a:t>El puerto entrega bytes sin fronteras de mensaje.</a:t>
            </a:r>
          </a:p>
        </p:txBody>
      </p:sp>
      <p:sp>
        <p:nvSpPr>
          <p:cNvPr id="7" name="">
            <a:extLst xmlns:a="http://schemas.openxmlformats.org/drawingml/2006/main">
              <a:ext uri="{FF2B5EF4-FFF2-40B4-BE49-F238E27FC236}">
                <a16:creationId xmlns:a16="http://schemas.microsoft.com/office/drawing/2014/main" id="{E1C0BA42-1A08-4C86-8E2E-67FEEF532C02}"/>
              </a:ext>
            </a:extLst>
          </p:cNvPr>
          <p:cNvSpPr>
            <a:spLocks xmlns:a="http://schemas.openxmlformats.org/drawingml/2006/main" noGrp="1"/>
          </p:cNvSpPr>
          <p:nvPr/>
        </p:nvSpPr>
        <p:spPr>
          <a:xfrm xmlns:a="http://schemas.openxmlformats.org/drawingml/2006/main">
            <a:off x="762000" y="26384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LF delimita cada trama.</a:t>
            </a:r>
          </a:p>
        </p:txBody>
      </p:sp>
      <p:sp>
        <p:nvSpPr>
          <p:cNvPr id="8" name="">
            <a:extLst xmlns:a="http://schemas.openxmlformats.org/drawingml/2006/main">
              <a:ext uri="{FF2B5EF4-FFF2-40B4-BE49-F238E27FC236}">
                <a16:creationId xmlns:a16="http://schemas.microsoft.com/office/drawing/2014/main" id="{D7F46569-9975-4BD6-A88D-2A3BEE0890B8}"/>
              </a:ext>
            </a:extLst>
          </p:cNvPr>
          <p:cNvSpPr>
            <a:spLocks xmlns:a="http://schemas.openxmlformats.org/drawingml/2006/main" noGrp="1"/>
          </p:cNvSpPr>
          <p:nvPr/>
        </p:nvSpPr>
        <p:spPr>
          <a:xfrm xmlns:a="http://schemas.openxmlformats.org/drawingml/2006/main">
            <a:off x="762000" y="35337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03772"/>
                </a:solidFill>
                <a:latin typeface="DejaVu Sans"/>
                <a:ea typeface="DejaVu Sans"/>
                <a:cs typeface="DejaVu Sans"/>
              </a:defRPr>
            </a:pPr>
            <a:r>
              <a:rPr sz="2175" b="0">
                <a:solidFill>
                  <a:srgbClr val="003772"/>
                </a:solidFill>
                <a:latin typeface="DejaVu Sans"/>
                <a:ea typeface="DejaVu Sans"/>
                <a:cs typeface="DejaVu Sans"/>
              </a:rPr>
              <a:t>El buffer tiene una longitud máxima.</a:t>
            </a:r>
          </a:p>
        </p:txBody>
      </p:sp>
      <p:sp>
        <p:nvSpPr>
          <p:cNvPr id="9" name="">
            <a:extLst xmlns:a="http://schemas.openxmlformats.org/drawingml/2006/main">
              <a:ext uri="{FF2B5EF4-FFF2-40B4-BE49-F238E27FC236}">
                <a16:creationId xmlns:a16="http://schemas.microsoft.com/office/drawing/2014/main" id="{0A03554B-9B2E-46DA-9BA9-24EB27E11DE6}"/>
              </a:ext>
            </a:extLst>
          </p:cNvPr>
          <p:cNvSpPr>
            <a:spLocks xmlns:a="http://schemas.openxmlformats.org/drawingml/2006/main" noGrp="1"/>
          </p:cNvSpPr>
          <p:nvPr/>
        </p:nvSpPr>
        <p:spPr>
          <a:xfrm xmlns:a="http://schemas.openxmlformats.org/drawingml/2006/main">
            <a:off x="762000" y="44291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ACK confirma el estado aplicado.</a:t>
            </a:r>
          </a:p>
        </p:txBody>
      </p:sp>
    </p:spTree>
    <p:extLst>
      <p:ext uri="{BB962C8B-B14F-4D97-AF65-F5344CB8AC3E}">
        <p14:creationId xmlns:p14="http://schemas.microsoft.com/office/powerpoint/2010/main" val="15893276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2026-09-10T23:07:39.6550000Z</dcterms:created>
  <dcterms:modified xsi:type="dcterms:W3CDTF">2026-09-10T23:07:39.6550000Z</dcterms:modified>
</coreProperties>
</file>