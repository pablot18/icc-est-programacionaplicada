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12fa2d7a9ce443e" /><Relationship Type="http://schemas.openxmlformats.org/officeDocument/2006/relationships/extended-properties" Target="/docProps/app.xml" Id="R8332c87dd2074008" /><Relationship Type="http://schemas.openxmlformats.org/officeDocument/2006/relationships/officeDocument" Target="/ppt/presentation.xml" Id="R05ed77b83e064397" /></Relationships>
</file>

<file path=ppt/presentation.xml><?xml version="1.0" encoding="utf-8"?>
<p:presentation xmlns:p="http://schemas.openxmlformats.org/presentationml/2006/main">
  <p:sldMasterIdLst>
    <p:sldMasterId xmlns:r="http://schemas.openxmlformats.org/officeDocument/2006/relationships" id="2147483648" r:id="R92faaaed387243a6"/>
  </p:sldMasterIdLst>
  <p:notesMasterIdLst>
    <p:notesMasterId xmlns:r="http://schemas.openxmlformats.org/officeDocument/2006/relationships" r:id="R8db5be55ad9f4aa9"/>
  </p:notesMasterIdLst>
  <p:sldIdLst>
    <p:sldId xmlns:r="http://schemas.openxmlformats.org/officeDocument/2006/relationships" id="256" r:id="Ra5df58799c3a4659"/>
    <p:sldId xmlns:r="http://schemas.openxmlformats.org/officeDocument/2006/relationships" id="257" r:id="Ra4e08fe0fe8f49a5"/>
    <p:sldId xmlns:r="http://schemas.openxmlformats.org/officeDocument/2006/relationships" id="258" r:id="Rf1504f0423f8474f"/>
    <p:sldId xmlns:r="http://schemas.openxmlformats.org/officeDocument/2006/relationships" id="259" r:id="R66fbb5db72624608"/>
    <p:sldId xmlns:r="http://schemas.openxmlformats.org/officeDocument/2006/relationships" id="260" r:id="Rf74037c3e2b044ca"/>
    <p:sldId xmlns:r="http://schemas.openxmlformats.org/officeDocument/2006/relationships" id="261" r:id="Rd2df1617a31d4540"/>
    <p:sldId xmlns:r="http://schemas.openxmlformats.org/officeDocument/2006/relationships" id="262" r:id="R072a746999db4b3c"/>
    <p:sldId xmlns:r="http://schemas.openxmlformats.org/officeDocument/2006/relationships" id="263" r:id="R2141e1203bef4f22"/>
    <p:sldId xmlns:r="http://schemas.openxmlformats.org/officeDocument/2006/relationships" id="264" r:id="R6cd45d2413fa400c"/>
    <p:sldId xmlns:r="http://schemas.openxmlformats.org/officeDocument/2006/relationships" id="265" r:id="Rac94d0c6883f4f0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3552758bea24b32" /><Relationship Type="http://schemas.openxmlformats.org/officeDocument/2006/relationships/slideMaster" Target="/ppt/slideMasters/slideMaster1.xml" Id="R92faaaed387243a6" /><Relationship Type="http://schemas.openxmlformats.org/officeDocument/2006/relationships/notesMaster" Target="/ppt/notesMasters/notesMaster1.xml" Id="R8db5be55ad9f4aa9" /><Relationship Type="http://schemas.openxmlformats.org/officeDocument/2006/relationships/presProps" Target="/ppt/presProps.xml" Id="Rddcacef376dd4d86" /><Relationship Type="http://schemas.openxmlformats.org/officeDocument/2006/relationships/tableStyles" Target="/ppt/tableStyles.xml" Id="R86b3bc74c101413b" /><Relationship Type="http://schemas.openxmlformats.org/officeDocument/2006/relationships/slide" Target="/ppt/slides/slide1.xml" Id="Ra5df58799c3a4659" /><Relationship Type="http://schemas.openxmlformats.org/officeDocument/2006/relationships/slide" Target="/ppt/slides/slide2.xml" Id="Ra4e08fe0fe8f49a5" /><Relationship Type="http://schemas.openxmlformats.org/officeDocument/2006/relationships/slide" Target="/ppt/slides/slide3.xml" Id="Rf1504f0423f8474f" /><Relationship Type="http://schemas.openxmlformats.org/officeDocument/2006/relationships/slide" Target="/ppt/slides/slide4.xml" Id="R66fbb5db72624608" /><Relationship Type="http://schemas.openxmlformats.org/officeDocument/2006/relationships/slide" Target="/ppt/slides/slide5.xml" Id="Rf74037c3e2b044ca" /><Relationship Type="http://schemas.openxmlformats.org/officeDocument/2006/relationships/slide" Target="/ppt/slides/slide6.xml" Id="Rd2df1617a31d4540" /><Relationship Type="http://schemas.openxmlformats.org/officeDocument/2006/relationships/slide" Target="/ppt/slides/slide7.xml" Id="R072a746999db4b3c" /><Relationship Type="http://schemas.openxmlformats.org/officeDocument/2006/relationships/slide" Target="/ppt/slides/slide8.xml" Id="R2141e1203bef4f22" /><Relationship Type="http://schemas.openxmlformats.org/officeDocument/2006/relationships/slide" Target="/ppt/slides/slide9.xml" Id="R6cd45d2413fa400c" /><Relationship Type="http://schemas.openxmlformats.org/officeDocument/2006/relationships/slide" Target="/ppt/slides/slide10.xml" Id="Rac94d0c6883f4f0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2c44b96d172493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de8ebfa004b4049" /><Relationship Type="http://schemas.openxmlformats.org/officeDocument/2006/relationships/notesMaster" Target="/ppt/notesMasters/notesMaster1.xml" Id="R8b0c98be78c84000" /></Relationships>
</file>

<file path=ppt/notesSlides/_rels/notesSlide2.xml.rels>&#65279;<?xml version="1.0" encoding="utf-8"?><Relationships xmlns="http://schemas.openxmlformats.org/package/2006/relationships"><Relationship Type="http://schemas.openxmlformats.org/officeDocument/2006/relationships/slide" Target="/ppt/slides/slide2.xml" Id="Rd8ec2de497e94986" /><Relationship Type="http://schemas.openxmlformats.org/officeDocument/2006/relationships/notesMaster" Target="/ppt/notesMasters/notesMaster1.xml" Id="R6bd976f1cbd94239" /></Relationships>
</file>

<file path=ppt/notesSlides/_rels/notesSlide3.xml.rels>&#65279;<?xml version="1.0" encoding="utf-8"?><Relationships xmlns="http://schemas.openxmlformats.org/package/2006/relationships"><Relationship Type="http://schemas.openxmlformats.org/officeDocument/2006/relationships/slide" Target="/ppt/slides/slide3.xml" Id="R2e55eac793214715" /><Relationship Type="http://schemas.openxmlformats.org/officeDocument/2006/relationships/notesMaster" Target="/ppt/notesMasters/notesMaster1.xml" Id="R429cbbf54b8546da" /></Relationships>
</file>

<file path=ppt/notesSlides/_rels/notesSlide4.xml.rels>&#65279;<?xml version="1.0" encoding="utf-8"?><Relationships xmlns="http://schemas.openxmlformats.org/package/2006/relationships"><Relationship Type="http://schemas.openxmlformats.org/officeDocument/2006/relationships/slide" Target="/ppt/slides/slide4.xml" Id="Rd15db08a560443ac" /><Relationship Type="http://schemas.openxmlformats.org/officeDocument/2006/relationships/notesMaster" Target="/ppt/notesMasters/notesMaster1.xml" Id="Rf4fa3bd109254128" /></Relationships>
</file>

<file path=ppt/notesSlides/_rels/notesSlide5.xml.rels>&#65279;<?xml version="1.0" encoding="utf-8"?><Relationships xmlns="http://schemas.openxmlformats.org/package/2006/relationships"><Relationship Type="http://schemas.openxmlformats.org/officeDocument/2006/relationships/slide" Target="/ppt/slides/slide5.xml" Id="R430a34f4a7924e13" /><Relationship Type="http://schemas.openxmlformats.org/officeDocument/2006/relationships/notesMaster" Target="/ppt/notesMasters/notesMaster1.xml" Id="R8faf1814af4a46c0" /></Relationships>
</file>

<file path=ppt/notesSlides/_rels/notesSlide6.xml.rels>&#65279;<?xml version="1.0" encoding="utf-8"?><Relationships xmlns="http://schemas.openxmlformats.org/package/2006/relationships"><Relationship Type="http://schemas.openxmlformats.org/officeDocument/2006/relationships/slide" Target="/ppt/slides/slide6.xml" Id="Rcac81dc7117a4c50" /><Relationship Type="http://schemas.openxmlformats.org/officeDocument/2006/relationships/notesMaster" Target="/ppt/notesMasters/notesMaster1.xml" Id="Rc82990f438924fc9" /></Relationships>
</file>

<file path=ppt/notesSlides/_rels/notesSlide7.xml.rels>&#65279;<?xml version="1.0" encoding="utf-8"?><Relationships xmlns="http://schemas.openxmlformats.org/package/2006/relationships"><Relationship Type="http://schemas.openxmlformats.org/officeDocument/2006/relationships/slide" Target="/ppt/slides/slide7.xml" Id="R3fbc21086e174598" /><Relationship Type="http://schemas.openxmlformats.org/officeDocument/2006/relationships/notesMaster" Target="/ppt/notesMasters/notesMaster1.xml" Id="R9db5491422ab472b" /></Relationships>
</file>

<file path=ppt/notesSlides/_rels/notesSlide8.xml.rels>&#65279;<?xml version="1.0" encoding="utf-8"?><Relationships xmlns="http://schemas.openxmlformats.org/package/2006/relationships"><Relationship Type="http://schemas.openxmlformats.org/officeDocument/2006/relationships/slide" Target="/ppt/slides/slide8.xml" Id="R8ac06623e4414e3e" /><Relationship Type="http://schemas.openxmlformats.org/officeDocument/2006/relationships/notesMaster" Target="/ppt/notesMasters/notesMaster1.xml" Id="Rdc4e70f8af0143f4" /></Relationships>
</file>

<file path=ppt/notesSlides/_rels/notesSlide9.xml.rels>&#65279;<?xml version="1.0" encoding="utf-8"?><Relationships xmlns="http://schemas.openxmlformats.org/package/2006/relationships"><Relationship Type="http://schemas.openxmlformats.org/officeDocument/2006/relationships/slide" Target="/ppt/slides/slide9.xml" Id="Rd5f3c2c593b84c27" /><Relationship Type="http://schemas.openxmlformats.org/officeDocument/2006/relationships/notesMaster" Target="/ppt/notesMasters/notesMaster1.xml" Id="R1c02357418d943b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c1d9249f58d4fb7" /><Relationship Type="http://schemas.openxmlformats.org/officeDocument/2006/relationships/notesMaster" Target="/ppt/notesMasters/notesMaster1.xml" Id="Rd371bae0647e41f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Material: 5.2. Pines de entrada y salida. Autor: Ing. Pablo Torres, Mgtr.</a:t>
            </a:r>
          </a:p>
          <a:p xmlns:a="http://schemas.openxmlformats.org/drawingml/2006/main">
            <a:r>
              <a:t>Logo original proporcionado por el docente.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dispositivo debe detectar una acción física y cambiar una salida. Un pulsador real puede rebotar, de modo que una pulsación no equivale automáticamente a un único cambio lógico.</a:t>
            </a:r>
          </a:p>
          <a:p xmlns:a="http://schemas.openxmlformats.org/drawingml/2006/main">
            <a:r>
              <a:t>Fuente del desarrollo: material.md, contexto.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pinMode define el uso del pin. INPUT deja una entrada de alta impedancia que necesita una referencia externa; un pin flotante puede alternar de forma impredecible. INPUT_PULLUP activa una resistencia interna de pull-up. Con un pulsador entre D2 y GND, sin pulsar se lee HIGH y al pulsar LOW.</a:t>
            </a:r>
          </a:p>
          <a:p xmlns:a="http://schemas.openxmlformats.org/drawingml/2006/main">
            <a:r>
              <a:t/>
            </a:r>
          </a:p>
          <a:p xmlns:a="http://schemas.openxmlformats.org/drawingml/2006/main">
            <a:r>
              <a:t>Esta lógica activa en bajo debe reflejarse en los nombres y condiciones. Usa bool presionado = digitalRead(PIN_BOTON) == LOW. El pulsador debe conectarse respetando las patas realmente unidas del componente. Verifica continuidad y orientación antes de culpar al programa.</a:t>
            </a:r>
          </a:p>
          <a:p xmlns:a="http://schemas.openxmlformats.org/drawingml/2006/main">
            <a:r>
              <a:t/>
            </a:r>
          </a:p>
          <a:p xmlns:a="http://schemas.openxmlformats.org/drawingml/2006/main">
            <a:r>
              <a:t>Referencias:</a:t>
            </a:r>
          </a:p>
          <a:p xmlns:a="http://schemas.openxmlformats.org/drawingml/2006/main">
            <a:r>
              <a:t>https://docs.arduino.cc/language-reference/</a:t>
            </a:r>
          </a:p>
          <a:p xmlns:a="http://schemas.openxmlformats.org/drawingml/2006/main">
            <a:r>
              <a:t>https://docs.arduino.cc/hardware/uno-rev3/</a:t>
            </a:r>
          </a:p>
          <a:p xmlns:a="http://schemas.openxmlformats.org/drawingml/2006/main">
            <a:r>
              <a:t>https://fazecast.github.io/jSerialComm/</a:t>
            </a:r>
          </a:p>
          <a:p xmlns:a="http://schemas.openxmlformats.org/drawingml/2006/main">
            <a:r>
              <a:t>https://docs.espressif.com/projects/arduino-esp32/en/latest/api/adc.html</a:t>
            </a:r>
          </a:p>
          <a:p xmlns:a="http://schemas.openxmlformats.org/drawingml/2006/main">
            <a:r>
              <a:t>Correspondencia: material.md, sección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contactos mecánicos pueden producir varias transiciones rápidas en una sola pulsación. El antirrebote por tiempo registra el último cambio y acepta un nuevo estado solo cuando permanece estable durante un intervalo. El ejemplo usa 30 ms como parámetro ajustable para este montaje.</a:t>
            </a:r>
          </a:p>
          <a:p xmlns:a="http://schemas.openxmlformats.org/drawingml/2006/main">
            <a:r>
              <a:t/>
            </a:r>
          </a:p>
          <a:p xmlns:a="http://schemas.openxmlformats.org/drawingml/2006/main">
            <a:r>
              <a:t>Detectar estado y detectar flanco no son equivalentes. Si se cambia el LED en cada iteración mientras el botón está presionado, la salida alternará rápidamente. El programa cambia la salida únicamente cuando el estado estable pasa a LOW. Mantener presionado no genera nuevas acciones.</a:t>
            </a:r>
          </a:p>
          <a:p xmlns:a="http://schemas.openxmlformats.org/drawingml/2006/main">
            <a:r>
              <a:t/>
            </a:r>
          </a:p>
          <a:p xmlns:a="http://schemas.openxmlformats.org/drawingml/2006/main">
            <a:r>
              <a:t>Referencias:</a:t>
            </a:r>
          </a:p>
          <a:p xmlns:a="http://schemas.openxmlformats.org/drawingml/2006/main">
            <a:r>
              <a:t>https://docs.arduino.cc/language-reference/</a:t>
            </a:r>
          </a:p>
          <a:p xmlns:a="http://schemas.openxmlformats.org/drawingml/2006/main">
            <a:r>
              <a:t>https://docs.arduino.cc/hardware/uno-rev3/</a:t>
            </a:r>
          </a:p>
          <a:p xmlns:a="http://schemas.openxmlformats.org/drawingml/2006/main">
            <a:r>
              <a:t>https://fazecast.github.io/jSerialComm/</a:t>
            </a:r>
          </a:p>
          <a:p xmlns:a="http://schemas.openxmlformats.org/drawingml/2006/main">
            <a:r>
              <a:t>https://docs.espressif.com/projects/arduino-esp32/en/latest/api/adc.html</a:t>
            </a:r>
          </a:p>
          <a:p xmlns:a="http://schemas.openxmlformats.org/drawingml/2006/main">
            <a:r>
              <a:t>Correspondencia: material.md, sección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digitalWrite fija HIGH o LOW. analogWrite, en placas y pines compatibles, suele generar PWM: una señal digital cuya proporción de tiempo en alto varía. No implica una salida analógica continua mediante DAC. En UNO R3, PWM está disponible en pines específicos y el rango usual de analogWrite es 0 a 255.</a:t>
            </a:r>
          </a:p>
          <a:p xmlns:a="http://schemas.openxmlformats.org/drawingml/2006/main">
            <a:r>
              <a:t/>
            </a:r>
          </a:p>
          <a:p xmlns:a="http://schemas.openxmlformats.org/drawingml/2006/main">
            <a:r>
              <a:t>El LED incorporado simplifica la demostración sin cableado externo de salida. Para un LED externo se necesita una resistencia adecuada y conexión correcta. Motores, relés y otras cargas requieren una etapa de potencia y protección según el componente; no se conectan directamente a una salida del microcontrolador.</a:t>
            </a:r>
          </a:p>
          <a:p xmlns:a="http://schemas.openxmlformats.org/drawingml/2006/main">
            <a:r>
              <a:t/>
            </a:r>
          </a:p>
          <a:p xmlns:a="http://schemas.openxmlformats.org/drawingml/2006/main">
            <a:r>
              <a:t>Referencias:</a:t>
            </a:r>
          </a:p>
          <a:p xmlns:a="http://schemas.openxmlformats.org/drawingml/2006/main">
            <a:r>
              <a:t>https://docs.arduino.cc/language-reference/</a:t>
            </a:r>
          </a:p>
          <a:p xmlns:a="http://schemas.openxmlformats.org/drawingml/2006/main">
            <a:r>
              <a:t>https://docs.arduino.cc/hardware/uno-rev3/</a:t>
            </a:r>
          </a:p>
          <a:p xmlns:a="http://schemas.openxmlformats.org/drawingml/2006/main">
            <a:r>
              <a:t>https://fazecast.github.io/jSerialComm/</a:t>
            </a:r>
          </a:p>
          <a:p xmlns:a="http://schemas.openxmlformats.org/drawingml/2006/main">
            <a:r>
              <a:t>https://docs.espressif.com/projects/arduino-esp32/en/latest/api/adc.html</a:t>
            </a:r>
          </a:p>
          <a:p xmlns:a="http://schemas.openxmlformats.org/drawingml/2006/main">
            <a:r>
              <a:t>Correspondencia: material.md, sección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firmware mantiene el estado lógico del LED y comunica cambios por serial. La aplicación Java puede representar ese estado, pero no debe asumir que un comando enviado ya fue ejecutado. En el siguiente contenido se añadirá confirmación ACK.</a:t>
            </a:r>
          </a:p>
          <a:p xmlns:a="http://schemas.openxmlformats.org/drawingml/2006/main">
            <a:r>
              <a:t/>
            </a:r>
          </a:p>
          <a:p xmlns:a="http://schemas.openxmlformats.org/drawingml/2006/main">
            <a:r>
              <a:t>La PC documenta lectura estable, flancos y salida. Un diagrama eléctrico debe coincidir con la placa exacta. Las ilustraciones del material son analogías visuales y no sustituyen el esquema de conexión textual. La evidencia debe mostrar el montaje real utilizado.</a:t>
            </a:r>
          </a:p>
          <a:p xmlns:a="http://schemas.openxmlformats.org/drawingml/2006/main">
            <a:r>
              <a:t/>
            </a:r>
          </a:p>
          <a:p xmlns:a="http://schemas.openxmlformats.org/drawingml/2006/main">
            <a:r>
              <a:t>Referencias:</a:t>
            </a:r>
          </a:p>
          <a:p xmlns:a="http://schemas.openxmlformats.org/drawingml/2006/main">
            <a:r>
              <a:t>https://docs.arduino.cc/language-reference/</a:t>
            </a:r>
          </a:p>
          <a:p xmlns:a="http://schemas.openxmlformats.org/drawingml/2006/main">
            <a:r>
              <a:t>https://docs.arduino.cc/hardware/uno-rev3/</a:t>
            </a:r>
          </a:p>
          <a:p xmlns:a="http://schemas.openxmlformats.org/drawingml/2006/main">
            <a:r>
              <a:t>https://fazecast.github.io/jSerialComm/</a:t>
            </a:r>
          </a:p>
          <a:p xmlns:a="http://schemas.openxmlformats.org/drawingml/2006/main">
            <a:r>
              <a:t>https://docs.espressif.com/projects/arduino-esp32/en/latest/api/adc.html</a:t>
            </a:r>
          </a:p>
          <a:p xmlns:a="http://schemas.openxmlformats.org/drawingml/2006/main">
            <a:r>
              <a:t>Correspondencia: material.md, sección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Código completo:</a:t>
            </a:r>
          </a:p>
          <a:p xmlns:a="http://schemas.openxmlformats.org/drawingml/2006/main">
            <a:r>
              <a:t>#include &lt;Arduino.h&gt;</a:t>
            </a:r>
          </a:p>
          <a:p xmlns:a="http://schemas.openxmlformats.org/drawingml/2006/main">
            <a:r>
              <a:t>constexpr uint8_t PIN_BOTON = 2;</a:t>
            </a:r>
          </a:p>
          <a:p xmlns:a="http://schemas.openxmlformats.org/drawingml/2006/main">
            <a:r>
              <a:t>constexpr unsigned long REBOTE_MS = 30;</a:t>
            </a:r>
          </a:p>
          <a:p xmlns:a="http://schemas.openxmlformats.org/drawingml/2006/main">
            <a:r>
              <a:t>int ultimaLectura = HIGH;</a:t>
            </a:r>
          </a:p>
          <a:p xmlns:a="http://schemas.openxmlformats.org/drawingml/2006/main">
            <a:r>
              <a:t>int estable = HIGH;</a:t>
            </a:r>
          </a:p>
          <a:p xmlns:a="http://schemas.openxmlformats.org/drawingml/2006/main">
            <a:r>
              <a:t>unsigned long cambio = 0;</a:t>
            </a:r>
          </a:p>
          <a:p xmlns:a="http://schemas.openxmlformats.org/drawingml/2006/main">
            <a:r>
              <a:t>bool encendido = false;</a:t>
            </a:r>
          </a:p>
          <a:p xmlns:a="http://schemas.openxmlformats.org/drawingml/2006/main">
            <a:r>
              <a:t>void setup() {</a:t>
            </a:r>
          </a:p>
          <a:p xmlns:a="http://schemas.openxmlformats.org/drawingml/2006/main">
            <a:r>
              <a:t>  pinMode(PIN_BOTON, INPUT_PULLUP);</a:t>
            </a:r>
          </a:p>
          <a:p xmlns:a="http://schemas.openxmlformats.org/drawingml/2006/main">
            <a:r>
              <a:t>  pinMode(LED_BUILTIN, OUTPUT);</a:t>
            </a:r>
          </a:p>
          <a:p xmlns:a="http://schemas.openxmlformats.org/drawingml/2006/main">
            <a:r>
              <a:t>  Serial.begin(115200);</a:t>
            </a:r>
          </a:p>
          <a:p xmlns:a="http://schemas.openxmlformats.org/drawingml/2006/main">
            <a:r>
              <a:t>}</a:t>
            </a:r>
          </a:p>
          <a:p xmlns:a="http://schemas.openxmlformats.org/drawingml/2006/main">
            <a:r>
              <a:t>void loop() {</a:t>
            </a:r>
          </a:p>
          <a:p xmlns:a="http://schemas.openxmlformats.org/drawingml/2006/main">
            <a:r>
              <a:t>  int actual = digitalRead(PIN_BOTON);</a:t>
            </a:r>
          </a:p>
          <a:p xmlns:a="http://schemas.openxmlformats.org/drawingml/2006/main">
            <a:r>
              <a:t>  unsigned long ahora = millis();</a:t>
            </a:r>
          </a:p>
          <a:p xmlns:a="http://schemas.openxmlformats.org/drawingml/2006/main">
            <a:r>
              <a:t>  if (actual != ultimaLectura) { cambio = ahora; ultimaLectura = actual; }</a:t>
            </a:r>
          </a:p>
          <a:p xmlns:a="http://schemas.openxmlformats.org/drawingml/2006/main">
            <a:r>
              <a:t>  if (ahora - cambio &gt;= REBOTE_MS &amp;&amp; actual != estable) {</a:t>
            </a:r>
          </a:p>
          <a:p xmlns:a="http://schemas.openxmlformats.org/drawingml/2006/main">
            <a:r>
              <a:t>    estable = actual;</a:t>
            </a:r>
          </a:p>
          <a:p xmlns:a="http://schemas.openxmlformats.org/drawingml/2006/main">
            <a:r>
              <a:t>    if (estable == LOW) {</a:t>
            </a:r>
          </a:p>
          <a:p xmlns:a="http://schemas.openxmlformats.org/drawingml/2006/main">
            <a:r>
              <a:t>      encendido = !encendido;</a:t>
            </a:r>
          </a:p>
          <a:p xmlns:a="http://schemas.openxmlformats.org/drawingml/2006/main">
            <a:r>
              <a:t>      digitalWrite(LED_BUILTIN, encendido ? HIGH : LOW);</a:t>
            </a:r>
          </a:p>
          <a:p xmlns:a="http://schemas.openxmlformats.org/drawingml/2006/main">
            <a:r>
              <a:t>      Serial.print("LED="); Serial.println(encendido ? 1 : 0);</a:t>
            </a:r>
          </a:p>
          <a:p xmlns:a="http://schemas.openxmlformats.org/drawingml/2006/main">
            <a:r>
              <a:t>    }</a:t>
            </a:r>
          </a:p>
          <a:p xmlns:a="http://schemas.openxmlformats.org/drawingml/2006/main">
            <a:r>
              <a:t>  }</a:t>
            </a:r>
          </a:p>
          <a:p xmlns:a="http://schemas.openxmlformats.org/drawingml/2006/main">
            <a:r>
              <a:t>}</a:t>
            </a:r>
          </a:p>
          <a:p xmlns:a="http://schemas.openxmlformats.org/drawingml/2006/main">
            <a:r>
              <a:t/>
            </a:r>
          </a:p>
          <a:p xmlns:a="http://schemas.openxmlformats.org/drawingml/2006/main">
            <a:r>
              <a:t/>
            </a:r>
          </a:p>
          <a:p xmlns:a="http://schemas.openxmlformats.org/drawingml/2006/main">
            <a:r>
              <a:t>Salida:</a:t>
            </a:r>
          </a:p>
          <a:p xmlns:a="http://schemas.openxmlformats.org/drawingml/2006/main">
            <a:r>
              <a:t>Una pulsación estable alterna LED=1 y LED=0. Mantener pulsado no genera alternancias adicionales.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Salida esperada:</a:t>
            </a:r>
          </a:p>
          <a:p xmlns:a="http://schemas.openxmlformats.org/drawingml/2006/main">
            <a:r>
              <a:t>Una pulsación estable alterna LED=1 y LED=0. Mantener pulsado no genera alternancias adicionales.</a:t>
            </a:r>
          </a:p>
          <a:p xmlns:a="http://schemas.openxmlformats.org/drawingml/2006/main">
            <a:r>
              <a:t>Casos de aceptación: material.md, sección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Resuelve la ampliación en tu proyecto CampusMonitor.</a:t>
            </a:r>
          </a:p>
          <a:p xmlns:a="http://schemas.openxmlformats.org/drawingml/2006/main">
            <a:r>
              <a:t>Evidencia: evidencias/PC5.2.md y enlace al commit final.</a:t>
            </a:r>
          </a:p>
          <a:p xmlns:a="http://schemas.openxmlformats.org/drawingml/2006/main">
            <a:r>
              <a:t>Agrega un pulsador entre D2 y GND con INPUT_PULLUP, además del sensor de 5.1. Documenta el montaje antes de energizar.</a:t>
            </a:r>
          </a:p>
          <a:p xmlns:a="http://schemas.openxmlformats.org/drawingml/2006/main">
            <a:r>
              <a:t>Implementa antirrebote sin delay y una acción por flanco de pulsación. Conserva el muestreo periódico de A0.</a:t>
            </a:r>
          </a:p>
          <a:p xmlns:a="http://schemas.openxmlformats.org/drawingml/2006/main">
            <a:r>
              <a:t>Prueba pulsación corta, prolongada y varias pulsaciones. Registra cuánto tarda en aceptarse un estado estable y por qué la lógica es activa en bajo.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Síntesis del material. Revisa la sección 3 para la PC y la guía general para commits y evidencias.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c4fd44c313341d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4c7b466530244f1" /><Relationship Type="http://schemas.openxmlformats.org/officeDocument/2006/relationships/slideLayout" Target="/ppt/slideLayouts/slideLayout1.xml" Id="Rc278039ce4e944b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278039ce4e944b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71fdefb1c184567" /><Relationship Type="http://schemas.openxmlformats.org/officeDocument/2006/relationships/image" Target="/ppt/media/image.png" Id="R6473574081474cc7" /><Relationship Type="http://schemas.openxmlformats.org/officeDocument/2006/relationships/notesSlide" Target="/ppt/notesSlides/notesSlide1.xml" Id="R3bf44e9080464a87"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512aba6554d843e7" /><Relationship Type="http://schemas.openxmlformats.org/officeDocument/2006/relationships/notesSlide" Target="/ppt/notesSlides/notesSlide2.xml" Id="R8b61224b2cf84d9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fb44278701e14d6d" /><Relationship Type="http://schemas.openxmlformats.org/officeDocument/2006/relationships/notesSlide" Target="/ppt/notesSlides/notesSlide3.xml" Id="R6efae1f4055d488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f9434cfa7904eb2" /><Relationship Type="http://schemas.openxmlformats.org/officeDocument/2006/relationships/notesSlide" Target="/ppt/notesSlides/notesSlide4.xml" Id="R9080a95fc5334b7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59765e94165e4a24" /><Relationship Type="http://schemas.openxmlformats.org/officeDocument/2006/relationships/notesSlide" Target="/ppt/notesSlides/notesSlide5.xml" Id="Rea32cccde1a447b2"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46a6f0979a24081" /><Relationship Type="http://schemas.openxmlformats.org/officeDocument/2006/relationships/notesSlide" Target="/ppt/notesSlides/notesSlide6.xml" Id="Re33ae90d83e241e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1aabef5fbacd4eb5" /><Relationship Type="http://schemas.openxmlformats.org/officeDocument/2006/relationships/notesSlide" Target="/ppt/notesSlides/notesSlide7.xml" Id="Rc89929b841ec4db6"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30154af08c34af6" /><Relationship Type="http://schemas.openxmlformats.org/officeDocument/2006/relationships/notesSlide" Target="/ppt/notesSlides/notesSlide8.xml" Id="Rbcebfb9e1e15406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40425256fac349c8" /><Relationship Type="http://schemas.openxmlformats.org/officeDocument/2006/relationships/notesSlide" Target="/ppt/notesSlides/notesSlide9.xml" Id="Re03c6d675950473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d86b4a1414ff45c1" /><Relationship Type="http://schemas.openxmlformats.org/officeDocument/2006/relationships/notesSlide" Target="/ppt/notesSlides/notesSlide10.xml" Id="R84699e1414c448c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6473574081474cc7"/>
          <a:stretch xmlns:a="http://schemas.openxmlformats.org/drawingml/2006/main"/>
        </p:blipFill>
        <p:spPr>
          <a:xfrm xmlns:a="http://schemas.openxmlformats.org/drawingml/2006/main">
            <a:off x="609600" y="545418"/>
            <a:ext cx="6858000" cy="1128489"/>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F859B0CE-9F47-47B0-BCBD-B1F914A1C87E}"/>
              </a:ext>
            </a:extLst>
          </p:cNvPr>
          <p:cNvSpPr>
            <a:spLocks xmlns:a="http://schemas.openxmlformats.org/drawingml/2006/main" noGrp="1"/>
          </p:cNvSpPr>
          <p:nvPr/>
        </p:nvSpPr>
        <p:spPr>
          <a:xfrm xmlns:a="http://schemas.openxmlformats.org/drawingml/2006/main">
            <a:off x="609600" y="2238375"/>
            <a:ext cx="10763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3150" b="1">
                <a:solidFill>
                  <a:srgbClr val="003772"/>
                </a:solidFill>
                <a:latin typeface="DejaVu Sans"/>
                <a:ea typeface="DejaVu Sans"/>
                <a:cs typeface="DejaVu Sans"/>
              </a:defRPr>
            </a:pPr>
            <a:r>
              <a:rPr sz="3150" b="1">
                <a:solidFill>
                  <a:srgbClr val="003772"/>
                </a:solidFill>
                <a:latin typeface="DejaVu Sans"/>
                <a:ea typeface="DejaVu Sans"/>
                <a:cs typeface="DejaVu Sans"/>
              </a:rPr>
              <a:t>Programación Aplicada</a:t>
            </a:r>
          </a:p>
        </p:txBody>
      </p:sp>
      <p:sp>
        <p:nvSpPr>
          <p:cNvPr id="3" name="">
            <a:extLst xmlns:a="http://schemas.openxmlformats.org/drawingml/2006/main">
              <a:ext uri="{FF2B5EF4-FFF2-40B4-BE49-F238E27FC236}">
                <a16:creationId xmlns:a16="http://schemas.microsoft.com/office/drawing/2014/main" id="{C4FB60B0-EFD7-4EFF-A44F-422BDEB7457E}"/>
              </a:ext>
            </a:extLst>
          </p:cNvPr>
          <p:cNvSpPr>
            <a:spLocks xmlns:a="http://schemas.openxmlformats.org/drawingml/2006/main" noGrp="1"/>
          </p:cNvSpPr>
          <p:nvPr/>
        </p:nvSpPr>
        <p:spPr>
          <a:xfrm xmlns:a="http://schemas.openxmlformats.org/drawingml/2006/main">
            <a:off x="609600" y="3162300"/>
            <a:ext cx="108204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775" b="1">
                <a:solidFill>
                  <a:srgbClr val="003772"/>
                </a:solidFill>
                <a:latin typeface="DejaVu Sans"/>
                <a:ea typeface="DejaVu Sans"/>
                <a:cs typeface="DejaVu Sans"/>
              </a:defRPr>
            </a:pPr>
            <a:r>
              <a:rPr sz="2775" b="1">
                <a:solidFill>
                  <a:srgbClr val="003772"/>
                </a:solidFill>
                <a:latin typeface="DejaVu Sans"/>
                <a:ea typeface="DejaVu Sans"/>
                <a:cs typeface="DejaVu Sans"/>
              </a:rPr>
              <a:t>Pines de entrada y salida</a:t>
            </a:r>
          </a:p>
        </p:txBody>
      </p:sp>
      <p:sp>
        <p:nvSpPr>
          <p:cNvPr id="4" name="">
            <a:extLst xmlns:a="http://schemas.openxmlformats.org/drawingml/2006/main">
              <a:ext uri="{FF2B5EF4-FFF2-40B4-BE49-F238E27FC236}">
                <a16:creationId xmlns:a16="http://schemas.microsoft.com/office/drawing/2014/main" id="{FFE56C91-C63A-44CD-9C24-3316FE4080FB}"/>
              </a:ext>
            </a:extLst>
          </p:cNvPr>
          <p:cNvSpPr>
            <a:spLocks xmlns:a="http://schemas.openxmlformats.org/drawingml/2006/main" noGrp="1"/>
          </p:cNvSpPr>
          <p:nvPr/>
        </p:nvSpPr>
        <p:spPr>
          <a:xfrm xmlns:a="http://schemas.openxmlformats.org/drawingml/2006/main">
            <a:off x="609600" y="4705350"/>
            <a:ext cx="1381125" cy="47625"/>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2B285042-F2BD-4B53-83F1-15E6490995F9}"/>
              </a:ext>
            </a:extLst>
          </p:cNvPr>
          <p:cNvSpPr>
            <a:spLocks xmlns:a="http://schemas.openxmlformats.org/drawingml/2006/main" noGrp="1"/>
          </p:cNvSpPr>
          <p:nvPr/>
        </p:nvSpPr>
        <p:spPr>
          <a:xfrm xmlns:a="http://schemas.openxmlformats.org/drawingml/2006/main">
            <a:off x="609600" y="5067300"/>
            <a:ext cx="1047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07508E"/>
                </a:solidFill>
                <a:latin typeface="DejaVu Sans"/>
                <a:ea typeface="DejaVu Sans"/>
                <a:cs typeface="DejaVu Sans"/>
              </a:defRPr>
            </a:pPr>
            <a:r>
              <a:rPr sz="1575" b="0">
                <a:solidFill>
                  <a:srgbClr val="07508E"/>
                </a:solidFill>
                <a:latin typeface="DejaVu Sans"/>
                <a:ea typeface="DejaVu Sans"/>
                <a:cs typeface="DejaVu Sans"/>
              </a:rPr>
              <a:t>Unidad 5 · 5.2</a:t>
            </a:r>
          </a:p>
        </p:txBody>
      </p:sp>
      <p:sp>
        <p:nvSpPr>
          <p:cNvPr id="6" name="">
            <a:extLst xmlns:a="http://schemas.openxmlformats.org/drawingml/2006/main">
              <a:ext uri="{FF2B5EF4-FFF2-40B4-BE49-F238E27FC236}">
                <a16:creationId xmlns:a16="http://schemas.microsoft.com/office/drawing/2014/main" id="{507E39AF-0730-43E7-A71B-5B1BE0BC2222}"/>
              </a:ext>
            </a:extLst>
          </p:cNvPr>
          <p:cNvSpPr>
            <a:spLocks xmlns:a="http://schemas.openxmlformats.org/drawingml/2006/main" noGrp="1"/>
          </p:cNvSpPr>
          <p:nvPr/>
        </p:nvSpPr>
        <p:spPr>
          <a:xfrm xmlns:a="http://schemas.openxmlformats.org/drawingml/2006/main">
            <a:off x="609600" y="567690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C5B5F"/>
                </a:solidFill>
                <a:latin typeface="DejaVu Sans"/>
                <a:ea typeface="DejaVu Sans"/>
                <a:cs typeface="DejaVu Sans"/>
              </a:defRPr>
            </a:pPr>
            <a:r>
              <a:rPr sz="1425" b="0">
                <a:solidFill>
                  <a:srgbClr val="5C5B5F"/>
                </a:solidFill>
                <a:latin typeface="DejaVu Sans"/>
                <a:ea typeface="DejaVu Sans"/>
                <a:cs typeface="DejaVu Sans"/>
              </a:rPr>
              <a:t>Ing. Pablo Torres, Mgtr.</a:t>
            </a:r>
          </a:p>
        </p:txBody>
      </p:sp>
    </p:spTree>
    <p:extLst>
      <p:ext uri="{BB962C8B-B14F-4D97-AF65-F5344CB8AC3E}">
        <p14:creationId xmlns:p14="http://schemas.microsoft.com/office/powerpoint/2010/main" val="207484987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4B60588-CFC5-49BF-BD8E-C2D86B6AF2EF}"/>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085B10D-C126-4B64-B72C-D3C6D2B0C2A4}"/>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El problema de CampusMonitor</a:t>
            </a:r>
          </a:p>
        </p:txBody>
      </p:sp>
      <p:sp>
        <p:nvSpPr>
          <p:cNvPr id="3" name="">
            <a:extLst xmlns:a="http://schemas.openxmlformats.org/drawingml/2006/main">
              <a:ext uri="{FF2B5EF4-FFF2-40B4-BE49-F238E27FC236}">
                <a16:creationId xmlns:a16="http://schemas.microsoft.com/office/drawing/2014/main" id="{564066AF-BB5E-482A-BBA7-53271D40769E}"/>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8905920-7AA1-4F7D-A0FF-E407FE5F8662}"/>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5.2</a:t>
            </a:r>
          </a:p>
        </p:txBody>
      </p:sp>
      <p:sp>
        <p:nvSpPr>
          <p:cNvPr id="5" name="">
            <a:extLst xmlns:a="http://schemas.openxmlformats.org/drawingml/2006/main">
              <a:ext uri="{FF2B5EF4-FFF2-40B4-BE49-F238E27FC236}">
                <a16:creationId xmlns:a16="http://schemas.microsoft.com/office/drawing/2014/main" id="{56784F5B-9D0E-4DDD-A023-856D3BB54D22}"/>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2</a:t>
            </a:r>
          </a:p>
        </p:txBody>
      </p:sp>
      <p:sp>
        <p:nvSpPr>
          <p:cNvPr id="6" name="">
            <a:extLst xmlns:a="http://schemas.openxmlformats.org/drawingml/2006/main">
              <a:ext uri="{FF2B5EF4-FFF2-40B4-BE49-F238E27FC236}">
                <a16:creationId xmlns:a16="http://schemas.microsoft.com/office/drawing/2014/main" id="{E58FDE98-BC42-4501-AF42-4749DA2EB2D7}"/>
              </a:ext>
            </a:extLst>
          </p:cNvPr>
          <p:cNvSpPr>
            <a:spLocks xmlns:a="http://schemas.openxmlformats.org/drawingml/2006/main" noGrp="1"/>
          </p:cNvSpPr>
          <p:nvPr/>
        </p:nvSpPr>
        <p:spPr>
          <a:xfrm xmlns:a="http://schemas.openxmlformats.org/drawingml/2006/main">
            <a:off x="762000" y="1771650"/>
            <a:ext cx="1047750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El dispositivo debe detectar una acción física y cambiar una salida. Un pulsador real puede rebotar, de modo que una pulsación no equivale automáticamente a un único cambio lógico.</a:t>
            </a:r>
          </a:p>
        </p:txBody>
      </p:sp>
    </p:spTree>
    <p:extLst>
      <p:ext uri="{BB962C8B-B14F-4D97-AF65-F5344CB8AC3E}">
        <p14:creationId xmlns:p14="http://schemas.microsoft.com/office/powerpoint/2010/main" val="142636890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74892D5-6E43-4E41-860E-528C4C3E6F96}"/>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52FCFE4-BC02-4EC6-9A29-EB60E7000CEE}"/>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Entradas y pull-up</a:t>
            </a:r>
          </a:p>
        </p:txBody>
      </p:sp>
      <p:sp>
        <p:nvSpPr>
          <p:cNvPr id="3" name="">
            <a:extLst xmlns:a="http://schemas.openxmlformats.org/drawingml/2006/main">
              <a:ext uri="{FF2B5EF4-FFF2-40B4-BE49-F238E27FC236}">
                <a16:creationId xmlns:a16="http://schemas.microsoft.com/office/drawing/2014/main" id="{2BD971A0-08BD-4FEB-9366-7E89E4982BC3}"/>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19AD5F8F-F9FD-4FC9-A83D-80DE298CFA67}"/>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5.2</a:t>
            </a:r>
          </a:p>
        </p:txBody>
      </p:sp>
      <p:sp>
        <p:nvSpPr>
          <p:cNvPr id="5" name="">
            <a:extLst xmlns:a="http://schemas.openxmlformats.org/drawingml/2006/main">
              <a:ext uri="{FF2B5EF4-FFF2-40B4-BE49-F238E27FC236}">
                <a16:creationId xmlns:a16="http://schemas.microsoft.com/office/drawing/2014/main" id="{9799D953-8C89-4F1E-82AE-FCED1B508864}"/>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3</a:t>
            </a:r>
          </a:p>
        </p:txBody>
      </p:sp>
      <p:sp>
        <p:nvSpPr>
          <p:cNvPr id="6" name="">
            <a:extLst xmlns:a="http://schemas.openxmlformats.org/drawingml/2006/main">
              <a:ext uri="{FF2B5EF4-FFF2-40B4-BE49-F238E27FC236}">
                <a16:creationId xmlns:a16="http://schemas.microsoft.com/office/drawing/2014/main" id="{C1804F6C-0F91-4178-AAF7-924853A843CA}"/>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INPUT_PULLUP produce una entrada activa en bajo.</a:t>
            </a:r>
          </a:p>
        </p:txBody>
      </p:sp>
      <p:sp>
        <p:nvSpPr>
          <p:cNvPr id="7" name="">
            <a:extLst xmlns:a="http://schemas.openxmlformats.org/drawingml/2006/main">
              <a:ext uri="{FF2B5EF4-FFF2-40B4-BE49-F238E27FC236}">
                <a16:creationId xmlns:a16="http://schemas.microsoft.com/office/drawing/2014/main" id="{49187575-297B-4C3C-8C23-D8A6B74DF776}"/>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pinMode define el uso del pin. INPUT deja una entrada de alta impedancia que necesita una referencia externa; un pin flotante puede alternar de forma impredecible. INPUT_PULLUP activa una resistencia interna de pull-up. Con un pulsador entre D2 y GND, sin pulsar se lee HIGH y al pulsar LOW.</a:t>
            </a:r>
          </a:p>
        </p:txBody>
      </p:sp>
      <p:sp>
        <p:nvSpPr>
          <p:cNvPr id="8" name="">
            <a:extLst xmlns:a="http://schemas.openxmlformats.org/drawingml/2006/main">
              <a:ext uri="{FF2B5EF4-FFF2-40B4-BE49-F238E27FC236}">
                <a16:creationId xmlns:a16="http://schemas.microsoft.com/office/drawing/2014/main" id="{3773A180-A326-45C4-A8A5-BB84D87165AD}"/>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FA006D11-1C7E-4058-B5C8-9034A42BBEFD}"/>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Esta lógica activa en bajo debe reflejarse en los nombres y condiciones. Usa bool presionado = digitalRead(PIN_BOTON) == LOW. El pulsador debe conectarse respetando las patas realmente unidas del componente.</a:t>
            </a:r>
          </a:p>
        </p:txBody>
      </p:sp>
    </p:spTree>
    <p:extLst>
      <p:ext uri="{BB962C8B-B14F-4D97-AF65-F5344CB8AC3E}">
        <p14:creationId xmlns:p14="http://schemas.microsoft.com/office/powerpoint/2010/main" val="207472989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A8FE3E3-E8C3-44D6-8364-62B6DA18770D}"/>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5F09875-4D8E-4396-98E7-981C75AB641F}"/>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Rebote y detección de flanco</a:t>
            </a:r>
          </a:p>
        </p:txBody>
      </p:sp>
      <p:sp>
        <p:nvSpPr>
          <p:cNvPr id="3" name="">
            <a:extLst xmlns:a="http://schemas.openxmlformats.org/drawingml/2006/main">
              <a:ext uri="{FF2B5EF4-FFF2-40B4-BE49-F238E27FC236}">
                <a16:creationId xmlns:a16="http://schemas.microsoft.com/office/drawing/2014/main" id="{86AEF884-6992-48CF-ABAE-00E94E81108E}"/>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0BF52E31-7014-433A-AC5C-D0F96E7948DD}"/>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5.2</a:t>
            </a:r>
          </a:p>
        </p:txBody>
      </p:sp>
      <p:sp>
        <p:nvSpPr>
          <p:cNvPr id="5" name="">
            <a:extLst xmlns:a="http://schemas.openxmlformats.org/drawingml/2006/main">
              <a:ext uri="{FF2B5EF4-FFF2-40B4-BE49-F238E27FC236}">
                <a16:creationId xmlns:a16="http://schemas.microsoft.com/office/drawing/2014/main" id="{A2F5A5AF-5E88-4D30-89CC-616D8825EB0E}"/>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4</a:t>
            </a:r>
          </a:p>
        </p:txBody>
      </p:sp>
      <p:sp>
        <p:nvSpPr>
          <p:cNvPr id="6" name="">
            <a:extLst xmlns:a="http://schemas.openxmlformats.org/drawingml/2006/main">
              <a:ext uri="{FF2B5EF4-FFF2-40B4-BE49-F238E27FC236}">
                <a16:creationId xmlns:a16="http://schemas.microsoft.com/office/drawing/2014/main" id="{9F6CFAEF-8806-42B3-A94D-42656B002048}"/>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El rebote puede generar múltiples transiciones.</a:t>
            </a:r>
          </a:p>
        </p:txBody>
      </p:sp>
      <p:sp>
        <p:nvSpPr>
          <p:cNvPr id="7" name="">
            <a:extLst xmlns:a="http://schemas.openxmlformats.org/drawingml/2006/main">
              <a:ext uri="{FF2B5EF4-FFF2-40B4-BE49-F238E27FC236}">
                <a16:creationId xmlns:a16="http://schemas.microsoft.com/office/drawing/2014/main" id="{4565686D-CF55-4513-BEED-B38BE96815D4}"/>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Los contactos mecánicos pueden producir varias transiciones rápidas en una sola pulsación. El antirrebote por tiempo registra el último cambio y acepta un nuevo estado solo cuando permanece estable durante un intervalo. El ejemplo usa 30 ms como parámetro ajustable para este montaje.</a:t>
            </a:r>
          </a:p>
        </p:txBody>
      </p:sp>
      <p:sp>
        <p:nvSpPr>
          <p:cNvPr id="8" name="">
            <a:extLst xmlns:a="http://schemas.openxmlformats.org/drawingml/2006/main">
              <a:ext uri="{FF2B5EF4-FFF2-40B4-BE49-F238E27FC236}">
                <a16:creationId xmlns:a16="http://schemas.microsoft.com/office/drawing/2014/main" id="{2099B8D2-FEEC-46B8-A1BC-37727FDD67DF}"/>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3131C2A1-66BC-4D42-BF5B-3ACF3B3A3542}"/>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Detectar estado y detectar flanco no son equivalentes. Si se cambia el LED en cada iteración mientras el botón está presionado, la salida alternará rápidamente.</a:t>
            </a:r>
          </a:p>
        </p:txBody>
      </p:sp>
    </p:spTree>
    <p:extLst>
      <p:ext uri="{BB962C8B-B14F-4D97-AF65-F5344CB8AC3E}">
        <p14:creationId xmlns:p14="http://schemas.microsoft.com/office/powerpoint/2010/main" val="110516707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DC304902-51EC-487C-BFFC-37A7E951CF75}"/>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8486735-5541-4542-816B-8BEEF27D4F1B}"/>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Salida digital y PWM</a:t>
            </a:r>
          </a:p>
        </p:txBody>
      </p:sp>
      <p:sp>
        <p:nvSpPr>
          <p:cNvPr id="3" name="">
            <a:extLst xmlns:a="http://schemas.openxmlformats.org/drawingml/2006/main">
              <a:ext uri="{FF2B5EF4-FFF2-40B4-BE49-F238E27FC236}">
                <a16:creationId xmlns:a16="http://schemas.microsoft.com/office/drawing/2014/main" id="{2C63AF1F-C0F7-4454-B65B-80ABCF8CA8BB}"/>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0FC360B-6DDA-409E-8E34-5F60D2407BBE}"/>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5.2</a:t>
            </a:r>
          </a:p>
        </p:txBody>
      </p:sp>
      <p:sp>
        <p:nvSpPr>
          <p:cNvPr id="5" name="">
            <a:extLst xmlns:a="http://schemas.openxmlformats.org/drawingml/2006/main">
              <a:ext uri="{FF2B5EF4-FFF2-40B4-BE49-F238E27FC236}">
                <a16:creationId xmlns:a16="http://schemas.microsoft.com/office/drawing/2014/main" id="{F5E54DF8-578C-4E2B-BB25-ABC660E4678F}"/>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5</a:t>
            </a:r>
          </a:p>
        </p:txBody>
      </p:sp>
      <p:sp>
        <p:nvSpPr>
          <p:cNvPr id="6" name="">
            <a:extLst xmlns:a="http://schemas.openxmlformats.org/drawingml/2006/main">
              <a:ext uri="{FF2B5EF4-FFF2-40B4-BE49-F238E27FC236}">
                <a16:creationId xmlns:a16="http://schemas.microsoft.com/office/drawing/2014/main" id="{04C31A6A-EAEB-495F-B777-06B3ADF47113}"/>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PWM regula el ciclo de trabajo de una señal digital.</a:t>
            </a:r>
          </a:p>
        </p:txBody>
      </p:sp>
      <p:sp>
        <p:nvSpPr>
          <p:cNvPr id="7" name="">
            <a:extLst xmlns:a="http://schemas.openxmlformats.org/drawingml/2006/main">
              <a:ext uri="{FF2B5EF4-FFF2-40B4-BE49-F238E27FC236}">
                <a16:creationId xmlns:a16="http://schemas.microsoft.com/office/drawing/2014/main" id="{2D776819-F3D3-4EBE-8165-6B2E7C0D7490}"/>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digitalWrite fija HIGH o LOW. analogWrite, en placas y pines compatibles, suele generar PWM: una señal digital cuya proporción de tiempo en alto varía. No implica una salida analógica continua mediante DAC. En UNO R3, PWM está disponible en pines específicos y el rango usual de analogWrite es 0 a 255.</a:t>
            </a:r>
          </a:p>
        </p:txBody>
      </p:sp>
      <p:sp>
        <p:nvSpPr>
          <p:cNvPr id="8" name="">
            <a:extLst xmlns:a="http://schemas.openxmlformats.org/drawingml/2006/main">
              <a:ext uri="{FF2B5EF4-FFF2-40B4-BE49-F238E27FC236}">
                <a16:creationId xmlns:a16="http://schemas.microsoft.com/office/drawing/2014/main" id="{37EB5D96-D9B8-4424-8FCC-DB8D0EBDD4E5}"/>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092FE99B-AE85-4C4B-89A3-33BD17767F18}"/>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El LED incorporado simplifica la demostración sin cableado externo de salida. Para un LED externo se necesita una resistencia adecuada y conexión correcta.</a:t>
            </a:r>
          </a:p>
        </p:txBody>
      </p:sp>
    </p:spTree>
    <p:extLst>
      <p:ext uri="{BB962C8B-B14F-4D97-AF65-F5344CB8AC3E}">
        <p14:creationId xmlns:p14="http://schemas.microsoft.com/office/powerpoint/2010/main" val="244274537"/>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528210B-60AE-41E9-AEA0-1E9DA69C6D27}"/>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135C34D-C70A-4C03-AB19-B0D565A80092}"/>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Entrada física y estado de aplicación</a:t>
            </a:r>
          </a:p>
        </p:txBody>
      </p:sp>
      <p:sp>
        <p:nvSpPr>
          <p:cNvPr id="3" name="">
            <a:extLst xmlns:a="http://schemas.openxmlformats.org/drawingml/2006/main">
              <a:ext uri="{FF2B5EF4-FFF2-40B4-BE49-F238E27FC236}">
                <a16:creationId xmlns:a16="http://schemas.microsoft.com/office/drawing/2014/main" id="{D0B42CEF-EA58-4424-9C29-3E3AB4C2D336}"/>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C4DD9884-9A44-44FD-8FF6-FD3F23E697D2}"/>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5.2</a:t>
            </a:r>
          </a:p>
        </p:txBody>
      </p:sp>
      <p:sp>
        <p:nvSpPr>
          <p:cNvPr id="5" name="">
            <a:extLst xmlns:a="http://schemas.openxmlformats.org/drawingml/2006/main">
              <a:ext uri="{FF2B5EF4-FFF2-40B4-BE49-F238E27FC236}">
                <a16:creationId xmlns:a16="http://schemas.microsoft.com/office/drawing/2014/main" id="{1F79DDD1-1358-4946-B807-DC5CF9DF937A}"/>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6</a:t>
            </a:r>
          </a:p>
        </p:txBody>
      </p:sp>
      <p:sp>
        <p:nvSpPr>
          <p:cNvPr id="6" name="">
            <a:extLst xmlns:a="http://schemas.openxmlformats.org/drawingml/2006/main">
              <a:ext uri="{FF2B5EF4-FFF2-40B4-BE49-F238E27FC236}">
                <a16:creationId xmlns:a16="http://schemas.microsoft.com/office/drawing/2014/main" id="{9EA6E715-3B2A-4949-8624-95E38C1CF255}"/>
              </a:ext>
            </a:extLst>
          </p:cNvPr>
          <p:cNvSpPr>
            <a:spLocks xmlns:a="http://schemas.openxmlformats.org/drawingml/2006/main" noGrp="1"/>
          </p:cNvSpPr>
          <p:nvPr/>
        </p:nvSpPr>
        <p:spPr>
          <a:xfrm xmlns:a="http://schemas.openxmlformats.org/drawingml/2006/main">
            <a:off x="723900" y="1695450"/>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400" b="1">
                <a:solidFill>
                  <a:srgbClr val="003772"/>
                </a:solidFill>
                <a:latin typeface="DejaVu Sans"/>
                <a:ea typeface="DejaVu Sans"/>
                <a:cs typeface="DejaVu Sans"/>
              </a:defRPr>
            </a:pPr>
            <a:r>
              <a:rPr sz="2400" b="1">
                <a:solidFill>
                  <a:srgbClr val="003772"/>
                </a:solidFill>
                <a:latin typeface="DejaVu Sans"/>
                <a:ea typeface="DejaVu Sans"/>
                <a:cs typeface="DejaVu Sans"/>
              </a:rPr>
              <a:t>La acción se asocia al flanco estable.</a:t>
            </a:r>
          </a:p>
        </p:txBody>
      </p:sp>
      <p:sp>
        <p:nvSpPr>
          <p:cNvPr id="7" name="">
            <a:extLst xmlns:a="http://schemas.openxmlformats.org/drawingml/2006/main">
              <a:ext uri="{FF2B5EF4-FFF2-40B4-BE49-F238E27FC236}">
                <a16:creationId xmlns:a16="http://schemas.microsoft.com/office/drawing/2014/main" id="{8D7131A1-77AD-4D05-81BC-E544A029FE2A}"/>
              </a:ext>
            </a:extLst>
          </p:cNvPr>
          <p:cNvSpPr>
            <a:spLocks xmlns:a="http://schemas.openxmlformats.org/drawingml/2006/main" noGrp="1"/>
          </p:cNvSpPr>
          <p:nvPr/>
        </p:nvSpPr>
        <p:spPr>
          <a:xfrm xmlns:a="http://schemas.openxmlformats.org/drawingml/2006/main">
            <a:off x="723900" y="2857500"/>
            <a:ext cx="1047750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0">
                <a:solidFill>
                  <a:srgbClr val="403F3B"/>
                </a:solidFill>
                <a:latin typeface="DejaVu Sans"/>
                <a:ea typeface="DejaVu Sans"/>
                <a:cs typeface="DejaVu Sans"/>
              </a:defRPr>
            </a:pPr>
            <a:r>
              <a:rPr sz="2025" b="0">
                <a:solidFill>
                  <a:srgbClr val="403F3B"/>
                </a:solidFill>
                <a:latin typeface="DejaVu Sans"/>
                <a:ea typeface="DejaVu Sans"/>
                <a:cs typeface="DejaVu Sans"/>
              </a:rPr>
              <a:t>El firmware mantiene el estado lógico del LED y comunica cambios por serial. La aplicación Java puede representar ese estado, pero no debe asumir que un comando enviado ya fue ejecutado. En el siguiente contenido se añadirá confirmación ACK.</a:t>
            </a:r>
          </a:p>
        </p:txBody>
      </p:sp>
      <p:sp>
        <p:nvSpPr>
          <p:cNvPr id="8" name="">
            <a:extLst xmlns:a="http://schemas.openxmlformats.org/drawingml/2006/main">
              <a:ext uri="{FF2B5EF4-FFF2-40B4-BE49-F238E27FC236}">
                <a16:creationId xmlns:a16="http://schemas.microsoft.com/office/drawing/2014/main" id="{5FEF95EB-630E-495A-9E9B-7D90B110E707}"/>
              </a:ext>
            </a:extLst>
          </p:cNvPr>
          <p:cNvSpPr>
            <a:spLocks xmlns:a="http://schemas.openxmlformats.org/drawingml/2006/main" noGrp="1"/>
          </p:cNvSpPr>
          <p:nvPr/>
        </p:nvSpPr>
        <p:spPr>
          <a:xfrm xmlns:a="http://schemas.openxmlformats.org/drawingml/2006/main">
            <a:off x="723900" y="4714875"/>
            <a:ext cx="47625" cy="97155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29A89A54-77FB-4474-B1F7-73A409AC3C13}"/>
              </a:ext>
            </a:extLst>
          </p:cNvPr>
          <p:cNvSpPr>
            <a:spLocks xmlns:a="http://schemas.openxmlformats.org/drawingml/2006/main" noGrp="1"/>
          </p:cNvSpPr>
          <p:nvPr/>
        </p:nvSpPr>
        <p:spPr>
          <a:xfrm xmlns:a="http://schemas.openxmlformats.org/drawingml/2006/main">
            <a:off x="971550" y="4648200"/>
            <a:ext cx="102679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725" b="0">
                <a:solidFill>
                  <a:srgbClr val="07508E"/>
                </a:solidFill>
                <a:latin typeface="DejaVu Sans"/>
                <a:ea typeface="DejaVu Sans"/>
                <a:cs typeface="DejaVu Sans"/>
              </a:defRPr>
            </a:pPr>
            <a:r>
              <a:rPr sz="1725" b="0">
                <a:solidFill>
                  <a:srgbClr val="07508E"/>
                </a:solidFill>
                <a:latin typeface="DejaVu Sans"/>
                <a:ea typeface="DejaVu Sans"/>
                <a:cs typeface="DejaVu Sans"/>
              </a:rPr>
              <a:t>La PC documenta lectura estable, flancos y salida. Un diagrama eléctrico debe coincidir con la placa exacta. Las ilustraciones del material son analogías visuales y no sustituyen el esquema de conexión textual.</a:t>
            </a:r>
          </a:p>
        </p:txBody>
      </p:sp>
    </p:spTree>
    <p:extLst>
      <p:ext uri="{BB962C8B-B14F-4D97-AF65-F5344CB8AC3E}">
        <p14:creationId xmlns:p14="http://schemas.microsoft.com/office/powerpoint/2010/main" val="129995853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1E60064-46B7-4D35-9560-72240B2646AB}"/>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5A849A5-E78B-4B29-B764-4FCA14FDC2F0}"/>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Demostración de firmware</a:t>
            </a:r>
          </a:p>
        </p:txBody>
      </p:sp>
      <p:sp>
        <p:nvSpPr>
          <p:cNvPr id="3" name="">
            <a:extLst xmlns:a="http://schemas.openxmlformats.org/drawingml/2006/main">
              <a:ext uri="{FF2B5EF4-FFF2-40B4-BE49-F238E27FC236}">
                <a16:creationId xmlns:a16="http://schemas.microsoft.com/office/drawing/2014/main" id="{B027F2EC-1F7B-4FC5-AFE6-32400C89ECC8}"/>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7E41A325-3889-425E-8E9F-253A969A400E}"/>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5.2</a:t>
            </a:r>
          </a:p>
        </p:txBody>
      </p:sp>
      <p:sp>
        <p:nvSpPr>
          <p:cNvPr id="5" name="">
            <a:extLst xmlns:a="http://schemas.openxmlformats.org/drawingml/2006/main">
              <a:ext uri="{FF2B5EF4-FFF2-40B4-BE49-F238E27FC236}">
                <a16:creationId xmlns:a16="http://schemas.microsoft.com/office/drawing/2014/main" id="{CF6482EF-D855-460A-8102-E22FF29658A2}"/>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7</a:t>
            </a:r>
          </a:p>
        </p:txBody>
      </p:sp>
      <p:sp>
        <p:nvSpPr>
          <p:cNvPr id="6" name="">
            <a:extLst xmlns:a="http://schemas.openxmlformats.org/drawingml/2006/main">
              <a:ext uri="{FF2B5EF4-FFF2-40B4-BE49-F238E27FC236}">
                <a16:creationId xmlns:a16="http://schemas.microsoft.com/office/drawing/2014/main" id="{EECD635E-B23B-49DB-9343-284B5D3EDDB3}"/>
              </a:ext>
            </a:extLst>
          </p:cNvPr>
          <p:cNvSpPr>
            <a:spLocks xmlns:a="http://schemas.openxmlformats.org/drawingml/2006/main" noGrp="1"/>
          </p:cNvSpPr>
          <p:nvPr/>
        </p:nvSpPr>
        <p:spPr>
          <a:xfrm xmlns:a="http://schemas.openxmlformats.org/drawingml/2006/main">
            <a:off x="628650" y="1590675"/>
            <a:ext cx="10953750" cy="3714750"/>
          </a:xfrm>
          <a:prstGeom xmlns:a="http://schemas.openxmlformats.org/drawingml/2006/main" prst="rect">
            <a:avLst/>
          </a:prstGeom>
          <a:solidFill xmlns:a="http://schemas.openxmlformats.org/drawingml/2006/main">
            <a:srgbClr val="F3F3F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367DFE4-E16E-4429-A214-8F6D2381D230}"/>
              </a:ext>
            </a:extLst>
          </p:cNvPr>
          <p:cNvSpPr>
            <a:spLocks xmlns:a="http://schemas.openxmlformats.org/drawingml/2006/main" noGrp="1"/>
          </p:cNvSpPr>
          <p:nvPr/>
        </p:nvSpPr>
        <p:spPr>
          <a:xfrm xmlns:a="http://schemas.openxmlformats.org/drawingml/2006/main">
            <a:off x="857250" y="1743075"/>
            <a:ext cx="10477500" cy="3381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void loop()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int actual = digitalRead(PIN_BOTON);</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unsigned long ahora = millis();</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if (actual != ultimaLectura) { cambio = ahora; ultimaLectura = actual;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if (ahora - cambio &gt;= REBOTE_MS &amp;&amp; actual != estable)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estable = actual;</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if (estable == LOW)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encendido = !encendido;</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digitalWrite(LED_BUILTIN, encendido ? HIGH : LOW);</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Serial.print("LED="); Serial.println(encendido ? 1 : 0);</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  }</a:t>
            </a:r>
          </a:p>
          <a:p xmlns:a="http://schemas.openxmlformats.org/drawingml/2006/main">
            <a:pPr>
              <a:defRPr sz="1500" b="0">
                <a:solidFill>
                  <a:srgbClr val="403F3B"/>
                </a:solidFill>
                <a:latin typeface="DejaVu Sans"/>
                <a:ea typeface="DejaVu Sans"/>
                <a:cs typeface="DejaVu Sans"/>
              </a:defRPr>
            </a:pPr>
            <a:r>
              <a:rPr sz="1500" b="0">
                <a:solidFill>
                  <a:srgbClr val="403F3B"/>
                </a:solidFill>
                <a:latin typeface="DejaVu Sans"/>
                <a:ea typeface="DejaVu Sans"/>
                <a:cs typeface="DejaVu Sans"/>
              </a:rPr>
              <a:t>}</a:t>
            </a:r>
          </a:p>
        </p:txBody>
      </p:sp>
      <p:sp>
        <p:nvSpPr>
          <p:cNvPr id="8" name="">
            <a:extLst xmlns:a="http://schemas.openxmlformats.org/drawingml/2006/main">
              <a:ext uri="{FF2B5EF4-FFF2-40B4-BE49-F238E27FC236}">
                <a16:creationId xmlns:a16="http://schemas.microsoft.com/office/drawing/2014/main" id="{576459BD-236B-4BCD-A56D-EEE9DC007413}"/>
              </a:ext>
            </a:extLst>
          </p:cNvPr>
          <p:cNvSpPr>
            <a:spLocks xmlns:a="http://schemas.openxmlformats.org/drawingml/2006/main" noGrp="1"/>
          </p:cNvSpPr>
          <p:nvPr/>
        </p:nvSpPr>
        <p:spPr>
          <a:xfrm xmlns:a="http://schemas.openxmlformats.org/drawingml/2006/main">
            <a:off x="685800" y="5581650"/>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425" b="0">
                <a:solidFill>
                  <a:srgbClr val="5C5B5F"/>
                </a:solidFill>
                <a:latin typeface="DejaVu Sans"/>
                <a:ea typeface="DejaVu Sans"/>
                <a:cs typeface="DejaVu Sans"/>
              </a:defRPr>
            </a:pPr>
            <a:r>
              <a:rPr sz="1425" b="0">
                <a:solidFill>
                  <a:srgbClr val="5C5B5F"/>
                </a:solidFill>
                <a:latin typeface="DejaVu Sans"/>
                <a:ea typeface="DejaVu Sans"/>
                <a:cs typeface="DejaVu Sans"/>
              </a:rPr>
              <a:t>Fragmento de Pines.ino. Código completo y ejecución en material.md.</a:t>
            </a:r>
          </a:p>
        </p:txBody>
      </p:sp>
    </p:spTree>
    <p:extLst>
      <p:ext uri="{BB962C8B-B14F-4D97-AF65-F5344CB8AC3E}">
        <p14:creationId xmlns:p14="http://schemas.microsoft.com/office/powerpoint/2010/main" val="84128867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237EBED-2CBF-47DA-8FF7-7EA9F697EB00}"/>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8759B6C-5F24-4C76-8363-E447DC40C335}"/>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Casos de aceptación de la PC</a:t>
            </a:r>
          </a:p>
        </p:txBody>
      </p:sp>
      <p:sp>
        <p:nvSpPr>
          <p:cNvPr id="3" name="">
            <a:extLst xmlns:a="http://schemas.openxmlformats.org/drawingml/2006/main">
              <a:ext uri="{FF2B5EF4-FFF2-40B4-BE49-F238E27FC236}">
                <a16:creationId xmlns:a16="http://schemas.microsoft.com/office/drawing/2014/main" id="{9E981310-5743-4646-90B1-98E6E2E4BF14}"/>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42540C8-11C5-4262-865B-47A8DE80D783}"/>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5.2</a:t>
            </a:r>
          </a:p>
        </p:txBody>
      </p:sp>
      <p:sp>
        <p:nvSpPr>
          <p:cNvPr id="5" name="">
            <a:extLst xmlns:a="http://schemas.openxmlformats.org/drawingml/2006/main">
              <a:ext uri="{FF2B5EF4-FFF2-40B4-BE49-F238E27FC236}">
                <a16:creationId xmlns:a16="http://schemas.microsoft.com/office/drawing/2014/main" id="{E155E802-D05D-42CF-8BA0-DB2B40BDA4FB}"/>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8</a:t>
            </a:r>
          </a:p>
        </p:txBody>
      </p:sp>
      <p:graphicFrame>
        <p:nvGraphicFramePr>
          <p:cNvPr id="13" name=""/>
          <p:cNvGraphicFramePr/>
          <p:nvPr/>
        </p:nvGraphicFramePr>
        <p:xfrm>
          <a:off xmlns:a="http://schemas.openxmlformats.org/drawingml/2006/main" x="609600" y="1638300"/>
          <a:ext xmlns:a="http://schemas.openxmlformats.org/drawingml/2006/main" cx="10972800" cy="3143250"/>
        </p:xfrm>
        <a:graphic xmlns:a="http://schemas.openxmlformats.org/drawingml/2006/main">
          <a:graphicData uri="http://schemas.openxmlformats.org/drawingml/2006/table">
            <a:tbl>
              <a:tblPr/>
              <a:tblGrid>
                <a:gridCol w="4191000"/>
                <a:gridCol w="6629400"/>
              </a:tblGrid>
              <a:tr h="785813">
                <a:tc>
                  <a:txBody>
                    <a:bodyPr/>
                    <a:lstStyle/>
                    <a:p>
                      <a:r>
                        <a:rPr sz="1725" b="1">
                          <a:solidFill>
                            <a:srgbClr val="FFFFFF"/>
                          </a:solidFill>
                          <a:latin typeface="DejaVu Sans"/>
                          <a:ea typeface="DejaVu Sans"/>
                          <a:cs typeface="DejaVu Sans"/>
                        </a:rPr>
                        <a:t>Caso</a:t>
                      </a:r>
                    </a:p>
                  </a:txBody>
                  <a:tcPr marL="152400" marR="152400" marT="133350" marB="114300" anchor="ctr">
                    <a:solidFill>
                      <a:srgbClr val="003772"/>
                    </a:solidFill>
                  </a:tcPr>
                </a:tc>
                <a:tc>
                  <a:txBody>
                    <a:bodyPr/>
                    <a:lstStyle/>
                    <a:p>
                      <a:r>
                        <a:rPr sz="1725" b="1">
                          <a:solidFill>
                            <a:srgbClr val="FFFFFF"/>
                          </a:solidFill>
                          <a:latin typeface="DejaVu Sans"/>
                          <a:ea typeface="DejaVu Sans"/>
                          <a:cs typeface="DejaVu Sans"/>
                        </a:rPr>
                        <a:t>Comportamiento requerido</a:t>
                      </a:r>
                    </a:p>
                  </a:txBody>
                  <a:tcPr marL="152400" marR="152400" marT="133350" marB="114300" anchor="ctr">
                    <a:solidFill>
                      <a:srgbClr val="003772"/>
                    </a:solidFill>
                  </a:tcPr>
                </a:tc>
              </a:tr>
              <a:tr h="785813">
                <a:tc>
                  <a:txBody>
                    <a:bodyPr/>
                    <a:lstStyle/>
                    <a:p>
                      <a:r>
                        <a:rPr sz="1725" b="0">
                          <a:solidFill>
                            <a:srgbClr val="403F3B"/>
                          </a:solidFill>
                          <a:latin typeface="DejaVu Sans"/>
                          <a:ea typeface="DejaVu Sans"/>
                          <a:cs typeface="DejaVu Sans"/>
                        </a:rPr>
                        <a:t>Pulsación mantenida 2 segundos</a:t>
                      </a:r>
                    </a:p>
                  </a:txBody>
                  <a:tcPr marL="152400" marR="152400" marT="133350" marB="114300" anchor="ctr">
                    <a:solidFill>
                      <a:srgbClr val="F3F3FA"/>
                    </a:solidFill>
                  </a:tcPr>
                </a:tc>
                <a:tc>
                  <a:txBody>
                    <a:bodyPr/>
                    <a:lstStyle/>
                    <a:p>
                      <a:r>
                        <a:rPr sz="1725" b="0">
                          <a:solidFill>
                            <a:srgbClr val="403F3B"/>
                          </a:solidFill>
                          <a:latin typeface="DejaVu Sans"/>
                          <a:ea typeface="DejaVu Sans"/>
                          <a:cs typeface="DejaVu Sans"/>
                        </a:rPr>
                        <a:t>Una sola alternancia</a:t>
                      </a:r>
                    </a:p>
                  </a:txBody>
                  <a:tcPr marL="152400" marR="152400" marT="133350" marB="114300" anchor="ctr">
                    <a:solidFill>
                      <a:srgbClr val="F3F3FA"/>
                    </a:solidFill>
                  </a:tcPr>
                </a:tc>
              </a:tr>
              <a:tr h="785813">
                <a:tc>
                  <a:txBody>
                    <a:bodyPr/>
                    <a:lstStyle/>
                    <a:p>
                      <a:r>
                        <a:rPr sz="1725" b="0">
                          <a:solidFill>
                            <a:srgbClr val="403F3B"/>
                          </a:solidFill>
                          <a:latin typeface="DejaVu Sans"/>
                          <a:ea typeface="DejaVu Sans"/>
                          <a:cs typeface="DejaVu Sans"/>
                        </a:rPr>
                        <a:t>Liberación del botón</a:t>
                      </a:r>
                    </a:p>
                  </a:txBody>
                  <a:tcPr marL="152400" marR="152400" marT="133350" marB="114300" anchor="ctr">
                    <a:solidFill>
                      <a:srgbClr val="FFFFFF"/>
                    </a:solidFill>
                  </a:tcPr>
                </a:tc>
                <a:tc>
                  <a:txBody>
                    <a:bodyPr/>
                    <a:lstStyle/>
                    <a:p>
                      <a:r>
                        <a:rPr sz="1725" b="0">
                          <a:solidFill>
                            <a:srgbClr val="403F3B"/>
                          </a:solidFill>
                          <a:latin typeface="DejaVu Sans"/>
                          <a:ea typeface="DejaVu Sans"/>
                          <a:cs typeface="DejaVu Sans"/>
                        </a:rPr>
                        <a:t>No alterna</a:t>
                      </a:r>
                    </a:p>
                  </a:txBody>
                  <a:tcPr marL="152400" marR="152400" marT="133350" marB="114300" anchor="ctr">
                    <a:solidFill>
                      <a:srgbClr val="FFFFFF"/>
                    </a:solidFill>
                  </a:tcPr>
                </a:tc>
              </a:tr>
              <a:tr h="785813">
                <a:tc>
                  <a:txBody>
                    <a:bodyPr/>
                    <a:lstStyle/>
                    <a:p>
                      <a:r>
                        <a:rPr sz="1725" b="0">
                          <a:solidFill>
                            <a:srgbClr val="403F3B"/>
                          </a:solidFill>
                          <a:latin typeface="DejaVu Sans"/>
                          <a:ea typeface="DejaVu Sans"/>
                          <a:cs typeface="DejaVu Sans"/>
                        </a:rPr>
                        <a:t>Muestreo durante pulsación</a:t>
                      </a:r>
                    </a:p>
                  </a:txBody>
                  <a:tcPr marL="152400" marR="152400" marT="133350" marB="114300" anchor="ctr">
                    <a:solidFill>
                      <a:srgbClr val="F3F3FA"/>
                    </a:solidFill>
                  </a:tcPr>
                </a:tc>
                <a:tc>
                  <a:txBody>
                    <a:bodyPr/>
                    <a:lstStyle/>
                    <a:p>
                      <a:r>
                        <a:rPr sz="1725" b="0">
                          <a:solidFill>
                            <a:srgbClr val="403F3B"/>
                          </a:solidFill>
                          <a:latin typeface="DejaVu Sans"/>
                          <a:ea typeface="DejaVu Sans"/>
                          <a:cs typeface="DejaVu Sans"/>
                        </a:rPr>
                        <a:t>Continúa cada 500 ms</a:t>
                      </a:r>
                    </a:p>
                  </a:txBody>
                  <a:tcPr marL="152400" marR="152400" marT="133350" marB="114300" anchor="ctr">
                    <a:solidFill>
                      <a:srgbClr val="F3F3FA"/>
                    </a:solidFill>
                  </a:tcPr>
                </a:tc>
              </a:tr>
            </a:tbl>
          </a:graphicData>
        </a:graphic>
      </p:graphicFrame>
      <p:sp>
        <p:nvSpPr>
          <p:cNvPr id="7" name="">
            <a:extLst xmlns:a="http://schemas.openxmlformats.org/drawingml/2006/main">
              <a:ext uri="{FF2B5EF4-FFF2-40B4-BE49-F238E27FC236}">
                <a16:creationId xmlns:a16="http://schemas.microsoft.com/office/drawing/2014/main" id="{7A6B9344-2F3B-4AAF-9FD9-4EE7E9A75AD5}"/>
              </a:ext>
            </a:extLst>
          </p:cNvPr>
          <p:cNvSpPr>
            <a:spLocks xmlns:a="http://schemas.openxmlformats.org/drawingml/2006/main" noGrp="1"/>
          </p:cNvSpPr>
          <p:nvPr/>
        </p:nvSpPr>
        <p:spPr>
          <a:xfrm xmlns:a="http://schemas.openxmlformats.org/drawingml/2006/main">
            <a:off x="742950" y="5238750"/>
            <a:ext cx="106680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575" b="0">
                <a:solidFill>
                  <a:srgbClr val="07508E"/>
                </a:solidFill>
                <a:latin typeface="DejaVu Sans"/>
                <a:ea typeface="DejaVu Sans"/>
                <a:cs typeface="DejaVu Sans"/>
              </a:defRPr>
            </a:pPr>
            <a:r>
              <a:rPr sz="1575" b="0">
                <a:solidFill>
                  <a:srgbClr val="07508E"/>
                </a:solidFill>
                <a:latin typeface="DejaVu Sans"/>
                <a:ea typeface="DejaVu Sans"/>
                <a:cs typeface="DejaVu Sans"/>
              </a:rPr>
              <a:t>Salida de la demostración: Una pulsación estable alterna LED=1 y LED=0. Mantener pulsado no genera alternancias adicionales.</a:t>
            </a:r>
          </a:p>
        </p:txBody>
      </p:sp>
    </p:spTree>
    <p:extLst>
      <p:ext uri="{BB962C8B-B14F-4D97-AF65-F5344CB8AC3E}">
        <p14:creationId xmlns:p14="http://schemas.microsoft.com/office/powerpoint/2010/main" val="155744672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87D7605A-E02B-43BF-8F11-18E3CFB8C0CE}"/>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89ABCE2-CA0E-4D46-89BB-9E3F1282B876}"/>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PC5.2 · Ampliación del proyecto</a:t>
            </a:r>
          </a:p>
        </p:txBody>
      </p:sp>
      <p:sp>
        <p:nvSpPr>
          <p:cNvPr id="3" name="">
            <a:extLst xmlns:a="http://schemas.openxmlformats.org/drawingml/2006/main">
              <a:ext uri="{FF2B5EF4-FFF2-40B4-BE49-F238E27FC236}">
                <a16:creationId xmlns:a16="http://schemas.microsoft.com/office/drawing/2014/main" id="{3B215CD4-112C-444C-B450-C2909FFB84D7}"/>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032A214-37CD-4E64-91F7-31CBF8BC91B4}"/>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5.2</a:t>
            </a:r>
          </a:p>
        </p:txBody>
      </p:sp>
      <p:sp>
        <p:nvSpPr>
          <p:cNvPr id="5" name="">
            <a:extLst xmlns:a="http://schemas.openxmlformats.org/drawingml/2006/main">
              <a:ext uri="{FF2B5EF4-FFF2-40B4-BE49-F238E27FC236}">
                <a16:creationId xmlns:a16="http://schemas.microsoft.com/office/drawing/2014/main" id="{B7E30284-3F5F-46D6-962C-B9E518F71464}"/>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9</a:t>
            </a:r>
          </a:p>
        </p:txBody>
      </p:sp>
      <p:sp>
        <p:nvSpPr>
          <p:cNvPr id="6" name="">
            <a:extLst xmlns:a="http://schemas.openxmlformats.org/drawingml/2006/main">
              <a:ext uri="{FF2B5EF4-FFF2-40B4-BE49-F238E27FC236}">
                <a16:creationId xmlns:a16="http://schemas.microsoft.com/office/drawing/2014/main" id="{06E73233-9C2D-42BB-ADF6-E50E7275FE85}"/>
              </a:ext>
            </a:extLst>
          </p:cNvPr>
          <p:cNvSpPr>
            <a:spLocks xmlns:a="http://schemas.openxmlformats.org/drawingml/2006/main" noGrp="1"/>
          </p:cNvSpPr>
          <p:nvPr/>
        </p:nvSpPr>
        <p:spPr>
          <a:xfrm xmlns:a="http://schemas.openxmlformats.org/drawingml/2006/main">
            <a:off x="685800" y="1600200"/>
            <a:ext cx="42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65B0"/>
                </a:solidFill>
                <a:latin typeface="DejaVu Sans"/>
                <a:ea typeface="DejaVu Sans"/>
                <a:cs typeface="DejaVu Sans"/>
              </a:defRPr>
            </a:pPr>
            <a:r>
              <a:rPr sz="2025" b="1">
                <a:solidFill>
                  <a:srgbClr val="0065B0"/>
                </a:solidFill>
                <a:latin typeface="DejaVu Sans"/>
                <a:ea typeface="DejaVu Sans"/>
                <a:cs typeface="DejaVu Sans"/>
              </a:rPr>
              <a:t>1</a:t>
            </a:r>
          </a:p>
        </p:txBody>
      </p:sp>
      <p:sp>
        <p:nvSpPr>
          <p:cNvPr id="7" name="">
            <a:extLst xmlns:a="http://schemas.openxmlformats.org/drawingml/2006/main">
              <a:ext uri="{FF2B5EF4-FFF2-40B4-BE49-F238E27FC236}">
                <a16:creationId xmlns:a16="http://schemas.microsoft.com/office/drawing/2014/main" id="{5DAB5EF1-7191-494D-9DC2-B0B7484ADFF0}"/>
              </a:ext>
            </a:extLst>
          </p:cNvPr>
          <p:cNvSpPr>
            <a:spLocks xmlns:a="http://schemas.openxmlformats.org/drawingml/2006/main" noGrp="1"/>
          </p:cNvSpPr>
          <p:nvPr/>
        </p:nvSpPr>
        <p:spPr>
          <a:xfrm xmlns:a="http://schemas.openxmlformats.org/drawingml/2006/main">
            <a:off x="1219200" y="1562100"/>
            <a:ext cx="10153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403F3B"/>
                </a:solidFill>
                <a:latin typeface="DejaVu Sans"/>
                <a:ea typeface="DejaVu Sans"/>
                <a:cs typeface="DejaVu Sans"/>
              </a:defRPr>
            </a:pPr>
            <a:r>
              <a:rPr sz="1950" b="0">
                <a:solidFill>
                  <a:srgbClr val="403F3B"/>
                </a:solidFill>
                <a:latin typeface="DejaVu Sans"/>
                <a:ea typeface="DejaVu Sans"/>
                <a:cs typeface="DejaVu Sans"/>
              </a:rPr>
              <a:t>Agrega un pulsador entre D2 y GND con INPUT_PULLUP, además del sensor de 5.1. Documenta el montaje antes de energizar.</a:t>
            </a:r>
          </a:p>
        </p:txBody>
      </p:sp>
      <p:sp>
        <p:nvSpPr>
          <p:cNvPr id="8" name="">
            <a:extLst xmlns:a="http://schemas.openxmlformats.org/drawingml/2006/main">
              <a:ext uri="{FF2B5EF4-FFF2-40B4-BE49-F238E27FC236}">
                <a16:creationId xmlns:a16="http://schemas.microsoft.com/office/drawing/2014/main" id="{86CFCDF9-57DA-4E99-9088-BA7882780529}"/>
              </a:ext>
            </a:extLst>
          </p:cNvPr>
          <p:cNvSpPr>
            <a:spLocks xmlns:a="http://schemas.openxmlformats.org/drawingml/2006/main" noGrp="1"/>
          </p:cNvSpPr>
          <p:nvPr/>
        </p:nvSpPr>
        <p:spPr>
          <a:xfrm xmlns:a="http://schemas.openxmlformats.org/drawingml/2006/main">
            <a:off x="685800" y="2962275"/>
            <a:ext cx="42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65B0"/>
                </a:solidFill>
                <a:latin typeface="DejaVu Sans"/>
                <a:ea typeface="DejaVu Sans"/>
                <a:cs typeface="DejaVu Sans"/>
              </a:defRPr>
            </a:pPr>
            <a:r>
              <a:rPr sz="2025" b="1">
                <a:solidFill>
                  <a:srgbClr val="0065B0"/>
                </a:solidFill>
                <a:latin typeface="DejaVu Sans"/>
                <a:ea typeface="DejaVu Sans"/>
                <a:cs typeface="DejaVu Sans"/>
              </a:rPr>
              <a:t>2</a:t>
            </a:r>
          </a:p>
        </p:txBody>
      </p:sp>
      <p:sp>
        <p:nvSpPr>
          <p:cNvPr id="9" name="">
            <a:extLst xmlns:a="http://schemas.openxmlformats.org/drawingml/2006/main">
              <a:ext uri="{FF2B5EF4-FFF2-40B4-BE49-F238E27FC236}">
                <a16:creationId xmlns:a16="http://schemas.microsoft.com/office/drawing/2014/main" id="{87B9F602-B89F-4A02-BCCD-A58DDE0C38B9}"/>
              </a:ext>
            </a:extLst>
          </p:cNvPr>
          <p:cNvSpPr>
            <a:spLocks xmlns:a="http://schemas.openxmlformats.org/drawingml/2006/main" noGrp="1"/>
          </p:cNvSpPr>
          <p:nvPr/>
        </p:nvSpPr>
        <p:spPr>
          <a:xfrm xmlns:a="http://schemas.openxmlformats.org/drawingml/2006/main">
            <a:off x="1219200" y="2924175"/>
            <a:ext cx="10153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403F3B"/>
                </a:solidFill>
                <a:latin typeface="DejaVu Sans"/>
                <a:ea typeface="DejaVu Sans"/>
                <a:cs typeface="DejaVu Sans"/>
              </a:defRPr>
            </a:pPr>
            <a:r>
              <a:rPr sz="1950" b="0">
                <a:solidFill>
                  <a:srgbClr val="403F3B"/>
                </a:solidFill>
                <a:latin typeface="DejaVu Sans"/>
                <a:ea typeface="DejaVu Sans"/>
                <a:cs typeface="DejaVu Sans"/>
              </a:rPr>
              <a:t>Implementa antirrebote sin delay y una acción por flanco de pulsación. Conserva el muestreo periódico de A0.</a:t>
            </a:r>
          </a:p>
        </p:txBody>
      </p:sp>
      <p:sp>
        <p:nvSpPr>
          <p:cNvPr id="10" name="">
            <a:extLst xmlns:a="http://schemas.openxmlformats.org/drawingml/2006/main">
              <a:ext uri="{FF2B5EF4-FFF2-40B4-BE49-F238E27FC236}">
                <a16:creationId xmlns:a16="http://schemas.microsoft.com/office/drawing/2014/main" id="{A7A7F986-D0A3-46B9-911D-58A0B1A928AB}"/>
              </a:ext>
            </a:extLst>
          </p:cNvPr>
          <p:cNvSpPr>
            <a:spLocks xmlns:a="http://schemas.openxmlformats.org/drawingml/2006/main" noGrp="1"/>
          </p:cNvSpPr>
          <p:nvPr/>
        </p:nvSpPr>
        <p:spPr>
          <a:xfrm xmlns:a="http://schemas.openxmlformats.org/drawingml/2006/main">
            <a:off x="685800" y="4324350"/>
            <a:ext cx="4286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025" b="1">
                <a:solidFill>
                  <a:srgbClr val="0065B0"/>
                </a:solidFill>
                <a:latin typeface="DejaVu Sans"/>
                <a:ea typeface="DejaVu Sans"/>
                <a:cs typeface="DejaVu Sans"/>
              </a:defRPr>
            </a:pPr>
            <a:r>
              <a:rPr sz="2025" b="1">
                <a:solidFill>
                  <a:srgbClr val="0065B0"/>
                </a:solidFill>
                <a:latin typeface="DejaVu Sans"/>
                <a:ea typeface="DejaVu Sans"/>
                <a:cs typeface="DejaVu Sans"/>
              </a:rPr>
              <a:t>3</a:t>
            </a:r>
          </a:p>
        </p:txBody>
      </p:sp>
      <p:sp>
        <p:nvSpPr>
          <p:cNvPr id="11" name="">
            <a:extLst xmlns:a="http://schemas.openxmlformats.org/drawingml/2006/main">
              <a:ext uri="{FF2B5EF4-FFF2-40B4-BE49-F238E27FC236}">
                <a16:creationId xmlns:a16="http://schemas.microsoft.com/office/drawing/2014/main" id="{282AD83B-7D88-4776-960C-1985C19B415A}"/>
              </a:ext>
            </a:extLst>
          </p:cNvPr>
          <p:cNvSpPr>
            <a:spLocks xmlns:a="http://schemas.openxmlformats.org/drawingml/2006/main" noGrp="1"/>
          </p:cNvSpPr>
          <p:nvPr/>
        </p:nvSpPr>
        <p:spPr>
          <a:xfrm xmlns:a="http://schemas.openxmlformats.org/drawingml/2006/main">
            <a:off x="1219200" y="4286250"/>
            <a:ext cx="1015365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950" b="0">
                <a:solidFill>
                  <a:srgbClr val="403F3B"/>
                </a:solidFill>
                <a:latin typeface="DejaVu Sans"/>
                <a:ea typeface="DejaVu Sans"/>
                <a:cs typeface="DejaVu Sans"/>
              </a:defRPr>
            </a:pPr>
            <a:r>
              <a:rPr sz="1950" b="0">
                <a:solidFill>
                  <a:srgbClr val="403F3B"/>
                </a:solidFill>
                <a:latin typeface="DejaVu Sans"/>
                <a:ea typeface="DejaVu Sans"/>
                <a:cs typeface="DejaVu Sans"/>
              </a:rPr>
              <a:t>Prueba pulsación corta, prolongada y varias pulsaciones. Registra cuánto tarda en aceptarse un estado estable y por qué la lógica es activa en bajo.</a:t>
            </a:r>
          </a:p>
        </p:txBody>
      </p:sp>
    </p:spTree>
    <p:extLst>
      <p:ext uri="{BB962C8B-B14F-4D97-AF65-F5344CB8AC3E}">
        <p14:creationId xmlns:p14="http://schemas.microsoft.com/office/powerpoint/2010/main" val="1388199287"/>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F71A1030-02D4-4DDD-9425-29BE33C0C2EE}"/>
              </a:ext>
            </a:extLst>
          </p:cNvPr>
          <p:cNvSpPr>
            <a:spLocks xmlns:a="http://schemas.openxmlformats.org/drawingml/2006/main" noGrp="1"/>
          </p:cNvSpPr>
          <p:nvPr/>
        </p:nvSpPr>
        <p:spPr>
          <a:xfrm xmlns:a="http://schemas.openxmlformats.org/drawingml/2006/main">
            <a:off x="533400" y="447675"/>
            <a:ext cx="57150" cy="419100"/>
          </a:xfrm>
          <a:prstGeom xmlns:a="http://schemas.openxmlformats.org/drawingml/2006/main" prst="rect">
            <a:avLst/>
          </a:prstGeom>
          <a:solidFill xmlns:a="http://schemas.openxmlformats.org/drawingml/2006/main">
            <a:srgbClr val="FCC000"/>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3AA8AFB3-0F38-4018-8367-AE410167323C}"/>
              </a:ext>
            </a:extLst>
          </p:cNvPr>
          <p:cNvSpPr>
            <a:spLocks xmlns:a="http://schemas.openxmlformats.org/drawingml/2006/main" noGrp="1"/>
          </p:cNvSpPr>
          <p:nvPr/>
        </p:nvSpPr>
        <p:spPr>
          <a:xfrm xmlns:a="http://schemas.openxmlformats.org/drawingml/2006/main">
            <a:off x="762000" y="419100"/>
            <a:ext cx="107442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550" b="1">
                <a:solidFill>
                  <a:srgbClr val="003772"/>
                </a:solidFill>
                <a:latin typeface="DejaVu Sans"/>
                <a:ea typeface="DejaVu Sans"/>
                <a:cs typeface="DejaVu Sans"/>
              </a:defRPr>
            </a:pPr>
            <a:r>
              <a:rPr sz="2550" b="1">
                <a:solidFill>
                  <a:srgbClr val="003772"/>
                </a:solidFill>
                <a:latin typeface="DejaVu Sans"/>
                <a:ea typeface="DejaVu Sans"/>
                <a:cs typeface="DejaVu Sans"/>
              </a:rPr>
              <a:t>Lo esencial de hoy</a:t>
            </a:r>
          </a:p>
        </p:txBody>
      </p:sp>
      <p:sp>
        <p:nvSpPr>
          <p:cNvPr id="3" name="">
            <a:extLst xmlns:a="http://schemas.openxmlformats.org/drawingml/2006/main">
              <a:ext uri="{FF2B5EF4-FFF2-40B4-BE49-F238E27FC236}">
                <a16:creationId xmlns:a16="http://schemas.microsoft.com/office/drawing/2014/main" id="{B3DFCF14-5A96-4585-A7C0-5B0AF199ACB4}"/>
              </a:ext>
            </a:extLst>
          </p:cNvPr>
          <p:cNvSpPr>
            <a:spLocks xmlns:a="http://schemas.openxmlformats.org/drawingml/2006/main" noGrp="1"/>
          </p:cNvSpPr>
          <p:nvPr/>
        </p:nvSpPr>
        <p:spPr>
          <a:xfrm xmlns:a="http://schemas.openxmlformats.org/drawingml/2006/main">
            <a:off x="609600" y="6191250"/>
            <a:ext cx="10972800" cy="9525"/>
          </a:xfrm>
          <a:prstGeom xmlns:a="http://schemas.openxmlformats.org/drawingml/2006/main" prst="rect">
            <a:avLst/>
          </a:prstGeom>
          <a:solidFill xmlns:a="http://schemas.openxmlformats.org/drawingml/2006/main">
            <a:srgbClr val="D8DFEB"/>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B79D40E5-0723-4409-9CE0-C400C410A52C}"/>
              </a:ext>
            </a:extLst>
          </p:cNvPr>
          <p:cNvSpPr>
            <a:spLocks xmlns:a="http://schemas.openxmlformats.org/drawingml/2006/main" noGrp="1"/>
          </p:cNvSpPr>
          <p:nvPr/>
        </p:nvSpPr>
        <p:spPr>
          <a:xfrm xmlns:a="http://schemas.openxmlformats.org/drawingml/2006/main">
            <a:off x="609600" y="6372225"/>
            <a:ext cx="9144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Programación Aplicada · 5.2</a:t>
            </a:r>
          </a:p>
        </p:txBody>
      </p:sp>
      <p:sp>
        <p:nvSpPr>
          <p:cNvPr id="5" name="">
            <a:extLst xmlns:a="http://schemas.openxmlformats.org/drawingml/2006/main">
              <a:ext uri="{FF2B5EF4-FFF2-40B4-BE49-F238E27FC236}">
                <a16:creationId xmlns:a16="http://schemas.microsoft.com/office/drawing/2014/main" id="{58279F53-E6C3-4236-9ABD-499AE3E0CDE1}"/>
              </a:ext>
            </a:extLst>
          </p:cNvPr>
          <p:cNvSpPr>
            <a:spLocks xmlns:a="http://schemas.openxmlformats.org/drawingml/2006/main" noGrp="1"/>
          </p:cNvSpPr>
          <p:nvPr/>
        </p:nvSpPr>
        <p:spPr>
          <a:xfrm xmlns:a="http://schemas.openxmlformats.org/drawingml/2006/main">
            <a:off x="10953750" y="6372225"/>
            <a:ext cx="61912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1125" b="0">
                <a:solidFill>
                  <a:srgbClr val="5C5B5F"/>
                </a:solidFill>
                <a:latin typeface="DejaVu Sans"/>
                <a:ea typeface="DejaVu Sans"/>
                <a:cs typeface="DejaVu Sans"/>
              </a:defRPr>
            </a:pPr>
            <a:r>
              <a:rPr sz="1125" b="0">
                <a:solidFill>
                  <a:srgbClr val="5C5B5F"/>
                </a:solidFill>
                <a:latin typeface="DejaVu Sans"/>
                <a:ea typeface="DejaVu Sans"/>
                <a:cs typeface="DejaVu Sans"/>
              </a:rPr>
              <a:t>10</a:t>
            </a:r>
          </a:p>
        </p:txBody>
      </p:sp>
      <p:sp>
        <p:nvSpPr>
          <p:cNvPr id="6" name="">
            <a:extLst xmlns:a="http://schemas.openxmlformats.org/drawingml/2006/main">
              <a:ext uri="{FF2B5EF4-FFF2-40B4-BE49-F238E27FC236}">
                <a16:creationId xmlns:a16="http://schemas.microsoft.com/office/drawing/2014/main" id="{7AF8F000-2A7E-4802-9B70-1981535A7C9C}"/>
              </a:ext>
            </a:extLst>
          </p:cNvPr>
          <p:cNvSpPr>
            <a:spLocks xmlns:a="http://schemas.openxmlformats.org/drawingml/2006/main" noGrp="1"/>
          </p:cNvSpPr>
          <p:nvPr/>
        </p:nvSpPr>
        <p:spPr>
          <a:xfrm xmlns:a="http://schemas.openxmlformats.org/drawingml/2006/main">
            <a:off x="762000" y="174307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1">
                <a:solidFill>
                  <a:srgbClr val="003772"/>
                </a:solidFill>
                <a:latin typeface="DejaVu Sans"/>
                <a:ea typeface="DejaVu Sans"/>
                <a:cs typeface="DejaVu Sans"/>
              </a:defRPr>
            </a:pPr>
            <a:r>
              <a:rPr sz="2175" b="1">
                <a:solidFill>
                  <a:srgbClr val="003772"/>
                </a:solidFill>
                <a:latin typeface="DejaVu Sans"/>
                <a:ea typeface="DejaVu Sans"/>
                <a:cs typeface="DejaVu Sans"/>
              </a:rPr>
              <a:t>INPUT_PULLUP produce una entrada activa en bajo.</a:t>
            </a:r>
          </a:p>
        </p:txBody>
      </p:sp>
      <p:sp>
        <p:nvSpPr>
          <p:cNvPr id="7" name="">
            <a:extLst xmlns:a="http://schemas.openxmlformats.org/drawingml/2006/main">
              <a:ext uri="{FF2B5EF4-FFF2-40B4-BE49-F238E27FC236}">
                <a16:creationId xmlns:a16="http://schemas.microsoft.com/office/drawing/2014/main" id="{59157C16-936D-422F-9550-B29A6AA0BF2E}"/>
              </a:ext>
            </a:extLst>
          </p:cNvPr>
          <p:cNvSpPr>
            <a:spLocks xmlns:a="http://schemas.openxmlformats.org/drawingml/2006/main" noGrp="1"/>
          </p:cNvSpPr>
          <p:nvPr/>
        </p:nvSpPr>
        <p:spPr>
          <a:xfrm xmlns:a="http://schemas.openxmlformats.org/drawingml/2006/main">
            <a:off x="762000" y="263842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El rebote puede generar múltiples transiciones.</a:t>
            </a:r>
          </a:p>
        </p:txBody>
      </p:sp>
      <p:sp>
        <p:nvSpPr>
          <p:cNvPr id="8" name="">
            <a:extLst xmlns:a="http://schemas.openxmlformats.org/drawingml/2006/main">
              <a:ext uri="{FF2B5EF4-FFF2-40B4-BE49-F238E27FC236}">
                <a16:creationId xmlns:a16="http://schemas.microsoft.com/office/drawing/2014/main" id="{B055D77A-B084-4B69-8CFF-FC9CD6E08C88}"/>
              </a:ext>
            </a:extLst>
          </p:cNvPr>
          <p:cNvSpPr>
            <a:spLocks xmlns:a="http://schemas.openxmlformats.org/drawingml/2006/main" noGrp="1"/>
          </p:cNvSpPr>
          <p:nvPr/>
        </p:nvSpPr>
        <p:spPr>
          <a:xfrm xmlns:a="http://schemas.openxmlformats.org/drawingml/2006/main">
            <a:off x="762000" y="353377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003772"/>
                </a:solidFill>
                <a:latin typeface="DejaVu Sans"/>
                <a:ea typeface="DejaVu Sans"/>
                <a:cs typeface="DejaVu Sans"/>
              </a:defRPr>
            </a:pPr>
            <a:r>
              <a:rPr sz="2175" b="0">
                <a:solidFill>
                  <a:srgbClr val="003772"/>
                </a:solidFill>
                <a:latin typeface="DejaVu Sans"/>
                <a:ea typeface="DejaVu Sans"/>
                <a:cs typeface="DejaVu Sans"/>
              </a:rPr>
              <a:t>PWM regula el ciclo de trabajo de una señal digital.</a:t>
            </a:r>
          </a:p>
        </p:txBody>
      </p:sp>
      <p:sp>
        <p:nvSpPr>
          <p:cNvPr id="9" name="">
            <a:extLst xmlns:a="http://schemas.openxmlformats.org/drawingml/2006/main">
              <a:ext uri="{FF2B5EF4-FFF2-40B4-BE49-F238E27FC236}">
                <a16:creationId xmlns:a16="http://schemas.microsoft.com/office/drawing/2014/main" id="{DE77F226-9484-45CB-AECB-8CCA63A9D6BE}"/>
              </a:ext>
            </a:extLst>
          </p:cNvPr>
          <p:cNvSpPr>
            <a:spLocks xmlns:a="http://schemas.openxmlformats.org/drawingml/2006/main" noGrp="1"/>
          </p:cNvSpPr>
          <p:nvPr/>
        </p:nvSpPr>
        <p:spPr>
          <a:xfrm xmlns:a="http://schemas.openxmlformats.org/drawingml/2006/main">
            <a:off x="762000" y="4429125"/>
            <a:ext cx="10477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defRPr sz="2175" b="0">
                <a:solidFill>
                  <a:srgbClr val="403F3B"/>
                </a:solidFill>
                <a:latin typeface="DejaVu Sans"/>
                <a:ea typeface="DejaVu Sans"/>
                <a:cs typeface="DejaVu Sans"/>
              </a:defRPr>
            </a:pPr>
            <a:r>
              <a:rPr sz="2175" b="0">
                <a:solidFill>
                  <a:srgbClr val="403F3B"/>
                </a:solidFill>
                <a:latin typeface="DejaVu Sans"/>
                <a:ea typeface="DejaVu Sans"/>
                <a:cs typeface="DejaVu Sans"/>
              </a:rPr>
              <a:t>La acción se asocia al flanco estable.</a:t>
            </a:r>
          </a:p>
        </p:txBody>
      </p:sp>
    </p:spTree>
    <p:extLst>
      <p:ext uri="{BB962C8B-B14F-4D97-AF65-F5344CB8AC3E}">
        <p14:creationId xmlns:p14="http://schemas.microsoft.com/office/powerpoint/2010/main" val="11677298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2026-09-10T23:07:35.3130000Z</dcterms:created>
  <dcterms:modified xsi:type="dcterms:W3CDTF">2026-09-10T23:07:35.3130000Z</dcterms:modified>
</coreProperties>
</file>