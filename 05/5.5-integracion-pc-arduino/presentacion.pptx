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afd58033997484e" /><Relationship Type="http://schemas.openxmlformats.org/officeDocument/2006/relationships/extended-properties" Target="/docProps/app.xml" Id="Re68263caee9a49b9" /><Relationship Type="http://schemas.openxmlformats.org/officeDocument/2006/relationships/officeDocument" Target="/ppt/presentation.xml" Id="R97df4087c3c04d71" /></Relationships>
</file>

<file path=ppt/presentation.xml><?xml version="1.0" encoding="utf-8"?>
<p:presentation xmlns:p="http://schemas.openxmlformats.org/presentationml/2006/main">
  <p:sldMasterIdLst>
    <p:sldMasterId xmlns:r="http://schemas.openxmlformats.org/officeDocument/2006/relationships" id="2147483648" r:id="Rb86c9aab438b414b"/>
  </p:sldMasterIdLst>
  <p:notesMasterIdLst>
    <p:notesMasterId xmlns:r="http://schemas.openxmlformats.org/officeDocument/2006/relationships" r:id="R0e43a6d15afb4e44"/>
  </p:notesMasterIdLst>
  <p:sldIdLst>
    <p:sldId xmlns:r="http://schemas.openxmlformats.org/officeDocument/2006/relationships" id="256" r:id="R5e9f367b9f024e26"/>
    <p:sldId xmlns:r="http://schemas.openxmlformats.org/officeDocument/2006/relationships" id="257" r:id="Redb682d83ab248f5"/>
    <p:sldId xmlns:r="http://schemas.openxmlformats.org/officeDocument/2006/relationships" id="258" r:id="Rbb4448d8fdcf42a4"/>
    <p:sldId xmlns:r="http://schemas.openxmlformats.org/officeDocument/2006/relationships" id="259" r:id="R21f97550cb604357"/>
    <p:sldId xmlns:r="http://schemas.openxmlformats.org/officeDocument/2006/relationships" id="260" r:id="R4ba1d49bc064408f"/>
    <p:sldId xmlns:r="http://schemas.openxmlformats.org/officeDocument/2006/relationships" id="261" r:id="R78d6a82ae65e4ec7"/>
    <p:sldId xmlns:r="http://schemas.openxmlformats.org/officeDocument/2006/relationships" id="262" r:id="Rbb8b7b9cd17b4b7f"/>
    <p:sldId xmlns:r="http://schemas.openxmlformats.org/officeDocument/2006/relationships" id="263" r:id="R5b068907b8144c02"/>
    <p:sldId xmlns:r="http://schemas.openxmlformats.org/officeDocument/2006/relationships" id="264" r:id="R933a78d4048c4d37"/>
    <p:sldId xmlns:r="http://schemas.openxmlformats.org/officeDocument/2006/relationships" id="265" r:id="Rbd9a20b530964d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2eb87cabb34001" /><Relationship Type="http://schemas.openxmlformats.org/officeDocument/2006/relationships/slideMaster" Target="/ppt/slideMasters/slideMaster1.xml" Id="Rb86c9aab438b414b" /><Relationship Type="http://schemas.openxmlformats.org/officeDocument/2006/relationships/notesMaster" Target="/ppt/notesMasters/notesMaster1.xml" Id="R0e43a6d15afb4e44" /><Relationship Type="http://schemas.openxmlformats.org/officeDocument/2006/relationships/presProps" Target="/ppt/presProps.xml" Id="R0c6f2fbcb9034918" /><Relationship Type="http://schemas.openxmlformats.org/officeDocument/2006/relationships/tableStyles" Target="/ppt/tableStyles.xml" Id="Rdcd2f73bf9664d41" /><Relationship Type="http://schemas.openxmlformats.org/officeDocument/2006/relationships/slide" Target="/ppt/slides/slide1.xml" Id="R5e9f367b9f024e26" /><Relationship Type="http://schemas.openxmlformats.org/officeDocument/2006/relationships/slide" Target="/ppt/slides/slide2.xml" Id="Redb682d83ab248f5" /><Relationship Type="http://schemas.openxmlformats.org/officeDocument/2006/relationships/slide" Target="/ppt/slides/slide3.xml" Id="Rbb4448d8fdcf42a4" /><Relationship Type="http://schemas.openxmlformats.org/officeDocument/2006/relationships/slide" Target="/ppt/slides/slide4.xml" Id="R21f97550cb604357" /><Relationship Type="http://schemas.openxmlformats.org/officeDocument/2006/relationships/slide" Target="/ppt/slides/slide5.xml" Id="R4ba1d49bc064408f" /><Relationship Type="http://schemas.openxmlformats.org/officeDocument/2006/relationships/slide" Target="/ppt/slides/slide6.xml" Id="R78d6a82ae65e4ec7" /><Relationship Type="http://schemas.openxmlformats.org/officeDocument/2006/relationships/slide" Target="/ppt/slides/slide7.xml" Id="Rbb8b7b9cd17b4b7f" /><Relationship Type="http://schemas.openxmlformats.org/officeDocument/2006/relationships/slide" Target="/ppt/slides/slide8.xml" Id="R5b068907b8144c02" /><Relationship Type="http://schemas.openxmlformats.org/officeDocument/2006/relationships/slide" Target="/ppt/slides/slide9.xml" Id="R933a78d4048c4d37" /><Relationship Type="http://schemas.openxmlformats.org/officeDocument/2006/relationships/slide" Target="/ppt/slides/slide10.xml" Id="Rbd9a20b530964d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a07c4ca98448d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16c58c45d704496" /><Relationship Type="http://schemas.openxmlformats.org/officeDocument/2006/relationships/notesMaster" Target="/ppt/notesMasters/notesMaster1.xml" Id="R183b5542f32e4ce2"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94f3e477bf4b00" /><Relationship Type="http://schemas.openxmlformats.org/officeDocument/2006/relationships/notesMaster" Target="/ppt/notesMasters/notesMaster1.xml" Id="Rb1dbe1f813e945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8546e09e89a4715" /><Relationship Type="http://schemas.openxmlformats.org/officeDocument/2006/relationships/notesMaster" Target="/ppt/notesMasters/notesMaster1.xml" Id="R9779fd39031940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806e9d92134dbd" /><Relationship Type="http://schemas.openxmlformats.org/officeDocument/2006/relationships/notesMaster" Target="/ppt/notesMasters/notesMaster1.xml" Id="R4ba2052d905a4113"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3221e1c9864652" /><Relationship Type="http://schemas.openxmlformats.org/officeDocument/2006/relationships/notesMaster" Target="/ppt/notesMasters/notesMaster1.xml" Id="R35f9196d175842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7830e75fdf4df3" /><Relationship Type="http://schemas.openxmlformats.org/officeDocument/2006/relationships/notesMaster" Target="/ppt/notesMasters/notesMaster1.xml" Id="R64fd3c625c1d4c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f85e1a14c5440a" /><Relationship Type="http://schemas.openxmlformats.org/officeDocument/2006/relationships/notesMaster" Target="/ppt/notesMasters/notesMaster1.xml" Id="R44f1abe41b87470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fef0a6c9ef442ab" /><Relationship Type="http://schemas.openxmlformats.org/officeDocument/2006/relationships/notesMaster" Target="/ppt/notesMasters/notesMaster1.xml" Id="R655487a6b8fe460b" /></Relationships>
</file>

<file path=ppt/notesSlides/_rels/notesSlide9.xml.rels>&#65279;<?xml version="1.0" encoding="utf-8"?><Relationships xmlns="http://schemas.openxmlformats.org/package/2006/relationships"><Relationship Type="http://schemas.openxmlformats.org/officeDocument/2006/relationships/slide" Target="/ppt/slides/slide9.xml" Id="R06523f2286e14aa7" /><Relationship Type="http://schemas.openxmlformats.org/officeDocument/2006/relationships/notesMaster" Target="/ppt/notesMasters/notesMaster1.xml" Id="R60603bbb024d4f9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8fd1225fa41491e" /><Relationship Type="http://schemas.openxmlformats.org/officeDocument/2006/relationships/notesMaster" Target="/ppt/notesMasters/notesMaster1.xml" Id="R74cc186d943f48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5.5. Integración de Java, Arduino y persistencia. Autor: Ing. Pablo Torres, Mgtr.</a:t>
            </a:r>
          </a:p>
          <a:p xmlns:a="http://schemas.openxmlformats.org/drawingml/2006/main">
            <a:r>
              <a:t>Logo original proporcionado por el docente.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CampusMonitor reúne ahora recepción serial, validación, procesamiento, persistencia y vista. El proyecto final debe coordinar fallos y cierre sin perder la distinción entre una muestra recibida y una muestra confirmada en la base.</a:t>
            </a:r>
          </a:p>
          <a:p xmlns:a="http://schemas.openxmlformats.org/drawingml/2006/main">
            <a:r>
              <a:t>Fuente del desarrollo: material.md, contexto.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adaptador serial produce bytes y el decodificador crea líneas. El parser genera mensajes tipados. Los mensajes DATA entran a una cola acotada y un consumidor transforma y almacena. ACK actualiza el estado de comandos pendientes. La vista recibe resúmenes o DTOs a través del EDT.</a:t>
            </a:r>
          </a:p>
          <a:p xmlns:a="http://schemas.openxmlformats.org/drawingml/2006/main">
            <a:r>
              <a:t/>
            </a:r>
          </a:p>
          <a:p xmlns:a="http://schemas.openxmlformats.org/drawingml/2006/main">
            <a:r>
              <a:t>Mantén dependencias hacia contratos: FuenteMensajes para hardware o simulación, RepositorioLecturas para persistencia y un servicio que coordine el ciclo de vida. No permitas que el parser acceda directamente a Swing ni que el lector serial mantenga una transacción abierta mientras espera nuevas muestras.</a:t>
            </a:r>
          </a:p>
          <a:p xmlns:a="http://schemas.openxmlformats.org/drawingml/2006/main">
            <a:r>
              <a:t/>
            </a:r>
          </a:p>
          <a:p xmlns:a="http://schemas.openxmlformats.org/drawingml/2006/main">
            <a:r>
              <a:t>Referencias:</a:t>
            </a:r>
          </a:p>
          <a:p xmlns:a="http://schemas.openxmlformats.org/drawingml/2006/main">
            <a:r>
              <a:t>https://docs.arduino.cc/language-reference/</a:t>
            </a:r>
          </a:p>
          <a:p xmlns:a="http://schemas.openxmlformats.org/drawingml/2006/main">
            <a:r>
              <a:t>https://docs.arduino.cc/hardware/uno-rev3/</a:t>
            </a:r>
          </a:p>
          <a:p xmlns:a="http://schemas.openxmlformats.org/drawingml/2006/main">
            <a:r>
              <a:t>https://fazecast.github.io/jSerialComm/</a:t>
            </a:r>
          </a:p>
          <a:p xmlns:a="http://schemas.openxmlformats.org/drawingml/2006/main">
            <a:r>
              <a:t>https://docs.espressif.com/projects/arduino-esp32/en/latest/api/adc.html</a:t>
            </a:r>
          </a:p>
          <a:p xmlns:a="http://schemas.openxmlformats.org/drawingml/2006/main">
            <a:r>
              <a:t>Correspondencia: material.md, sección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Una secuencia de dispositivo ayuda a detectar pérdidas, pero vuelve a cero después de un reinicio. Define una sesión de captura con identidad propia y una clave única por sesión, sensor y secuencia. Así distingues un duplicado de una lectura válida en una nueva sesión.</a:t>
            </a:r>
          </a:p>
          <a:p xmlns:a="http://schemas.openxmlformats.org/drawingml/2006/main">
            <a:r>
              <a:t/>
            </a:r>
          </a:p>
          <a:p xmlns:a="http://schemas.openxmlformats.org/drawingml/2006/main">
            <a:r>
              <a:t>El consumidor confirma una lectura únicamente después del commit. Si se reintenta un lote, la clave de idempotencia permite reconocer lo ya guardado. No generes silenciosamente una nueva identidad en cada reintento porque producirías duplicados lógicos. Registra cuándo empieza y termina cada sesión.</a:t>
            </a:r>
          </a:p>
          <a:p xmlns:a="http://schemas.openxmlformats.org/drawingml/2006/main">
            <a:r>
              <a:t/>
            </a:r>
          </a:p>
          <a:p xmlns:a="http://schemas.openxmlformats.org/drawingml/2006/main">
            <a:r>
              <a:t>Referencias:</a:t>
            </a:r>
          </a:p>
          <a:p xmlns:a="http://schemas.openxmlformats.org/drawingml/2006/main">
            <a:r>
              <a:t>https://docs.arduino.cc/language-reference/</a:t>
            </a:r>
          </a:p>
          <a:p xmlns:a="http://schemas.openxmlformats.org/drawingml/2006/main">
            <a:r>
              <a:t>https://docs.arduino.cc/hardware/uno-rev3/</a:t>
            </a:r>
          </a:p>
          <a:p xmlns:a="http://schemas.openxmlformats.org/drawingml/2006/main">
            <a:r>
              <a:t>https://fazecast.github.io/jSerialComm/</a:t>
            </a:r>
          </a:p>
          <a:p xmlns:a="http://schemas.openxmlformats.org/drawingml/2006/main">
            <a:r>
              <a:t>https://docs.espressif.com/projects/arduino-esp32/en/latest/api/adc.html</a:t>
            </a:r>
          </a:p>
          <a:p xmlns:a="http://schemas.openxmlformats.org/drawingml/2006/main">
            <a:r>
              <a:t>Correspondencia: material.md, sección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errores de formato se registran y permiten continuar. Una desconexión detiene la producción y cambia el estado de la sesión. Un error de base puede requerir detener, reintentar con límite o mantener pendientes según la política definida. Una cola llena también necesita una decisión explícita.</a:t>
            </a:r>
          </a:p>
          <a:p xmlns:a="http://schemas.openxmlformats.org/drawingml/2006/main">
            <a:r>
              <a:t/>
            </a:r>
          </a:p>
          <a:p xmlns:a="http://schemas.openxmlformats.org/drawingml/2006/main">
            <a:r>
              <a:t>Para cierre normal, deja de producir, cierra el puerto, permite drenar la cola hasta un plazo, termina consumidores y cierra ejecutores y conexiones. Para una cancelación inmediata, informa cuántas lecturas quedaron sin confirmar. El cierre no debe bloquear el EDT mientras espera. La interfaz distingue conectado, capturando, cerrando y desconectado.</a:t>
            </a:r>
          </a:p>
          <a:p xmlns:a="http://schemas.openxmlformats.org/drawingml/2006/main">
            <a:r>
              <a:t/>
            </a:r>
          </a:p>
          <a:p xmlns:a="http://schemas.openxmlformats.org/drawingml/2006/main">
            <a:r>
              <a:t>Referencias:</a:t>
            </a:r>
          </a:p>
          <a:p xmlns:a="http://schemas.openxmlformats.org/drawingml/2006/main">
            <a:r>
              <a:t>https://docs.arduino.cc/language-reference/</a:t>
            </a:r>
          </a:p>
          <a:p xmlns:a="http://schemas.openxmlformats.org/drawingml/2006/main">
            <a:r>
              <a:t>https://docs.arduino.cc/hardware/uno-rev3/</a:t>
            </a:r>
          </a:p>
          <a:p xmlns:a="http://schemas.openxmlformats.org/drawingml/2006/main">
            <a:r>
              <a:t>https://fazecast.github.io/jSerialComm/</a:t>
            </a:r>
          </a:p>
          <a:p xmlns:a="http://schemas.openxmlformats.org/drawingml/2006/main">
            <a:r>
              <a:t>https://docs.espressif.com/projects/arduino-esp32/en/latest/api/adc.html</a:t>
            </a:r>
          </a:p>
          <a:p xmlns:a="http://schemas.openxmlformats.org/drawingml/2006/main">
            <a:r>
              <a:t>Correspondencia: material.md, sección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demostración integra protocolo, cola y transacción con un conjunto de bytes simulado y H2. Permite comprobar el recorrido sin depender de una placa. La PL completa exige sustituir esa fuente por el puerto real y ejecutar contra PostgreSQL con el mismo contrato de mensajes.</a:t>
            </a:r>
          </a:p>
          <a:p xmlns:a="http://schemas.openxmlformats.org/drawingml/2006/main">
            <a:r>
              <a:t/>
            </a:r>
          </a:p>
          <a:p xmlns:a="http://schemas.openxmlformats.org/drawingml/2006/main">
            <a:r>
              <a:t>La simulación no prueba reinicio USB, niveles eléctricos, ruido, permisos del puerto ni cableado. La evidencia final debe incluir tramas reales, ACK de control, desconexión, reinicio de Java y consulta persistida. Si se usa una variante ESP32, se documentan las diferencias y se conserva el protocolo o se versiona expresamente.</a:t>
            </a:r>
          </a:p>
          <a:p xmlns:a="http://schemas.openxmlformats.org/drawingml/2006/main">
            <a:r>
              <a:t/>
            </a:r>
          </a:p>
          <a:p xmlns:a="http://schemas.openxmlformats.org/drawingml/2006/main">
            <a:r>
              <a:t>Referencias:</a:t>
            </a:r>
          </a:p>
          <a:p xmlns:a="http://schemas.openxmlformats.org/drawingml/2006/main">
            <a:r>
              <a:t>https://docs.arduino.cc/language-reference/</a:t>
            </a:r>
          </a:p>
          <a:p xmlns:a="http://schemas.openxmlformats.org/drawingml/2006/main">
            <a:r>
              <a:t>https://docs.arduino.cc/hardware/uno-rev3/</a:t>
            </a:r>
          </a:p>
          <a:p xmlns:a="http://schemas.openxmlformats.org/drawingml/2006/main">
            <a:r>
              <a:t>https://fazecast.github.io/jSerialComm/</a:t>
            </a:r>
          </a:p>
          <a:p xmlns:a="http://schemas.openxmlformats.org/drawingml/2006/main">
            <a:r>
              <a:t>https://docs.espressif.com/projects/arduino-esp32/en/latest/api/adc.html</a:t>
            </a:r>
          </a:p>
          <a:p xmlns:a="http://schemas.openxmlformats.org/drawingml/2006/main">
            <a:r>
              <a:t>Correspondencia: material.md, sección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a:t>
            </a:r>
          </a:p>
          <a:p xmlns:a="http://schemas.openxmlformats.org/drawingml/2006/main">
            <a:r>
              <a:t>package edu.ups.pap.u05;</a:t>
            </a:r>
          </a:p>
          <a:p xmlns:a="http://schemas.openxmlformats.org/drawingml/2006/main">
            <a:r>
              <a:t>import edu.ups.pap.comun.Protocolo;</a:t>
            </a:r>
          </a:p>
          <a:p xmlns:a="http://schemas.openxmlformats.org/drawingml/2006/main">
            <a:r>
              <a:t>import java.sql.*;</a:t>
            </a:r>
          </a:p>
          <a:p xmlns:a="http://schemas.openxmlformats.org/drawingml/2006/main">
            <a:r>
              <a:t>import java.util.concurrent.*;</a:t>
            </a:r>
          </a:p>
          <a:p xmlns:a="http://schemas.openxmlformats.org/drawingml/2006/main">
            <a:r>
              <a:t>public class IntegracionDemo {</a:t>
            </a:r>
          </a:p>
          <a:p xmlns:a="http://schemas.openxmlformats.org/drawingml/2006/main">
            <a:r>
              <a:t>    public static void main(String[] args) throws Exception {</a:t>
            </a:r>
          </a:p>
          <a:p xmlns:a="http://schemas.openxmlformats.org/drawingml/2006/main">
            <a:r>
              <a:t>        BlockingQueue&lt;Protocolo.Dato&gt; cola = new ArrayBlockingQueue&lt;&gt;(10);</a:t>
            </a:r>
          </a:p>
          <a:p xmlns:a="http://schemas.openxmlformats.org/drawingml/2006/main">
            <a:r>
              <a:t>        for(String linea:new String[]{"DATA;1;100","DATA;2;500","DATA;3;900"}) {</a:t>
            </a:r>
          </a:p>
          <a:p xmlns:a="http://schemas.openxmlformats.org/drawingml/2006/main">
            <a:r>
              <a:t>            var mensaje=Protocolo.parsear(linea);</a:t>
            </a:r>
          </a:p>
          <a:p xmlns:a="http://schemas.openxmlformats.org/drawingml/2006/main">
            <a:r>
              <a:t>            if(mensaje instanceof Protocolo.Dato dato) cola.put(dato);</a:t>
            </a:r>
          </a:p>
          <a:p xmlns:a="http://schemas.openxmlformats.org/drawingml/2006/main">
            <a:r>
              <a:t>        }</a:t>
            </a:r>
          </a:p>
          <a:p xmlns:a="http://schemas.openxmlformats.org/drawingml/2006/main">
            <a:r>
              <a:t>        try(Connection c=DriverManager.getConnection("jdbc:h2:mem:integracion")) {</a:t>
            </a:r>
          </a:p>
          <a:p xmlns:a="http://schemas.openxmlformats.org/drawingml/2006/main">
            <a:r>
              <a:t>            try(Statement s=c.createStatement()) {</a:t>
            </a:r>
          </a:p>
          <a:p xmlns:a="http://schemas.openxmlformats.org/drawingml/2006/main">
            <a:r>
              <a:t>                s.execute("CREATE TABLE lectura(sesion VARCHAR(40),secuencia BIGINT,raw INT,PRIMARY KEY(sesion,secuencia))");</a:t>
            </a:r>
          </a:p>
          <a:p xmlns:a="http://schemas.openxmlformats.org/drawingml/2006/main">
            <a:r>
              <a:t>            }</a:t>
            </a:r>
          </a:p>
          <a:p xmlns:a="http://schemas.openxmlformats.org/drawingml/2006/main">
            <a:r>
              <a:t>            c.setAutoCommit(false);</a:t>
            </a:r>
          </a:p>
          <a:p xmlns:a="http://schemas.openxmlformats.org/drawingml/2006/main">
            <a:r>
              <a:t>            try(PreparedStatement p=c.prepareStatement("INSERT INTO lectura VALUES(?,?,?)")) {</a:t>
            </a:r>
          </a:p>
          <a:p xmlns:a="http://schemas.openxmlformats.org/drawingml/2006/main">
            <a:r>
              <a:t>                Protocolo.Dato d;</a:t>
            </a:r>
          </a:p>
          <a:p xmlns:a="http://schemas.openxmlformats.org/drawingml/2006/main">
            <a:r>
              <a:t>                while((d=cola.poll())!=null) {</a:t>
            </a:r>
          </a:p>
          <a:p xmlns:a="http://schemas.openxmlformats.org/drawingml/2006/main">
            <a:r>
              <a:t>                    p.setString(1,"sesion-demo");p.setLong(2,d.secuencia());p.setInt(3,d.raw());p.addBatch();</a:t>
            </a:r>
          </a:p>
          <a:p xmlns:a="http://schemas.openxmlformats.org/drawingml/2006/main">
            <a:r>
              <a:t>                }</a:t>
            </a:r>
          </a:p>
          <a:p xmlns:a="http://schemas.openxmlformats.org/drawingml/2006/main">
            <a:r>
              <a:t>                p.executeBatch();c.commit();</a:t>
            </a:r>
          </a:p>
          <a:p xmlns:a="http://schemas.openxmlformats.org/drawingml/2006/main">
            <a:r>
              <a:t>            } catch(SQLException e) {c.rollback();throw e;}</a:t>
            </a:r>
          </a:p>
          <a:p xmlns:a="http://schemas.openxmlformats.org/drawingml/2006/main">
            <a:r>
              <a:t>            try(Statement s=c.createStatement();ResultSet r=s.executeQuery("SELECT COUNT(*),AVG(raw) FROM lectura")) {</a:t>
            </a:r>
          </a:p>
          <a:p xmlns:a="http://schemas.openxmlformats.org/drawingml/2006/main">
            <a:r>
              <a:t>                r.next();System.out.println("Confirmadas: "+r.getInt(1));</a:t>
            </a:r>
          </a:p>
          <a:p xmlns:a="http://schemas.openxmlformats.org/drawingml/2006/main">
            <a:r>
              <a:t>                System.out.println("Promedio raw: "+r.getDouble(2));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
            </a:r>
          </a:p>
          <a:p xmlns:a="http://schemas.openxmlformats.org/drawingml/2006/main">
            <a:r>
              <a:t>Salida:</a:t>
            </a:r>
          </a:p>
          <a:p xmlns:a="http://schemas.openxmlformats.org/drawingml/2006/main">
            <a:r>
              <a:t>Confirmadas: 3</a:t>
            </a:r>
          </a:p>
          <a:p xmlns:a="http://schemas.openxmlformats.org/drawingml/2006/main">
            <a:r>
              <a:t>Promedio raw: 500.0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Salida esperada:</a:t>
            </a:r>
          </a:p>
          <a:p xmlns:a="http://schemas.openxmlformats.org/drawingml/2006/main">
            <a:r>
              <a:t>Confirmadas: 3</a:t>
            </a:r>
          </a:p>
          <a:p xmlns:a="http://schemas.openxmlformats.org/drawingml/2006/main">
            <a:r>
              <a:t>Promedio raw: 500.0</a:t>
            </a:r>
          </a:p>
          <a:p xmlns:a="http://schemas.openxmlformats.org/drawingml/2006/main">
            <a:r>
              <a:t>Casos de aceptación: material.md, sección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Resuelve la ampliación en tu proyecto CampusMonitor.</a:t>
            </a:r>
          </a:p>
          <a:p xmlns:a="http://schemas.openxmlformats.org/drawingml/2006/main">
            <a:r>
              <a:t>Evidencia: evidencias/PC5.5.md y enlace al commit final.</a:t>
            </a:r>
          </a:p>
          <a:p xmlns:a="http://schemas.openxmlformats.org/drawingml/2006/main">
            <a:r>
              <a:t>Integra captura real en CampusMonitor conservando el modo simulado. El consumidor JDBC debe usar una conexión propia y una sesión identificada.</a:t>
            </a:r>
          </a:p>
          <a:p xmlns:a="http://schemas.openxmlformats.org/drawingml/2006/main">
            <a:r>
              <a:t>Muestra en Swing recibidas, rechazadas, confirmadas y pendientes. Añade LED con ACK y cierre ordenado de puerto, cola y tareas.</a:t>
            </a:r>
          </a:p>
          <a:p xmlns:a="http://schemas.openxmlformats.org/drawingml/2006/main">
            <a:r>
              <a:t>Prueba una desconexión, un duplicado y un reinicio. La consulta PostgreSQL debe demostrar qué datos se confirmaron y a qué sesión pertenecen.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del material. Revisa la sección 3 para la PC y la guía general para commits y evidencias.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ca06501a2b4b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06e4ed40b7486c" /><Relationship Type="http://schemas.openxmlformats.org/officeDocument/2006/relationships/slideLayout" Target="/ppt/slideLayouts/slideLayout1.xml" Id="Rae3482fdab334d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3482fdab334d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998d3fd7d394439" /><Relationship Type="http://schemas.openxmlformats.org/officeDocument/2006/relationships/image" Target="/ppt/media/image.png" Id="R2245fd765f2c4228" /><Relationship Type="http://schemas.openxmlformats.org/officeDocument/2006/relationships/notesSlide" Target="/ppt/notesSlides/notesSlide1.xml" Id="Re8f32832616f44a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f9da6465e8c428a" /><Relationship Type="http://schemas.openxmlformats.org/officeDocument/2006/relationships/notesSlide" Target="/ppt/notesSlides/notesSlide2.xml" Id="R057b6414a16c4a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1318c330bba448b" /><Relationship Type="http://schemas.openxmlformats.org/officeDocument/2006/relationships/notesSlide" Target="/ppt/notesSlides/notesSlide3.xml" Id="R6cd97ed1b2c8406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133927714534fce" /><Relationship Type="http://schemas.openxmlformats.org/officeDocument/2006/relationships/notesSlide" Target="/ppt/notesSlides/notesSlide4.xml" Id="R4db5f94920e44a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3dd471077af49ba" /><Relationship Type="http://schemas.openxmlformats.org/officeDocument/2006/relationships/notesSlide" Target="/ppt/notesSlides/notesSlide5.xml" Id="Rd21c10e76229490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ec7180d14244af9" /><Relationship Type="http://schemas.openxmlformats.org/officeDocument/2006/relationships/notesSlide" Target="/ppt/notesSlides/notesSlide6.xml" Id="Re43f8344a39942b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8c798485491414d" /><Relationship Type="http://schemas.openxmlformats.org/officeDocument/2006/relationships/notesSlide" Target="/ppt/notesSlides/notesSlide7.xml" Id="Rb0c43129682f476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3f7d847475e476e" /><Relationship Type="http://schemas.openxmlformats.org/officeDocument/2006/relationships/notesSlide" Target="/ppt/notesSlides/notesSlide8.xml" Id="R6961312790f7472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2bb2d113f8c4909" /><Relationship Type="http://schemas.openxmlformats.org/officeDocument/2006/relationships/notesSlide" Target="/ppt/notesSlides/notesSlide9.xml" Id="Rffb2fcfdcc9e498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fccdb95d59346e3" /><Relationship Type="http://schemas.openxmlformats.org/officeDocument/2006/relationships/notesSlide" Target="/ppt/notesSlides/notesSlide10.xml" Id="R559ca1e37f57468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245fd765f2c4228"/>
          <a:stretch xmlns:a="http://schemas.openxmlformats.org/drawingml/2006/main"/>
        </p:blipFill>
        <p:spPr>
          <a:xfrm xmlns:a="http://schemas.openxmlformats.org/drawingml/2006/main">
            <a:off x="609600" y="545418"/>
            <a:ext cx="6858000" cy="112848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96D8080-C2D2-4911-A892-FE8BAB5201E5}"/>
              </a:ext>
            </a:extLst>
          </p:cNvPr>
          <p:cNvSpPr>
            <a:spLocks xmlns:a="http://schemas.openxmlformats.org/drawingml/2006/main" noGrp="1"/>
          </p:cNvSpPr>
          <p:nvPr/>
        </p:nvSpPr>
        <p:spPr>
          <a:xfrm xmlns:a="http://schemas.openxmlformats.org/drawingml/2006/main">
            <a:off x="609600" y="2238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003772"/>
                </a:solidFill>
                <a:latin typeface="DejaVu Sans"/>
                <a:ea typeface="DejaVu Sans"/>
                <a:cs typeface="DejaVu Sans"/>
              </a:defRPr>
            </a:pPr>
            <a:r>
              <a:rPr sz="3150" b="1">
                <a:solidFill>
                  <a:srgbClr val="003772"/>
                </a:solidFill>
                <a:latin typeface="DejaVu Sans"/>
                <a:ea typeface="DejaVu Sans"/>
                <a:cs typeface="DejaVu Sans"/>
              </a:rPr>
              <a:t>Programación Aplicada</a:t>
            </a:r>
          </a:p>
        </p:txBody>
      </p:sp>
      <p:sp>
        <p:nvSpPr>
          <p:cNvPr id="3" name="">
            <a:extLst xmlns:a="http://schemas.openxmlformats.org/drawingml/2006/main">
              <a:ext uri="{FF2B5EF4-FFF2-40B4-BE49-F238E27FC236}">
                <a16:creationId xmlns:a16="http://schemas.microsoft.com/office/drawing/2014/main" id="{6C82617F-27BF-425F-B60F-A10598BEC0DC}"/>
              </a:ext>
            </a:extLst>
          </p:cNvPr>
          <p:cNvSpPr>
            <a:spLocks xmlns:a="http://schemas.openxmlformats.org/drawingml/2006/main" noGrp="1"/>
          </p:cNvSpPr>
          <p:nvPr/>
        </p:nvSpPr>
        <p:spPr>
          <a:xfrm xmlns:a="http://schemas.openxmlformats.org/drawingml/2006/main">
            <a:off x="609600" y="31623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003772"/>
                </a:solidFill>
                <a:latin typeface="DejaVu Sans"/>
                <a:ea typeface="DejaVu Sans"/>
                <a:cs typeface="DejaVu Sans"/>
              </a:defRPr>
            </a:pPr>
            <a:r>
              <a:rPr sz="2775" b="1">
                <a:solidFill>
                  <a:srgbClr val="003772"/>
                </a:solidFill>
                <a:latin typeface="DejaVu Sans"/>
                <a:ea typeface="DejaVu Sans"/>
                <a:cs typeface="DejaVu Sans"/>
              </a:rPr>
              <a:t>Integración de Java, Arduino y persistencia</a:t>
            </a:r>
          </a:p>
        </p:txBody>
      </p:sp>
      <p:sp>
        <p:nvSpPr>
          <p:cNvPr id="4" name="">
            <a:extLst xmlns:a="http://schemas.openxmlformats.org/drawingml/2006/main">
              <a:ext uri="{FF2B5EF4-FFF2-40B4-BE49-F238E27FC236}">
                <a16:creationId xmlns:a16="http://schemas.microsoft.com/office/drawing/2014/main" id="{1607572E-50FA-4FDF-8CBF-BDB1073D0C7A}"/>
              </a:ext>
            </a:extLst>
          </p:cNvPr>
          <p:cNvSpPr>
            <a:spLocks xmlns:a="http://schemas.openxmlformats.org/drawingml/2006/main" noGrp="1"/>
          </p:cNvSpPr>
          <p:nvPr/>
        </p:nvSpPr>
        <p:spPr>
          <a:xfrm xmlns:a="http://schemas.openxmlformats.org/drawingml/2006/main">
            <a:off x="609600" y="4705350"/>
            <a:ext cx="1381125"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9602875-1596-47EC-B1E3-6BDFB8C35C45}"/>
              </a:ext>
            </a:extLst>
          </p:cNvPr>
          <p:cNvSpPr>
            <a:spLocks xmlns:a="http://schemas.openxmlformats.org/drawingml/2006/main" noGrp="1"/>
          </p:cNvSpPr>
          <p:nvPr/>
        </p:nvSpPr>
        <p:spPr>
          <a:xfrm xmlns:a="http://schemas.openxmlformats.org/drawingml/2006/main">
            <a:off x="609600" y="5067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Unidad 5 · 5.5</a:t>
            </a:r>
          </a:p>
        </p:txBody>
      </p:sp>
      <p:sp>
        <p:nvSpPr>
          <p:cNvPr id="6" name="">
            <a:extLst xmlns:a="http://schemas.openxmlformats.org/drawingml/2006/main">
              <a:ext uri="{FF2B5EF4-FFF2-40B4-BE49-F238E27FC236}">
                <a16:creationId xmlns:a16="http://schemas.microsoft.com/office/drawing/2014/main" id="{6D9AA648-F0A3-49C0-998E-F2F463186E8C}"/>
              </a:ext>
            </a:extLst>
          </p:cNvPr>
          <p:cNvSpPr>
            <a:spLocks xmlns:a="http://schemas.openxmlformats.org/drawingml/2006/main" noGrp="1"/>
          </p:cNvSpPr>
          <p:nvPr/>
        </p:nvSpPr>
        <p:spPr>
          <a:xfrm xmlns:a="http://schemas.openxmlformats.org/drawingml/2006/main">
            <a:off x="609600" y="5676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182868184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B8287ED-7734-4692-A0FA-49D81C51DB5E}"/>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9105BD-43B3-48A0-9974-B8C0114D3D1A}"/>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El problema de CampusMonitor</a:t>
            </a:r>
          </a:p>
        </p:txBody>
      </p:sp>
      <p:sp>
        <p:nvSpPr>
          <p:cNvPr id="3" name="">
            <a:extLst xmlns:a="http://schemas.openxmlformats.org/drawingml/2006/main">
              <a:ext uri="{FF2B5EF4-FFF2-40B4-BE49-F238E27FC236}">
                <a16:creationId xmlns:a16="http://schemas.microsoft.com/office/drawing/2014/main" id="{9D986431-C825-48D0-96F1-5DB16727F7D0}"/>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BAB353D-6B84-4912-98BB-45AB20C14AF3}"/>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5.5</a:t>
            </a:r>
          </a:p>
        </p:txBody>
      </p:sp>
      <p:sp>
        <p:nvSpPr>
          <p:cNvPr id="5" name="">
            <a:extLst xmlns:a="http://schemas.openxmlformats.org/drawingml/2006/main">
              <a:ext uri="{FF2B5EF4-FFF2-40B4-BE49-F238E27FC236}">
                <a16:creationId xmlns:a16="http://schemas.microsoft.com/office/drawing/2014/main" id="{25BF80E9-C379-4E25-9049-9652FAFD2421}"/>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DBE6F82A-8B5B-44E8-964E-F6AC2365438E}"/>
              </a:ext>
            </a:extLst>
          </p:cNvPr>
          <p:cNvSpPr>
            <a:spLocks xmlns:a="http://schemas.openxmlformats.org/drawingml/2006/main" noGrp="1"/>
          </p:cNvSpPr>
          <p:nvPr/>
        </p:nvSpPr>
        <p:spPr>
          <a:xfrm xmlns:a="http://schemas.openxmlformats.org/drawingml/2006/main">
            <a:off x="762000" y="1771650"/>
            <a:ext cx="10477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CampusMonitor reúne ahora recepción serial, validación, procesamiento, persistencia y vista. El proyecto final debe coordinar fallos y cierre sin perder la distinción entre una muestra recibida y una muestra confirmada en la base.</a:t>
            </a:r>
          </a:p>
        </p:txBody>
      </p:sp>
    </p:spTree>
    <p:extLst>
      <p:ext uri="{BB962C8B-B14F-4D97-AF65-F5344CB8AC3E}">
        <p14:creationId xmlns:p14="http://schemas.microsoft.com/office/powerpoint/2010/main" val="20281993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D58BB54-7EF5-4F7D-B83E-7710FCD5BB48}"/>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9E17CE4-B0ED-4B8A-884D-66A2F73DB18F}"/>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Arquitectura de la integración</a:t>
            </a:r>
          </a:p>
        </p:txBody>
      </p:sp>
      <p:sp>
        <p:nvSpPr>
          <p:cNvPr id="3" name="">
            <a:extLst xmlns:a="http://schemas.openxmlformats.org/drawingml/2006/main">
              <a:ext uri="{FF2B5EF4-FFF2-40B4-BE49-F238E27FC236}">
                <a16:creationId xmlns:a16="http://schemas.microsoft.com/office/drawing/2014/main" id="{4CD71064-E631-4E18-BFA8-6A5D89A7399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3C53BA8-E918-4CCC-9BB7-6A750972E4AA}"/>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5.5</a:t>
            </a:r>
          </a:p>
        </p:txBody>
      </p:sp>
      <p:sp>
        <p:nvSpPr>
          <p:cNvPr id="5" name="">
            <a:extLst xmlns:a="http://schemas.openxmlformats.org/drawingml/2006/main">
              <a:ext uri="{FF2B5EF4-FFF2-40B4-BE49-F238E27FC236}">
                <a16:creationId xmlns:a16="http://schemas.microsoft.com/office/drawing/2014/main" id="{B7BDAF5F-2B5C-4766-BF41-5B4CB2A80F35}"/>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808881C9-176B-4AD5-A292-7139CB108435}"/>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Cada etapa tiene una responsabilidad.</a:t>
            </a:r>
          </a:p>
        </p:txBody>
      </p:sp>
      <p:sp>
        <p:nvSpPr>
          <p:cNvPr id="7" name="">
            <a:extLst xmlns:a="http://schemas.openxmlformats.org/drawingml/2006/main">
              <a:ext uri="{FF2B5EF4-FFF2-40B4-BE49-F238E27FC236}">
                <a16:creationId xmlns:a16="http://schemas.microsoft.com/office/drawing/2014/main" id="{FE046683-0C00-45F9-86FF-7750212A8582}"/>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El adaptador serial produce bytes y el decodificador crea líneas. El parser genera mensajes tipados. Los mensajes DATA entran a una cola acotada y un consumidor transforma y almacena. ACK actualiza el estado de comandos pendientes. La vista recibe resúmenes o DTOs a través del EDT.</a:t>
            </a:r>
          </a:p>
        </p:txBody>
      </p:sp>
      <p:sp>
        <p:nvSpPr>
          <p:cNvPr id="8" name="">
            <a:extLst xmlns:a="http://schemas.openxmlformats.org/drawingml/2006/main">
              <a:ext uri="{FF2B5EF4-FFF2-40B4-BE49-F238E27FC236}">
                <a16:creationId xmlns:a16="http://schemas.microsoft.com/office/drawing/2014/main" id="{7EAF20D5-09A4-4118-BA6A-35ABA3F4D7A8}"/>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5FC1CA0-D7B7-44E3-85FA-D2A36F6B04AF}"/>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Mantén dependencias hacia contratos: FuenteMensajes para hardware o simulación, RepositorioLecturas para persistencia y un servicio que coordine el ciclo de vida.</a:t>
            </a:r>
          </a:p>
        </p:txBody>
      </p:sp>
    </p:spTree>
    <p:extLst>
      <p:ext uri="{BB962C8B-B14F-4D97-AF65-F5344CB8AC3E}">
        <p14:creationId xmlns:p14="http://schemas.microsoft.com/office/powerpoint/2010/main" val="18529297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81DA4DD-04E8-4E5F-947E-A6EF9A626000}"/>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7893F6-A8F3-4871-9FB3-7E741C1D7A38}"/>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Identidad, duplicados y reinicios</a:t>
            </a:r>
          </a:p>
        </p:txBody>
      </p:sp>
      <p:sp>
        <p:nvSpPr>
          <p:cNvPr id="3" name="">
            <a:extLst xmlns:a="http://schemas.openxmlformats.org/drawingml/2006/main">
              <a:ext uri="{FF2B5EF4-FFF2-40B4-BE49-F238E27FC236}">
                <a16:creationId xmlns:a16="http://schemas.microsoft.com/office/drawing/2014/main" id="{DA2D8C6C-7816-4DA4-B8EC-30EE8610CFB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B5E17D4-8141-4E7A-8C7B-96C7F0A9FCD9}"/>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5.5</a:t>
            </a:r>
          </a:p>
        </p:txBody>
      </p:sp>
      <p:sp>
        <p:nvSpPr>
          <p:cNvPr id="5" name="">
            <a:extLst xmlns:a="http://schemas.openxmlformats.org/drawingml/2006/main">
              <a:ext uri="{FF2B5EF4-FFF2-40B4-BE49-F238E27FC236}">
                <a16:creationId xmlns:a16="http://schemas.microsoft.com/office/drawing/2014/main" id="{6CD3AEB3-4387-4ECA-AE2B-985BBA3F1468}"/>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65DEC7E9-90A7-41D5-B1AD-1892BA7BDE00}"/>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La sesión diferencia reinicios y duplicados.</a:t>
            </a:r>
          </a:p>
        </p:txBody>
      </p:sp>
      <p:sp>
        <p:nvSpPr>
          <p:cNvPr id="7" name="">
            <a:extLst xmlns:a="http://schemas.openxmlformats.org/drawingml/2006/main">
              <a:ext uri="{FF2B5EF4-FFF2-40B4-BE49-F238E27FC236}">
                <a16:creationId xmlns:a16="http://schemas.microsoft.com/office/drawing/2014/main" id="{357DAA53-7B31-4123-A9E6-6A4A74EF76BC}"/>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Una secuencia de dispositivo ayuda a detectar pérdidas, pero vuelve a cero después de un reinicio. Define una sesión de captura con identidad propia y una clave única por sesión, sensor y secuencia. Así distingues un duplicado de una lectura válida en una nueva sesión.</a:t>
            </a:r>
          </a:p>
        </p:txBody>
      </p:sp>
      <p:sp>
        <p:nvSpPr>
          <p:cNvPr id="8" name="">
            <a:extLst xmlns:a="http://schemas.openxmlformats.org/drawingml/2006/main">
              <a:ext uri="{FF2B5EF4-FFF2-40B4-BE49-F238E27FC236}">
                <a16:creationId xmlns:a16="http://schemas.microsoft.com/office/drawing/2014/main" id="{330467C4-2BB3-45F7-AE7A-5ED0694B40C1}"/>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4333DBA-DC27-4C2F-9C45-7256D5B6F64E}"/>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El consumidor confirma una lectura únicamente después del commit. Si se reintenta un lote, la clave de idempotencia permite reconocer lo ya guardado.</a:t>
            </a:r>
          </a:p>
        </p:txBody>
      </p:sp>
    </p:spTree>
    <p:extLst>
      <p:ext uri="{BB962C8B-B14F-4D97-AF65-F5344CB8AC3E}">
        <p14:creationId xmlns:p14="http://schemas.microsoft.com/office/powerpoint/2010/main" val="16100793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92A0D94-3839-46C7-9717-1C3B9695DEB1}"/>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6E5206-F0FD-43CE-8887-4D617CBAB3FF}"/>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Errores por etapa y cierre ordenado</a:t>
            </a:r>
          </a:p>
        </p:txBody>
      </p:sp>
      <p:sp>
        <p:nvSpPr>
          <p:cNvPr id="3" name="">
            <a:extLst xmlns:a="http://schemas.openxmlformats.org/drawingml/2006/main">
              <a:ext uri="{FF2B5EF4-FFF2-40B4-BE49-F238E27FC236}">
                <a16:creationId xmlns:a16="http://schemas.microsoft.com/office/drawing/2014/main" id="{BB70EB4B-CF86-4545-B3D7-6481F145E2B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FF25C46-F1E5-4625-8112-3C8211DB7873}"/>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5.5</a:t>
            </a:r>
          </a:p>
        </p:txBody>
      </p:sp>
      <p:sp>
        <p:nvSpPr>
          <p:cNvPr id="5" name="">
            <a:extLst xmlns:a="http://schemas.openxmlformats.org/drawingml/2006/main">
              <a:ext uri="{FF2B5EF4-FFF2-40B4-BE49-F238E27FC236}">
                <a16:creationId xmlns:a16="http://schemas.microsoft.com/office/drawing/2014/main" id="{C5BD0C36-B44E-4165-80ED-799FB6637103}"/>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206D4822-3498-4EA3-9B39-998D6D26AC97}"/>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Recibida y confirmada son estados distintos.</a:t>
            </a:r>
          </a:p>
        </p:txBody>
      </p:sp>
      <p:sp>
        <p:nvSpPr>
          <p:cNvPr id="7" name="">
            <a:extLst xmlns:a="http://schemas.openxmlformats.org/drawingml/2006/main">
              <a:ext uri="{FF2B5EF4-FFF2-40B4-BE49-F238E27FC236}">
                <a16:creationId xmlns:a16="http://schemas.microsoft.com/office/drawing/2014/main" id="{06323356-CF0C-487A-809E-37AB693F2E3B}"/>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Los errores de formato se registran y permiten continuar. Una desconexión detiene la producción y cambia el estado de la sesión. Un error de base puede requerir detener, reintentar con límite o mantener pendientes según la política definida. Una cola llena también necesita una decisión explícita.</a:t>
            </a:r>
          </a:p>
        </p:txBody>
      </p:sp>
      <p:sp>
        <p:nvSpPr>
          <p:cNvPr id="8" name="">
            <a:extLst xmlns:a="http://schemas.openxmlformats.org/drawingml/2006/main">
              <a:ext uri="{FF2B5EF4-FFF2-40B4-BE49-F238E27FC236}">
                <a16:creationId xmlns:a16="http://schemas.microsoft.com/office/drawing/2014/main" id="{CF7F1A85-13CA-42FC-8723-B80B21C58949}"/>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9D1F0DB-0740-48DC-817C-34B7DAFA2884}"/>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Para cierre normal, deja de producir, cierra el puerto, permite drenar la cola hasta un plazo, termina consumidores y cierra ejecutores y conexiones.</a:t>
            </a:r>
          </a:p>
        </p:txBody>
      </p:sp>
    </p:spTree>
    <p:extLst>
      <p:ext uri="{BB962C8B-B14F-4D97-AF65-F5344CB8AC3E}">
        <p14:creationId xmlns:p14="http://schemas.microsoft.com/office/powerpoint/2010/main" val="57467703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D66DF40-C092-427D-91D9-4DC481123B43}"/>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AA1D9E3-31CE-4108-92D5-F1D29ED6CA0D}"/>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Simulación y verificación física</a:t>
            </a:r>
          </a:p>
        </p:txBody>
      </p:sp>
      <p:sp>
        <p:nvSpPr>
          <p:cNvPr id="3" name="">
            <a:extLst xmlns:a="http://schemas.openxmlformats.org/drawingml/2006/main">
              <a:ext uri="{FF2B5EF4-FFF2-40B4-BE49-F238E27FC236}">
                <a16:creationId xmlns:a16="http://schemas.microsoft.com/office/drawing/2014/main" id="{737B164E-8C19-4C3A-9C09-A2AF0F1E9A49}"/>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0AC5DBA-E87A-4463-9790-81C17B640E7B}"/>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5.5</a:t>
            </a:r>
          </a:p>
        </p:txBody>
      </p:sp>
      <p:sp>
        <p:nvSpPr>
          <p:cNvPr id="5" name="">
            <a:extLst xmlns:a="http://schemas.openxmlformats.org/drawingml/2006/main">
              <a:ext uri="{FF2B5EF4-FFF2-40B4-BE49-F238E27FC236}">
                <a16:creationId xmlns:a16="http://schemas.microsoft.com/office/drawing/2014/main" id="{BA724A2A-CFE3-48C5-9A94-63077B1DCBF0}"/>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C14A8FDF-C641-4FB3-A0BF-0775D477B34D}"/>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La simulación y el hardware requieren evidencias diferentes.</a:t>
            </a:r>
          </a:p>
        </p:txBody>
      </p:sp>
      <p:sp>
        <p:nvSpPr>
          <p:cNvPr id="7" name="">
            <a:extLst xmlns:a="http://schemas.openxmlformats.org/drawingml/2006/main">
              <a:ext uri="{FF2B5EF4-FFF2-40B4-BE49-F238E27FC236}">
                <a16:creationId xmlns:a16="http://schemas.microsoft.com/office/drawing/2014/main" id="{830BC5C0-556A-4F5C-9C8B-37CF22CEE83F}"/>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La demostración integra protocolo, cola y transacción con un conjunto de bytes simulado y H2. Permite comprobar el recorrido sin depender de una placa. La PL completa exige sustituir esa fuente por el puerto real y ejecutar contra PostgreSQL con el mismo contrato de mensajes.</a:t>
            </a:r>
          </a:p>
        </p:txBody>
      </p:sp>
      <p:sp>
        <p:nvSpPr>
          <p:cNvPr id="8" name="">
            <a:extLst xmlns:a="http://schemas.openxmlformats.org/drawingml/2006/main">
              <a:ext uri="{FF2B5EF4-FFF2-40B4-BE49-F238E27FC236}">
                <a16:creationId xmlns:a16="http://schemas.microsoft.com/office/drawing/2014/main" id="{A93D9B10-5B09-42D6-895F-11853803C7F6}"/>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38EE32F-2ACA-460B-98E6-572A39AC3C84}"/>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La simulación no prueba reinicio USB, niveles eléctricos, ruido, permisos del puerto ni cableado. La evidencia final debe incluir tramas reales, ACK de control, desconexión, reinicio de Java y consulta persistida.</a:t>
            </a:r>
          </a:p>
        </p:txBody>
      </p:sp>
    </p:spTree>
    <p:extLst>
      <p:ext uri="{BB962C8B-B14F-4D97-AF65-F5344CB8AC3E}">
        <p14:creationId xmlns:p14="http://schemas.microsoft.com/office/powerpoint/2010/main" val="48481325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1EE9FCC-0561-4717-B5E9-0E3A29D77C90}"/>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4374B5-5F4E-4074-B0ED-FE8EE166EB03}"/>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Demostración resuelta</a:t>
            </a:r>
          </a:p>
        </p:txBody>
      </p:sp>
      <p:sp>
        <p:nvSpPr>
          <p:cNvPr id="3" name="">
            <a:extLst xmlns:a="http://schemas.openxmlformats.org/drawingml/2006/main">
              <a:ext uri="{FF2B5EF4-FFF2-40B4-BE49-F238E27FC236}">
                <a16:creationId xmlns:a16="http://schemas.microsoft.com/office/drawing/2014/main" id="{3A86D01D-B9BA-4FF6-8A31-579D7929F1B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291B4A7-BAD9-476B-B17A-1A8431E17E9F}"/>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5.5</a:t>
            </a:r>
          </a:p>
        </p:txBody>
      </p:sp>
      <p:sp>
        <p:nvSpPr>
          <p:cNvPr id="5" name="">
            <a:extLst xmlns:a="http://schemas.openxmlformats.org/drawingml/2006/main">
              <a:ext uri="{FF2B5EF4-FFF2-40B4-BE49-F238E27FC236}">
                <a16:creationId xmlns:a16="http://schemas.microsoft.com/office/drawing/2014/main" id="{C8E13BE0-17A9-4D7D-BF78-F813014F5A6A}"/>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57024A7D-A00F-4C51-BEAA-6A4B979CEA5C}"/>
              </a:ext>
            </a:extLst>
          </p:cNvPr>
          <p:cNvSpPr>
            <a:spLocks xmlns:a="http://schemas.openxmlformats.org/drawingml/2006/main" noGrp="1"/>
          </p:cNvSpPr>
          <p:nvPr/>
        </p:nvSpPr>
        <p:spPr>
          <a:xfrm xmlns:a="http://schemas.openxmlformats.org/drawingml/2006/main">
            <a:off x="628650" y="1590675"/>
            <a:ext cx="10953750" cy="371475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2A836A7-4C1D-4275-97DB-E8F9E21C0CEC}"/>
              </a:ext>
            </a:extLst>
          </p:cNvPr>
          <p:cNvSpPr>
            <a:spLocks xmlns:a="http://schemas.openxmlformats.org/drawingml/2006/main" noGrp="1"/>
          </p:cNvSpPr>
          <p:nvPr/>
        </p:nvSpPr>
        <p:spPr>
          <a:xfrm xmlns:a="http://schemas.openxmlformats.org/drawingml/2006/main">
            <a:off x="857250" y="1743075"/>
            <a:ext cx="10477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public static void main(String[] args) throws Exception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BlockingQueue&lt;Protocolo.Dato&gt; cola = new ArrayBlockingQueue&lt;&gt;(10);</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for(String linea:new String[]{"DATA;1;100","DATA;2;500","DATA;3;900"})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var mensaje=Protocolo.parsear(linea);</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if(mensaje instanceof Protocolo.Dato dato) cola.put(dato);</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try(Connection c=DriverManager.getConnection("jdbc:h2:mem:integracion"))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try(Statement s=c.createStatement())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s.execute("CREATE TABLE lectura(sesion VARCHAR(40),secuencia BIGINT,raw INT,PRIMARY KEY(sesion,secuencia))");</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c.setAutoCommit(false);</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try(PreparedStatement p=c.prepareStatement("INSERT INTO lectura VALUES(?,?,?)"))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Protocolo.Dato d;</a:t>
            </a:r>
          </a:p>
        </p:txBody>
      </p:sp>
      <p:sp>
        <p:nvSpPr>
          <p:cNvPr id="8" name="">
            <a:extLst xmlns:a="http://schemas.openxmlformats.org/drawingml/2006/main">
              <a:ext uri="{FF2B5EF4-FFF2-40B4-BE49-F238E27FC236}">
                <a16:creationId xmlns:a16="http://schemas.microsoft.com/office/drawing/2014/main" id="{47769363-B100-41E3-8E21-F83584D75220}"/>
              </a:ext>
            </a:extLst>
          </p:cNvPr>
          <p:cNvSpPr>
            <a:spLocks xmlns:a="http://schemas.openxmlformats.org/drawingml/2006/main" noGrp="1"/>
          </p:cNvSpPr>
          <p:nvPr/>
        </p:nvSpPr>
        <p:spPr>
          <a:xfrm xmlns:a="http://schemas.openxmlformats.org/drawingml/2006/main">
            <a:off x="685800" y="55816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Fragmento de IntegracionDemo.java. Código completo y ejecución en material.md.</a:t>
            </a:r>
          </a:p>
        </p:txBody>
      </p:sp>
    </p:spTree>
    <p:extLst>
      <p:ext uri="{BB962C8B-B14F-4D97-AF65-F5344CB8AC3E}">
        <p14:creationId xmlns:p14="http://schemas.microsoft.com/office/powerpoint/2010/main" val="196813378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53CA26C-162D-4949-9650-7D51F2350730}"/>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8CF1258-A3D0-4BE2-BC1F-949B6545D8F3}"/>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Casos de aceptación de la PC</a:t>
            </a:r>
          </a:p>
        </p:txBody>
      </p:sp>
      <p:sp>
        <p:nvSpPr>
          <p:cNvPr id="3" name="">
            <a:extLst xmlns:a="http://schemas.openxmlformats.org/drawingml/2006/main">
              <a:ext uri="{FF2B5EF4-FFF2-40B4-BE49-F238E27FC236}">
                <a16:creationId xmlns:a16="http://schemas.microsoft.com/office/drawing/2014/main" id="{28F95FC5-4615-4B98-B7D4-80DC9ADFA04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6E48576-38D6-41BC-B534-9BACCA9815F9}"/>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5.5</a:t>
            </a:r>
          </a:p>
        </p:txBody>
      </p:sp>
      <p:sp>
        <p:nvSpPr>
          <p:cNvPr id="5" name="">
            <a:extLst xmlns:a="http://schemas.openxmlformats.org/drawingml/2006/main">
              <a:ext uri="{FF2B5EF4-FFF2-40B4-BE49-F238E27FC236}">
                <a16:creationId xmlns:a16="http://schemas.microsoft.com/office/drawing/2014/main" id="{2F172924-A784-441D-AEBD-E9E3340543BB}"/>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8</a:t>
            </a:r>
          </a:p>
        </p:txBody>
      </p:sp>
      <p:graphicFrame>
        <p:nvGraphicFramePr>
          <p:cNvPr id="13" name=""/>
          <p:cNvGraphicFramePr/>
          <p:nvPr/>
        </p:nvGraphicFramePr>
        <p:xfrm>
          <a:off xmlns:a="http://schemas.openxmlformats.org/drawingml/2006/main" x="609600" y="1638300"/>
          <a:ext xmlns:a="http://schemas.openxmlformats.org/drawingml/2006/main" cx="10972800" cy="3143250"/>
        </p:xfrm>
        <a:graphic xmlns:a="http://schemas.openxmlformats.org/drawingml/2006/main">
          <a:graphicData uri="http://schemas.openxmlformats.org/drawingml/2006/table">
            <a:tbl>
              <a:tblPr/>
              <a:tblGrid>
                <a:gridCol w="4191000"/>
                <a:gridCol w="6629400"/>
              </a:tblGrid>
              <a:tr h="785813">
                <a:tc>
                  <a:txBody>
                    <a:bodyPr/>
                    <a:lstStyle/>
                    <a:p>
                      <a:r>
                        <a:rPr sz="1725" b="1">
                          <a:solidFill>
                            <a:srgbClr val="FFFFFF"/>
                          </a:solidFill>
                          <a:latin typeface="DejaVu Sans"/>
                          <a:ea typeface="DejaVu Sans"/>
                          <a:cs typeface="DejaVu Sans"/>
                        </a:rPr>
                        <a:t>Caso</a:t>
                      </a:r>
                    </a:p>
                  </a:txBody>
                  <a:tcPr marL="152400" marR="152400" marT="133350" marB="114300" anchor="ctr">
                    <a:solidFill>
                      <a:srgbClr val="003772"/>
                    </a:solidFill>
                  </a:tcPr>
                </a:tc>
                <a:tc>
                  <a:txBody>
                    <a:bodyPr/>
                    <a:lstStyle/>
                    <a:p>
                      <a:r>
                        <a:rPr sz="1725" b="1">
                          <a:solidFill>
                            <a:srgbClr val="FFFFFF"/>
                          </a:solidFill>
                          <a:latin typeface="DejaVu Sans"/>
                          <a:ea typeface="DejaVu Sans"/>
                          <a:cs typeface="DejaVu Sans"/>
                        </a:rPr>
                        <a:t>Comportamiento requerido</a:t>
                      </a:r>
                    </a:p>
                  </a:txBody>
                  <a:tcPr marL="152400" marR="152400" marT="133350" marB="114300" anchor="ctr">
                    <a:solidFill>
                      <a:srgbClr val="003772"/>
                    </a:solidFill>
                  </a:tcPr>
                </a:tc>
              </a:tr>
              <a:tr h="785813">
                <a:tc>
                  <a:txBody>
                    <a:bodyPr/>
                    <a:lstStyle/>
                    <a:p>
                      <a:r>
                        <a:rPr sz="1725" b="0">
                          <a:solidFill>
                            <a:srgbClr val="403F3B"/>
                          </a:solidFill>
                          <a:latin typeface="DejaVu Sans"/>
                          <a:ea typeface="DejaVu Sans"/>
                          <a:cs typeface="DejaVu Sans"/>
                        </a:rPr>
                        <a:t>Tres tramas válidas</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Tres registros confirmados</a:t>
                      </a:r>
                    </a:p>
                  </a:txBody>
                  <a:tcPr marL="152400" marR="152400" marT="133350" marB="114300" anchor="ctr">
                    <a:solidFill>
                      <a:srgbClr val="F3F3FA"/>
                    </a:solidFill>
                  </a:tcPr>
                </a:tc>
              </a:tr>
              <a:tr h="785813">
                <a:tc>
                  <a:txBody>
                    <a:bodyPr/>
                    <a:lstStyle/>
                    <a:p>
                      <a:r>
                        <a:rPr sz="1725" b="0">
                          <a:solidFill>
                            <a:srgbClr val="403F3B"/>
                          </a:solidFill>
                          <a:latin typeface="DejaVu Sans"/>
                          <a:ea typeface="DejaVu Sans"/>
                          <a:cs typeface="DejaVu Sans"/>
                        </a:rPr>
                        <a:t>Misma sesión y secuencia</a:t>
                      </a:r>
                    </a:p>
                  </a:txBody>
                  <a:tcPr marL="152400" marR="152400" marT="133350" marB="114300" anchor="ctr">
                    <a:solidFill>
                      <a:srgbClr val="FFFFFF"/>
                    </a:solidFill>
                  </a:tcPr>
                </a:tc>
                <a:tc>
                  <a:txBody>
                    <a:bodyPr/>
                    <a:lstStyle/>
                    <a:p>
                      <a:r>
                        <a:rPr sz="1725" b="0">
                          <a:solidFill>
                            <a:srgbClr val="403F3B"/>
                          </a:solidFill>
                          <a:latin typeface="DejaVu Sans"/>
                          <a:ea typeface="DejaVu Sans"/>
                          <a:cs typeface="DejaVu Sans"/>
                        </a:rPr>
                        <a:t>Duplicado identificado</a:t>
                      </a:r>
                    </a:p>
                  </a:txBody>
                  <a:tcPr marL="152400" marR="152400" marT="133350" marB="114300" anchor="ctr">
                    <a:solidFill>
                      <a:srgbClr val="FFFFFF"/>
                    </a:solidFill>
                  </a:tcPr>
                </a:tc>
              </a:tr>
              <a:tr h="785813">
                <a:tc>
                  <a:txBody>
                    <a:bodyPr/>
                    <a:lstStyle/>
                    <a:p>
                      <a:r>
                        <a:rPr sz="1725" b="0">
                          <a:solidFill>
                            <a:srgbClr val="403F3B"/>
                          </a:solidFill>
                          <a:latin typeface="DejaVu Sans"/>
                          <a:ea typeface="DejaVu Sans"/>
                          <a:cs typeface="DejaVu Sans"/>
                        </a:rPr>
                        <a:t>Nueva sesión tras reinicio</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Secuencia reutilizable sin colisión lógica</a:t>
                      </a:r>
                    </a:p>
                  </a:txBody>
                  <a:tcPr marL="152400" marR="152400" marT="133350" marB="114300" anchor="ctr">
                    <a:solidFill>
                      <a:srgbClr val="F3F3FA"/>
                    </a:solidFill>
                  </a:tcPr>
                </a:tc>
              </a:tr>
            </a:tbl>
          </a:graphicData>
        </a:graphic>
      </p:graphicFrame>
      <p:sp>
        <p:nvSpPr>
          <p:cNvPr id="7" name="">
            <a:extLst xmlns:a="http://schemas.openxmlformats.org/drawingml/2006/main">
              <a:ext uri="{FF2B5EF4-FFF2-40B4-BE49-F238E27FC236}">
                <a16:creationId xmlns:a16="http://schemas.microsoft.com/office/drawing/2014/main" id="{759D1764-B550-450B-BD2C-3B2AD402CFFC}"/>
              </a:ext>
            </a:extLst>
          </p:cNvPr>
          <p:cNvSpPr>
            <a:spLocks xmlns:a="http://schemas.openxmlformats.org/drawingml/2006/main" noGrp="1"/>
          </p:cNvSpPr>
          <p:nvPr/>
        </p:nvSpPr>
        <p:spPr>
          <a:xfrm xmlns:a="http://schemas.openxmlformats.org/drawingml/2006/main">
            <a:off x="742950" y="52387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Salida de la demostración: Confirmadas: 3 · Promedio raw: 500.0</a:t>
            </a:r>
          </a:p>
        </p:txBody>
      </p:sp>
    </p:spTree>
    <p:extLst>
      <p:ext uri="{BB962C8B-B14F-4D97-AF65-F5344CB8AC3E}">
        <p14:creationId xmlns:p14="http://schemas.microsoft.com/office/powerpoint/2010/main" val="65977078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5439E26-A87F-49FF-A167-3CD72EC67655}"/>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C05B2F4-0F53-4BEF-B90D-85D80C4EAB77}"/>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PC5.5 · Ampliación del proyecto</a:t>
            </a:r>
          </a:p>
        </p:txBody>
      </p:sp>
      <p:sp>
        <p:nvSpPr>
          <p:cNvPr id="3" name="">
            <a:extLst xmlns:a="http://schemas.openxmlformats.org/drawingml/2006/main">
              <a:ext uri="{FF2B5EF4-FFF2-40B4-BE49-F238E27FC236}">
                <a16:creationId xmlns:a16="http://schemas.microsoft.com/office/drawing/2014/main" id="{4B595007-6468-43EE-9310-22C4EE7AB85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E1998C2-0341-4BED-83FD-6A4B7ED51E9A}"/>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5.5</a:t>
            </a:r>
          </a:p>
        </p:txBody>
      </p:sp>
      <p:sp>
        <p:nvSpPr>
          <p:cNvPr id="5" name="">
            <a:extLst xmlns:a="http://schemas.openxmlformats.org/drawingml/2006/main">
              <a:ext uri="{FF2B5EF4-FFF2-40B4-BE49-F238E27FC236}">
                <a16:creationId xmlns:a16="http://schemas.microsoft.com/office/drawing/2014/main" id="{724AA0DA-F04E-4DD6-BD1E-12FF95D79F80}"/>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A5254371-5B74-482B-9C3F-74592CDA3188}"/>
              </a:ext>
            </a:extLst>
          </p:cNvPr>
          <p:cNvSpPr>
            <a:spLocks xmlns:a="http://schemas.openxmlformats.org/drawingml/2006/main" noGrp="1"/>
          </p:cNvSpPr>
          <p:nvPr/>
        </p:nvSpPr>
        <p:spPr>
          <a:xfrm xmlns:a="http://schemas.openxmlformats.org/drawingml/2006/main">
            <a:off x="685800" y="160020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1</a:t>
            </a:r>
          </a:p>
        </p:txBody>
      </p:sp>
      <p:sp>
        <p:nvSpPr>
          <p:cNvPr id="7" name="">
            <a:extLst xmlns:a="http://schemas.openxmlformats.org/drawingml/2006/main">
              <a:ext uri="{FF2B5EF4-FFF2-40B4-BE49-F238E27FC236}">
                <a16:creationId xmlns:a16="http://schemas.microsoft.com/office/drawing/2014/main" id="{3BE9EF5D-75AE-4555-B9F7-8C71EDC06431}"/>
              </a:ext>
            </a:extLst>
          </p:cNvPr>
          <p:cNvSpPr>
            <a:spLocks xmlns:a="http://schemas.openxmlformats.org/drawingml/2006/main" noGrp="1"/>
          </p:cNvSpPr>
          <p:nvPr/>
        </p:nvSpPr>
        <p:spPr>
          <a:xfrm xmlns:a="http://schemas.openxmlformats.org/drawingml/2006/main">
            <a:off x="1219200" y="156210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Integra captura real en CampusMonitor conservando el modo simulado. El consumidor JDBC debe usar una conexión propia y una sesión identificada.</a:t>
            </a:r>
          </a:p>
        </p:txBody>
      </p:sp>
      <p:sp>
        <p:nvSpPr>
          <p:cNvPr id="8" name="">
            <a:extLst xmlns:a="http://schemas.openxmlformats.org/drawingml/2006/main">
              <a:ext uri="{FF2B5EF4-FFF2-40B4-BE49-F238E27FC236}">
                <a16:creationId xmlns:a16="http://schemas.microsoft.com/office/drawing/2014/main" id="{3FFA711C-02BA-4068-B82A-A9F4DE940A91}"/>
              </a:ext>
            </a:extLst>
          </p:cNvPr>
          <p:cNvSpPr>
            <a:spLocks xmlns:a="http://schemas.openxmlformats.org/drawingml/2006/main" noGrp="1"/>
          </p:cNvSpPr>
          <p:nvPr/>
        </p:nvSpPr>
        <p:spPr>
          <a:xfrm xmlns:a="http://schemas.openxmlformats.org/drawingml/2006/main">
            <a:off x="685800" y="2962275"/>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7AA929F8-C374-4E42-9442-25E693612E68}"/>
              </a:ext>
            </a:extLst>
          </p:cNvPr>
          <p:cNvSpPr>
            <a:spLocks xmlns:a="http://schemas.openxmlformats.org/drawingml/2006/main" noGrp="1"/>
          </p:cNvSpPr>
          <p:nvPr/>
        </p:nvSpPr>
        <p:spPr>
          <a:xfrm xmlns:a="http://schemas.openxmlformats.org/drawingml/2006/main">
            <a:off x="1219200" y="2924175"/>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Muestra en Swing recibidas, rechazadas, confirmadas y pendientes. Añade LED con ACK y cierre ordenado de puerto, cola y tareas.</a:t>
            </a:r>
          </a:p>
        </p:txBody>
      </p:sp>
      <p:sp>
        <p:nvSpPr>
          <p:cNvPr id="10" name="">
            <a:extLst xmlns:a="http://schemas.openxmlformats.org/drawingml/2006/main">
              <a:ext uri="{FF2B5EF4-FFF2-40B4-BE49-F238E27FC236}">
                <a16:creationId xmlns:a16="http://schemas.microsoft.com/office/drawing/2014/main" id="{0CB4F4D3-D930-4225-B7A8-923ECB399CF7}"/>
              </a:ext>
            </a:extLst>
          </p:cNvPr>
          <p:cNvSpPr>
            <a:spLocks xmlns:a="http://schemas.openxmlformats.org/drawingml/2006/main" noGrp="1"/>
          </p:cNvSpPr>
          <p:nvPr/>
        </p:nvSpPr>
        <p:spPr>
          <a:xfrm xmlns:a="http://schemas.openxmlformats.org/drawingml/2006/main">
            <a:off x="685800" y="432435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13F952DF-DBB5-4865-A22F-0D9A537F5AE1}"/>
              </a:ext>
            </a:extLst>
          </p:cNvPr>
          <p:cNvSpPr>
            <a:spLocks xmlns:a="http://schemas.openxmlformats.org/drawingml/2006/main" noGrp="1"/>
          </p:cNvSpPr>
          <p:nvPr/>
        </p:nvSpPr>
        <p:spPr>
          <a:xfrm xmlns:a="http://schemas.openxmlformats.org/drawingml/2006/main">
            <a:off x="1219200" y="428625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Prueba una desconexión, un duplicado y un reinicio. La consulta PostgreSQL debe demostrar qué datos se confirmaron y a qué sesión pertenecen.</a:t>
            </a:r>
          </a:p>
        </p:txBody>
      </p:sp>
    </p:spTree>
    <p:extLst>
      <p:ext uri="{BB962C8B-B14F-4D97-AF65-F5344CB8AC3E}">
        <p14:creationId xmlns:p14="http://schemas.microsoft.com/office/powerpoint/2010/main" val="59563184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79DD538-122A-4ADF-83C1-935D1A4AA3F6}"/>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4651B3-79ED-47A8-9D30-770EE7C18517}"/>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120D8D93-347C-4A66-A1B1-A7968DB52B7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4A1AF30-208D-4CF5-A311-93697529FDDC}"/>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5.5</a:t>
            </a:r>
          </a:p>
        </p:txBody>
      </p:sp>
      <p:sp>
        <p:nvSpPr>
          <p:cNvPr id="5" name="">
            <a:extLst xmlns:a="http://schemas.openxmlformats.org/drawingml/2006/main">
              <a:ext uri="{FF2B5EF4-FFF2-40B4-BE49-F238E27FC236}">
                <a16:creationId xmlns:a16="http://schemas.microsoft.com/office/drawing/2014/main" id="{9A166F60-737C-40E9-BC8D-494E108A814B}"/>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A832C6E5-06B7-4A58-AAD3-EB3D7E877FA6}"/>
              </a:ext>
            </a:extLst>
          </p:cNvPr>
          <p:cNvSpPr>
            <a:spLocks xmlns:a="http://schemas.openxmlformats.org/drawingml/2006/main" noGrp="1"/>
          </p:cNvSpPr>
          <p:nvPr/>
        </p:nvSpPr>
        <p:spPr>
          <a:xfrm xmlns:a="http://schemas.openxmlformats.org/drawingml/2006/main">
            <a:off x="762000" y="17430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3772"/>
                </a:solidFill>
                <a:latin typeface="DejaVu Sans"/>
                <a:ea typeface="DejaVu Sans"/>
                <a:cs typeface="DejaVu Sans"/>
              </a:defRPr>
            </a:pPr>
            <a:r>
              <a:rPr sz="2175" b="1">
                <a:solidFill>
                  <a:srgbClr val="003772"/>
                </a:solidFill>
                <a:latin typeface="DejaVu Sans"/>
                <a:ea typeface="DejaVu Sans"/>
                <a:cs typeface="DejaVu Sans"/>
              </a:rPr>
              <a:t>Cada etapa tiene una responsabilidad.</a:t>
            </a:r>
          </a:p>
        </p:txBody>
      </p:sp>
      <p:sp>
        <p:nvSpPr>
          <p:cNvPr id="7" name="">
            <a:extLst xmlns:a="http://schemas.openxmlformats.org/drawingml/2006/main">
              <a:ext uri="{FF2B5EF4-FFF2-40B4-BE49-F238E27FC236}">
                <a16:creationId xmlns:a16="http://schemas.microsoft.com/office/drawing/2014/main" id="{1DDE6F2C-8E55-4B46-970D-AC2A87447245}"/>
              </a:ext>
            </a:extLst>
          </p:cNvPr>
          <p:cNvSpPr>
            <a:spLocks xmlns:a="http://schemas.openxmlformats.org/drawingml/2006/main" noGrp="1"/>
          </p:cNvSpPr>
          <p:nvPr/>
        </p:nvSpPr>
        <p:spPr>
          <a:xfrm xmlns:a="http://schemas.openxmlformats.org/drawingml/2006/main">
            <a:off x="762000" y="26384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La sesión diferencia reinicios y duplicados.</a:t>
            </a:r>
          </a:p>
        </p:txBody>
      </p:sp>
      <p:sp>
        <p:nvSpPr>
          <p:cNvPr id="8" name="">
            <a:extLst xmlns:a="http://schemas.openxmlformats.org/drawingml/2006/main">
              <a:ext uri="{FF2B5EF4-FFF2-40B4-BE49-F238E27FC236}">
                <a16:creationId xmlns:a16="http://schemas.microsoft.com/office/drawing/2014/main" id="{3095B455-919B-4838-95C2-E0E790CE63DE}"/>
              </a:ext>
            </a:extLst>
          </p:cNvPr>
          <p:cNvSpPr>
            <a:spLocks xmlns:a="http://schemas.openxmlformats.org/drawingml/2006/main" noGrp="1"/>
          </p:cNvSpPr>
          <p:nvPr/>
        </p:nvSpPr>
        <p:spPr>
          <a:xfrm xmlns:a="http://schemas.openxmlformats.org/drawingml/2006/main">
            <a:off x="762000" y="35337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03772"/>
                </a:solidFill>
                <a:latin typeface="DejaVu Sans"/>
                <a:ea typeface="DejaVu Sans"/>
                <a:cs typeface="DejaVu Sans"/>
              </a:defRPr>
            </a:pPr>
            <a:r>
              <a:rPr sz="2175" b="0">
                <a:solidFill>
                  <a:srgbClr val="003772"/>
                </a:solidFill>
                <a:latin typeface="DejaVu Sans"/>
                <a:ea typeface="DejaVu Sans"/>
                <a:cs typeface="DejaVu Sans"/>
              </a:rPr>
              <a:t>Recibida y confirmada son estados distintos.</a:t>
            </a:r>
          </a:p>
        </p:txBody>
      </p:sp>
      <p:sp>
        <p:nvSpPr>
          <p:cNvPr id="9" name="">
            <a:extLst xmlns:a="http://schemas.openxmlformats.org/drawingml/2006/main">
              <a:ext uri="{FF2B5EF4-FFF2-40B4-BE49-F238E27FC236}">
                <a16:creationId xmlns:a16="http://schemas.microsoft.com/office/drawing/2014/main" id="{FF5DE96D-BDA4-4B6F-A6A9-8A5D18A05D47}"/>
              </a:ext>
            </a:extLst>
          </p:cNvPr>
          <p:cNvSpPr>
            <a:spLocks xmlns:a="http://schemas.openxmlformats.org/drawingml/2006/main" noGrp="1"/>
          </p:cNvSpPr>
          <p:nvPr/>
        </p:nvSpPr>
        <p:spPr>
          <a:xfrm xmlns:a="http://schemas.openxmlformats.org/drawingml/2006/main">
            <a:off x="762000" y="44291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La simulación y el hardware requieren evidencias diferentes.</a:t>
            </a:r>
          </a:p>
        </p:txBody>
      </p:sp>
    </p:spTree>
    <p:extLst>
      <p:ext uri="{BB962C8B-B14F-4D97-AF65-F5344CB8AC3E}">
        <p14:creationId xmlns:p14="http://schemas.microsoft.com/office/powerpoint/2010/main" val="17855569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2026-09-10T23:07:49.1160000Z</dcterms:created>
  <dcterms:modified xsi:type="dcterms:W3CDTF">2026-09-10T23:07:49.1160000Z</dcterms:modified>
</coreProperties>
</file>