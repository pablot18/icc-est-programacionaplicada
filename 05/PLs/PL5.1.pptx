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3b4ab7c6f4f7c" /><Relationship Type="http://schemas.openxmlformats.org/officeDocument/2006/relationships/extended-properties" Target="/docProps/app.xml" Id="Rf84104efcfdb4499" /><Relationship Type="http://schemas.openxmlformats.org/officeDocument/2006/relationships/officeDocument" Target="/ppt/presentation.xml" Id="R6c027668d2bb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e3cf2254bc42dc"/>
  </p:sldMasterIdLst>
  <p:notesMasterIdLst>
    <p:notesMasterId xmlns:r="http://schemas.openxmlformats.org/officeDocument/2006/relationships" r:id="R613c3effe2d94106"/>
  </p:notesMasterIdLst>
  <p:sldIdLst>
    <p:sldId xmlns:r="http://schemas.openxmlformats.org/officeDocument/2006/relationships" id="256" r:id="R5aa7e4d775aa418f"/>
    <p:sldId xmlns:r="http://schemas.openxmlformats.org/officeDocument/2006/relationships" id="257" r:id="Ra7c185e43d49489a"/>
    <p:sldId xmlns:r="http://schemas.openxmlformats.org/officeDocument/2006/relationships" id="258" r:id="Rb425e0319839444b"/>
    <p:sldId xmlns:r="http://schemas.openxmlformats.org/officeDocument/2006/relationships" id="259" r:id="R0809a4f09daf4dd7"/>
    <p:sldId xmlns:r="http://schemas.openxmlformats.org/officeDocument/2006/relationships" id="260" r:id="R0324f6e04cd54ce4"/>
    <p:sldId xmlns:r="http://schemas.openxmlformats.org/officeDocument/2006/relationships" id="261" r:id="R3eb28f8a80bb4a6d"/>
    <p:sldId xmlns:r="http://schemas.openxmlformats.org/officeDocument/2006/relationships" id="262" r:id="Raa0804108f5d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24b8653b840a5" /><Relationship Type="http://schemas.openxmlformats.org/officeDocument/2006/relationships/slideMaster" Target="/ppt/slideMasters/slideMaster1.xml" Id="R82e3cf2254bc42dc" /><Relationship Type="http://schemas.openxmlformats.org/officeDocument/2006/relationships/notesMaster" Target="/ppt/notesMasters/notesMaster1.xml" Id="R613c3effe2d94106" /><Relationship Type="http://schemas.openxmlformats.org/officeDocument/2006/relationships/presProps" Target="/ppt/presProps.xml" Id="Re7da9f830a7948ec" /><Relationship Type="http://schemas.openxmlformats.org/officeDocument/2006/relationships/tableStyles" Target="/ppt/tableStyles.xml" Id="Rc03afe323e8d4f24" /><Relationship Type="http://schemas.openxmlformats.org/officeDocument/2006/relationships/slide" Target="/ppt/slides/slide1.xml" Id="R5aa7e4d775aa418f" /><Relationship Type="http://schemas.openxmlformats.org/officeDocument/2006/relationships/slide" Target="/ppt/slides/slide2.xml" Id="Ra7c185e43d49489a" /><Relationship Type="http://schemas.openxmlformats.org/officeDocument/2006/relationships/slide" Target="/ppt/slides/slide3.xml" Id="Rb425e0319839444b" /><Relationship Type="http://schemas.openxmlformats.org/officeDocument/2006/relationships/slide" Target="/ppt/slides/slide4.xml" Id="R0809a4f09daf4dd7" /><Relationship Type="http://schemas.openxmlformats.org/officeDocument/2006/relationships/slide" Target="/ppt/slides/slide5.xml" Id="R0324f6e04cd54ce4" /><Relationship Type="http://schemas.openxmlformats.org/officeDocument/2006/relationships/slide" Target="/ppt/slides/slide6.xml" Id="R3eb28f8a80bb4a6d" /><Relationship Type="http://schemas.openxmlformats.org/officeDocument/2006/relationships/slide" Target="/ppt/slides/slide7.xml" Id="Raa0804108f5d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b577355a7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bddfc10fac4dae" /><Relationship Type="http://schemas.openxmlformats.org/officeDocument/2006/relationships/notesMaster" Target="/ppt/notesMasters/notesMaster1.xml" Id="R6650977123354c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191ec56b4741f3" /><Relationship Type="http://schemas.openxmlformats.org/officeDocument/2006/relationships/notesMaster" Target="/ppt/notesMasters/notesMaster1.xml" Id="R5a8cfd25585d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0222d12344723" /><Relationship Type="http://schemas.openxmlformats.org/officeDocument/2006/relationships/notesMaster" Target="/ppt/notesMasters/notesMaster1.xml" Id="Rc01113da1ad6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8ec7a5d7f403a" /><Relationship Type="http://schemas.openxmlformats.org/officeDocument/2006/relationships/notesMaster" Target="/ppt/notesMasters/notesMaster1.xml" Id="Rf2f1b9812afc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4a0398ba94c55" /><Relationship Type="http://schemas.openxmlformats.org/officeDocument/2006/relationships/notesMaster" Target="/ppt/notesMasters/notesMaster1.xml" Id="R85273ffa0d8f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f769e39a746a8" /><Relationship Type="http://schemas.openxmlformats.org/officeDocument/2006/relationships/notesMaster" Target="/ppt/notesMasters/notesMaster1.xml" Id="R5e18801589a442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15c1c6e9bd4c10" /><Relationship Type="http://schemas.openxmlformats.org/officeDocument/2006/relationships/notesMaster" Target="/ppt/notesMasters/notesMaster1.xml" Id="R5d2309b54340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PL5.1. Estación de adquisición Arduino y Java.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laboratorio necesita adquirir una señal física, mostrarla en tiempo real, guardar muestras y controlar un LED desde el PC con confirmación. La solución debe distinguir desconexión, errores de trama y muestras pendientes.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Arduino UNO R3, potenciómetro de 10 kΩ en A0, pulsador con INPUT_PULLUP y LED incorporado. Presenta el esquema de conexión y confirma límites eléctricos antes de energizar.</a:t>
            </a:r>
          </a:p>
          <a:p xmlns:a="http://schemas.openxmlformats.org/drawingml/2006/main">
            <a:r>
              <a:t>Implementa firmware no bloqueante con muestreo cada 500 ms, secuencia uint32_t y protocolo v1 DATA, SET, ACK y ERR. Máximo 80 caracteres por línea y recuperación tras exceso.</a:t>
            </a:r>
          </a:p>
          <a:p xmlns:a="http://schemas.openxmlformats.org/drawingml/2006/main">
            <a:r>
              <a:t>La aplicación Java permite seleccionar puerto, conectar, iniciar captura, enviar LED, cancelar y desconectar. Mantén un modo simulado con el mismo parser.</a:t>
            </a:r>
          </a:p>
          <a:p xmlns:a="http://schemas.openxmlformats.org/drawingml/2006/main">
            <a:r>
              <a:t>Configura calibración de dos puntos y media móvil por sensor. Conserva raw, valor transformado, sesión y timestamp de recepción. No llames temperatura al potenciómetro.</a:t>
            </a:r>
          </a:p>
          <a:p xmlns:a="http://schemas.openxmlformats.org/drawingml/2006/main">
            <a:r>
              <a:t>Usa cola acotada y consumidor JDBC con transacciones. Muestra recibidas, rechazadas, confirmadas y pendientes sin bloquear el EDT.</a:t>
            </a:r>
          </a:p>
          <a:p xmlns:a="http://schemas.openxmlformats.org/drawingml/2006/main">
            <a:r>
              <a:t>Implementa un solo comando pendiente con timeout de ACK, política de duplicados por sesión y secuencia, y cierre ordenado al desconectar.</a:t>
            </a:r>
          </a:p>
          <a:p xmlns:a="http://schemas.openxmlformats.org/drawingml/2006/main">
            <a:r>
              <a:t>Captura al menos 60 muestras reales. Prueba desconexión, trama inválida, reinicio del firmware y reinicio de Java. Una variante ESP32 requiere modelo exacto, lógica de 3.3 V, adaptación ADC y documentación de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PL5.1.html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Arduino UNO R3, potenciómetro de 10 kΩ en A0, pulsador con INPUT_PULLUP y LED incorporado. Presenta el esquema de conexión y confirma límites eléctricos antes de energizar.</a:t>
            </a:r>
          </a:p>
          <a:p xmlns:a="http://schemas.openxmlformats.org/drawingml/2006/main">
            <a:r>
              <a:t>Implementa firmware no bloqueante con muestreo cada 500 ms, secuencia uint32_t y protocolo v1 DATA, SET, ACK y ERR. Máximo 80 caracteres por línea y recuperación tras exceso.</a:t>
            </a:r>
          </a:p>
          <a:p xmlns:a="http://schemas.openxmlformats.org/drawingml/2006/main">
            <a:r>
              <a:t>La aplicación Java permite seleccionar puerto, conectar, iniciar captura, enviar LED, cancelar y desconectar. Mantén un modo simulado con el mismo parser.</a:t>
            </a:r>
          </a:p>
          <a:p xmlns:a="http://schemas.openxmlformats.org/drawingml/2006/main">
            <a:r>
              <a:t>Configura calibración de dos puntos y media móvil por sensor. Conserva raw, valor transformado, sesión y timestamp de recepción. No llames temperatura al potenciómetro.</a:t>
            </a:r>
          </a:p>
          <a:p xmlns:a="http://schemas.openxmlformats.org/drawingml/2006/main">
            <a:r>
              <a:t>Usa cola acotada y consumidor JDBC con transacciones. Muestra recibidas, rechazadas, confirmadas y pendientes sin bloquear el EDT.</a:t>
            </a:r>
          </a:p>
          <a:p xmlns:a="http://schemas.openxmlformats.org/drawingml/2006/main">
            <a:r>
              <a:t>Implementa un solo comando pendiente con timeout de ACK, política de duplicados por sesión y secuencia, y cierre ordenado al desconectar.</a:t>
            </a:r>
          </a:p>
          <a:p xmlns:a="http://schemas.openxmlformats.org/drawingml/2006/main">
            <a:r>
              <a:t>Captura al menos 60 muestras reales. Prueba desconexión, trama inválida, reinicio del firmware y reinicio de Java. Una variante ESP32 requiere modelo exacto, lógica de 3.3 V, adaptación ADC y documentación de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PL5.1.html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Arduino UNO R3, potenciómetro de 10 kΩ en A0, pulsador con INPUT_PULLUP y LED incorporado. Presenta el esquema de conexión y confirma límites eléctricos antes de energizar.</a:t>
            </a:r>
          </a:p>
          <a:p xmlns:a="http://schemas.openxmlformats.org/drawingml/2006/main">
            <a:r>
              <a:t>Implementa firmware no bloqueante con muestreo cada 500 ms, secuencia uint32_t y protocolo v1 DATA, SET, ACK y ERR. Máximo 80 caracteres por línea y recuperación tras exceso.</a:t>
            </a:r>
          </a:p>
          <a:p xmlns:a="http://schemas.openxmlformats.org/drawingml/2006/main">
            <a:r>
              <a:t>La aplicación Java permite seleccionar puerto, conectar, iniciar captura, enviar LED, cancelar y desconectar. Mantén un modo simulado con el mismo parser.</a:t>
            </a:r>
          </a:p>
          <a:p xmlns:a="http://schemas.openxmlformats.org/drawingml/2006/main">
            <a:r>
              <a:t>Configura calibración de dos puntos y media móvil por sensor. Conserva raw, valor transformado, sesión y timestamp de recepción. No llames temperatura al potenciómetro.</a:t>
            </a:r>
          </a:p>
          <a:p xmlns:a="http://schemas.openxmlformats.org/drawingml/2006/main">
            <a:r>
              <a:t>Usa cola acotada y consumidor JDBC con transacciones. Muestra recibidas, rechazadas, confirmadas y pendientes sin bloquear el EDT.</a:t>
            </a:r>
          </a:p>
          <a:p xmlns:a="http://schemas.openxmlformats.org/drawingml/2006/main">
            <a:r>
              <a:t>Implementa un solo comando pendiente con timeout de ACK, política de duplicados por sesión y secuencia, y cierre ordenado al desconectar.</a:t>
            </a:r>
          </a:p>
          <a:p xmlns:a="http://schemas.openxmlformats.org/drawingml/2006/main">
            <a:r>
              <a:t>Captura al menos 60 muestras reales. Prueba desconexión, trama inválida, reinicio del firmware y reinicio de Java. Una variante ESP32 requiere modelo exacto, lógica de 3.3 V, adaptación ADC y documentación de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PL5.1.html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con código Java, firmware, SQL, configuración de ejemplo y diagrama del montaje.</a:t>
            </a:r>
          </a:p>
          <a:p xmlns:a="http://schemas.openxmlformats.org/drawingml/2006/main">
            <a:r>
              <a:t>evidencias/PL5.1.md con fotos propias, tramas, consultas y commits.</a:t>
            </a:r>
          </a:p>
          <a:p xmlns:a="http://schemas.openxmlformats.org/drawingml/2006/main">
            <a:r>
              <a:t>Presentación del estudiante de 7 a 9 diapositivas con montaje, protocolo, arquitectura, demostración física y fallos.</a:t>
            </a:r>
          </a:p>
          <a:p xmlns:a="http://schemas.openxmlformats.org/drawingml/2006/main">
            <a:r>
              <a:t>Defensa: Envía un cambio de LED, localiza su ACK y después desconecta el USB durante una captura. Explica qué se confirmó y qué quedó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Firmware y montaje · 2 · Montaje documentado, lectura y salida correctas sin bloqueos. · Una función o evidencia del montaje es incompleta. · No hay adquisición real reproducible.</a:t>
            </a:r>
          </a:p>
          <a:p xmlns:a="http://schemas.openxmlformats.org/drawingml/2006/main">
            <a:r>
              <a:t>Protocolo · 2 · Delimitación, límites, secuencia y ACK funcionan con errores. · Falta un caso de recuperación o confirmación. · Asume una lectura por mensaje o no valida tramas.</a:t>
            </a:r>
          </a:p>
          <a:p xmlns:a="http://schemas.openxmlformats.org/drawingml/2006/main">
            <a:r>
              <a:t>Integración · 2 · Cola, calibración, JDBC y EDT respetan sus contratos. · Una etapa o invariante queda incompleta. · Pierde datos silenciosamente o bloquea la interfaz.</a:t>
            </a:r>
          </a:p>
          <a:p xmlns:a="http://schemas.openxmlformats.org/drawingml/2006/main">
            <a:r>
              <a:t>Pruebas físicas · 2 · Demuestra muestras reales, desconexión, reinicios y persistencia. · Falta uno de los escenarios exigidos. · Solo presenta simulación como si fuera hardware.</a:t>
            </a:r>
          </a:p>
          <a:p xmlns:a="http://schemas.openxmlformats.org/drawingml/2006/main">
            <a:r>
              <a:t>Git y defensa · 2 · Firmware y Java tienen commits por fases y explicación del recorrido completo. · Historial o explicación parcial. · No relaciona señal física, trama y fila persistida.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71e11bb47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adc0cd72f4960" /><Relationship Type="http://schemas.openxmlformats.org/officeDocument/2006/relationships/slideLayout" Target="/ppt/slideLayouts/slideLayout1.xml" Id="Rb4e5fff9b09a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5fff9b09a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de38f4024c47" /><Relationship Type="http://schemas.openxmlformats.org/officeDocument/2006/relationships/image" Target="/ppt/media/image.png" Id="Rbb60f94f91a74ac7" /><Relationship Type="http://schemas.openxmlformats.org/officeDocument/2006/relationships/notesSlide" Target="/ppt/notesSlides/notesSlide1.xml" Id="R6ceaf686022f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95f3fd3f04f13" /><Relationship Type="http://schemas.openxmlformats.org/officeDocument/2006/relationships/notesSlide" Target="/ppt/notesSlides/notesSlide2.xml" Id="R0eb29b83d5424d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c23aca218489c" /><Relationship Type="http://schemas.openxmlformats.org/officeDocument/2006/relationships/notesSlide" Target="/ppt/notesSlides/notesSlide3.xml" Id="R17c5d4534b1b44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a4cadbdc24845" /><Relationship Type="http://schemas.openxmlformats.org/officeDocument/2006/relationships/notesSlide" Target="/ppt/notesSlides/notesSlide4.xml" Id="R0541bd8099c84c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dbc72a4f34621" /><Relationship Type="http://schemas.openxmlformats.org/officeDocument/2006/relationships/notesSlide" Target="/ppt/notesSlides/notesSlide5.xml" Id="R9e14029c5af3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87997de7b40e5" /><Relationship Type="http://schemas.openxmlformats.org/officeDocument/2006/relationships/notesSlide" Target="/ppt/notesSlides/notesSlide6.xml" Id="R980b0a1be2d9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fb54df224a78" /><Relationship Type="http://schemas.openxmlformats.org/officeDocument/2006/relationships/notesSlide" Target="/ppt/notesSlides/notesSlide7.xml" Id="Rd79c5b6daa7044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0f94f91a74ac7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BE7AD-2B64-4668-BCB5-DF8962E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1F531-F108-4CAC-8069-B4F26A71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Estación de adquisición Arduino y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26591-7D49-4348-BAE0-6ECE83AE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3E8DB-1401-4DC6-90A1-C74A7EF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5 · PL5.1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751D3-21FF-4466-8391-CD404BB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503155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E478C-A677-492C-850C-C24B7BC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26694-35B9-4D91-A3AE-11AF8C1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14255-A52A-4214-A4F8-89D604E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B641-652A-4C18-B14F-687A9ED0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1BFE9-5583-4632-BB12-141317C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4485-2DDC-4BD6-B60E-CD3119E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laboratorio necesita adquirir una señal física, mostrarla en tiempo real, guardar muestras y controlar un LED desde el PC con confirmación. La solución debe distinguir desconexión, errores de trama y muestras pendientes.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165C1-8206-4B0F-A7A1-5F28EB5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Proyecto personal: CampusMonitor</a:t>
            </a:r>
          </a:p>
        </p:txBody>
      </p:sp>
    </p:spTree>
    <p:extLst>
      <p:ext uri="{BB962C8B-B14F-4D97-AF65-F5344CB8AC3E}">
        <p14:creationId xmlns:p14="http://schemas.microsoft.com/office/powerpoint/2010/main" val="92124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FE3A0-4D2A-412F-B1F8-7702A953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3B9A-7587-4676-943F-461715F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 · Firmware y protocolo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550BE-3244-4B4C-8F45-B02CB32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525E6-13C6-4F64-BDF6-6610635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F4E93-482E-4916-B84F-279499F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21F8E-B49A-4B26-B99D-C1AEC63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Verifica el montaje y demuestra DATA y control LED desde el monitor serial.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B8D31-1E21-4E9A-910E-2B0386FC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 Arduino UNO R3, potenciómetro de 10 kΩ en A0, pulsador con INPUT_PULLUP y LED incorporado. Presenta el esquema de conexión y confirma límites eléctricos antes de energizar.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5E950-1C25-4077-A966-FCA6A0B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firmware no bloqueante con muestreo cada 500 ms, secuencia uint32_t y protocolo v1 DATA, SET, ACK y ERR. Máximo 80 caracteres por línea y recuperación tras exceso.</a:t>
            </a:r>
          </a:p>
        </p:txBody>
      </p:sp>
    </p:spTree>
    <p:extLst>
      <p:ext uri="{BB962C8B-B14F-4D97-AF65-F5344CB8AC3E}">
        <p14:creationId xmlns:p14="http://schemas.microsoft.com/office/powerpoint/2010/main" val="696886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6044A-1C32-4518-B633-CD12B3C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52F1D-A46C-4758-8521-CF24384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 · Integración y almacenamiento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07836-BAE3-4E51-A5E5-2541A5C4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1B502-7EC4-4C21-8973-79992F92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78347-4E7C-4BFD-8CF8-333B152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6FEB-3746-4A3D-A2A8-A3D69838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Conecta el parser, cola, transformación, JDBC y Swing conservando simulación.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17668-733A-48FE-9BA4-4C2842E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aplicación Java permite seleccionar puerto, conectar, iniciar captura, enviar LED, cancelar y desconectar. Mantén un modo simulado con el mismo parser.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58DFB-997B-4441-A891-7D883F8F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Configura calibración de dos puntos y media móvil por sensor. Conserva raw, valor transformado, sesión y timestamp de recepción. No llames temperatura al potenciómetro.</a:t>
            </a:r>
          </a:p>
        </p:txBody>
      </p:sp>
    </p:spTree>
    <p:extLst>
      <p:ext uri="{BB962C8B-B14F-4D97-AF65-F5344CB8AC3E}">
        <p14:creationId xmlns:p14="http://schemas.microsoft.com/office/powerpoint/2010/main" val="245175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A0DC1-CC9D-48B1-9012-707C023C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B8DDA-5FCE-4093-A1B6-83344EB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 · Ensayo físico y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62DC0-4A13-4495-B981-0D2ECC9F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6112E-CF80-45A7-82E1-A2B4473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1F779-B1F7-4F60-BB20-C6314A7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B8339-56A6-4DEA-B5FC-54FA390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Captura muestras reales, fuerza fallos y reconcilia datos recibidos y persistidos.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0576F-83BC-4B80-8D30-4749F742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 cola acotada y consumidor JDBC con transacciones. Muestra recibidas, rechazadas, confirmadas y pendientes sin bloquear el EDT.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10ADE-342C-4751-96B3-905EEF2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 solo comando pendiente con timeout de ACK, política de duplicados por sesión y secuencia, y cierre ordenado al desconectar.</a:t>
            </a:r>
          </a:p>
        </p:txBody>
      </p:sp>
    </p:spTree>
    <p:extLst>
      <p:ext uri="{BB962C8B-B14F-4D97-AF65-F5344CB8AC3E}">
        <p14:creationId xmlns:p14="http://schemas.microsoft.com/office/powerpoint/2010/main" val="261337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0A334-DD9C-45F5-9565-F6F4EE4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053B9-7A5F-46D3-9629-7D43A4C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 y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B55E5-FC36-467D-88FC-25C27FBB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9AB76-5D56-47F9-8F67-4A72B88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4F25-E216-4C86-A13A-4688051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53C90-BF8A-4FBD-B02D-41F1F022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Repositorio con código Java, firmware, SQL, configuración de ejemplo y diagrama del montaje.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4F293-A673-4890-861C-49B4A91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evidencias/PL5.1.md con fotos propias, tramas, consultas y commits.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6B905-71F6-4C2E-8D44-E59EC55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del estudiante de 7 a 9 diapositivas con montaje, protocolo, arquitectura, demostración física y fallos.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BAFEB-626F-4BD2-ABE0-B76AC5A2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Envía un cambio de LED, localiza su ACK y después desconecta el USB durante una captura. Explica qué se confirmó y qué quedó pendiente.</a:t>
            </a:r>
          </a:p>
        </p:txBody>
      </p:sp>
    </p:spTree>
    <p:extLst>
      <p:ext uri="{BB962C8B-B14F-4D97-AF65-F5344CB8AC3E}">
        <p14:creationId xmlns:p14="http://schemas.microsoft.com/office/powerpoint/2010/main" val="1228821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6C99C-595E-4291-BFD1-9682F2CA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122F5-5F3C-4B08-B582-F10646F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E6301-A8D2-4337-B99E-601B5C1C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B62A-7538-48F1-BDC0-A36E3B9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71B33-B6F7-4055-8F41-DD2926B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22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Firmware y montaje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Protocolo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Integración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físicas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y defensa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0F27-D5A8-406B-B870-255CE0ED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Total: 10 puntos. Niveles: completo, parcial y no logrado. Descriptores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324649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2026-09-10T23:05:04.4570000Z</dcterms:created>
  <dcterms:modified xsi:type="dcterms:W3CDTF">2026-09-10T23:05:04.4570000Z</dcterms:modified>
</coreProperties>
</file>