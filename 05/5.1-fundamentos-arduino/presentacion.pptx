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80001e1ff64611" /><Relationship Type="http://schemas.openxmlformats.org/officeDocument/2006/relationships/extended-properties" Target="/docProps/app.xml" Id="R05a349711b6d43a0" /><Relationship Type="http://schemas.openxmlformats.org/officeDocument/2006/relationships/officeDocument" Target="/ppt/presentation.xml" Id="R2341f5166bc940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212ab69e9c43ac"/>
  </p:sldMasterIdLst>
  <p:notesMasterIdLst>
    <p:notesMasterId xmlns:r="http://schemas.openxmlformats.org/officeDocument/2006/relationships" r:id="R93e21a05837a4a35"/>
  </p:notesMasterIdLst>
  <p:sldIdLst>
    <p:sldId xmlns:r="http://schemas.openxmlformats.org/officeDocument/2006/relationships" id="256" r:id="R361190dbb34b4d2d"/>
    <p:sldId xmlns:r="http://schemas.openxmlformats.org/officeDocument/2006/relationships" id="257" r:id="R6caf9124a5004dd0"/>
    <p:sldId xmlns:r="http://schemas.openxmlformats.org/officeDocument/2006/relationships" id="258" r:id="R4b2cd58bd93644a9"/>
    <p:sldId xmlns:r="http://schemas.openxmlformats.org/officeDocument/2006/relationships" id="259" r:id="Re96d4f4760f14fba"/>
    <p:sldId xmlns:r="http://schemas.openxmlformats.org/officeDocument/2006/relationships" id="260" r:id="R2230bcec4534457f"/>
    <p:sldId xmlns:r="http://schemas.openxmlformats.org/officeDocument/2006/relationships" id="261" r:id="R2aed236329d4482f"/>
    <p:sldId xmlns:r="http://schemas.openxmlformats.org/officeDocument/2006/relationships" id="262" r:id="R807ef8758f9f4c70"/>
    <p:sldId xmlns:r="http://schemas.openxmlformats.org/officeDocument/2006/relationships" id="263" r:id="R7bf74da660444f8c"/>
    <p:sldId xmlns:r="http://schemas.openxmlformats.org/officeDocument/2006/relationships" id="264" r:id="R85b3a9f85cac43a4"/>
    <p:sldId xmlns:r="http://schemas.openxmlformats.org/officeDocument/2006/relationships" id="265" r:id="R1b4aa18d6de040ec"/>
    <p:sldId xmlns:r="http://schemas.openxmlformats.org/officeDocument/2006/relationships" id="266" r:id="R413b44fd1fc04b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653e00fbb74005" /><Relationship Type="http://schemas.openxmlformats.org/officeDocument/2006/relationships/slideMaster" Target="/ppt/slideMasters/slideMaster1.xml" Id="Rcb212ab69e9c43ac" /><Relationship Type="http://schemas.openxmlformats.org/officeDocument/2006/relationships/notesMaster" Target="/ppt/notesMasters/notesMaster1.xml" Id="R93e21a05837a4a35" /><Relationship Type="http://schemas.openxmlformats.org/officeDocument/2006/relationships/presProps" Target="/ppt/presProps.xml" Id="R3d44b2709f1449c8" /><Relationship Type="http://schemas.openxmlformats.org/officeDocument/2006/relationships/tableStyles" Target="/ppt/tableStyles.xml" Id="R50b6fd9df65840f7" /><Relationship Type="http://schemas.openxmlformats.org/officeDocument/2006/relationships/slide" Target="/ppt/slides/slide1.xml" Id="R361190dbb34b4d2d" /><Relationship Type="http://schemas.openxmlformats.org/officeDocument/2006/relationships/slide" Target="/ppt/slides/slide2.xml" Id="R6caf9124a5004dd0" /><Relationship Type="http://schemas.openxmlformats.org/officeDocument/2006/relationships/slide" Target="/ppt/slides/slide3.xml" Id="R4b2cd58bd93644a9" /><Relationship Type="http://schemas.openxmlformats.org/officeDocument/2006/relationships/slide" Target="/ppt/slides/slide4.xml" Id="Re96d4f4760f14fba" /><Relationship Type="http://schemas.openxmlformats.org/officeDocument/2006/relationships/slide" Target="/ppt/slides/slide5.xml" Id="R2230bcec4534457f" /><Relationship Type="http://schemas.openxmlformats.org/officeDocument/2006/relationships/slide" Target="/ppt/slides/slide6.xml" Id="R2aed236329d4482f" /><Relationship Type="http://schemas.openxmlformats.org/officeDocument/2006/relationships/slide" Target="/ppt/slides/slide7.xml" Id="R807ef8758f9f4c70" /><Relationship Type="http://schemas.openxmlformats.org/officeDocument/2006/relationships/slide" Target="/ppt/slides/slide8.xml" Id="R7bf74da660444f8c" /><Relationship Type="http://schemas.openxmlformats.org/officeDocument/2006/relationships/slide" Target="/ppt/slides/slide9.xml" Id="R85b3a9f85cac43a4" /><Relationship Type="http://schemas.openxmlformats.org/officeDocument/2006/relationships/slide" Target="/ppt/slides/slide10.xml" Id="R1b4aa18d6de040ec" /><Relationship Type="http://schemas.openxmlformats.org/officeDocument/2006/relationships/slide" Target="/ppt/slides/slide11.xml" Id="R413b44fd1fc04b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17f348b5d64f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49e183e5344c9e" /><Relationship Type="http://schemas.openxmlformats.org/officeDocument/2006/relationships/notesMaster" Target="/ppt/notesMasters/notesMaster1.xml" Id="R15efad67348247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5bba9466624ea6" /><Relationship Type="http://schemas.openxmlformats.org/officeDocument/2006/relationships/notesMaster" Target="/ppt/notesMasters/notesMaster1.xml" Id="Rf6d53172a02646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62fcea94564537" /><Relationship Type="http://schemas.openxmlformats.org/officeDocument/2006/relationships/notesMaster" Target="/ppt/notesMasters/notesMaster1.xml" Id="Rf45646fae0fb4f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29e74624d7450e" /><Relationship Type="http://schemas.openxmlformats.org/officeDocument/2006/relationships/notesMaster" Target="/ppt/notesMasters/notesMaster1.xml" Id="R6413792f6c224e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16391319514298" /><Relationship Type="http://schemas.openxmlformats.org/officeDocument/2006/relationships/notesMaster" Target="/ppt/notesMasters/notesMaster1.xml" Id="R72059606851f4b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39bd8424124cd9" /><Relationship Type="http://schemas.openxmlformats.org/officeDocument/2006/relationships/notesMaster" Target="/ppt/notesMasters/notesMaster1.xml" Id="R0f07bc75503c4e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fe297817a24433" /><Relationship Type="http://schemas.openxmlformats.org/officeDocument/2006/relationships/notesMaster" Target="/ppt/notesMasters/notesMaster1.xml" Id="R839b9c6bfd7f46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f952b9a2894c1d" /><Relationship Type="http://schemas.openxmlformats.org/officeDocument/2006/relationships/notesMaster" Target="/ppt/notesMasters/notesMaster1.xml" Id="R69caea0809ec4d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e468be08244792" /><Relationship Type="http://schemas.openxmlformats.org/officeDocument/2006/relationships/notesMaster" Target="/ppt/notesMasters/notesMaster1.xml" Id="R22d3b2cc4a0142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42b1958601483d" /><Relationship Type="http://schemas.openxmlformats.org/officeDocument/2006/relationships/notesMaster" Target="/ppt/notesMasters/notesMaster1.xml" Id="Raa8bccd5232f4e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32e276be784461" /><Relationship Type="http://schemas.openxmlformats.org/officeDocument/2006/relationships/notesMaster" Target="/ppt/notesMasters/notesMaster1.xml" Id="R550b9e5019074d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5.1. Fundamentos de Arduino. Autor: Ing. Pablo Torres, Mgtr.</a:t>
            </a:r>
          </a:p>
          <a:p xmlns:a="http://schemas.openxmlformats.org/drawingml/2006/main">
            <a:r>
              <a:t>Logo original proporcionado por el docente.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CampusMonitor recibirá mediciones de un dispositivo físico. Arduino ejecuta un programa en un microcontrolador y Java ejecuta la aplicación del PC. La comunicación permite integrar ambos programas, pero sus tipos, recursos y ciclos de ejecución son diferentes.</a:t>
            </a:r>
          </a:p>
          <a:p xmlns:a="http://schemas.openxmlformats.org/drawingml/2006/main">
            <a:r>
              <a:t>Fuente del desarrollo: material.md, contexto.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Imagen original generada para el material. Prompt y origen en docs/prompts-imagenes.json.</a:t>
            </a:r>
          </a:p>
          <a:p xmlns:a="http://schemas.openxmlformats.org/drawingml/2006/main">
            <a:r>
              <a:t>No constituye un esquema eléctrico ni una especificación técnica.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Arduino IDE permite editar, compilar y cargar un sketch. Debes seleccionar la placa y el puerto correctos e instalar el soporte correspondiente. Un sketch utiliza C++ con el entorno Arduino. setup se ejecuta una vez al arrancar y loop se repite mientras el dispositivo está activo.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referencia del curso es Arduino UNO R3, basada en ATmega328P. Sus límites no deben extrapolarse a todas las placas Arduino. Una UNO R4 y una ESP32 tienen arquitecturas diferentes. La aplicación Java no se carga en la UNO: corre en el PC y se comunica con el sketch por el puerto serial.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https://docs.arduino.cc/language-reference/</a:t>
            </a:r>
          </a:p>
          <a:p xmlns:a="http://schemas.openxmlformats.org/drawingml/2006/main">
            <a:r>
              <a:t>https://docs.arduino.cc/hardware/uno-rev3/</a:t>
            </a:r>
          </a:p>
          <a:p xmlns:a="http://schemas.openxmlformats.org/drawingml/2006/main">
            <a:r>
              <a:t>https://fazecast.github.io/jSerialComm/</a:t>
            </a:r>
          </a:p>
          <a:p xmlns:a="http://schemas.openxmlformats.org/drawingml/2006/main">
            <a:r>
              <a:t>https://docs.espressif.com/projects/arduino-esp32/en/latest/api/adc.html</a:t>
            </a:r>
          </a:p>
          <a:p xmlns:a="http://schemas.openxmlformats.org/drawingml/2006/main">
            <a:r>
              <a:t>Correspondencia: material.md, sección 1.1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 UNO R3, int tiene 16 bits y long 32 bits. Para tamaños explícitos utiliza uint16_t y uint32_t cuando corresponda. bool representa condiciones. Los operadores aritméticos y lógicos se parecen a Java, pero los tamaños, conversiones y manejo de memoria siguen reglas de C++.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división entre enteros descarta la fracción. Para calcular porcentajes, multiplica en un tipo suficientemente amplio antes de dividir. Constantes constexpr o const expresan valores que no deben cambiar. Evita construir cadenas dinámicas repetidamente en dispositivos con memoria limitada. Un buffer de caracteres acotado ofrece un uso más predecible.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https://docs.arduino.cc/language-reference/</a:t>
            </a:r>
          </a:p>
          <a:p xmlns:a="http://schemas.openxmlformats.org/drawingml/2006/main">
            <a:r>
              <a:t>https://docs.arduino.cc/hardware/uno-rev3/</a:t>
            </a:r>
          </a:p>
          <a:p xmlns:a="http://schemas.openxmlformats.org/drawingml/2006/main">
            <a:r>
              <a:t>https://fazecast.github.io/jSerialComm/</a:t>
            </a:r>
          </a:p>
          <a:p xmlns:a="http://schemas.openxmlformats.org/drawingml/2006/main">
            <a:r>
              <a:t>https://docs.espressif.com/projects/arduino-esp32/en/latest/api/adc.html</a:t>
            </a:r>
          </a:p>
          <a:p xmlns:a="http://schemas.openxmlformats.org/drawingml/2006/main">
            <a:r>
              <a:t>Correspondencia: material.md, sección 1.2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funciones separan adquisición, transformación y salida. Un prototipo declara tipos de parámetros y retorno. El ejemplo calcula un porcentaje a partir de la lectura ADC y lo imprime como dato de diagnóstico.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millis devuelve milisegundos desde el inicio y su contador se desborda aproximadamente cada 49.7 días en plataformas con unsigned long de 32 bits. La comparación ahora - anterior &gt;= periodo, realizada con aritmética sin signo, funciona a través del desbordamiento para intervalos apropiados. No compares ahora &gt;= anterior + periodo porque esa suma puede desbordarse y alterar la condición.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https://docs.arduino.cc/language-reference/</a:t>
            </a:r>
          </a:p>
          <a:p xmlns:a="http://schemas.openxmlformats.org/drawingml/2006/main">
            <a:r>
              <a:t>https://docs.arduino.cc/hardware/uno-rev3/</a:t>
            </a:r>
          </a:p>
          <a:p xmlns:a="http://schemas.openxmlformats.org/drawingml/2006/main">
            <a:r>
              <a:t>https://fazecast.github.io/jSerialComm/</a:t>
            </a:r>
          </a:p>
          <a:p xmlns:a="http://schemas.openxmlformats.org/drawingml/2006/main">
            <a:r>
              <a:t>https://docs.espressif.com/projects/arduino-esp32/en/latest/api/adc.html</a:t>
            </a:r>
          </a:p>
          <a:p xmlns:a="http://schemas.openxmlformats.org/drawingml/2006/main">
            <a:r>
              <a:t>Correspondencia: material.md, sección 1.3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pines digitales leen o generan niveles lógicos. Las entradas analógicas convierten una tensión en una cuenta ADC. Una cuenta no es automáticamente una temperatura ni una tensión calibrada. Se necesita conocer referencia, resolución y característica del sensor.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conectar, identifica la placa exacta, alimentación y límites de corriente en su documentación. No conectes cargas de potencia directamente a un pin. En este curso se utiliza inicialmente un potenciómetro de 10 kΩ entre 5 V y GND con cursor a A0 en UNO R3, y el LED incorporado para salida. Desconecta la alimentación al cambiar el montaje.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https://docs.arduino.cc/language-reference/</a:t>
            </a:r>
          </a:p>
          <a:p xmlns:a="http://schemas.openxmlformats.org/drawingml/2006/main">
            <a:r>
              <a:t>https://docs.arduino.cc/hardware/uno-rev3/</a:t>
            </a:r>
          </a:p>
          <a:p xmlns:a="http://schemas.openxmlformats.org/drawingml/2006/main">
            <a:r>
              <a:t>https://fazecast.github.io/jSerialComm/</a:t>
            </a:r>
          </a:p>
          <a:p xmlns:a="http://schemas.openxmlformats.org/drawingml/2006/main">
            <a:r>
              <a:t>https://docs.espressif.com/projects/arduino-esp32/en/latest/api/adc.html</a:t>
            </a:r>
          </a:p>
          <a:p xmlns:a="http://schemas.openxmlformats.org/drawingml/2006/main">
            <a:r>
              <a:t>Correspondencia: material.md, sección 1.4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completo:</a:t>
            </a:r>
          </a:p>
          <a:p xmlns:a="http://schemas.openxmlformats.org/drawingml/2006/main">
            <a:r>
              <a:t>#include &lt;Arduino.h&gt;</a:t>
            </a:r>
          </a:p>
          <a:p xmlns:a="http://schemas.openxmlformats.org/drawingml/2006/main">
            <a:r>
              <a:t>constexpr uint8_t PIN_SENSOR = A0;</a:t>
            </a:r>
          </a:p>
          <a:p xmlns:a="http://schemas.openxmlformats.org/drawingml/2006/main">
            <a:r>
              <a:t>constexpr unsigned long PERIODO_MS = 500;</a:t>
            </a:r>
          </a:p>
          <a:p xmlns:a="http://schemas.openxmlformats.org/drawingml/2006/main">
            <a:r>
              <a:t>unsigned long anterior = 0;</a:t>
            </a:r>
          </a:p>
          <a:p xmlns:a="http://schemas.openxmlformats.org/drawingml/2006/main">
            <a:r>
              <a:t>uint16_t porcentaje(uint16_t raw) {</a:t>
            </a:r>
          </a:p>
          <a:p xmlns:a="http://schemas.openxmlformats.org/drawingml/2006/main">
            <a:r>
              <a:t>  return static_cast&lt;uint16_t&gt;((static_cast&lt;uint32_t&gt;(raw) * 100U) / 1023U);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void setup() {</a:t>
            </a:r>
          </a:p>
          <a:p xmlns:a="http://schemas.openxmlformats.org/drawingml/2006/main">
            <a:r>
              <a:t>  Serial.begin(115200);</a:t>
            </a:r>
          </a:p>
          <a:p xmlns:a="http://schemas.openxmlformats.org/drawingml/2006/main">
            <a:r>
              <a:t>  pinMode(LED_BUILTIN, OUTPUT);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void loop() {</a:t>
            </a:r>
          </a:p>
          <a:p xmlns:a="http://schemas.openxmlformats.org/drawingml/2006/main">
            <a:r>
              <a:t>  unsigned long ahora = millis();</a:t>
            </a:r>
          </a:p>
          <a:p xmlns:a="http://schemas.openxmlformats.org/drawingml/2006/main">
            <a:r>
              <a:t>  if (ahora - anterior &gt;= PERIODO_MS) {</a:t>
            </a:r>
          </a:p>
          <a:p xmlns:a="http://schemas.openxmlformats.org/drawingml/2006/main">
            <a:r>
              <a:t>    anterior = ahora;</a:t>
            </a:r>
          </a:p>
          <a:p xmlns:a="http://schemas.openxmlformats.org/drawingml/2006/main">
            <a:r>
              <a:t>    uint16_t raw = analogRead(PIN_SENSOR);</a:t>
            </a:r>
          </a:p>
          <a:p xmlns:a="http://schemas.openxmlformats.org/drawingml/2006/main">
            <a:r>
              <a:t>    Serial.print("RAW="); Serial.print(raw);</a:t>
            </a:r>
          </a:p>
          <a:p xmlns:a="http://schemas.openxmlformats.org/drawingml/2006/main">
            <a:r>
              <a:t>    Serial.print(";PCT="); Serial.println(porcentaje(raw));</a:t>
            </a:r>
          </a:p>
          <a:p xmlns:a="http://schemas.openxmlformats.org/drawingml/2006/main">
            <a:r>
              <a:t>    digitalWrite(LED_BUILTIN, raw &gt; 512 ? HIGH : LOW);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Salida:</a:t>
            </a:r>
          </a:p>
          <a:p xmlns:a="http://schemas.openxmlformats.org/drawingml/2006/main">
            <a:r>
              <a:t>Cada 500 ms imprime RAW y PCT. El valor depende de la posición del potenciómetro; el LED se enciende cuando RAW &gt; 512.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Salida esperada:</a:t>
            </a:r>
          </a:p>
          <a:p xmlns:a="http://schemas.openxmlformats.org/drawingml/2006/main">
            <a:r>
              <a:t>Cada 500 ms imprime RAW y PCT. El valor depende de la posición del potenciómetro; el LED se enciende cuando RAW &gt; 512.</a:t>
            </a:r>
          </a:p>
          <a:p xmlns:a="http://schemas.openxmlformats.org/drawingml/2006/main">
            <a:r>
              <a:t>Casos de aceptación: material.md, sección 3.2.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Resuelve la ampliación en tu proyecto CampusMonitor.</a:t>
            </a:r>
          </a:p>
          <a:p xmlns:a="http://schemas.openxmlformats.org/drawingml/2006/main">
            <a:r>
              <a:t>Evidencia: evidencias/PC5.1.md y enlace al commit final.</a:t>
            </a:r>
          </a:p>
          <a:p xmlns:a="http://schemas.openxmlformats.org/drawingml/2006/main">
            <a:r>
              <a:t>Crea firmware/campus_monitor/campus_monitor.ino en el repositorio personal. Selecciona UNO R3, puerto y velocidad serial.</a:t>
            </a:r>
          </a:p>
          <a:p xmlns:a="http://schemas.openxmlformats.org/drawingml/2006/main">
            <a:r>
              <a:t>Lee A0 cada 500 ms sin delay y convierte las cuentas a un porcentaje entero mediante una función. No lo presentes como temperatura.</a:t>
            </a:r>
          </a:p>
          <a:p xmlns:a="http://schemas.openxmlformats.org/drawingml/2006/main">
            <a:r>
              <a:t>Registra placa, montaje, captura del monitor serial y tres posiciones del potenciómetro. Explica el tamaño de los tipos utilizados.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Síntesis del material. Revisa la sección 3 para la PC y la guía general para commits y evidencias.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053b5b732444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21276872d0432d" /><Relationship Type="http://schemas.openxmlformats.org/officeDocument/2006/relationships/slideLayout" Target="/ppt/slideLayouts/slideLayout1.xml" Id="R130c7cf7436041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0c7cf7436041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57a0f20004d88" /><Relationship Type="http://schemas.openxmlformats.org/officeDocument/2006/relationships/image" Target="/ppt/media/image.png" Id="R620a4cb9653a4435" /><Relationship Type="http://schemas.openxmlformats.org/officeDocument/2006/relationships/notesSlide" Target="/ppt/notesSlides/notesSlide1.xml" Id="R715352c5129c49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d775b2961475e" /><Relationship Type="http://schemas.openxmlformats.org/officeDocument/2006/relationships/notesSlide" Target="/ppt/notesSlides/notesSlide2.xml" Id="R893823d4ac6944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f1af2768347b9" /><Relationship Type="http://schemas.openxmlformats.org/officeDocument/2006/relationships/image" Target="/ppt/media/image2.png" Id="R7029ee1d0359421b" /><Relationship Type="http://schemas.openxmlformats.org/officeDocument/2006/relationships/notesSlide" Target="/ppt/notesSlides/notesSlide3.xml" Id="R65848c18024d41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63aa720134c5d" /><Relationship Type="http://schemas.openxmlformats.org/officeDocument/2006/relationships/notesSlide" Target="/ppt/notesSlides/notesSlide4.xml" Id="Rcd76f951f40948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3daaba93a440e" /><Relationship Type="http://schemas.openxmlformats.org/officeDocument/2006/relationships/notesSlide" Target="/ppt/notesSlides/notesSlide5.xml" Id="R7d50dfac14b342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8051eb9964353" /><Relationship Type="http://schemas.openxmlformats.org/officeDocument/2006/relationships/notesSlide" Target="/ppt/notesSlides/notesSlide6.xml" Id="R4b412ff86ad443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751f2e46e41c9" /><Relationship Type="http://schemas.openxmlformats.org/officeDocument/2006/relationships/notesSlide" Target="/ppt/notesSlides/notesSlide7.xml" Id="R2c95b025d5024d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a70fa617b4e4b" /><Relationship Type="http://schemas.openxmlformats.org/officeDocument/2006/relationships/notesSlide" Target="/ppt/notesSlides/notesSlide8.xml" Id="Red7b1d6306d549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c44ab9bf44147" /><Relationship Type="http://schemas.openxmlformats.org/officeDocument/2006/relationships/notesSlide" Target="/ppt/notesSlides/notesSlide9.xml" Id="Rf9848d9373db42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e9c70d26c4112" /><Relationship Type="http://schemas.openxmlformats.org/officeDocument/2006/relationships/notesSlide" Target="/ppt/notesSlides/notesSlide10.xml" Id="Rf5c9e4baca6442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ad01158dd487b" /><Relationship Type="http://schemas.openxmlformats.org/officeDocument/2006/relationships/notesSlide" Target="/ppt/notesSlides/notesSlide11.xml" Id="Rcccf5031310f4c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0a4cb9653a4435"/>
          <a:stretch xmlns:a="http://schemas.openxmlformats.org/drawingml/2006/main"/>
        </p:blipFill>
        <p:spPr>
          <a:xfrm xmlns:a="http://schemas.openxmlformats.org/drawingml/2006/main">
            <a:off x="609600" y="545418"/>
            <a:ext cx="6858000" cy="112848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E3C1E-73AE-47AC-9D4B-28C35D99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Programación Aplicada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F103B-A438-43CF-B921-66C6123B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Fundamentos de Arduino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B4A06-E35C-49C7-B263-B7E73F6B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CA7A3-9526-4DF6-A2CA-8D0E59BA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Unidad 5 · 5.1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285DC-2A88-48F1-8070-89DAC3B3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19851090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6BF4F-A90D-4BA0-BBC0-D0A1E201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C0E0E-9A67-47E6-87F2-72037D38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El problema de CampusMonitor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205F3-D056-487F-AA11-C14B3A49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DC7B6-CCE9-4BA6-9A1B-A7E57EAA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5.1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1261A-8032-46FC-8611-C226CBFF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7D0E3-7800-478D-89D2-BDE4F580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477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CampusMonitor recibirá mediciones de un dispositivo físico. Arduino ejecuta un programa en un microcontrolador y Java ejecuta la aplicación del PC. La comunicación permite integrar ambos programas, pero sus tipos, recursos y ciclos de ejecución son diferentes.</a:t>
            </a:r>
          </a:p>
        </p:txBody>
      </p:sp>
    </p:spTree>
    <p:extLst>
      <p:ext uri="{BB962C8B-B14F-4D97-AF65-F5344CB8AC3E}">
        <p14:creationId xmlns:p14="http://schemas.microsoft.com/office/powerpoint/2010/main" val="5882595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CC0136-A886-40D9-A38D-09C7DC4C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79E3F4-8E91-4C87-97E3-35EA89A8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Una analogía para el concepto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EBF9E9-5FDC-4F92-B56D-7252ABE5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C99A5-BAE1-4B98-BE6D-233E7CD6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5.1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1FE66-FEDB-47B0-A48D-6E39D100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9ee1d0359421b"/>
          <a:stretch xmlns:a="http://schemas.openxmlformats.org/drawingml/2006/main"/>
        </p:blipFill>
        <p:spPr>
          <a:xfrm xmlns:a="http://schemas.openxmlformats.org/drawingml/2006/main">
            <a:off x="4862513" y="1504950"/>
            <a:ext cx="6715125" cy="4476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3137D-CBE4-4168-86E4-792DE679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81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El sketch ejecuta setup y loop.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85380-22C4-4159-8A95-AC88B221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3810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ilustración sirve como analogía. El contrato técnico se define en el código.</a:t>
            </a:r>
          </a:p>
        </p:txBody>
      </p:sp>
    </p:spTree>
    <p:extLst>
      <p:ext uri="{BB962C8B-B14F-4D97-AF65-F5344CB8AC3E}">
        <p14:creationId xmlns:p14="http://schemas.microsoft.com/office/powerpoint/2010/main" val="4634815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47EEE-86F1-476F-A8DA-9D6DFB70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9E267-C7FC-4571-AF7A-7B9D759B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IDE, placa y estructura del sketch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6ABC5-8BCA-4C8D-AC42-6B7CCD03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3767A-1995-48D6-AC6A-62A95F31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5.1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9ADFB-F806-4E88-A1ED-9D30BD5A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1A624-F50C-4A8C-A4C6-5D78E1FB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El sketch ejecuta setup y loop.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C2CF0-5FB8-4C55-8496-28E0DEF4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Arduino IDE permite editar, compilar y cargar un sketch. Debes seleccionar la placa y el puerto correctos e instalar el soporte correspondiente. Un sketch utiliza C++ con el entorno Arduino. setup se ejecuta una vez al arrancar y loop se repite mientras el dispositivo está activo.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0F3252-D366-4051-A01B-F0DACFD2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EB208-9387-4DB2-B689-C674ADAC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026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La referencia del curso es Arduino UNO R3, basada en ATmega328P. Sus límites no deben extrapolarse a todas las placas Arduino. Una UNO R4 y una ESP32 tienen arquitecturas diferentes.</a:t>
            </a:r>
          </a:p>
        </p:txBody>
      </p:sp>
    </p:spTree>
    <p:extLst>
      <p:ext uri="{BB962C8B-B14F-4D97-AF65-F5344CB8AC3E}">
        <p14:creationId xmlns:p14="http://schemas.microsoft.com/office/powerpoint/2010/main" val="4129083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10756-6A20-404E-909F-21FFAD03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5B006-9AA9-4D5B-9D4E-DDE45C46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Tipos, variables y operadores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51A2C-90E9-41B9-A461-3531D26C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2E771-E022-4111-ABF0-79D23C97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5.1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5D3FB-0CBF-446B-9045-FFE12B07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0C4A6-047A-45D4-A297-75F735BC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Los tamaños de tipos dependen de la placa.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235D5-E7D1-4916-B81F-5983EC74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En UNO R3, int tiene 16 bits y long 32 bits. Para tamaños explícitos utiliza uint16_t y uint32_t cuando corresponda. bool representa condiciones. Los operadores aritméticos y lógicos se parecen a Java, pero los tamaños, conversiones y manejo de memoria siguen reglas de C++.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A6D9B7-B859-4B80-84E7-D17A3334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643959-1517-4952-A67F-9E882760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026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Una división entre enteros descarta la fracción. Para calcular porcentajes, multiplica en un tipo suficientemente amplio antes de dividir. Constantes constexpr o const expresan valores que no deben cambiar.</a:t>
            </a:r>
          </a:p>
        </p:txBody>
      </p:sp>
    </p:spTree>
    <p:extLst>
      <p:ext uri="{BB962C8B-B14F-4D97-AF65-F5344CB8AC3E}">
        <p14:creationId xmlns:p14="http://schemas.microsoft.com/office/powerpoint/2010/main" val="15886581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C7BFD-2C9C-44F0-8EEE-B397E520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FF3C6-F9D7-40D0-97B6-86736B13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Funciones y ciclo no bloqueante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4C13E-DB39-4D02-A80B-73D45AFB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34F57-6D4F-4518-AC94-A341E14A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5.1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E68F1-3095-419C-885C-7D67A9B5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03C1D-B09B-4F93-922E-6CA65B52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millis permite planificar sin bloquear.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33F12-D156-4A58-9CC8-C835CF89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Las funciones separan adquisición, transformación y salida. Un prototipo declara tipos de parámetros y retorno. El ejemplo calcula un porcentaje a partir de la lectura ADC y lo imprime como dato de diagnóstico.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F7FF3-29B9-4C9A-8BAF-ECE1FFC7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4E853-4530-4447-8411-9BC3728E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026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millis devuelve milisegundos desde el inicio y su contador se desborda aproximadamente cada 49.7 días en plataformas con unsigned long de 32 bits.</a:t>
            </a:r>
          </a:p>
        </p:txBody>
      </p:sp>
    </p:spTree>
    <p:extLst>
      <p:ext uri="{BB962C8B-B14F-4D97-AF65-F5344CB8AC3E}">
        <p14:creationId xmlns:p14="http://schemas.microsoft.com/office/powerpoint/2010/main" val="11014891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190A3A-3CE2-428E-BFE8-3BFB3ECC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FFA65-423F-4AC5-B485-85D7262F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Pines y límites eléctricos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2C8B4-4DB6-4A43-BB5F-23673A77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9E041-FDA9-4366-8E7F-97D0EEBF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5.1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0B16A-F969-4B85-9F4A-057D889D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1C23A-E614-4CBF-8216-0C1EA4CF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Los pines tienen límites de tensión y corriente.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3999E4-FE88-4DA4-A72A-F08D9DA9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Los pines digitales leen o generan niveles lógicos. Las entradas analógicas convierten una tensión en una cuenta ADC. Una cuenta no es automáticamente una temperatura ni una tensión calibrada. Se necesita conocer referencia, resolución y característica del sensor.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6AE6D2-2297-4CFA-BC70-0191D507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F12E86-CB17-4868-A431-7D9EF647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026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Antes de conectar, identifica la placa exacta, alimentación y límites de corriente en su documentación. No conectes cargas de potencia directamente a un pin.</a:t>
            </a:r>
          </a:p>
        </p:txBody>
      </p:sp>
    </p:spTree>
    <p:extLst>
      <p:ext uri="{BB962C8B-B14F-4D97-AF65-F5344CB8AC3E}">
        <p14:creationId xmlns:p14="http://schemas.microsoft.com/office/powerpoint/2010/main" val="9397532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A6E2B4-DEE9-4A3E-B073-2D3CF8CB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6D5FA-346D-4618-B5A7-66206390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Demostración de firmware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19C3B-9507-4CDC-AFBF-6C79DC7B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CA6B3-70BA-4B4E-8536-4A517A8E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5.1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9D35A-01B1-4B57-98C1-F581E611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1AA16-B538-40EF-85BC-B57D5C15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90675"/>
            <a:ext cx="10953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157B8-41DA-47E6-A148-ED26E7A3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43075"/>
            <a:ext cx="10477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void loop() {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unsigned long ahora = millis();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if (ahora - anterior &gt;= PERIODO_MS) {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anterior = ahora;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uint16_t raw = analogRead(PIN_SENSOR);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Serial.print("RAW="); Serial.print(raw);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Serial.print(";PCT="); Serial.println(porcentaje(raw));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digitalWrite(LED_BUILTIN, raw &gt; 512 ? HIGH : LOW);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}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224EC-EB30-4031-8385-AADF9333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Fragmento de Fundamentos.ino. Código completo y ejecución en material.md.</a:t>
            </a:r>
          </a:p>
        </p:txBody>
      </p:sp>
    </p:spTree>
    <p:extLst>
      <p:ext uri="{BB962C8B-B14F-4D97-AF65-F5344CB8AC3E}">
        <p14:creationId xmlns:p14="http://schemas.microsoft.com/office/powerpoint/2010/main" val="7454411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6BA71-D066-475F-ABE5-D10ABBE2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FBC70-C67A-4808-9746-AA04CE91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 de la 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7D09D-AD1E-4DD0-B5D3-5C89742F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46BA1-2B79-4D69-AAC7-29079FC3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5.1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B1A73-BB71-4801-8445-ACAA91F9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629400"/>
              </a:tblGrid>
              <a:tr h="7858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Caso</a:t>
                      </a:r>
                    </a:p>
                  </a:txBody>
                  <a:tcPr marL="152400" marR="152400" marT="133350" marB="114300" anchor="ctr">
                    <a:solidFill>
                      <a:srgbClr val="0037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Comportamiento requerido</a:t>
                      </a:r>
                    </a:p>
                  </a:txBody>
                  <a:tcPr marL="152400" marR="152400" marT="133350" marB="114300" anchor="ctr">
                    <a:solidFill>
                      <a:srgbClr val="003772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Cursor cerca de GND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Cuenta cercana a 0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Cursor cerca de 5 V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Cuenta cercana a 1023 en UNO R3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Ejecución continua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Muestreo periódico sin delay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96096-D57A-4B3C-9AF9-0F344E2B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Salida de la demostración: Cada 500 ms imprime RAW y PCT. El valor depende de la posición del potenciómetro; el LED se enciende cuando RAW &gt; 512.</a:t>
            </a:r>
          </a:p>
        </p:txBody>
      </p:sp>
    </p:spTree>
    <p:extLst>
      <p:ext uri="{BB962C8B-B14F-4D97-AF65-F5344CB8AC3E}">
        <p14:creationId xmlns:p14="http://schemas.microsoft.com/office/powerpoint/2010/main" val="5818694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7AB32A-2387-456F-9889-87C5A70E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9A0E5-6C5A-4DA5-AE32-D3DD7DD6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PC5.1 · Ampliación del proyecto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F47C3-F825-4EF7-9B74-C19BB7FA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23C07-59B1-47A6-AA86-97DB94AC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5.1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D4C90-B5E0-4460-B4AB-6F1B30DA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77E56-F440-4618-8A56-56D63C44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34660-10E0-4F62-87F3-5958F74B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0153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Crea firmware/campus_monitor/campus_monitor.ino en el repositorio personal. Selecciona UNO R3, puerto y velocidad serial.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7BDA96-F43A-48B6-80FA-ED5CD781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D708D-C914-4C10-8D47-22C7C1AF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24175"/>
            <a:ext cx="10153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Lee A0 cada 500 ms sin delay y convierte las cuentas a un porcentaje entero mediante una función. No lo presentes como temperatura.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187C8-DE0D-4089-8D10-F3E640E2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66CD1-13CB-4D9F-9259-1BFAAC9B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86250"/>
            <a:ext cx="10153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Registra placa, montaje, captura del monitor serial y tres posiciones del potenciómetro. Explica el tamaño de los tipos utilizados.</a:t>
            </a:r>
          </a:p>
        </p:txBody>
      </p:sp>
    </p:spTree>
    <p:extLst>
      <p:ext uri="{BB962C8B-B14F-4D97-AF65-F5344CB8AC3E}">
        <p14:creationId xmlns:p14="http://schemas.microsoft.com/office/powerpoint/2010/main" val="9404852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808FF-DF3C-4349-B94B-302F97D5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80489-470B-4754-BD70-7D078A68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0E8F3-2E11-42C2-AA7E-CA2D8F43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21729-D318-4BC8-AC6F-85CB3073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5.1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8DA22-E233-4EA3-B99B-65EDB4DE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FFF3A-0032-4E8F-BEF9-892538C1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El sketch ejecuta setup y loop.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422A4-64B8-4656-A2AA-6DEBD180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Los tamaños de tipos dependen de la placa.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72092-FA66-407E-9B2E-53842416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millis permite planificar sin bloquear.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17C16-83A7-4067-8123-028ED187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Los pines tienen límites de tensión y corriente.</a:t>
            </a:r>
          </a:p>
        </p:txBody>
      </p:sp>
    </p:spTree>
    <p:extLst>
      <p:ext uri="{BB962C8B-B14F-4D97-AF65-F5344CB8AC3E}">
        <p14:creationId xmlns:p14="http://schemas.microsoft.com/office/powerpoint/2010/main" val="17534983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2026-09-10T23:07:30.3850000Z</dcterms:created>
  <dcterms:modified xsi:type="dcterms:W3CDTF">2026-09-10T23:07:30.3850000Z</dcterms:modified>
</coreProperties>
</file>