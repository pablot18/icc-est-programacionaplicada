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b7eae6e67a84bd6" /><Relationship Type="http://schemas.openxmlformats.org/officeDocument/2006/relationships/extended-properties" Target="/docProps/app.xml" Id="Rf097220ffcfc45a6" /><Relationship Type="http://schemas.openxmlformats.org/officeDocument/2006/relationships/officeDocument" Target="/ppt/presentation.xml" Id="Rb2f1841bf3804e02" /></Relationships>
</file>

<file path=ppt/presentation.xml><?xml version="1.0" encoding="utf-8"?>
<p:presentation xmlns:p="http://schemas.openxmlformats.org/presentationml/2006/main">
  <p:sldMasterIdLst>
    <p:sldMasterId xmlns:r="http://schemas.openxmlformats.org/officeDocument/2006/relationships" id="2147483648" r:id="R24e744e79d874ddd"/>
  </p:sldMasterIdLst>
  <p:notesMasterIdLst>
    <p:notesMasterId xmlns:r="http://schemas.openxmlformats.org/officeDocument/2006/relationships" r:id="R4a6faf9f0df64e6b"/>
  </p:notesMasterIdLst>
  <p:sldIdLst>
    <p:sldId xmlns:r="http://schemas.openxmlformats.org/officeDocument/2006/relationships" id="256" r:id="Re3a10d0699664f57"/>
    <p:sldId xmlns:r="http://schemas.openxmlformats.org/officeDocument/2006/relationships" id="257" r:id="R05e28a82fb4d442a"/>
    <p:sldId xmlns:r="http://schemas.openxmlformats.org/officeDocument/2006/relationships" id="258" r:id="R7ad52e6f5f724d63"/>
    <p:sldId xmlns:r="http://schemas.openxmlformats.org/officeDocument/2006/relationships" id="259" r:id="Rbba3549a12754a77"/>
    <p:sldId xmlns:r="http://schemas.openxmlformats.org/officeDocument/2006/relationships" id="260" r:id="Rd78b14224e074353"/>
    <p:sldId xmlns:r="http://schemas.openxmlformats.org/officeDocument/2006/relationships" id="261" r:id="R3491d63640024f85"/>
    <p:sldId xmlns:r="http://schemas.openxmlformats.org/officeDocument/2006/relationships" id="262" r:id="Ra43962b055134853"/>
    <p:sldId xmlns:r="http://schemas.openxmlformats.org/officeDocument/2006/relationships" id="263" r:id="Rf261fd35ec194376"/>
    <p:sldId xmlns:r="http://schemas.openxmlformats.org/officeDocument/2006/relationships" id="264" r:id="R032217396b214879"/>
    <p:sldId xmlns:r="http://schemas.openxmlformats.org/officeDocument/2006/relationships" id="265" r:id="R3ac1275bc86a4fc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80ed41d41ea4890" /><Relationship Type="http://schemas.openxmlformats.org/officeDocument/2006/relationships/slideMaster" Target="/ppt/slideMasters/slideMaster1.xml" Id="R24e744e79d874ddd" /><Relationship Type="http://schemas.openxmlformats.org/officeDocument/2006/relationships/notesMaster" Target="/ppt/notesMasters/notesMaster1.xml" Id="R4a6faf9f0df64e6b" /><Relationship Type="http://schemas.openxmlformats.org/officeDocument/2006/relationships/presProps" Target="/ppt/presProps.xml" Id="Rcc149cab0249407f" /><Relationship Type="http://schemas.openxmlformats.org/officeDocument/2006/relationships/tableStyles" Target="/ppt/tableStyles.xml" Id="Rf215ea553aba45b1" /><Relationship Type="http://schemas.openxmlformats.org/officeDocument/2006/relationships/slide" Target="/ppt/slides/slide1.xml" Id="Re3a10d0699664f57" /><Relationship Type="http://schemas.openxmlformats.org/officeDocument/2006/relationships/slide" Target="/ppt/slides/slide2.xml" Id="R05e28a82fb4d442a" /><Relationship Type="http://schemas.openxmlformats.org/officeDocument/2006/relationships/slide" Target="/ppt/slides/slide3.xml" Id="R7ad52e6f5f724d63" /><Relationship Type="http://schemas.openxmlformats.org/officeDocument/2006/relationships/slide" Target="/ppt/slides/slide4.xml" Id="Rbba3549a12754a77" /><Relationship Type="http://schemas.openxmlformats.org/officeDocument/2006/relationships/slide" Target="/ppt/slides/slide5.xml" Id="Rd78b14224e074353" /><Relationship Type="http://schemas.openxmlformats.org/officeDocument/2006/relationships/slide" Target="/ppt/slides/slide6.xml" Id="R3491d63640024f85" /><Relationship Type="http://schemas.openxmlformats.org/officeDocument/2006/relationships/slide" Target="/ppt/slides/slide7.xml" Id="Ra43962b055134853" /><Relationship Type="http://schemas.openxmlformats.org/officeDocument/2006/relationships/slide" Target="/ppt/slides/slide8.xml" Id="Rf261fd35ec194376" /><Relationship Type="http://schemas.openxmlformats.org/officeDocument/2006/relationships/slide" Target="/ppt/slides/slide9.xml" Id="R032217396b214879" /><Relationship Type="http://schemas.openxmlformats.org/officeDocument/2006/relationships/slide" Target="/ppt/slides/slide10.xml" Id="R3ac1275bc86a4fc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616a9f4e10a436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4b71f1d2aa74282" /><Relationship Type="http://schemas.openxmlformats.org/officeDocument/2006/relationships/notesMaster" Target="/ppt/notesMasters/notesMaster1.xml" Id="Re611a55c472849d4" /></Relationships>
</file>

<file path=ppt/notesSlides/_rels/notesSlide2.xml.rels>&#65279;<?xml version="1.0" encoding="utf-8"?><Relationships xmlns="http://schemas.openxmlformats.org/package/2006/relationships"><Relationship Type="http://schemas.openxmlformats.org/officeDocument/2006/relationships/slide" Target="/ppt/slides/slide2.xml" Id="R2377cbdd4e3d48c8" /><Relationship Type="http://schemas.openxmlformats.org/officeDocument/2006/relationships/notesMaster" Target="/ppt/notesMasters/notesMaster1.xml" Id="R27c20d2a12094978" /></Relationships>
</file>

<file path=ppt/notesSlides/_rels/notesSlide3.xml.rels>&#65279;<?xml version="1.0" encoding="utf-8"?><Relationships xmlns="http://schemas.openxmlformats.org/package/2006/relationships"><Relationship Type="http://schemas.openxmlformats.org/officeDocument/2006/relationships/slide" Target="/ppt/slides/slide3.xml" Id="Ref44738d6a0d4a83" /><Relationship Type="http://schemas.openxmlformats.org/officeDocument/2006/relationships/notesMaster" Target="/ppt/notesMasters/notesMaster1.xml" Id="R8396dba0473940b6" /></Relationships>
</file>

<file path=ppt/notesSlides/_rels/notesSlide4.xml.rels>&#65279;<?xml version="1.0" encoding="utf-8"?><Relationships xmlns="http://schemas.openxmlformats.org/package/2006/relationships"><Relationship Type="http://schemas.openxmlformats.org/officeDocument/2006/relationships/slide" Target="/ppt/slides/slide4.xml" Id="R8c66d8bbfab64a05" /><Relationship Type="http://schemas.openxmlformats.org/officeDocument/2006/relationships/notesMaster" Target="/ppt/notesMasters/notesMaster1.xml" Id="R58db1be59bc64568" /></Relationships>
</file>

<file path=ppt/notesSlides/_rels/notesSlide5.xml.rels>&#65279;<?xml version="1.0" encoding="utf-8"?><Relationships xmlns="http://schemas.openxmlformats.org/package/2006/relationships"><Relationship Type="http://schemas.openxmlformats.org/officeDocument/2006/relationships/slide" Target="/ppt/slides/slide5.xml" Id="Rcd2c486be79b4f47" /><Relationship Type="http://schemas.openxmlformats.org/officeDocument/2006/relationships/notesMaster" Target="/ppt/notesMasters/notesMaster1.xml" Id="R2f284005808e4e82" /></Relationships>
</file>

<file path=ppt/notesSlides/_rels/notesSlide6.xml.rels>&#65279;<?xml version="1.0" encoding="utf-8"?><Relationships xmlns="http://schemas.openxmlformats.org/package/2006/relationships"><Relationship Type="http://schemas.openxmlformats.org/officeDocument/2006/relationships/slide" Target="/ppt/slides/slide6.xml" Id="R775e58e9156d4b66" /><Relationship Type="http://schemas.openxmlformats.org/officeDocument/2006/relationships/notesMaster" Target="/ppt/notesMasters/notesMaster1.xml" Id="Rfb21925ad0354ece" /></Relationships>
</file>

<file path=ppt/notesSlides/_rels/notesSlide7.xml.rels>&#65279;<?xml version="1.0" encoding="utf-8"?><Relationships xmlns="http://schemas.openxmlformats.org/package/2006/relationships"><Relationship Type="http://schemas.openxmlformats.org/officeDocument/2006/relationships/slide" Target="/ppt/slides/slide7.xml" Id="Rd7cf0aff9f2848d8" /><Relationship Type="http://schemas.openxmlformats.org/officeDocument/2006/relationships/notesMaster" Target="/ppt/notesMasters/notesMaster1.xml" Id="R4b97705c70f34902" /></Relationships>
</file>

<file path=ppt/notesSlides/_rels/notesSlide8.xml.rels>&#65279;<?xml version="1.0" encoding="utf-8"?><Relationships xmlns="http://schemas.openxmlformats.org/package/2006/relationships"><Relationship Type="http://schemas.openxmlformats.org/officeDocument/2006/relationships/slide" Target="/ppt/slides/slide8.xml" Id="R0303996180ae434f" /><Relationship Type="http://schemas.openxmlformats.org/officeDocument/2006/relationships/notesMaster" Target="/ppt/notesMasters/notesMaster1.xml" Id="Rc99ee8bb2d274efc" /></Relationships>
</file>

<file path=ppt/notesSlides/_rels/notesSlide9.xml.rels>&#65279;<?xml version="1.0" encoding="utf-8"?><Relationships xmlns="http://schemas.openxmlformats.org/package/2006/relationships"><Relationship Type="http://schemas.openxmlformats.org/officeDocument/2006/relationships/slide" Target="/ppt/slides/slide9.xml" Id="R4b13aeb3953d4ef6" /><Relationship Type="http://schemas.openxmlformats.org/officeDocument/2006/relationships/notesMaster" Target="/ppt/notesMasters/notesMaster1.xml" Id="Rd9864b546ff543c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1c1a47a113f4193" /><Relationship Type="http://schemas.openxmlformats.org/officeDocument/2006/relationships/notesMaster" Target="/ppt/notesMasters/notesMaster1.xml" Id="Rce2a938914e145e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4.2a. JDBC, Gradle y configuración YAML. Autor: Ing. Pablo Torres, Mgtr.</a:t>
            </a:r>
          </a:p>
          <a:p xmlns:a="http://schemas.openxmlformats.org/drawingml/2006/main">
            <a:r>
              <a:t>Logo original proporcionado por el docente.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CampusMonitor debe sustituir datos en memoria por consultas a PostgreSQL. En este punto aparecen un controlador JDBC y una biblioteca de configuración, por lo que Gradle pasa a gestionar versiones y ejecución.</a:t>
            </a:r>
          </a:p>
          <a:p xmlns:a="http://schemas.openxmlformats.org/drawingml/2006/main">
            <a:r>
              <a:t>Fuente del desarrollo: material.md, contexto.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JDBC define interfaces estándar como Connection, PreparedStatement y ResultSet. El controlador implementa la comunicación con un motor concreto. El driver PostgreSQL se declara como dependencia de ejecución en Gradle. Los controladores JDBC modernos se registran mediante el mecanismo de servicios, por lo que normalmente no hace falta Class.forName.</a:t>
            </a:r>
          </a:p>
          <a:p xmlns:a="http://schemas.openxmlformats.org/drawingml/2006/main">
            <a:r>
              <a:t/>
            </a:r>
          </a:p>
          <a:p xmlns:a="http://schemas.openxmlformats.org/drawingml/2006/main">
            <a:r>
              <a:t>Una URL JDBC identifica el controlador y el destino. jdbc:postgresql://localhost:5432/campus describe motor, host, puerto y base. No es una URL web. Usuario, contraseña, conectividad, permisos y configuración TLS deben corresponder al servidor. Una URL correcta no garantiza acceso a una base existente.</a:t>
            </a:r>
          </a:p>
          <a:p xmlns:a="http://schemas.openxmlformats.org/drawingml/2006/main">
            <a:r>
              <a:t/>
            </a:r>
          </a:p>
          <a:p xmlns:a="http://schemas.openxmlformats.org/drawingml/2006/main">
            <a:r>
              <a:t>Referencias:</a:t>
            </a:r>
          </a:p>
          <a:p xmlns:a="http://schemas.openxmlformats.org/drawingml/2006/main">
            <a:r>
              <a:t>https://docs.oracle.com/en/java/javase/25/docs/api/java.sql/java/sql/package-summary.html</a:t>
            </a:r>
          </a:p>
          <a:p xmlns:a="http://schemas.openxmlformats.org/drawingml/2006/main">
            <a:r>
              <a:t>https://jdbc.postgresql.org/documentation/</a:t>
            </a:r>
          </a:p>
          <a:p xmlns:a="http://schemas.openxmlformats.org/drawingml/2006/main">
            <a:r>
              <a:t>https://db.apache.org/jdo/</a:t>
            </a:r>
          </a:p>
          <a:p xmlns:a="http://schemas.openxmlformats.org/drawingml/2006/main">
            <a:r>
              <a:t>https://www.datanucleus.org/products/accessplatform_6_0/jdo/guide.html</a:t>
            </a:r>
          </a:p>
          <a:p xmlns:a="http://schemas.openxmlformats.org/drawingml/2006/main">
            <a:r>
              <a:t>Correspondencia: material.md, sección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Connection representa una sesión con el motor. Abrir y cerrar una conexión por cada registro puede ser costoso. Para esta introducción se utiliza una conexión por operación o lote, siempre con try-with-resources. Más adelante puede emplearse un pool, manteniendo el mismo principio de devolver la conexión al terminar.</a:t>
            </a:r>
          </a:p>
          <a:p xmlns:a="http://schemas.openxmlformats.org/drawingml/2006/main">
            <a:r>
              <a:t/>
            </a:r>
          </a:p>
          <a:p xmlns:a="http://schemas.openxmlformats.org/drawingml/2006/main">
            <a:r>
              <a:t>No compartas indiscriminadamente una Connection entre hilos. Su estado transaccional y sus operaciones pueden interferir. Connection, Statement y ResultSet tienen ciclos de vida relacionados. Cierra primero resultados y sentencias y después la conexión; la estructura anidada de try-with-resources hace visible ese orden.</a:t>
            </a:r>
          </a:p>
          <a:p xmlns:a="http://schemas.openxmlformats.org/drawingml/2006/main">
            <a:r>
              <a:t/>
            </a:r>
          </a:p>
          <a:p xmlns:a="http://schemas.openxmlformats.org/drawingml/2006/main">
            <a:r>
              <a:t>Referencias:</a:t>
            </a:r>
          </a:p>
          <a:p xmlns:a="http://schemas.openxmlformats.org/drawingml/2006/main">
            <a:r>
              <a:t>https://docs.oracle.com/en/java/javase/25/docs/api/java.sql/java/sql/package-summary.html</a:t>
            </a:r>
          </a:p>
          <a:p xmlns:a="http://schemas.openxmlformats.org/drawingml/2006/main">
            <a:r>
              <a:t>https://jdbc.postgresql.org/documentation/</a:t>
            </a:r>
          </a:p>
          <a:p xmlns:a="http://schemas.openxmlformats.org/drawingml/2006/main">
            <a:r>
              <a:t>https://db.apache.org/jdo/</a:t>
            </a:r>
          </a:p>
          <a:p xmlns:a="http://schemas.openxmlformats.org/drawingml/2006/main">
            <a:r>
              <a:t>https://www.datanucleus.org/products/accessplatform_6_0/jdo/guide.html</a:t>
            </a:r>
          </a:p>
          <a:p xmlns:a="http://schemas.openxmlformats.org/drawingml/2006/main">
            <a:r>
              <a:t>Correspondencia: material.md, sección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build.gradle.kts declara plugins, repositorios, toolchain y dependencias. La toolchain fija Java 25 para compilar y ejecutar los ejemplos. El Gradle Wrapper permite usar la misma versión de Gradle en todos los equipos, sin depender de una instalación global después de generarlo.</a:t>
            </a:r>
          </a:p>
          <a:p xmlns:a="http://schemas.openxmlformats.org/drawingml/2006/main">
            <a:r>
              <a:t/>
            </a:r>
          </a:p>
          <a:p xmlns:a="http://schemas.openxmlformats.org/drawingml/2006/main">
            <a:r>
              <a:t>Las unidades iniciales pueden ejecutarse con java ruta/ClaseDemo.java porque solo utilizan el JDK. Desde esta unidad, el driver y YAML requieren un classpath gestionado. Las versiones están fijadas y se incluye un documento de versiones verificadas. No uses rangos latest ni actualices dependencias durante una entrega sin volver a comprobar compatibilidad.</a:t>
            </a:r>
          </a:p>
          <a:p xmlns:a="http://schemas.openxmlformats.org/drawingml/2006/main">
            <a:r>
              <a:t/>
            </a:r>
          </a:p>
          <a:p xmlns:a="http://schemas.openxmlformats.org/drawingml/2006/main">
            <a:r>
              <a:t>Referencias:</a:t>
            </a:r>
          </a:p>
          <a:p xmlns:a="http://schemas.openxmlformats.org/drawingml/2006/main">
            <a:r>
              <a:t>https://docs.oracle.com/en/java/javase/25/docs/api/java.sql/java/sql/package-summary.html</a:t>
            </a:r>
          </a:p>
          <a:p xmlns:a="http://schemas.openxmlformats.org/drawingml/2006/main">
            <a:r>
              <a:t>https://jdbc.postgresql.org/documentation/</a:t>
            </a:r>
          </a:p>
          <a:p xmlns:a="http://schemas.openxmlformats.org/drawingml/2006/main">
            <a:r>
              <a:t>https://db.apache.org/jdo/</a:t>
            </a:r>
          </a:p>
          <a:p xmlns:a="http://schemas.openxmlformats.org/drawingml/2006/main">
            <a:r>
              <a:t>https://www.datanucleus.org/products/accessplatform_6_0/jdo/guide.html</a:t>
            </a:r>
          </a:p>
          <a:p xmlns:a="http://schemas.openxmlformats.org/drawingml/2006/main">
            <a:r>
              <a:t>Correspondencia: material.md, sección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Java SE no carga application.yaml automáticamente. La clase Config del proyecto lee ese recurso utilizando SnakeYAML Engine y extrae valores escalares. El programa combina configuración base con variables PAP_DB_URL, PAP_DB_USER y PAP_DB_PASSWORD. No se incluye la contraseña en el repositorio.</a:t>
            </a:r>
          </a:p>
          <a:p xmlns:a="http://schemas.openxmlformats.org/drawingml/2006/main">
            <a:r>
              <a:t/>
            </a:r>
          </a:p>
          <a:p xmlns:a="http://schemas.openxmlformats.org/drawingml/2006/main">
            <a:r>
              <a:t>El ejemplo verifica tipos y propiedades obligatorias y muestra el motor conectado sin imprimir secretos. Los límites del parser restringen alias y tamaño. No interpreta etiquetas para construir clases arbitrarias. El nombre application.yaml es una convención del proyecto, no implica que la aplicación use Spring Boot.</a:t>
            </a:r>
          </a:p>
          <a:p xmlns:a="http://schemas.openxmlformats.org/drawingml/2006/main">
            <a:r>
              <a:t/>
            </a:r>
          </a:p>
          <a:p xmlns:a="http://schemas.openxmlformats.org/drawingml/2006/main">
            <a:r>
              <a:t>Referencias:</a:t>
            </a:r>
          </a:p>
          <a:p xmlns:a="http://schemas.openxmlformats.org/drawingml/2006/main">
            <a:r>
              <a:t>https://docs.oracle.com/en/java/javase/25/docs/api/java.sql/java/sql/package-summary.html</a:t>
            </a:r>
          </a:p>
          <a:p xmlns:a="http://schemas.openxmlformats.org/drawingml/2006/main">
            <a:r>
              <a:t>https://jdbc.postgresql.org/documentation/</a:t>
            </a:r>
          </a:p>
          <a:p xmlns:a="http://schemas.openxmlformats.org/drawingml/2006/main">
            <a:r>
              <a:t>https://db.apache.org/jdo/</a:t>
            </a:r>
          </a:p>
          <a:p xmlns:a="http://schemas.openxmlformats.org/drawingml/2006/main">
            <a:r>
              <a:t>https://www.datanucleus.org/products/accessplatform_6_0/jdo/guide.html</a:t>
            </a:r>
          </a:p>
          <a:p xmlns:a="http://schemas.openxmlformats.org/drawingml/2006/main">
            <a:r>
              <a:t>Correspondencia: material.md, sección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Código completo:</a:t>
            </a:r>
          </a:p>
          <a:p xmlns:a="http://schemas.openxmlformats.org/drawingml/2006/main">
            <a:r>
              <a:t>package edu.ups.pap.u04;</a:t>
            </a:r>
          </a:p>
          <a:p xmlns:a="http://schemas.openxmlformats.org/drawingml/2006/main">
            <a:r>
              <a:t>import edu.ups.pap.comun.Config;</a:t>
            </a:r>
          </a:p>
          <a:p xmlns:a="http://schemas.openxmlformats.org/drawingml/2006/main">
            <a:r>
              <a:t>import java.sql.*;</a:t>
            </a:r>
          </a:p>
          <a:p xmlns:a="http://schemas.openxmlformats.org/drawingml/2006/main">
            <a:r>
              <a:t>public class JdbcDemo {</a:t>
            </a:r>
          </a:p>
          <a:p xmlns:a="http://schemas.openxmlformats.org/drawingml/2006/main">
            <a:r>
              <a:t>    public static void main(String[] args) throws SQLException {</a:t>
            </a:r>
          </a:p>
          <a:p xmlns:a="http://schemas.openxmlformats.org/drawingml/2006/main">
            <a:r>
              <a:t>        try (Connection c = Config.abrir()) {</a:t>
            </a:r>
          </a:p>
          <a:p xmlns:a="http://schemas.openxmlformats.org/drawingml/2006/main">
            <a:r>
              <a:t>            DatabaseMetaData meta = c.getMetaData();</a:t>
            </a:r>
          </a:p>
          <a:p xmlns:a="http://schemas.openxmlformats.org/drawingml/2006/main">
            <a:r>
              <a:t>            System.out.println("Motor: " + meta.getDatabaseProductName());</a:t>
            </a:r>
          </a:p>
          <a:p xmlns:a="http://schemas.openxmlformats.org/drawingml/2006/main">
            <a:r>
              <a:t>            try (PreparedStatement p = c.prepareStatement("SELECT 1 AS estado");</a:t>
            </a:r>
          </a:p>
          <a:p xmlns:a="http://schemas.openxmlformats.org/drawingml/2006/main">
            <a:r>
              <a:t>                 ResultSet r = p.executeQuery()) {</a:t>
            </a:r>
          </a:p>
          <a:p xmlns:a="http://schemas.openxmlformats.org/drawingml/2006/main">
            <a:r>
              <a:t>                if(r.next()) System.out.println("Conexión: " + r.getInt("estado"));</a:t>
            </a:r>
          </a:p>
          <a:p xmlns:a="http://schemas.openxmlformats.org/drawingml/2006/main">
            <a:r>
              <a:t>            }</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
            </a:r>
          </a:p>
          <a:p xmlns:a="http://schemas.openxmlformats.org/drawingml/2006/main">
            <a:r>
              <a:t>Salida:</a:t>
            </a:r>
          </a:p>
          <a:p xmlns:a="http://schemas.openxmlformats.org/drawingml/2006/main">
            <a:r>
              <a:t>Con la configuración de demostración: Motor: H2 y Conexión: 1. Con PAP_DB_URL configurada a PostgreSQL muestra Motor: PostgreSQL.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Salida esperada:</a:t>
            </a:r>
          </a:p>
          <a:p xmlns:a="http://schemas.openxmlformats.org/drawingml/2006/main">
            <a:r>
              <a:t>Con la configuración de demostración: Motor: H2 y Conexión: 1. Con PAP_DB_URL configurada a PostgreSQL muestra Motor: PostgreSQL.</a:t>
            </a:r>
          </a:p>
          <a:p xmlns:a="http://schemas.openxmlformats.org/drawingml/2006/main">
            <a:r>
              <a:t>Casos de aceptación: material.md, sección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Resuelve la ampliación en tu proyecto CampusMonitor.</a:t>
            </a:r>
          </a:p>
          <a:p xmlns:a="http://schemas.openxmlformats.org/drawingml/2006/main">
            <a:r>
              <a:t>Evidencia: evidencias/PC4.2a.md y enlace al commit final.</a:t>
            </a:r>
          </a:p>
          <a:p xmlns:a="http://schemas.openxmlformats.org/drawingml/2006/main">
            <a:r>
              <a:t>Migra CampusMonitor a Gradle Kotlin DSL conservando los paquetes y PCs anteriores. Incorpora el Wrapper y fija Java 25.</a:t>
            </a:r>
          </a:p>
          <a:p xmlns:a="http://schemas.openxmlformats.org/drawingml/2006/main">
            <a:r>
              <a:t>Implementa configuración YAML con sustitución explícita por variables de entorno y prueba una conexión PostgreSQL. No subas contraseñas.</a:t>
            </a:r>
          </a:p>
          <a:p xmlns:a="http://schemas.openxmlformats.org/drawingml/2006/main">
            <a:r>
              <a:t>Agrega un comando diagnostico-bd que consulte metadatos y ejecute SELECT 1. Diferencia error de configuración y SQLException.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Síntesis del material. Revisa la sección 3 para la PC y la guía general para commits y evidencias.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c66ea4e55074ba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8b6e4eac25e4ee9" /><Relationship Type="http://schemas.openxmlformats.org/officeDocument/2006/relationships/slideLayout" Target="/ppt/slideLayouts/slideLayout1.xml" Id="Ra4d74253e1844f8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4d74253e1844f8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fbcaa2d5e704087" /><Relationship Type="http://schemas.openxmlformats.org/officeDocument/2006/relationships/image" Target="/ppt/media/image.png" Id="Ra4528585c4f84254" /><Relationship Type="http://schemas.openxmlformats.org/officeDocument/2006/relationships/notesSlide" Target="/ppt/notesSlides/notesSlide1.xml" Id="R4c27ca72f094409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e0336fe7b9946ec" /><Relationship Type="http://schemas.openxmlformats.org/officeDocument/2006/relationships/notesSlide" Target="/ppt/notesSlides/notesSlide2.xml" Id="Ra3026577eea9425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53b89192665445d" /><Relationship Type="http://schemas.openxmlformats.org/officeDocument/2006/relationships/notesSlide" Target="/ppt/notesSlides/notesSlide3.xml" Id="Rb62acd33feae46b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d54fad371a84a09" /><Relationship Type="http://schemas.openxmlformats.org/officeDocument/2006/relationships/notesSlide" Target="/ppt/notesSlides/notesSlide4.xml" Id="R05d335e8e52e4a2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98f9d327d4945e0" /><Relationship Type="http://schemas.openxmlformats.org/officeDocument/2006/relationships/notesSlide" Target="/ppt/notesSlides/notesSlide5.xml" Id="Rb3aaad47066048a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df54fc933474044" /><Relationship Type="http://schemas.openxmlformats.org/officeDocument/2006/relationships/notesSlide" Target="/ppt/notesSlides/notesSlide6.xml" Id="R1e9cfc39be3b415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75a0db05d854dd4" /><Relationship Type="http://schemas.openxmlformats.org/officeDocument/2006/relationships/notesSlide" Target="/ppt/notesSlides/notesSlide7.xml" Id="Rc4eefd326415404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4b04c7f5acd431c" /><Relationship Type="http://schemas.openxmlformats.org/officeDocument/2006/relationships/notesSlide" Target="/ppt/notesSlides/notesSlide8.xml" Id="Rfadffe63cbac4b5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864cf17bdf64201" /><Relationship Type="http://schemas.openxmlformats.org/officeDocument/2006/relationships/notesSlide" Target="/ppt/notesSlides/notesSlide9.xml" Id="Rb09ba9be19f44e8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3a76de01d9a44eb" /><Relationship Type="http://schemas.openxmlformats.org/officeDocument/2006/relationships/notesSlide" Target="/ppt/notesSlides/notesSlide10.xml" Id="Rc6ee7f0209a34b5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4528585c4f84254"/>
          <a:stretch xmlns:a="http://schemas.openxmlformats.org/drawingml/2006/main"/>
        </p:blipFill>
        <p:spPr>
          <a:xfrm xmlns:a="http://schemas.openxmlformats.org/drawingml/2006/main">
            <a:off x="609600" y="545418"/>
            <a:ext cx="6858000" cy="112848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202EAD5-626A-4CC9-9851-9400BFC2589A}"/>
              </a:ext>
            </a:extLst>
          </p:cNvPr>
          <p:cNvSpPr>
            <a:spLocks xmlns:a="http://schemas.openxmlformats.org/drawingml/2006/main" noGrp="1"/>
          </p:cNvSpPr>
          <p:nvPr/>
        </p:nvSpPr>
        <p:spPr>
          <a:xfrm xmlns:a="http://schemas.openxmlformats.org/drawingml/2006/main">
            <a:off x="609600" y="223837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003772"/>
                </a:solidFill>
                <a:latin typeface="DejaVu Sans"/>
                <a:ea typeface="DejaVu Sans"/>
                <a:cs typeface="DejaVu Sans"/>
              </a:defRPr>
            </a:pPr>
            <a:r>
              <a:rPr sz="3150" b="1">
                <a:solidFill>
                  <a:srgbClr val="003772"/>
                </a:solidFill>
                <a:latin typeface="DejaVu Sans"/>
                <a:ea typeface="DejaVu Sans"/>
                <a:cs typeface="DejaVu Sans"/>
              </a:rPr>
              <a:t>Programación Aplicada</a:t>
            </a:r>
          </a:p>
        </p:txBody>
      </p:sp>
      <p:sp>
        <p:nvSpPr>
          <p:cNvPr id="3" name="">
            <a:extLst xmlns:a="http://schemas.openxmlformats.org/drawingml/2006/main">
              <a:ext uri="{FF2B5EF4-FFF2-40B4-BE49-F238E27FC236}">
                <a16:creationId xmlns:a16="http://schemas.microsoft.com/office/drawing/2014/main" id="{90D41D98-660B-4D58-960B-62FFC9815FF4}"/>
              </a:ext>
            </a:extLst>
          </p:cNvPr>
          <p:cNvSpPr>
            <a:spLocks xmlns:a="http://schemas.openxmlformats.org/drawingml/2006/main" noGrp="1"/>
          </p:cNvSpPr>
          <p:nvPr/>
        </p:nvSpPr>
        <p:spPr>
          <a:xfrm xmlns:a="http://schemas.openxmlformats.org/drawingml/2006/main">
            <a:off x="609600" y="31623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75" b="1">
                <a:solidFill>
                  <a:srgbClr val="003772"/>
                </a:solidFill>
                <a:latin typeface="DejaVu Sans"/>
                <a:ea typeface="DejaVu Sans"/>
                <a:cs typeface="DejaVu Sans"/>
              </a:defRPr>
            </a:pPr>
            <a:r>
              <a:rPr sz="2775" b="1">
                <a:solidFill>
                  <a:srgbClr val="003772"/>
                </a:solidFill>
                <a:latin typeface="DejaVu Sans"/>
                <a:ea typeface="DejaVu Sans"/>
                <a:cs typeface="DejaVu Sans"/>
              </a:rPr>
              <a:t>JDBC, Gradle y configuración YAML</a:t>
            </a:r>
          </a:p>
        </p:txBody>
      </p:sp>
      <p:sp>
        <p:nvSpPr>
          <p:cNvPr id="4" name="">
            <a:extLst xmlns:a="http://schemas.openxmlformats.org/drawingml/2006/main">
              <a:ext uri="{FF2B5EF4-FFF2-40B4-BE49-F238E27FC236}">
                <a16:creationId xmlns:a16="http://schemas.microsoft.com/office/drawing/2014/main" id="{983254EC-4E4E-4F97-90F4-752297DD56C1}"/>
              </a:ext>
            </a:extLst>
          </p:cNvPr>
          <p:cNvSpPr>
            <a:spLocks xmlns:a="http://schemas.openxmlformats.org/drawingml/2006/main" noGrp="1"/>
          </p:cNvSpPr>
          <p:nvPr/>
        </p:nvSpPr>
        <p:spPr>
          <a:xfrm xmlns:a="http://schemas.openxmlformats.org/drawingml/2006/main">
            <a:off x="609600" y="4705350"/>
            <a:ext cx="1381125" cy="47625"/>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FBBE774-BECA-48C9-AA96-81C67DAE8BD9}"/>
              </a:ext>
            </a:extLst>
          </p:cNvPr>
          <p:cNvSpPr>
            <a:spLocks xmlns:a="http://schemas.openxmlformats.org/drawingml/2006/main" noGrp="1"/>
          </p:cNvSpPr>
          <p:nvPr/>
        </p:nvSpPr>
        <p:spPr>
          <a:xfrm xmlns:a="http://schemas.openxmlformats.org/drawingml/2006/main">
            <a:off x="609600" y="50673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07508E"/>
                </a:solidFill>
                <a:latin typeface="DejaVu Sans"/>
                <a:ea typeface="DejaVu Sans"/>
                <a:cs typeface="DejaVu Sans"/>
              </a:defRPr>
            </a:pPr>
            <a:r>
              <a:rPr sz="1575" b="0">
                <a:solidFill>
                  <a:srgbClr val="07508E"/>
                </a:solidFill>
                <a:latin typeface="DejaVu Sans"/>
                <a:ea typeface="DejaVu Sans"/>
                <a:cs typeface="DejaVu Sans"/>
              </a:rPr>
              <a:t>Unidad 4 · 4.2a</a:t>
            </a:r>
          </a:p>
        </p:txBody>
      </p:sp>
      <p:sp>
        <p:nvSpPr>
          <p:cNvPr id="6" name="">
            <a:extLst xmlns:a="http://schemas.openxmlformats.org/drawingml/2006/main">
              <a:ext uri="{FF2B5EF4-FFF2-40B4-BE49-F238E27FC236}">
                <a16:creationId xmlns:a16="http://schemas.microsoft.com/office/drawing/2014/main" id="{AF4AD2DC-692E-4518-9D3F-A2FA72818BA7}"/>
              </a:ext>
            </a:extLst>
          </p:cNvPr>
          <p:cNvSpPr>
            <a:spLocks xmlns:a="http://schemas.openxmlformats.org/drawingml/2006/main" noGrp="1"/>
          </p:cNvSpPr>
          <p:nvPr/>
        </p:nvSpPr>
        <p:spPr>
          <a:xfrm xmlns:a="http://schemas.openxmlformats.org/drawingml/2006/main">
            <a:off x="609600" y="5676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C5B5F"/>
                </a:solidFill>
                <a:latin typeface="DejaVu Sans"/>
                <a:ea typeface="DejaVu Sans"/>
                <a:cs typeface="DejaVu Sans"/>
              </a:defRPr>
            </a:pPr>
            <a:r>
              <a:rPr sz="1425" b="0">
                <a:solidFill>
                  <a:srgbClr val="5C5B5F"/>
                </a:solidFill>
                <a:latin typeface="DejaVu Sans"/>
                <a:ea typeface="DejaVu Sans"/>
                <a:cs typeface="DejaVu Sans"/>
              </a:rPr>
              <a:t>Ing. Pablo Torres, Mgtr.</a:t>
            </a:r>
          </a:p>
        </p:txBody>
      </p:sp>
    </p:spTree>
    <p:extLst>
      <p:ext uri="{BB962C8B-B14F-4D97-AF65-F5344CB8AC3E}">
        <p14:creationId xmlns:p14="http://schemas.microsoft.com/office/powerpoint/2010/main" val="202192540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FF9611A-E431-42B3-B9B4-6A41FA3C01E5}"/>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F0780A9-5186-4657-A385-C98200299972}"/>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El problema de CampusMonitor</a:t>
            </a:r>
          </a:p>
        </p:txBody>
      </p:sp>
      <p:sp>
        <p:nvSpPr>
          <p:cNvPr id="3" name="">
            <a:extLst xmlns:a="http://schemas.openxmlformats.org/drawingml/2006/main">
              <a:ext uri="{FF2B5EF4-FFF2-40B4-BE49-F238E27FC236}">
                <a16:creationId xmlns:a16="http://schemas.microsoft.com/office/drawing/2014/main" id="{B5EC1D16-8556-4C2A-AABA-796746A3AA60}"/>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BEADAF1-6886-48A1-9936-7C3CBEF3E4AC}"/>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4.2a</a:t>
            </a:r>
          </a:p>
        </p:txBody>
      </p:sp>
      <p:sp>
        <p:nvSpPr>
          <p:cNvPr id="5" name="">
            <a:extLst xmlns:a="http://schemas.openxmlformats.org/drawingml/2006/main">
              <a:ext uri="{FF2B5EF4-FFF2-40B4-BE49-F238E27FC236}">
                <a16:creationId xmlns:a16="http://schemas.microsoft.com/office/drawing/2014/main" id="{39E53E4C-1933-4B96-8967-EB4E9E9D311A}"/>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2</a:t>
            </a:r>
          </a:p>
        </p:txBody>
      </p:sp>
      <p:sp>
        <p:nvSpPr>
          <p:cNvPr id="6" name="">
            <a:extLst xmlns:a="http://schemas.openxmlformats.org/drawingml/2006/main">
              <a:ext uri="{FF2B5EF4-FFF2-40B4-BE49-F238E27FC236}">
                <a16:creationId xmlns:a16="http://schemas.microsoft.com/office/drawing/2014/main" id="{CB955694-0CE3-4965-99DA-C7BB10D466F0}"/>
              </a:ext>
            </a:extLst>
          </p:cNvPr>
          <p:cNvSpPr>
            <a:spLocks xmlns:a="http://schemas.openxmlformats.org/drawingml/2006/main" noGrp="1"/>
          </p:cNvSpPr>
          <p:nvPr/>
        </p:nvSpPr>
        <p:spPr>
          <a:xfrm xmlns:a="http://schemas.openxmlformats.org/drawingml/2006/main">
            <a:off x="762000" y="1771650"/>
            <a:ext cx="104775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CampusMonitor debe sustituir datos en memoria por consultas a PostgreSQL. En este punto aparecen un controlador JDBC y una biblioteca de configuración, por lo que Gradle pasa a gestionar versiones y ejecución.</a:t>
            </a:r>
          </a:p>
        </p:txBody>
      </p:sp>
    </p:spTree>
    <p:extLst>
      <p:ext uri="{BB962C8B-B14F-4D97-AF65-F5344CB8AC3E}">
        <p14:creationId xmlns:p14="http://schemas.microsoft.com/office/powerpoint/2010/main" val="120258608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D3D4B83-D262-4739-860F-6F1C1B323298}"/>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12153BF-3746-4608-90AA-D0B1F5EEAEB4}"/>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API JDBC y controlador</a:t>
            </a:r>
          </a:p>
        </p:txBody>
      </p:sp>
      <p:sp>
        <p:nvSpPr>
          <p:cNvPr id="3" name="">
            <a:extLst xmlns:a="http://schemas.openxmlformats.org/drawingml/2006/main">
              <a:ext uri="{FF2B5EF4-FFF2-40B4-BE49-F238E27FC236}">
                <a16:creationId xmlns:a16="http://schemas.microsoft.com/office/drawing/2014/main" id="{6FDB40CD-56C6-476B-99B0-B57132DBC8C8}"/>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40C26F2-9ADB-40B0-998C-073B55CA8CCB}"/>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4.2a</a:t>
            </a:r>
          </a:p>
        </p:txBody>
      </p:sp>
      <p:sp>
        <p:nvSpPr>
          <p:cNvPr id="5" name="">
            <a:extLst xmlns:a="http://schemas.openxmlformats.org/drawingml/2006/main">
              <a:ext uri="{FF2B5EF4-FFF2-40B4-BE49-F238E27FC236}">
                <a16:creationId xmlns:a16="http://schemas.microsoft.com/office/drawing/2014/main" id="{1637376A-4C88-4811-B7E5-6EE7FF6B2327}"/>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3</a:t>
            </a:r>
          </a:p>
        </p:txBody>
      </p:sp>
      <p:sp>
        <p:nvSpPr>
          <p:cNvPr id="6" name="">
            <a:extLst xmlns:a="http://schemas.openxmlformats.org/drawingml/2006/main">
              <a:ext uri="{FF2B5EF4-FFF2-40B4-BE49-F238E27FC236}">
                <a16:creationId xmlns:a16="http://schemas.microsoft.com/office/drawing/2014/main" id="{BF053D97-8523-43AF-9FC7-DF47E52A9347}"/>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JDBC es la API; el driver se comunica con el motor.</a:t>
            </a:r>
          </a:p>
        </p:txBody>
      </p:sp>
      <p:sp>
        <p:nvSpPr>
          <p:cNvPr id="7" name="">
            <a:extLst xmlns:a="http://schemas.openxmlformats.org/drawingml/2006/main">
              <a:ext uri="{FF2B5EF4-FFF2-40B4-BE49-F238E27FC236}">
                <a16:creationId xmlns:a16="http://schemas.microsoft.com/office/drawing/2014/main" id="{C7D08ADD-5484-46BF-A7DD-3B9E01114276}"/>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JDBC define interfaces estándar como Connection, PreparedStatement y ResultSet. El controlador implementa la comunicación con un motor concreto. El driver PostgreSQL se declara como dependencia de ejecución en Gradle. Los controladores JDBC modernos se registran mediante el mecanismo de servicios, por lo que normalmente no hace falta Class.forName.</a:t>
            </a:r>
          </a:p>
        </p:txBody>
      </p:sp>
      <p:sp>
        <p:nvSpPr>
          <p:cNvPr id="8" name="">
            <a:extLst xmlns:a="http://schemas.openxmlformats.org/drawingml/2006/main">
              <a:ext uri="{FF2B5EF4-FFF2-40B4-BE49-F238E27FC236}">
                <a16:creationId xmlns:a16="http://schemas.microsoft.com/office/drawing/2014/main" id="{0F12451F-730C-4B65-B6DB-70CFB1EDA79D}"/>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1D7C0C7-1FF5-4936-AE12-56C3F139A8FB}"/>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Una URL JDBC identifica el controlador y el destino. jdbc:postgresql://localhost:5432/campus describe motor, host, puerto y base. No es una URL web. Usuario, contraseña, conectividad, permisos y configuración TLS deben corresponder al servidor.</a:t>
            </a:r>
          </a:p>
        </p:txBody>
      </p:sp>
    </p:spTree>
    <p:extLst>
      <p:ext uri="{BB962C8B-B14F-4D97-AF65-F5344CB8AC3E}">
        <p14:creationId xmlns:p14="http://schemas.microsoft.com/office/powerpoint/2010/main" val="155068128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51099E3-59D4-4C93-9785-57ADFB6B662B}"/>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165BB68-A240-4CB6-AE97-2993766B2C24}"/>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Conexiones y cierre de recursos</a:t>
            </a:r>
          </a:p>
        </p:txBody>
      </p:sp>
      <p:sp>
        <p:nvSpPr>
          <p:cNvPr id="3" name="">
            <a:extLst xmlns:a="http://schemas.openxmlformats.org/drawingml/2006/main">
              <a:ext uri="{FF2B5EF4-FFF2-40B4-BE49-F238E27FC236}">
                <a16:creationId xmlns:a16="http://schemas.microsoft.com/office/drawing/2014/main" id="{16A54970-9BAE-42AD-B102-897C161B3D92}"/>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9850DE5-766E-4D23-A371-2CE945533F01}"/>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4.2a</a:t>
            </a:r>
          </a:p>
        </p:txBody>
      </p:sp>
      <p:sp>
        <p:nvSpPr>
          <p:cNvPr id="5" name="">
            <a:extLst xmlns:a="http://schemas.openxmlformats.org/drawingml/2006/main">
              <a:ext uri="{FF2B5EF4-FFF2-40B4-BE49-F238E27FC236}">
                <a16:creationId xmlns:a16="http://schemas.microsoft.com/office/drawing/2014/main" id="{34DE5D83-7587-4186-A0AA-83693F1E5CE3}"/>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4</a:t>
            </a:r>
          </a:p>
        </p:txBody>
      </p:sp>
      <p:sp>
        <p:nvSpPr>
          <p:cNvPr id="6" name="">
            <a:extLst xmlns:a="http://schemas.openxmlformats.org/drawingml/2006/main">
              <a:ext uri="{FF2B5EF4-FFF2-40B4-BE49-F238E27FC236}">
                <a16:creationId xmlns:a16="http://schemas.microsoft.com/office/drawing/2014/main" id="{32B0D5D4-3E30-4627-A3E0-3B6446685AE7}"/>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try-with-resources cierra los recursos incluso ante errores.</a:t>
            </a:r>
          </a:p>
        </p:txBody>
      </p:sp>
      <p:sp>
        <p:nvSpPr>
          <p:cNvPr id="7" name="">
            <a:extLst xmlns:a="http://schemas.openxmlformats.org/drawingml/2006/main">
              <a:ext uri="{FF2B5EF4-FFF2-40B4-BE49-F238E27FC236}">
                <a16:creationId xmlns:a16="http://schemas.microsoft.com/office/drawing/2014/main" id="{21195592-2FB2-4BD6-BEE1-91DDB79C16EB}"/>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Connection representa una sesión con el motor. Abrir y cerrar una conexión por cada registro puede ser costoso. Para esta introducción se utiliza una conexión por operación o lote, siempre con try-with-resources. Más adelante puede emplearse un pool, manteniendo el mismo principio de devolver la conexión al terminar.</a:t>
            </a:r>
          </a:p>
        </p:txBody>
      </p:sp>
      <p:sp>
        <p:nvSpPr>
          <p:cNvPr id="8" name="">
            <a:extLst xmlns:a="http://schemas.openxmlformats.org/drawingml/2006/main">
              <a:ext uri="{FF2B5EF4-FFF2-40B4-BE49-F238E27FC236}">
                <a16:creationId xmlns:a16="http://schemas.microsoft.com/office/drawing/2014/main" id="{867FDB0D-1748-4745-A1A0-644E6E0CB941}"/>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B7C438C-5A40-48E0-8D0D-A14305B90899}"/>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No compartas indiscriminadamente una Connection entre hilos. Su estado transaccional y sus operaciones pueden interferir. Connection, Statement y ResultSet tienen ciclos de vida relacionados.</a:t>
            </a:r>
          </a:p>
        </p:txBody>
      </p:sp>
    </p:spTree>
    <p:extLst>
      <p:ext uri="{BB962C8B-B14F-4D97-AF65-F5344CB8AC3E}">
        <p14:creationId xmlns:p14="http://schemas.microsoft.com/office/powerpoint/2010/main" val="97523283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C51F703-1913-4404-98FB-BF624643C5C5}"/>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E51E3C7-F742-4285-B76A-A088ECBA1972}"/>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Gradle Kotlin DSL y versiones fijas</a:t>
            </a:r>
          </a:p>
        </p:txBody>
      </p:sp>
      <p:sp>
        <p:nvSpPr>
          <p:cNvPr id="3" name="">
            <a:extLst xmlns:a="http://schemas.openxmlformats.org/drawingml/2006/main">
              <a:ext uri="{FF2B5EF4-FFF2-40B4-BE49-F238E27FC236}">
                <a16:creationId xmlns:a16="http://schemas.microsoft.com/office/drawing/2014/main" id="{86E9A583-BFFD-4489-9DA0-9A9437217C30}"/>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6804870-BC80-4AE9-A4A4-2D08F98B7D7D}"/>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4.2a</a:t>
            </a:r>
          </a:p>
        </p:txBody>
      </p:sp>
      <p:sp>
        <p:nvSpPr>
          <p:cNvPr id="5" name="">
            <a:extLst xmlns:a="http://schemas.openxmlformats.org/drawingml/2006/main">
              <a:ext uri="{FF2B5EF4-FFF2-40B4-BE49-F238E27FC236}">
                <a16:creationId xmlns:a16="http://schemas.microsoft.com/office/drawing/2014/main" id="{48CC7CEA-8BE2-4F8E-89F6-9C6BF422DAEF}"/>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5</a:t>
            </a:r>
          </a:p>
        </p:txBody>
      </p:sp>
      <p:sp>
        <p:nvSpPr>
          <p:cNvPr id="6" name="">
            <a:extLst xmlns:a="http://schemas.openxmlformats.org/drawingml/2006/main">
              <a:ext uri="{FF2B5EF4-FFF2-40B4-BE49-F238E27FC236}">
                <a16:creationId xmlns:a16="http://schemas.microsoft.com/office/drawing/2014/main" id="{722E2515-E313-432F-8CEA-F72E80E77E33}"/>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Gradle administra el classpath y fija las dependencias.</a:t>
            </a:r>
          </a:p>
        </p:txBody>
      </p:sp>
      <p:sp>
        <p:nvSpPr>
          <p:cNvPr id="7" name="">
            <a:extLst xmlns:a="http://schemas.openxmlformats.org/drawingml/2006/main">
              <a:ext uri="{FF2B5EF4-FFF2-40B4-BE49-F238E27FC236}">
                <a16:creationId xmlns:a16="http://schemas.microsoft.com/office/drawing/2014/main" id="{A24A56CF-9F4C-4233-A00C-7211A379A5AF}"/>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build.gradle.kts declara plugins, repositorios, toolchain y dependencias. La toolchain fija Java 25 para compilar y ejecutar los ejemplos. El Gradle Wrapper permite usar la misma versión de Gradle en todos los equipos, sin depender de una instalación global después de generarlo.</a:t>
            </a:r>
          </a:p>
        </p:txBody>
      </p:sp>
      <p:sp>
        <p:nvSpPr>
          <p:cNvPr id="8" name="">
            <a:extLst xmlns:a="http://schemas.openxmlformats.org/drawingml/2006/main">
              <a:ext uri="{FF2B5EF4-FFF2-40B4-BE49-F238E27FC236}">
                <a16:creationId xmlns:a16="http://schemas.microsoft.com/office/drawing/2014/main" id="{E1204FD1-D100-4263-B10B-C5248A21763A}"/>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558C745-F49A-43FD-A026-7600E6C203B1}"/>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Las unidades iniciales pueden ejecutarse con java ruta/ClaseDemo.java porque solo utilizan el JDK. Desde esta unidad, el driver y YAML requieren un classpath gestionado.</a:t>
            </a:r>
          </a:p>
        </p:txBody>
      </p:sp>
    </p:spTree>
    <p:extLst>
      <p:ext uri="{BB962C8B-B14F-4D97-AF65-F5344CB8AC3E}">
        <p14:creationId xmlns:p14="http://schemas.microsoft.com/office/powerpoint/2010/main" val="167626932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7B2272D-7EC9-431B-9E46-5F0A69052BD4}"/>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F487F77-727A-4A7F-B029-1063B33BDAD1}"/>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application.yaml y variables de entorno</a:t>
            </a:r>
          </a:p>
        </p:txBody>
      </p:sp>
      <p:sp>
        <p:nvSpPr>
          <p:cNvPr id="3" name="">
            <a:extLst xmlns:a="http://schemas.openxmlformats.org/drawingml/2006/main">
              <a:ext uri="{FF2B5EF4-FFF2-40B4-BE49-F238E27FC236}">
                <a16:creationId xmlns:a16="http://schemas.microsoft.com/office/drawing/2014/main" id="{DFF495ED-3CC9-46EE-9BF4-1E53A8238628}"/>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05D704C-BB9D-4B9E-8139-252EA149524C}"/>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4.2a</a:t>
            </a:r>
          </a:p>
        </p:txBody>
      </p:sp>
      <p:sp>
        <p:nvSpPr>
          <p:cNvPr id="5" name="">
            <a:extLst xmlns:a="http://schemas.openxmlformats.org/drawingml/2006/main">
              <a:ext uri="{FF2B5EF4-FFF2-40B4-BE49-F238E27FC236}">
                <a16:creationId xmlns:a16="http://schemas.microsoft.com/office/drawing/2014/main" id="{7C4B9D8A-BD0D-439D-8C6D-76E66DF99C4C}"/>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6</a:t>
            </a:r>
          </a:p>
        </p:txBody>
      </p:sp>
      <p:sp>
        <p:nvSpPr>
          <p:cNvPr id="6" name="">
            <a:extLst xmlns:a="http://schemas.openxmlformats.org/drawingml/2006/main">
              <a:ext uri="{FF2B5EF4-FFF2-40B4-BE49-F238E27FC236}">
                <a16:creationId xmlns:a16="http://schemas.microsoft.com/office/drawing/2014/main" id="{18107C82-E3F8-4B88-8AFD-659EBB34B8DE}"/>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Java SE necesita código explícito para cargar YAML.</a:t>
            </a:r>
          </a:p>
        </p:txBody>
      </p:sp>
      <p:sp>
        <p:nvSpPr>
          <p:cNvPr id="7" name="">
            <a:extLst xmlns:a="http://schemas.openxmlformats.org/drawingml/2006/main">
              <a:ext uri="{FF2B5EF4-FFF2-40B4-BE49-F238E27FC236}">
                <a16:creationId xmlns:a16="http://schemas.microsoft.com/office/drawing/2014/main" id="{809AD308-C004-487F-B59F-85FFF1571A24}"/>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Java SE no carga application.yaml automáticamente. La clase Config del proyecto lee ese recurso utilizando SnakeYAML Engine y extrae valores escalares. El programa combina configuración base con variables PAP_DB_URL, PAP_DB_USER y PAP_DB_PASSWORD. No se incluye la contraseña en el repositorio.</a:t>
            </a:r>
          </a:p>
        </p:txBody>
      </p:sp>
      <p:sp>
        <p:nvSpPr>
          <p:cNvPr id="8" name="">
            <a:extLst xmlns:a="http://schemas.openxmlformats.org/drawingml/2006/main">
              <a:ext uri="{FF2B5EF4-FFF2-40B4-BE49-F238E27FC236}">
                <a16:creationId xmlns:a16="http://schemas.microsoft.com/office/drawing/2014/main" id="{103E50F5-016A-4886-8D91-0389B78C1E3F}"/>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A415A7D-A88E-4099-95CD-712F8CFBA634}"/>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El ejemplo verifica tipos y propiedades obligatorias y muestra el motor conectado sin imprimir secretos. Los límites del parser restringen alias y tamaño. No interpreta etiquetas para construir clases arbitrarias.</a:t>
            </a:r>
          </a:p>
        </p:txBody>
      </p:sp>
    </p:spTree>
    <p:extLst>
      <p:ext uri="{BB962C8B-B14F-4D97-AF65-F5344CB8AC3E}">
        <p14:creationId xmlns:p14="http://schemas.microsoft.com/office/powerpoint/2010/main" val="198160265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6A9C7FE-CBAA-4C06-AE03-37613BD6D757}"/>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99DCED8-D00B-4258-BBA4-508E2FEF8083}"/>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Demostración resuelta</a:t>
            </a:r>
          </a:p>
        </p:txBody>
      </p:sp>
      <p:sp>
        <p:nvSpPr>
          <p:cNvPr id="3" name="">
            <a:extLst xmlns:a="http://schemas.openxmlformats.org/drawingml/2006/main">
              <a:ext uri="{FF2B5EF4-FFF2-40B4-BE49-F238E27FC236}">
                <a16:creationId xmlns:a16="http://schemas.microsoft.com/office/drawing/2014/main" id="{ED555DFE-056F-4F65-B742-E6F278855A5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247E794-A8E8-46F4-BC62-ED2458E4F5CC}"/>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4.2a</a:t>
            </a:r>
          </a:p>
        </p:txBody>
      </p:sp>
      <p:sp>
        <p:nvSpPr>
          <p:cNvPr id="5" name="">
            <a:extLst xmlns:a="http://schemas.openxmlformats.org/drawingml/2006/main">
              <a:ext uri="{FF2B5EF4-FFF2-40B4-BE49-F238E27FC236}">
                <a16:creationId xmlns:a16="http://schemas.microsoft.com/office/drawing/2014/main" id="{843FE1D1-37F3-4FBA-8BB9-C1B14EAB51C8}"/>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7</a:t>
            </a:r>
          </a:p>
        </p:txBody>
      </p:sp>
      <p:sp>
        <p:nvSpPr>
          <p:cNvPr id="6" name="">
            <a:extLst xmlns:a="http://schemas.openxmlformats.org/drawingml/2006/main">
              <a:ext uri="{FF2B5EF4-FFF2-40B4-BE49-F238E27FC236}">
                <a16:creationId xmlns:a16="http://schemas.microsoft.com/office/drawing/2014/main" id="{ADB56E96-C927-4EC7-A355-FE439C9978EE}"/>
              </a:ext>
            </a:extLst>
          </p:cNvPr>
          <p:cNvSpPr>
            <a:spLocks xmlns:a="http://schemas.openxmlformats.org/drawingml/2006/main" noGrp="1"/>
          </p:cNvSpPr>
          <p:nvPr/>
        </p:nvSpPr>
        <p:spPr>
          <a:xfrm xmlns:a="http://schemas.openxmlformats.org/drawingml/2006/main">
            <a:off x="628650" y="1590675"/>
            <a:ext cx="10953750" cy="371475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0E6B287-1F7B-473E-9BA5-C458B16D1082}"/>
              </a:ext>
            </a:extLst>
          </p:cNvPr>
          <p:cNvSpPr>
            <a:spLocks xmlns:a="http://schemas.openxmlformats.org/drawingml/2006/main" noGrp="1"/>
          </p:cNvSpPr>
          <p:nvPr/>
        </p:nvSpPr>
        <p:spPr>
          <a:xfrm xmlns:a="http://schemas.openxmlformats.org/drawingml/2006/main">
            <a:off x="857250" y="1743075"/>
            <a:ext cx="1047750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public static void main(String[] args) throws SQLException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try (Connection c = Config.abrir())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DatabaseMetaData meta = c.getMetaData();</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System.out.println("Motor: " + meta.getDatabaseProductName());</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try (PreparedStatement p = c.prepareStatement("SELECT 1 AS estado");</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ResultSet r = p.executeQuery())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if(r.next()) System.out.println("Conexión: " + r.getInt("estado"));</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a:t>
            </a:r>
          </a:p>
        </p:txBody>
      </p:sp>
      <p:sp>
        <p:nvSpPr>
          <p:cNvPr id="8" name="">
            <a:extLst xmlns:a="http://schemas.openxmlformats.org/drawingml/2006/main">
              <a:ext uri="{FF2B5EF4-FFF2-40B4-BE49-F238E27FC236}">
                <a16:creationId xmlns:a16="http://schemas.microsoft.com/office/drawing/2014/main" id="{A7F9FD1B-8493-4FED-8BDF-2A4FA5076BC3}"/>
              </a:ext>
            </a:extLst>
          </p:cNvPr>
          <p:cNvSpPr>
            <a:spLocks xmlns:a="http://schemas.openxmlformats.org/drawingml/2006/main" noGrp="1"/>
          </p:cNvSpPr>
          <p:nvPr/>
        </p:nvSpPr>
        <p:spPr>
          <a:xfrm xmlns:a="http://schemas.openxmlformats.org/drawingml/2006/main">
            <a:off x="685800" y="55816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C5B5F"/>
                </a:solidFill>
                <a:latin typeface="DejaVu Sans"/>
                <a:ea typeface="DejaVu Sans"/>
                <a:cs typeface="DejaVu Sans"/>
              </a:defRPr>
            </a:pPr>
            <a:r>
              <a:rPr sz="1425" b="0">
                <a:solidFill>
                  <a:srgbClr val="5C5B5F"/>
                </a:solidFill>
                <a:latin typeface="DejaVu Sans"/>
                <a:ea typeface="DejaVu Sans"/>
                <a:cs typeface="DejaVu Sans"/>
              </a:rPr>
              <a:t>Fragmento de JdbcDemo.java. Código completo y ejecución en material.md.</a:t>
            </a:r>
          </a:p>
        </p:txBody>
      </p:sp>
    </p:spTree>
    <p:extLst>
      <p:ext uri="{BB962C8B-B14F-4D97-AF65-F5344CB8AC3E}">
        <p14:creationId xmlns:p14="http://schemas.microsoft.com/office/powerpoint/2010/main" val="59725041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5F1BF0E-6E98-4CA7-8E6B-EC6B5477D954}"/>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38E2699-AB6C-4FC3-9B80-14BBCA874FA8}"/>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Casos de aceptación de la PC</a:t>
            </a:r>
          </a:p>
        </p:txBody>
      </p:sp>
      <p:sp>
        <p:nvSpPr>
          <p:cNvPr id="3" name="">
            <a:extLst xmlns:a="http://schemas.openxmlformats.org/drawingml/2006/main">
              <a:ext uri="{FF2B5EF4-FFF2-40B4-BE49-F238E27FC236}">
                <a16:creationId xmlns:a16="http://schemas.microsoft.com/office/drawing/2014/main" id="{6344E746-D5AC-4783-9EE5-62896732996D}"/>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83B6F2A-91B1-4495-B15F-7A1F5202058C}"/>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4.2a</a:t>
            </a:r>
          </a:p>
        </p:txBody>
      </p:sp>
      <p:sp>
        <p:nvSpPr>
          <p:cNvPr id="5" name="">
            <a:extLst xmlns:a="http://schemas.openxmlformats.org/drawingml/2006/main">
              <a:ext uri="{FF2B5EF4-FFF2-40B4-BE49-F238E27FC236}">
                <a16:creationId xmlns:a16="http://schemas.microsoft.com/office/drawing/2014/main" id="{369AD2E6-4037-49FF-A8DB-DF7E83C14FEE}"/>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8</a:t>
            </a:r>
          </a:p>
        </p:txBody>
      </p:sp>
      <p:graphicFrame>
        <p:nvGraphicFramePr>
          <p:cNvPr id="13" name=""/>
          <p:cNvGraphicFramePr/>
          <p:nvPr/>
        </p:nvGraphicFramePr>
        <p:xfrm>
          <a:off xmlns:a="http://schemas.openxmlformats.org/drawingml/2006/main" x="609600" y="1638300"/>
          <a:ext xmlns:a="http://schemas.openxmlformats.org/drawingml/2006/main" cx="10972800" cy="3143250"/>
        </p:xfrm>
        <a:graphic xmlns:a="http://schemas.openxmlformats.org/drawingml/2006/main">
          <a:graphicData uri="http://schemas.openxmlformats.org/drawingml/2006/table">
            <a:tbl>
              <a:tblPr/>
              <a:tblGrid>
                <a:gridCol w="4191000"/>
                <a:gridCol w="6629400"/>
              </a:tblGrid>
              <a:tr h="785813">
                <a:tc>
                  <a:txBody>
                    <a:bodyPr/>
                    <a:lstStyle/>
                    <a:p>
                      <a:r>
                        <a:rPr sz="1725" b="1">
                          <a:solidFill>
                            <a:srgbClr val="FFFFFF"/>
                          </a:solidFill>
                          <a:latin typeface="DejaVu Sans"/>
                          <a:ea typeface="DejaVu Sans"/>
                          <a:cs typeface="DejaVu Sans"/>
                        </a:rPr>
                        <a:t>Caso</a:t>
                      </a:r>
                    </a:p>
                  </a:txBody>
                  <a:tcPr marL="152400" marR="152400" marT="133350" marB="114300" anchor="ctr">
                    <a:solidFill>
                      <a:srgbClr val="003772"/>
                    </a:solidFill>
                  </a:tcPr>
                </a:tc>
                <a:tc>
                  <a:txBody>
                    <a:bodyPr/>
                    <a:lstStyle/>
                    <a:p>
                      <a:r>
                        <a:rPr sz="1725" b="1">
                          <a:solidFill>
                            <a:srgbClr val="FFFFFF"/>
                          </a:solidFill>
                          <a:latin typeface="DejaVu Sans"/>
                          <a:ea typeface="DejaVu Sans"/>
                          <a:cs typeface="DejaVu Sans"/>
                        </a:rPr>
                        <a:t>Comportamiento requerido</a:t>
                      </a:r>
                    </a:p>
                  </a:txBody>
                  <a:tcPr marL="152400" marR="152400" marT="133350" marB="114300" anchor="ctr">
                    <a:solidFill>
                      <a:srgbClr val="003772"/>
                    </a:solidFill>
                  </a:tcPr>
                </a:tc>
              </a:tr>
              <a:tr h="785813">
                <a:tc>
                  <a:txBody>
                    <a:bodyPr/>
                    <a:lstStyle/>
                    <a:p>
                      <a:r>
                        <a:rPr sz="1725" b="0">
                          <a:solidFill>
                            <a:srgbClr val="403F3B"/>
                          </a:solidFill>
                          <a:latin typeface="DejaVu Sans"/>
                          <a:ea typeface="DejaVu Sans"/>
                          <a:cs typeface="DejaVu Sans"/>
                        </a:rPr>
                        <a:t>Configuración PostgreSQL válida</a:t>
                      </a:r>
                    </a:p>
                  </a:txBody>
                  <a:tcPr marL="152400" marR="152400" marT="133350" marB="114300" anchor="ctr">
                    <a:solidFill>
                      <a:srgbClr val="F3F3FA"/>
                    </a:solidFill>
                  </a:tcPr>
                </a:tc>
                <a:tc>
                  <a:txBody>
                    <a:bodyPr/>
                    <a:lstStyle/>
                    <a:p>
                      <a:r>
                        <a:rPr sz="1725" b="0">
                          <a:solidFill>
                            <a:srgbClr val="403F3B"/>
                          </a:solidFill>
                          <a:latin typeface="DejaVu Sans"/>
                          <a:ea typeface="DejaVu Sans"/>
                          <a:cs typeface="DejaVu Sans"/>
                        </a:rPr>
                        <a:t>SELECT 1 responde</a:t>
                      </a:r>
                    </a:p>
                  </a:txBody>
                  <a:tcPr marL="152400" marR="152400" marT="133350" marB="114300" anchor="ctr">
                    <a:solidFill>
                      <a:srgbClr val="F3F3FA"/>
                    </a:solidFill>
                  </a:tcPr>
                </a:tc>
              </a:tr>
              <a:tr h="785813">
                <a:tc>
                  <a:txBody>
                    <a:bodyPr/>
                    <a:lstStyle/>
                    <a:p>
                      <a:r>
                        <a:rPr sz="1725" b="0">
                          <a:solidFill>
                            <a:srgbClr val="403F3B"/>
                          </a:solidFill>
                          <a:latin typeface="DejaVu Sans"/>
                          <a:ea typeface="DejaVu Sans"/>
                          <a:cs typeface="DejaVu Sans"/>
                        </a:rPr>
                        <a:t>Contraseña incorrecta</a:t>
                      </a:r>
                    </a:p>
                  </a:txBody>
                  <a:tcPr marL="152400" marR="152400" marT="133350" marB="114300" anchor="ctr">
                    <a:solidFill>
                      <a:srgbClr val="FFFFFF"/>
                    </a:solidFill>
                  </a:tcPr>
                </a:tc>
                <a:tc>
                  <a:txBody>
                    <a:bodyPr/>
                    <a:lstStyle/>
                    <a:p>
                      <a:r>
                        <a:rPr sz="1725" b="0">
                          <a:solidFill>
                            <a:srgbClr val="403F3B"/>
                          </a:solidFill>
                          <a:latin typeface="DejaVu Sans"/>
                          <a:ea typeface="DejaVu Sans"/>
                          <a:cs typeface="DejaVu Sans"/>
                        </a:rPr>
                        <a:t>Error de autenticación sin revelar secreto</a:t>
                      </a:r>
                    </a:p>
                  </a:txBody>
                  <a:tcPr marL="152400" marR="152400" marT="133350" marB="114300" anchor="ctr">
                    <a:solidFill>
                      <a:srgbClr val="FFFFFF"/>
                    </a:solidFill>
                  </a:tcPr>
                </a:tc>
              </a:tr>
              <a:tr h="785813">
                <a:tc>
                  <a:txBody>
                    <a:bodyPr/>
                    <a:lstStyle/>
                    <a:p>
                      <a:r>
                        <a:rPr sz="1725" b="0">
                          <a:solidFill>
                            <a:srgbClr val="403F3B"/>
                          </a:solidFill>
                          <a:latin typeface="DejaVu Sans"/>
                          <a:ea typeface="DejaVu Sans"/>
                          <a:cs typeface="DejaVu Sans"/>
                        </a:rPr>
                        <a:t>application.yaml ausente</a:t>
                      </a:r>
                    </a:p>
                  </a:txBody>
                  <a:tcPr marL="152400" marR="152400" marT="133350" marB="114300" anchor="ctr">
                    <a:solidFill>
                      <a:srgbClr val="F3F3FA"/>
                    </a:solidFill>
                  </a:tcPr>
                </a:tc>
                <a:tc>
                  <a:txBody>
                    <a:bodyPr/>
                    <a:lstStyle/>
                    <a:p>
                      <a:r>
                        <a:rPr sz="1725" b="0">
                          <a:solidFill>
                            <a:srgbClr val="403F3B"/>
                          </a:solidFill>
                          <a:latin typeface="DejaVu Sans"/>
                          <a:ea typeface="DejaVu Sans"/>
                          <a:cs typeface="DejaVu Sans"/>
                        </a:rPr>
                        <a:t>Error claro de configuración</a:t>
                      </a:r>
                    </a:p>
                  </a:txBody>
                  <a:tcPr marL="152400" marR="152400" marT="133350" marB="114300" anchor="ctr">
                    <a:solidFill>
                      <a:srgbClr val="F3F3FA"/>
                    </a:solidFill>
                  </a:tcPr>
                </a:tc>
              </a:tr>
            </a:tbl>
          </a:graphicData>
        </a:graphic>
      </p:graphicFrame>
      <p:sp>
        <p:nvSpPr>
          <p:cNvPr id="7" name="">
            <a:extLst xmlns:a="http://schemas.openxmlformats.org/drawingml/2006/main">
              <a:ext uri="{FF2B5EF4-FFF2-40B4-BE49-F238E27FC236}">
                <a16:creationId xmlns:a16="http://schemas.microsoft.com/office/drawing/2014/main" id="{17DA078E-EFCD-4B03-B38B-AF0A9D4F2D93}"/>
              </a:ext>
            </a:extLst>
          </p:cNvPr>
          <p:cNvSpPr>
            <a:spLocks xmlns:a="http://schemas.openxmlformats.org/drawingml/2006/main" noGrp="1"/>
          </p:cNvSpPr>
          <p:nvPr/>
        </p:nvSpPr>
        <p:spPr>
          <a:xfrm xmlns:a="http://schemas.openxmlformats.org/drawingml/2006/main">
            <a:off x="742950" y="52387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07508E"/>
                </a:solidFill>
                <a:latin typeface="DejaVu Sans"/>
                <a:ea typeface="DejaVu Sans"/>
                <a:cs typeface="DejaVu Sans"/>
              </a:defRPr>
            </a:pPr>
            <a:r>
              <a:rPr sz="1575" b="0">
                <a:solidFill>
                  <a:srgbClr val="07508E"/>
                </a:solidFill>
                <a:latin typeface="DejaVu Sans"/>
                <a:ea typeface="DejaVu Sans"/>
                <a:cs typeface="DejaVu Sans"/>
              </a:rPr>
              <a:t>Salida de la demostración: Con la configuración de demostración: Motor: H2 y Conexión: 1. Con PAP_DB_URL configurada a PostgreSQL muestra Motor: PostgreSQL.</a:t>
            </a:r>
          </a:p>
        </p:txBody>
      </p:sp>
    </p:spTree>
    <p:extLst>
      <p:ext uri="{BB962C8B-B14F-4D97-AF65-F5344CB8AC3E}">
        <p14:creationId xmlns:p14="http://schemas.microsoft.com/office/powerpoint/2010/main" val="22627857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9423F50-B092-437D-98AE-926E5BB81D28}"/>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D9FF830-060B-415F-AD07-673A90083FDC}"/>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PC4.2a · Ampliación del proyecto</a:t>
            </a:r>
          </a:p>
        </p:txBody>
      </p:sp>
      <p:sp>
        <p:nvSpPr>
          <p:cNvPr id="3" name="">
            <a:extLst xmlns:a="http://schemas.openxmlformats.org/drawingml/2006/main">
              <a:ext uri="{FF2B5EF4-FFF2-40B4-BE49-F238E27FC236}">
                <a16:creationId xmlns:a16="http://schemas.microsoft.com/office/drawing/2014/main" id="{CEDF3DEF-C27B-4A4B-8B4C-49133B2948BB}"/>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38057F0-FBCE-47D9-89CC-28F07A60E07F}"/>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4.2a</a:t>
            </a:r>
          </a:p>
        </p:txBody>
      </p:sp>
      <p:sp>
        <p:nvSpPr>
          <p:cNvPr id="5" name="">
            <a:extLst xmlns:a="http://schemas.openxmlformats.org/drawingml/2006/main">
              <a:ext uri="{FF2B5EF4-FFF2-40B4-BE49-F238E27FC236}">
                <a16:creationId xmlns:a16="http://schemas.microsoft.com/office/drawing/2014/main" id="{CDFEC9DF-0653-4243-A5DF-CF28F0897CDC}"/>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9</a:t>
            </a:r>
          </a:p>
        </p:txBody>
      </p:sp>
      <p:sp>
        <p:nvSpPr>
          <p:cNvPr id="6" name="">
            <a:extLst xmlns:a="http://schemas.openxmlformats.org/drawingml/2006/main">
              <a:ext uri="{FF2B5EF4-FFF2-40B4-BE49-F238E27FC236}">
                <a16:creationId xmlns:a16="http://schemas.microsoft.com/office/drawing/2014/main" id="{1E57633C-0A53-45E4-96DE-6E06B6BF414A}"/>
              </a:ext>
            </a:extLst>
          </p:cNvPr>
          <p:cNvSpPr>
            <a:spLocks xmlns:a="http://schemas.openxmlformats.org/drawingml/2006/main" noGrp="1"/>
          </p:cNvSpPr>
          <p:nvPr/>
        </p:nvSpPr>
        <p:spPr>
          <a:xfrm xmlns:a="http://schemas.openxmlformats.org/drawingml/2006/main">
            <a:off x="685800" y="1600200"/>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1</a:t>
            </a:r>
          </a:p>
        </p:txBody>
      </p:sp>
      <p:sp>
        <p:nvSpPr>
          <p:cNvPr id="7" name="">
            <a:extLst xmlns:a="http://schemas.openxmlformats.org/drawingml/2006/main">
              <a:ext uri="{FF2B5EF4-FFF2-40B4-BE49-F238E27FC236}">
                <a16:creationId xmlns:a16="http://schemas.microsoft.com/office/drawing/2014/main" id="{516AB23B-9605-477A-9591-E96620189154}"/>
              </a:ext>
            </a:extLst>
          </p:cNvPr>
          <p:cNvSpPr>
            <a:spLocks xmlns:a="http://schemas.openxmlformats.org/drawingml/2006/main" noGrp="1"/>
          </p:cNvSpPr>
          <p:nvPr/>
        </p:nvSpPr>
        <p:spPr>
          <a:xfrm xmlns:a="http://schemas.openxmlformats.org/drawingml/2006/main">
            <a:off x="1219200" y="1562100"/>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Migra CampusMonitor a Gradle Kotlin DSL conservando los paquetes y PCs anteriores. Incorpora el Wrapper y fija Java 25.</a:t>
            </a:r>
          </a:p>
        </p:txBody>
      </p:sp>
      <p:sp>
        <p:nvSpPr>
          <p:cNvPr id="8" name="">
            <a:extLst xmlns:a="http://schemas.openxmlformats.org/drawingml/2006/main">
              <a:ext uri="{FF2B5EF4-FFF2-40B4-BE49-F238E27FC236}">
                <a16:creationId xmlns:a16="http://schemas.microsoft.com/office/drawing/2014/main" id="{8DE7073C-17D7-4640-88C3-41BB48C565B2}"/>
              </a:ext>
            </a:extLst>
          </p:cNvPr>
          <p:cNvSpPr>
            <a:spLocks xmlns:a="http://schemas.openxmlformats.org/drawingml/2006/main" noGrp="1"/>
          </p:cNvSpPr>
          <p:nvPr/>
        </p:nvSpPr>
        <p:spPr>
          <a:xfrm xmlns:a="http://schemas.openxmlformats.org/drawingml/2006/main">
            <a:off x="685800" y="2962275"/>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2</a:t>
            </a:r>
          </a:p>
        </p:txBody>
      </p:sp>
      <p:sp>
        <p:nvSpPr>
          <p:cNvPr id="9" name="">
            <a:extLst xmlns:a="http://schemas.openxmlformats.org/drawingml/2006/main">
              <a:ext uri="{FF2B5EF4-FFF2-40B4-BE49-F238E27FC236}">
                <a16:creationId xmlns:a16="http://schemas.microsoft.com/office/drawing/2014/main" id="{139DF85E-77BA-4E13-9DC9-4D99EBC68883}"/>
              </a:ext>
            </a:extLst>
          </p:cNvPr>
          <p:cNvSpPr>
            <a:spLocks xmlns:a="http://schemas.openxmlformats.org/drawingml/2006/main" noGrp="1"/>
          </p:cNvSpPr>
          <p:nvPr/>
        </p:nvSpPr>
        <p:spPr>
          <a:xfrm xmlns:a="http://schemas.openxmlformats.org/drawingml/2006/main">
            <a:off x="1219200" y="2924175"/>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Implementa configuración YAML con sustitución explícita por variables de entorno y prueba una conexión PostgreSQL. No subas contraseñas.</a:t>
            </a:r>
          </a:p>
        </p:txBody>
      </p:sp>
      <p:sp>
        <p:nvSpPr>
          <p:cNvPr id="10" name="">
            <a:extLst xmlns:a="http://schemas.openxmlformats.org/drawingml/2006/main">
              <a:ext uri="{FF2B5EF4-FFF2-40B4-BE49-F238E27FC236}">
                <a16:creationId xmlns:a16="http://schemas.microsoft.com/office/drawing/2014/main" id="{51C9650D-4787-4998-BF7F-68151C24DCFA}"/>
              </a:ext>
            </a:extLst>
          </p:cNvPr>
          <p:cNvSpPr>
            <a:spLocks xmlns:a="http://schemas.openxmlformats.org/drawingml/2006/main" noGrp="1"/>
          </p:cNvSpPr>
          <p:nvPr/>
        </p:nvSpPr>
        <p:spPr>
          <a:xfrm xmlns:a="http://schemas.openxmlformats.org/drawingml/2006/main">
            <a:off x="685800" y="4324350"/>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3</a:t>
            </a:r>
          </a:p>
        </p:txBody>
      </p:sp>
      <p:sp>
        <p:nvSpPr>
          <p:cNvPr id="11" name="">
            <a:extLst xmlns:a="http://schemas.openxmlformats.org/drawingml/2006/main">
              <a:ext uri="{FF2B5EF4-FFF2-40B4-BE49-F238E27FC236}">
                <a16:creationId xmlns:a16="http://schemas.microsoft.com/office/drawing/2014/main" id="{96B7090C-08DF-4C3A-A7C3-CC43D9206B74}"/>
              </a:ext>
            </a:extLst>
          </p:cNvPr>
          <p:cNvSpPr>
            <a:spLocks xmlns:a="http://schemas.openxmlformats.org/drawingml/2006/main" noGrp="1"/>
          </p:cNvSpPr>
          <p:nvPr/>
        </p:nvSpPr>
        <p:spPr>
          <a:xfrm xmlns:a="http://schemas.openxmlformats.org/drawingml/2006/main">
            <a:off x="1219200" y="4286250"/>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Agrega un comando diagnostico-bd que consulte metadatos y ejecute SELECT 1. Diferencia error de configuración y SQLException.</a:t>
            </a:r>
          </a:p>
        </p:txBody>
      </p:sp>
    </p:spTree>
    <p:extLst>
      <p:ext uri="{BB962C8B-B14F-4D97-AF65-F5344CB8AC3E}">
        <p14:creationId xmlns:p14="http://schemas.microsoft.com/office/powerpoint/2010/main" val="176841870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A3E0C14-EBF8-4F4D-8C3A-9DC2ADC05100}"/>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F7B1332-07D0-4815-B567-D7965ED95934}"/>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Lo esencial de hoy</a:t>
            </a:r>
          </a:p>
        </p:txBody>
      </p:sp>
      <p:sp>
        <p:nvSpPr>
          <p:cNvPr id="3" name="">
            <a:extLst xmlns:a="http://schemas.openxmlformats.org/drawingml/2006/main">
              <a:ext uri="{FF2B5EF4-FFF2-40B4-BE49-F238E27FC236}">
                <a16:creationId xmlns:a16="http://schemas.microsoft.com/office/drawing/2014/main" id="{76694677-86F9-45B3-BFD1-0F8CC030DC8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2610183-0096-4588-BD6B-817909E3BF68}"/>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4.2a</a:t>
            </a:r>
          </a:p>
        </p:txBody>
      </p:sp>
      <p:sp>
        <p:nvSpPr>
          <p:cNvPr id="5" name="">
            <a:extLst xmlns:a="http://schemas.openxmlformats.org/drawingml/2006/main">
              <a:ext uri="{FF2B5EF4-FFF2-40B4-BE49-F238E27FC236}">
                <a16:creationId xmlns:a16="http://schemas.microsoft.com/office/drawing/2014/main" id="{CFD4E2EC-1299-4687-8D95-77959A6D8FE9}"/>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10</a:t>
            </a:r>
          </a:p>
        </p:txBody>
      </p:sp>
      <p:sp>
        <p:nvSpPr>
          <p:cNvPr id="6" name="">
            <a:extLst xmlns:a="http://schemas.openxmlformats.org/drawingml/2006/main">
              <a:ext uri="{FF2B5EF4-FFF2-40B4-BE49-F238E27FC236}">
                <a16:creationId xmlns:a16="http://schemas.microsoft.com/office/drawing/2014/main" id="{BE86EACE-14E1-4173-B277-94B14F10F916}"/>
              </a:ext>
            </a:extLst>
          </p:cNvPr>
          <p:cNvSpPr>
            <a:spLocks xmlns:a="http://schemas.openxmlformats.org/drawingml/2006/main" noGrp="1"/>
          </p:cNvSpPr>
          <p:nvPr/>
        </p:nvSpPr>
        <p:spPr>
          <a:xfrm xmlns:a="http://schemas.openxmlformats.org/drawingml/2006/main">
            <a:off x="762000" y="174307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3772"/>
                </a:solidFill>
                <a:latin typeface="DejaVu Sans"/>
                <a:ea typeface="DejaVu Sans"/>
                <a:cs typeface="DejaVu Sans"/>
              </a:defRPr>
            </a:pPr>
            <a:r>
              <a:rPr sz="2175" b="1">
                <a:solidFill>
                  <a:srgbClr val="003772"/>
                </a:solidFill>
                <a:latin typeface="DejaVu Sans"/>
                <a:ea typeface="DejaVu Sans"/>
                <a:cs typeface="DejaVu Sans"/>
              </a:rPr>
              <a:t>JDBC es la API; el driver se comunica con el motor.</a:t>
            </a:r>
          </a:p>
        </p:txBody>
      </p:sp>
      <p:sp>
        <p:nvSpPr>
          <p:cNvPr id="7" name="">
            <a:extLst xmlns:a="http://schemas.openxmlformats.org/drawingml/2006/main">
              <a:ext uri="{FF2B5EF4-FFF2-40B4-BE49-F238E27FC236}">
                <a16:creationId xmlns:a16="http://schemas.microsoft.com/office/drawing/2014/main" id="{A07F2265-2238-4234-B9DD-E47FADF98F01}"/>
              </a:ext>
            </a:extLst>
          </p:cNvPr>
          <p:cNvSpPr>
            <a:spLocks xmlns:a="http://schemas.openxmlformats.org/drawingml/2006/main" noGrp="1"/>
          </p:cNvSpPr>
          <p:nvPr/>
        </p:nvSpPr>
        <p:spPr>
          <a:xfrm xmlns:a="http://schemas.openxmlformats.org/drawingml/2006/main">
            <a:off x="762000" y="263842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try-with-resources cierra los recursos incluso ante errores.</a:t>
            </a:r>
          </a:p>
        </p:txBody>
      </p:sp>
      <p:sp>
        <p:nvSpPr>
          <p:cNvPr id="8" name="">
            <a:extLst xmlns:a="http://schemas.openxmlformats.org/drawingml/2006/main">
              <a:ext uri="{FF2B5EF4-FFF2-40B4-BE49-F238E27FC236}">
                <a16:creationId xmlns:a16="http://schemas.microsoft.com/office/drawing/2014/main" id="{F765716B-4561-48DB-B81B-AD58F31F169D}"/>
              </a:ext>
            </a:extLst>
          </p:cNvPr>
          <p:cNvSpPr>
            <a:spLocks xmlns:a="http://schemas.openxmlformats.org/drawingml/2006/main" noGrp="1"/>
          </p:cNvSpPr>
          <p:nvPr/>
        </p:nvSpPr>
        <p:spPr>
          <a:xfrm xmlns:a="http://schemas.openxmlformats.org/drawingml/2006/main">
            <a:off x="762000" y="353377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03772"/>
                </a:solidFill>
                <a:latin typeface="DejaVu Sans"/>
                <a:ea typeface="DejaVu Sans"/>
                <a:cs typeface="DejaVu Sans"/>
              </a:defRPr>
            </a:pPr>
            <a:r>
              <a:rPr sz="2175" b="0">
                <a:solidFill>
                  <a:srgbClr val="003772"/>
                </a:solidFill>
                <a:latin typeface="DejaVu Sans"/>
                <a:ea typeface="DejaVu Sans"/>
                <a:cs typeface="DejaVu Sans"/>
              </a:rPr>
              <a:t>Gradle administra el classpath y fija las dependencias.</a:t>
            </a:r>
          </a:p>
        </p:txBody>
      </p:sp>
      <p:sp>
        <p:nvSpPr>
          <p:cNvPr id="9" name="">
            <a:extLst xmlns:a="http://schemas.openxmlformats.org/drawingml/2006/main">
              <a:ext uri="{FF2B5EF4-FFF2-40B4-BE49-F238E27FC236}">
                <a16:creationId xmlns:a16="http://schemas.microsoft.com/office/drawing/2014/main" id="{A0346BBD-3223-4348-9B38-8B0CD5CD6DF6}"/>
              </a:ext>
            </a:extLst>
          </p:cNvPr>
          <p:cNvSpPr>
            <a:spLocks xmlns:a="http://schemas.openxmlformats.org/drawingml/2006/main" noGrp="1"/>
          </p:cNvSpPr>
          <p:nvPr/>
        </p:nvSpPr>
        <p:spPr>
          <a:xfrm xmlns:a="http://schemas.openxmlformats.org/drawingml/2006/main">
            <a:off x="762000" y="442912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Java SE necesita código explícito para cargar YAML.</a:t>
            </a:r>
          </a:p>
        </p:txBody>
      </p:sp>
    </p:spTree>
    <p:extLst>
      <p:ext uri="{BB962C8B-B14F-4D97-AF65-F5344CB8AC3E}">
        <p14:creationId xmlns:p14="http://schemas.microsoft.com/office/powerpoint/2010/main" val="10437917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2026-09-10T23:07:08.3950000Z</dcterms:created>
  <dcterms:modified xsi:type="dcterms:W3CDTF">2026-09-10T23:07:08.3950000Z</dcterms:modified>
</coreProperties>
</file>