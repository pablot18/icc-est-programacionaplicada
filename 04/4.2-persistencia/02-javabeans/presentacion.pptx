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2a572140c946b3" /><Relationship Type="http://schemas.openxmlformats.org/officeDocument/2006/relationships/extended-properties" Target="/docProps/app.xml" Id="R101a9526187b4e20" /><Relationship Type="http://schemas.openxmlformats.org/officeDocument/2006/relationships/officeDocument" Target="/ppt/presentation.xml" Id="R0675f6d3976c4794" /></Relationships>
</file>

<file path=ppt/presentation.xml><?xml version="1.0" encoding="utf-8"?>
<p:presentation xmlns:p="http://schemas.openxmlformats.org/presentationml/2006/main">
  <p:sldMasterIdLst>
    <p:sldMasterId xmlns:r="http://schemas.openxmlformats.org/officeDocument/2006/relationships" id="2147483648" r:id="R6b730497492a4af7"/>
  </p:sldMasterIdLst>
  <p:notesMasterIdLst>
    <p:notesMasterId xmlns:r="http://schemas.openxmlformats.org/officeDocument/2006/relationships" r:id="R6315a5faf00d4394"/>
  </p:notesMasterIdLst>
  <p:sldIdLst>
    <p:sldId xmlns:r="http://schemas.openxmlformats.org/officeDocument/2006/relationships" id="256" r:id="R0dc641e2b30a410c"/>
    <p:sldId xmlns:r="http://schemas.openxmlformats.org/officeDocument/2006/relationships" id="257" r:id="R2c6f2efbf12a4caa"/>
    <p:sldId xmlns:r="http://schemas.openxmlformats.org/officeDocument/2006/relationships" id="258" r:id="R673440e01eb14805"/>
    <p:sldId xmlns:r="http://schemas.openxmlformats.org/officeDocument/2006/relationships" id="259" r:id="R67b7bac711f44ed2"/>
    <p:sldId xmlns:r="http://schemas.openxmlformats.org/officeDocument/2006/relationships" id="260" r:id="Ra21d984b07fa4d3e"/>
    <p:sldId xmlns:r="http://schemas.openxmlformats.org/officeDocument/2006/relationships" id="261" r:id="Rc23c8b46b3c746a1"/>
    <p:sldId xmlns:r="http://schemas.openxmlformats.org/officeDocument/2006/relationships" id="262" r:id="R7312aa17359f482c"/>
    <p:sldId xmlns:r="http://schemas.openxmlformats.org/officeDocument/2006/relationships" id="263" r:id="R8536f627a9ea4dd5"/>
    <p:sldId xmlns:r="http://schemas.openxmlformats.org/officeDocument/2006/relationships" id="264" r:id="R38688c1af2af4336"/>
    <p:sldId xmlns:r="http://schemas.openxmlformats.org/officeDocument/2006/relationships" id="265" r:id="R47f897d0206f42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7cecd156f04240" /><Relationship Type="http://schemas.openxmlformats.org/officeDocument/2006/relationships/slideMaster" Target="/ppt/slideMasters/slideMaster1.xml" Id="R6b730497492a4af7" /><Relationship Type="http://schemas.openxmlformats.org/officeDocument/2006/relationships/notesMaster" Target="/ppt/notesMasters/notesMaster1.xml" Id="R6315a5faf00d4394" /><Relationship Type="http://schemas.openxmlformats.org/officeDocument/2006/relationships/presProps" Target="/ppt/presProps.xml" Id="R0644542b951c4f3c" /><Relationship Type="http://schemas.openxmlformats.org/officeDocument/2006/relationships/tableStyles" Target="/ppt/tableStyles.xml" Id="R43fdb4f36f9047d8" /><Relationship Type="http://schemas.openxmlformats.org/officeDocument/2006/relationships/slide" Target="/ppt/slides/slide1.xml" Id="R0dc641e2b30a410c" /><Relationship Type="http://schemas.openxmlformats.org/officeDocument/2006/relationships/slide" Target="/ppt/slides/slide2.xml" Id="R2c6f2efbf12a4caa" /><Relationship Type="http://schemas.openxmlformats.org/officeDocument/2006/relationships/slide" Target="/ppt/slides/slide3.xml" Id="R673440e01eb14805" /><Relationship Type="http://schemas.openxmlformats.org/officeDocument/2006/relationships/slide" Target="/ppt/slides/slide4.xml" Id="R67b7bac711f44ed2" /><Relationship Type="http://schemas.openxmlformats.org/officeDocument/2006/relationships/slide" Target="/ppt/slides/slide5.xml" Id="Ra21d984b07fa4d3e" /><Relationship Type="http://schemas.openxmlformats.org/officeDocument/2006/relationships/slide" Target="/ppt/slides/slide6.xml" Id="Rc23c8b46b3c746a1" /><Relationship Type="http://schemas.openxmlformats.org/officeDocument/2006/relationships/slide" Target="/ppt/slides/slide7.xml" Id="R7312aa17359f482c" /><Relationship Type="http://schemas.openxmlformats.org/officeDocument/2006/relationships/slide" Target="/ppt/slides/slide8.xml" Id="R8536f627a9ea4dd5" /><Relationship Type="http://schemas.openxmlformats.org/officeDocument/2006/relationships/slide" Target="/ppt/slides/slide9.xml" Id="R38688c1af2af4336" /><Relationship Type="http://schemas.openxmlformats.org/officeDocument/2006/relationships/slide" Target="/ppt/slides/slide10.xml" Id="R47f897d0206f42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70879c2fc14d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de4174f5ec4b91" /><Relationship Type="http://schemas.openxmlformats.org/officeDocument/2006/relationships/notesMaster" Target="/ppt/notesMasters/notesMaster1.xml" Id="Rd411001e516543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8e3e699df04f34" /><Relationship Type="http://schemas.openxmlformats.org/officeDocument/2006/relationships/notesMaster" Target="/ppt/notesMasters/notesMaster1.xml" Id="R00811e9ef3b44d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653825463a40bd" /><Relationship Type="http://schemas.openxmlformats.org/officeDocument/2006/relationships/notesMaster" Target="/ppt/notesMasters/notesMaster1.xml" Id="Rf0e6dbecac4148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8ae7701f1c48dd" /><Relationship Type="http://schemas.openxmlformats.org/officeDocument/2006/relationships/notesMaster" Target="/ppt/notesMasters/notesMaster1.xml" Id="Rbde2ec94982849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117480018b49b8" /><Relationship Type="http://schemas.openxmlformats.org/officeDocument/2006/relationships/notesMaster" Target="/ppt/notesMasters/notesMaster1.xml" Id="R03a9fc8119674b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86a3ecbff94426" /><Relationship Type="http://schemas.openxmlformats.org/officeDocument/2006/relationships/notesMaster" Target="/ppt/notesMasters/notesMaster1.xml" Id="Rb3821fd969a54b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f621fb8c45484d" /><Relationship Type="http://schemas.openxmlformats.org/officeDocument/2006/relationships/notesMaster" Target="/ppt/notesMasters/notesMaster1.xml" Id="Rcb03fc74003446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7138171c07413c" /><Relationship Type="http://schemas.openxmlformats.org/officeDocument/2006/relationships/notesMaster" Target="/ppt/notesMasters/notesMaster1.xml" Id="Rb5bda30019f54b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e46e2b69a346ac" /><Relationship Type="http://schemas.openxmlformats.org/officeDocument/2006/relationships/notesMaster" Target="/ppt/notesMasters/notesMaster1.xml" Id="Rddac5492066045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e820305a2940a9" /><Relationship Type="http://schemas.openxmlformats.org/officeDocument/2006/relationships/notesMaster" Target="/ppt/notesMasters/notesMaster1.xml" Id="Rf69923b10b1946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4.2b. JavaBeans y transferencia de datos.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resultados de una consulta deben convertirse en objetos que la aplicación pueda utilizar. JavaBeans define convenciones útiles para propiedades y herramientas de introspección, pero no almacena datos por sí mismo.</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JavaBean suele tener constructor público sin argumentos y propiedades accesibles con getters y setters. getNombre y setNombre describen la propiedad nombre. Para boolean puede utilizarse isActivo. Las herramientas de introspección identifican esas propiedades sin acceder directamente a los campos.</a:t>
            </a:r>
          </a:p>
          <a:p xmlns:a="http://schemas.openxmlformats.org/drawingml/2006/main">
            <a:r>
              <a:t/>
            </a:r>
          </a:p>
          <a:p xmlns:a="http://schemas.openxmlformats.org/drawingml/2006/main">
            <a:r>
              <a:t>El concepto no equivale a un bean de un contenedor de inyección como Spring. Tampoco exige anotaciones de persistencia. Serializable puede ser útil para determinados usos históricos, pero no convierte el objeto en una entidad de base de datos ni es una condición universal de todas las convenciones de JavaBeans.</a:t>
            </a:r>
          </a:p>
          <a:p xmlns:a="http://schemas.openxmlformats.org/drawingml/2006/main">
            <a:r>
              <a:t/>
            </a:r>
          </a:p>
          <a:p xmlns:a="http://schemas.openxmlformats.org/drawingml/2006/main">
            <a:r>
              <a:t>Referencias:</a:t>
            </a:r>
          </a:p>
          <a:p xmlns:a="http://schemas.openxmlformats.org/drawingml/2006/main">
            <a:r>
              <a:t>https://docs.oracle.com/en/java/javase/25/docs/api/java.sql/java/sql/package-summary.html</a:t>
            </a:r>
          </a:p>
          <a:p xmlns:a="http://schemas.openxmlformats.org/drawingml/2006/main">
            <a:r>
              <a:t>https://jdbc.postgresql.org/documentation/</a:t>
            </a:r>
          </a:p>
          <a:p xmlns:a="http://schemas.openxmlformats.org/drawingml/2006/main">
            <a:r>
              <a:t>https://db.apache.org/jdo/</a:t>
            </a:r>
          </a:p>
          <a:p xmlns:a="http://schemas.openxmlformats.org/drawingml/2006/main">
            <a:r>
              <a:t>https://www.datanucleus.org/products/accessplatform_6_0/jdo/guide.html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setter debe proteger la regla del atributo, por ejemplo rechazar una ubicación vacía. Varias propiedades relacionadas pueden requerir validación conjunta para evitar estados intermedios incoherentes. Un constructor vacío permite construir antes de completar los campos, por lo que el código debe saber cuándo el objeto está listo para usarse.</a:t>
            </a:r>
          </a:p>
          <a:p xmlns:a="http://schemas.openxmlformats.org/drawingml/2006/main">
            <a:r>
              <a:t/>
            </a:r>
          </a:p>
          <a:p xmlns:a="http://schemas.openxmlformats.org/drawingml/2006/main">
            <a:r>
              <a:t>Los modelos mutables no son automáticamente seguros para concurrencia. Si una interfaz necesita enlazar propiedades modificables, el Bean puede resultar conveniente. Para resultados inmutables, records o clases con constructor completo suelen expresar mejor que los datos ya fueron validados.</a:t>
            </a:r>
          </a:p>
          <a:p xmlns:a="http://schemas.openxmlformats.org/drawingml/2006/main">
            <a:r>
              <a:t/>
            </a:r>
          </a:p>
          <a:p xmlns:a="http://schemas.openxmlformats.org/drawingml/2006/main">
            <a:r>
              <a:t>Referencias:</a:t>
            </a:r>
          </a:p>
          <a:p xmlns:a="http://schemas.openxmlformats.org/drawingml/2006/main">
            <a:r>
              <a:t>https://docs.oracle.com/en/java/javase/25/docs/api/java.sql/java/sql/package-summary.html</a:t>
            </a:r>
          </a:p>
          <a:p xmlns:a="http://schemas.openxmlformats.org/drawingml/2006/main">
            <a:r>
              <a:t>https://jdbc.postgresql.org/documentation/</a:t>
            </a:r>
          </a:p>
          <a:p xmlns:a="http://schemas.openxmlformats.org/drawingml/2006/main">
            <a:r>
              <a:t>https://db.apache.org/jdo/</a:t>
            </a:r>
          </a:p>
          <a:p xmlns:a="http://schemas.openxmlformats.org/drawingml/2006/main">
            <a:r>
              <a:t>https://www.datanucleus.org/products/accessplatform_6_0/jdo/guide.html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Introspector.getBeanInfo examina descriptores de propiedades y sus métodos de lectura y escritura. Proporcionar Object.class como límite evita tratar getClass como una propiedad del dominio. Invocar un descriptor puede lanzar excepciones relacionadas con reflexión o con la validación del setter.</a:t>
            </a:r>
          </a:p>
          <a:p xmlns:a="http://schemas.openxmlformats.org/drawingml/2006/main">
            <a:r>
              <a:t/>
            </a:r>
          </a:p>
          <a:p xmlns:a="http://schemas.openxmlformats.org/drawingml/2006/main">
            <a:r>
              <a:t>El mapeo JDBC puede escribirse explícitamente: rs.getString("sensor_id") y bean.setSensorId(...). Esto mantiene visibles nombres de columnas y conversiones. Un mapeador genérico basado en reflexión reduce repetición, pero también desplaza errores a ejecución. Evalúa si el ahorro compensa la pérdida de claridad.</a:t>
            </a:r>
          </a:p>
          <a:p xmlns:a="http://schemas.openxmlformats.org/drawingml/2006/main">
            <a:r>
              <a:t/>
            </a:r>
          </a:p>
          <a:p xmlns:a="http://schemas.openxmlformats.org/drawingml/2006/main">
            <a:r>
              <a:t>Referencias:</a:t>
            </a:r>
          </a:p>
          <a:p xmlns:a="http://schemas.openxmlformats.org/drawingml/2006/main">
            <a:r>
              <a:t>https://docs.oracle.com/en/java/javase/25/docs/api/java.sql/java/sql/package-summary.html</a:t>
            </a:r>
          </a:p>
          <a:p xmlns:a="http://schemas.openxmlformats.org/drawingml/2006/main">
            <a:r>
              <a:t>https://jdbc.postgresql.org/documentation/</a:t>
            </a:r>
          </a:p>
          <a:p xmlns:a="http://schemas.openxmlformats.org/drawingml/2006/main">
            <a:r>
              <a:t>https://db.apache.org/jdo/</a:t>
            </a:r>
          </a:p>
          <a:p xmlns:a="http://schemas.openxmlformats.org/drawingml/2006/main">
            <a:r>
              <a:t>https://www.datanucleus.org/products/accessplatform_6_0/jdo/guide.html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DTO describe el propósito de transferir datos; JavaBean describe convenciones de propiedades; entidad describe identidad y comportamiento del dominio o persistencia. Un mismo objeto puede cumplir más de un papel, pero los términos no son sinónimos.</a:t>
            </a:r>
          </a:p>
          <a:p xmlns:a="http://schemas.openxmlformats.org/drawingml/2006/main">
            <a:r>
              <a:t/>
            </a:r>
          </a:p>
          <a:p xmlns:a="http://schemas.openxmlformats.org/drawingml/2006/main">
            <a:r>
              <a:t>Un record ofrece componentes finales y accesores con el nombre del componente, como sensorId(), no getters getSensorId. Por eso algunas herramientas basadas exclusivamente en convenciones JavaBeans requieren adaptación. La PC compara ambos modelos y conserva explícita la transformación entre una fila y el objeto de aplicación.</a:t>
            </a:r>
          </a:p>
          <a:p xmlns:a="http://schemas.openxmlformats.org/drawingml/2006/main">
            <a:r>
              <a:t/>
            </a:r>
          </a:p>
          <a:p xmlns:a="http://schemas.openxmlformats.org/drawingml/2006/main">
            <a:r>
              <a:t>Referencias:</a:t>
            </a:r>
          </a:p>
          <a:p xmlns:a="http://schemas.openxmlformats.org/drawingml/2006/main">
            <a:r>
              <a:t>https://docs.oracle.com/en/java/javase/25/docs/api/java.sql/java/sql/package-summary.html</a:t>
            </a:r>
          </a:p>
          <a:p xmlns:a="http://schemas.openxmlformats.org/drawingml/2006/main">
            <a:r>
              <a:t>https://jdbc.postgresql.org/documentation/</a:t>
            </a:r>
          </a:p>
          <a:p xmlns:a="http://schemas.openxmlformats.org/drawingml/2006/main">
            <a:r>
              <a:t>https://db.apache.org/jdo/</a:t>
            </a:r>
          </a:p>
          <a:p xmlns:a="http://schemas.openxmlformats.org/drawingml/2006/main">
            <a:r>
              <a:t>https://www.datanucleus.org/products/accessplatform_6_0/jdo/guide.html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edu.ups.pap.u04;</a:t>
            </a:r>
          </a:p>
          <a:p xmlns:a="http://schemas.openxmlformats.org/drawingml/2006/main">
            <a:r>
              <a:t>import java.beans.*;</a:t>
            </a:r>
          </a:p>
          <a:p xmlns:a="http://schemas.openxmlformats.org/drawingml/2006/main">
            <a:r>
              <a:t>import java.lang.reflect.*;</a:t>
            </a:r>
          </a:p>
          <a:p xmlns:a="http://schemas.openxmlformats.org/drawingml/2006/main">
            <a:r>
              <a:t>import java.util.*;</a:t>
            </a:r>
          </a:p>
          <a:p xmlns:a="http://schemas.openxmlformats.org/drawingml/2006/main">
            <a:r>
              <a:t>public class BeansDemo {</a:t>
            </a:r>
          </a:p>
          <a:p xmlns:a="http://schemas.openxmlformats.org/drawingml/2006/main">
            <a:r>
              <a:t>    public static class SensorBean {</a:t>
            </a:r>
          </a:p>
          <a:p xmlns:a="http://schemas.openxmlformats.org/drawingml/2006/main">
            <a:r>
              <a:t>        private String id;</a:t>
            </a:r>
          </a:p>
          <a:p xmlns:a="http://schemas.openxmlformats.org/drawingml/2006/main">
            <a:r>
              <a:t>        private String ubicacion;</a:t>
            </a:r>
          </a:p>
          <a:p xmlns:a="http://schemas.openxmlformats.org/drawingml/2006/main">
            <a:r>
              <a:t>        public SensorBean() {}</a:t>
            </a:r>
          </a:p>
          <a:p xmlns:a="http://schemas.openxmlformats.org/drawingml/2006/main">
            <a:r>
              <a:t>        public String getId(){return id;}</a:t>
            </a:r>
          </a:p>
          <a:p xmlns:a="http://schemas.openxmlformats.org/drawingml/2006/main">
            <a:r>
              <a:t>        public void setId(String id){</a:t>
            </a:r>
          </a:p>
          <a:p xmlns:a="http://schemas.openxmlformats.org/drawingml/2006/main">
            <a:r>
              <a:t>            if(id==null || id.isBlank()) throw new IllegalArgumentException("ID requerido");</a:t>
            </a:r>
          </a:p>
          <a:p xmlns:a="http://schemas.openxmlformats.org/drawingml/2006/main">
            <a:r>
              <a:t>            this.id=id;</a:t>
            </a:r>
          </a:p>
          <a:p xmlns:a="http://schemas.openxmlformats.org/drawingml/2006/main">
            <a:r>
              <a:t>        }</a:t>
            </a:r>
          </a:p>
          <a:p xmlns:a="http://schemas.openxmlformats.org/drawingml/2006/main">
            <a:r>
              <a:t>        public String getUbicacion(){return ubicacion;}</a:t>
            </a:r>
          </a:p>
          <a:p xmlns:a="http://schemas.openxmlformats.org/drawingml/2006/main">
            <a:r>
              <a:t>        public void setUbicacion(String ubicacion){</a:t>
            </a:r>
          </a:p>
          <a:p xmlns:a="http://schemas.openxmlformats.org/drawingml/2006/main">
            <a:r>
              <a:t>            if(ubicacion==null || ubicacion.isBlank()) throw new IllegalArgumentException("Ubicación requerida");</a:t>
            </a:r>
          </a:p>
          <a:p xmlns:a="http://schemas.openxmlformats.org/drawingml/2006/main">
            <a:r>
              <a:t>            this.ubicacion=ubicacion;</a:t>
            </a:r>
          </a:p>
          <a:p xmlns:a="http://schemas.openxmlformats.org/drawingml/2006/main">
            <a:r>
              <a:t>        }</a:t>
            </a:r>
          </a:p>
          <a:p xmlns:a="http://schemas.openxmlformats.org/drawingml/2006/main">
            <a:r>
              <a:t>    }</a:t>
            </a:r>
          </a:p>
          <a:p xmlns:a="http://schemas.openxmlformats.org/drawingml/2006/main">
            <a:r>
              <a:t>    public static void main(String[] args) throws IntrospectionException, ReflectiveOperationException {</a:t>
            </a:r>
          </a:p>
          <a:p xmlns:a="http://schemas.openxmlformats.org/drawingml/2006/main">
            <a:r>
              <a:t>        SensorBean bean = new SensorBean();bean.setId("S01");bean.setUbicacion("Lab");</a:t>
            </a:r>
          </a:p>
          <a:p xmlns:a="http://schemas.openxmlformats.org/drawingml/2006/main">
            <a:r>
              <a:t>        var propiedades = Introspector.getBeanInfo(SensorBean.class,Object.class).getPropertyDescriptors();</a:t>
            </a:r>
          </a:p>
          <a:p xmlns:a="http://schemas.openxmlformats.org/drawingml/2006/main">
            <a:r>
              <a:t>        Arrays.sort(propiedades,Comparator.comparing(PropertyDescriptor::getName));</a:t>
            </a:r>
          </a:p>
          <a:p xmlns:a="http://schemas.openxmlformats.org/drawingml/2006/main">
            <a:r>
              <a:t>        for(var p:propiedades) System.out.println(p.getName()+"="+p.getReadMethod().invoke(bean));</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id=S01</a:t>
            </a:r>
          </a:p>
          <a:p xmlns:a="http://schemas.openxmlformats.org/drawingml/2006/main">
            <a:r>
              <a:t>ubicacion=Lab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id=S01</a:t>
            </a:r>
          </a:p>
          <a:p xmlns:a="http://schemas.openxmlformats.org/drawingml/2006/main">
            <a:r>
              <a:t>ubicacion=Lab</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evidencias/PC4.2b.md y enlace al commit final.</a:t>
            </a:r>
          </a:p>
          <a:p xmlns:a="http://schemas.openxmlformats.org/drawingml/2006/main">
            <a:r>
              <a:t>Crea SensorBean con constructor sin argumentos, getters y setters validados. Agrega un mapper explícito desde una fila JDBC.</a:t>
            </a:r>
          </a:p>
          <a:p xmlns:a="http://schemas.openxmlformats.org/drawingml/2006/main">
            <a:r>
              <a:t>Representa la misma salida con un record SensorDto y compara mutabilidad, constructores y nombres de accesores.</a:t>
            </a:r>
          </a:p>
          <a:p xmlns:a="http://schemas.openxmlformats.org/drawingml/2006/main">
            <a:r>
              <a:t>Mantén el modelo de dominio separado de los componentes Swing. Documenta qué representación eliges para consultas de solo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fe134bed6846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e1d0ab25264d8b" /><Relationship Type="http://schemas.openxmlformats.org/officeDocument/2006/relationships/slideLayout" Target="/ppt/slideLayouts/slideLayout1.xml" Id="R2e36fbc633054c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36fbc633054c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5ebea8a66742bb" /><Relationship Type="http://schemas.openxmlformats.org/officeDocument/2006/relationships/image" Target="/ppt/media/image.png" Id="R855c58102e3942af" /><Relationship Type="http://schemas.openxmlformats.org/officeDocument/2006/relationships/notesSlide" Target="/ppt/notesSlides/notesSlide1.xml" Id="R8b6e26804c9b4a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5e3a4d7dfb4f69" /><Relationship Type="http://schemas.openxmlformats.org/officeDocument/2006/relationships/notesSlide" Target="/ppt/notesSlides/notesSlide2.xml" Id="Ra33d1f14320a40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6dff8bcabe4492" /><Relationship Type="http://schemas.openxmlformats.org/officeDocument/2006/relationships/notesSlide" Target="/ppt/notesSlides/notesSlide3.xml" Id="R4e36f78013774b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992bea41de456b" /><Relationship Type="http://schemas.openxmlformats.org/officeDocument/2006/relationships/notesSlide" Target="/ppt/notesSlides/notesSlide4.xml" Id="Re66cbcd2129846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429080b98b40d0" /><Relationship Type="http://schemas.openxmlformats.org/officeDocument/2006/relationships/notesSlide" Target="/ppt/notesSlides/notesSlide5.xml" Id="Rd110555b9b5b4e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71f19340674709" /><Relationship Type="http://schemas.openxmlformats.org/officeDocument/2006/relationships/notesSlide" Target="/ppt/notesSlides/notesSlide6.xml" Id="R6f6f8cfff9594c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da6a488fe54e13" /><Relationship Type="http://schemas.openxmlformats.org/officeDocument/2006/relationships/notesSlide" Target="/ppt/notesSlides/notesSlide7.xml" Id="Re9fc7884e4014c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f8506de6f548fc" /><Relationship Type="http://schemas.openxmlformats.org/officeDocument/2006/relationships/notesSlide" Target="/ppt/notesSlides/notesSlide8.xml" Id="R7ba6718575ca4f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1f99c5b9f74e43" /><Relationship Type="http://schemas.openxmlformats.org/officeDocument/2006/relationships/notesSlide" Target="/ppt/notesSlides/notesSlide9.xml" Id="R48d641eb86834d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ae533fb352439f" /><Relationship Type="http://schemas.openxmlformats.org/officeDocument/2006/relationships/notesSlide" Target="/ppt/notesSlides/notesSlide10.xml" Id="R9ef8325370ca4dd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55c58102e3942af"/>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F95A6A-589E-4207-A2BF-9AA92C482533}"/>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F88E3707-48B3-4DE0-AB11-8AD8EFD7B89B}"/>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JavaBeans y transferencia de datos</a:t>
            </a:r>
          </a:p>
        </p:txBody>
      </p:sp>
      <p:sp>
        <p:nvSpPr>
          <p:cNvPr id="4" name="">
            <a:extLst xmlns:a="http://schemas.openxmlformats.org/drawingml/2006/main">
              <a:ext uri="{FF2B5EF4-FFF2-40B4-BE49-F238E27FC236}">
                <a16:creationId xmlns:a16="http://schemas.microsoft.com/office/drawing/2014/main" id="{3590171C-BFC3-4FEB-9A88-67C13FF67F43}"/>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E443FF-CC43-4A43-A0F2-BF3DB3289F0F}"/>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4 · 4.2b</a:t>
            </a:r>
          </a:p>
        </p:txBody>
      </p:sp>
      <p:sp>
        <p:nvSpPr>
          <p:cNvPr id="6" name="">
            <a:extLst xmlns:a="http://schemas.openxmlformats.org/drawingml/2006/main">
              <a:ext uri="{FF2B5EF4-FFF2-40B4-BE49-F238E27FC236}">
                <a16:creationId xmlns:a16="http://schemas.microsoft.com/office/drawing/2014/main" id="{1AC36529-2BEB-4F61-AB0C-85C5B914D619}"/>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8826170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E5412A-D623-42E1-ACC0-CB9A448FAC6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34A8F4-48F8-4562-A820-17E1C129E50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5290BF0B-AF38-4BB5-8FB2-5AD769D569E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6E1B91-36BA-441F-A361-4262F0361F59}"/>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4.2b</a:t>
            </a:r>
          </a:p>
        </p:txBody>
      </p:sp>
      <p:sp>
        <p:nvSpPr>
          <p:cNvPr id="5" name="">
            <a:extLst xmlns:a="http://schemas.openxmlformats.org/drawingml/2006/main">
              <a:ext uri="{FF2B5EF4-FFF2-40B4-BE49-F238E27FC236}">
                <a16:creationId xmlns:a16="http://schemas.microsoft.com/office/drawing/2014/main" id="{B0570EAE-18E5-4163-88F0-031B75A71984}"/>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54506F3C-76F6-40A9-B1FE-B2C142E5014B}"/>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Los resultados de una consulta deben convertirse en objetos que la aplicación pueda utilizar. JavaBeans define convenciones útiles para propiedades y herramientas de introspección, pero no almacena datos por sí mismo.</a:t>
            </a:r>
          </a:p>
        </p:txBody>
      </p:sp>
    </p:spTree>
    <p:extLst>
      <p:ext uri="{BB962C8B-B14F-4D97-AF65-F5344CB8AC3E}">
        <p14:creationId xmlns:p14="http://schemas.microsoft.com/office/powerpoint/2010/main" val="15041332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3D1C18-8057-4524-BC7A-1566201BD5F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835A52-A638-45C2-B6BE-311C8B4765E1}"/>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Convenciones de propiedades</a:t>
            </a:r>
          </a:p>
        </p:txBody>
      </p:sp>
      <p:sp>
        <p:nvSpPr>
          <p:cNvPr id="3" name="">
            <a:extLst xmlns:a="http://schemas.openxmlformats.org/drawingml/2006/main">
              <a:ext uri="{FF2B5EF4-FFF2-40B4-BE49-F238E27FC236}">
                <a16:creationId xmlns:a16="http://schemas.microsoft.com/office/drawing/2014/main" id="{50F3E215-1ECA-49A7-B781-2222785E279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7279B7-005C-4401-ABF2-AB37E4A2A31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4.2b</a:t>
            </a:r>
          </a:p>
        </p:txBody>
      </p:sp>
      <p:sp>
        <p:nvSpPr>
          <p:cNvPr id="5" name="">
            <a:extLst xmlns:a="http://schemas.openxmlformats.org/drawingml/2006/main">
              <a:ext uri="{FF2B5EF4-FFF2-40B4-BE49-F238E27FC236}">
                <a16:creationId xmlns:a16="http://schemas.microsoft.com/office/drawing/2014/main" id="{B5CCCED5-8D5D-4758-BF59-6DE16FDD5D3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3010DF40-D6EB-40D5-9807-70EBB39918E2}"/>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JavaBeans define convenciones de propiedades.</a:t>
            </a:r>
          </a:p>
        </p:txBody>
      </p:sp>
      <p:sp>
        <p:nvSpPr>
          <p:cNvPr id="7" name="">
            <a:extLst xmlns:a="http://schemas.openxmlformats.org/drawingml/2006/main">
              <a:ext uri="{FF2B5EF4-FFF2-40B4-BE49-F238E27FC236}">
                <a16:creationId xmlns:a16="http://schemas.microsoft.com/office/drawing/2014/main" id="{64352474-7184-4FB6-AFB1-F6A93DB54AD4}"/>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 JavaBean suele tener constructor público sin argumentos y propiedades accesibles con getters y setters. getNombre y setNombre describen la propiedad nombre. Para boolean puede utilizarse isActivo. Las herramientas de introspección identifican esas propiedades sin acceder directamente a los campos.</a:t>
            </a:r>
          </a:p>
        </p:txBody>
      </p:sp>
      <p:sp>
        <p:nvSpPr>
          <p:cNvPr id="8" name="">
            <a:extLst xmlns:a="http://schemas.openxmlformats.org/drawingml/2006/main">
              <a:ext uri="{FF2B5EF4-FFF2-40B4-BE49-F238E27FC236}">
                <a16:creationId xmlns:a16="http://schemas.microsoft.com/office/drawing/2014/main" id="{F03948F7-9B60-4EE7-8C44-F983CCC4A341}"/>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484B72-65DE-4757-88B4-61629611437F}"/>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El concepto no equivale a un bean de un contenedor de inyección como Spring. Tampoco exige anotaciones de persistencia.</a:t>
            </a:r>
          </a:p>
        </p:txBody>
      </p:sp>
    </p:spTree>
    <p:extLst>
      <p:ext uri="{BB962C8B-B14F-4D97-AF65-F5344CB8AC3E}">
        <p14:creationId xmlns:p14="http://schemas.microsoft.com/office/powerpoint/2010/main" val="1110937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EC4812-F653-4524-83F6-C3F8EFF3A859}"/>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F616C7-AD63-4324-8A6A-EA0D7D6A828F}"/>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Encapsulamiento y validación</a:t>
            </a:r>
          </a:p>
        </p:txBody>
      </p:sp>
      <p:sp>
        <p:nvSpPr>
          <p:cNvPr id="3" name="">
            <a:extLst xmlns:a="http://schemas.openxmlformats.org/drawingml/2006/main">
              <a:ext uri="{FF2B5EF4-FFF2-40B4-BE49-F238E27FC236}">
                <a16:creationId xmlns:a16="http://schemas.microsoft.com/office/drawing/2014/main" id="{C4E99607-527E-4EAC-AA82-5B693052037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6567F6-B8AB-4C50-9406-447D4689EB07}"/>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4.2b</a:t>
            </a:r>
          </a:p>
        </p:txBody>
      </p:sp>
      <p:sp>
        <p:nvSpPr>
          <p:cNvPr id="5" name="">
            <a:extLst xmlns:a="http://schemas.openxmlformats.org/drawingml/2006/main">
              <a:ext uri="{FF2B5EF4-FFF2-40B4-BE49-F238E27FC236}">
                <a16:creationId xmlns:a16="http://schemas.microsoft.com/office/drawing/2014/main" id="{310FCD64-1D79-4DC2-B648-83FCDC19590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E3075E8D-3DF7-4D87-868C-23DC446EBD37}"/>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Los setters deben preservar las reglas del objeto.</a:t>
            </a:r>
          </a:p>
        </p:txBody>
      </p:sp>
      <p:sp>
        <p:nvSpPr>
          <p:cNvPr id="7" name="">
            <a:extLst xmlns:a="http://schemas.openxmlformats.org/drawingml/2006/main">
              <a:ext uri="{FF2B5EF4-FFF2-40B4-BE49-F238E27FC236}">
                <a16:creationId xmlns:a16="http://schemas.microsoft.com/office/drawing/2014/main" id="{9F150ED6-D298-4111-B81F-E2236CAE29CF}"/>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 setter debe proteger la regla del atributo, por ejemplo rechazar una ubicación vacía. Varias propiedades relacionadas pueden requerir validación conjunta para evitar estados intermedios incoherentes. Un constructor vacío permite construir antes de completar los campos, por lo que el código debe saber cuándo el objeto está listo para usarse.</a:t>
            </a:r>
          </a:p>
        </p:txBody>
      </p:sp>
      <p:sp>
        <p:nvSpPr>
          <p:cNvPr id="8" name="">
            <a:extLst xmlns:a="http://schemas.openxmlformats.org/drawingml/2006/main">
              <a:ext uri="{FF2B5EF4-FFF2-40B4-BE49-F238E27FC236}">
                <a16:creationId xmlns:a16="http://schemas.microsoft.com/office/drawing/2014/main" id="{61F08A60-AA37-481E-BFDE-FAA6F8C1ED68}"/>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F3A06B8-200E-4138-BEE7-5C550D1B65FD}"/>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Los modelos mutables no son automáticamente seguros para concurrencia. Si una interfaz necesita enlazar propiedades modificables, el Bean puede resultar conveniente.</a:t>
            </a:r>
          </a:p>
        </p:txBody>
      </p:sp>
    </p:spTree>
    <p:extLst>
      <p:ext uri="{BB962C8B-B14F-4D97-AF65-F5344CB8AC3E}">
        <p14:creationId xmlns:p14="http://schemas.microsoft.com/office/powerpoint/2010/main" val="9741559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A5747B-F212-483C-BAC3-30676AFE9B9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582A0E-71D2-4E47-8FDF-7C4C14BFDF1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Introspección y mapeo</a:t>
            </a:r>
          </a:p>
        </p:txBody>
      </p:sp>
      <p:sp>
        <p:nvSpPr>
          <p:cNvPr id="3" name="">
            <a:extLst xmlns:a="http://schemas.openxmlformats.org/drawingml/2006/main">
              <a:ext uri="{FF2B5EF4-FFF2-40B4-BE49-F238E27FC236}">
                <a16:creationId xmlns:a16="http://schemas.microsoft.com/office/drawing/2014/main" id="{0E683F8D-9BDD-467C-B68E-DA2FDEA3790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ABA751-6DEA-40F7-A2A1-AB38197D1994}"/>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4.2b</a:t>
            </a:r>
          </a:p>
        </p:txBody>
      </p:sp>
      <p:sp>
        <p:nvSpPr>
          <p:cNvPr id="5" name="">
            <a:extLst xmlns:a="http://schemas.openxmlformats.org/drawingml/2006/main">
              <a:ext uri="{FF2B5EF4-FFF2-40B4-BE49-F238E27FC236}">
                <a16:creationId xmlns:a16="http://schemas.microsoft.com/office/drawing/2014/main" id="{A507B789-AF4D-4BCB-B5CE-B253FF2CCA4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6D6804D2-0E90-4330-9BE7-0FADC2EA77EC}"/>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 introspección descubre las propiedades del Bean.</a:t>
            </a:r>
          </a:p>
        </p:txBody>
      </p:sp>
      <p:sp>
        <p:nvSpPr>
          <p:cNvPr id="7" name="">
            <a:extLst xmlns:a="http://schemas.openxmlformats.org/drawingml/2006/main">
              <a:ext uri="{FF2B5EF4-FFF2-40B4-BE49-F238E27FC236}">
                <a16:creationId xmlns:a16="http://schemas.microsoft.com/office/drawing/2014/main" id="{FEDF0082-4B9E-4F80-B3F2-A01F54BA2675}"/>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Introspector.getBeanInfo examina descriptores de propiedades y sus métodos de lectura y escritura. Proporcionar Object.class como límite evita tratar getClass como una propiedad del dominio. Invocar un descriptor puede lanzar excepciones relacionadas con reflexión o con la validación del setter.</a:t>
            </a:r>
          </a:p>
        </p:txBody>
      </p:sp>
      <p:sp>
        <p:nvSpPr>
          <p:cNvPr id="8" name="">
            <a:extLst xmlns:a="http://schemas.openxmlformats.org/drawingml/2006/main">
              <a:ext uri="{FF2B5EF4-FFF2-40B4-BE49-F238E27FC236}">
                <a16:creationId xmlns:a16="http://schemas.microsoft.com/office/drawing/2014/main" id="{BD8BAC8C-169C-4B2D-9E23-278869234C4F}"/>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85474F0-3B57-483A-A635-B45D344BA22A}"/>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El mapeo JDBC puede escribirse explícitamente: rs.getString("sensor_id") y bean.setSensorId(...). Esto mantiene visibles nombres de columnas y conversiones. Un mapeador genérico basado en reflexión reduce repetición, pero también desplaza errores a ejecución.</a:t>
            </a:r>
          </a:p>
        </p:txBody>
      </p:sp>
    </p:spTree>
    <p:extLst>
      <p:ext uri="{BB962C8B-B14F-4D97-AF65-F5344CB8AC3E}">
        <p14:creationId xmlns:p14="http://schemas.microsoft.com/office/powerpoint/2010/main" val="15901603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263143E-31A8-40BD-8475-83F418E3FBE9}"/>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DAE4D7-ECA2-44ED-8A5B-6402B23A2A3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JavaBean, DTO, entidad y record</a:t>
            </a:r>
          </a:p>
        </p:txBody>
      </p:sp>
      <p:sp>
        <p:nvSpPr>
          <p:cNvPr id="3" name="">
            <a:extLst xmlns:a="http://schemas.openxmlformats.org/drawingml/2006/main">
              <a:ext uri="{FF2B5EF4-FFF2-40B4-BE49-F238E27FC236}">
                <a16:creationId xmlns:a16="http://schemas.microsoft.com/office/drawing/2014/main" id="{3DD89B7D-FDDB-4C4A-BA16-F9A2709958F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155A2C-39E0-4C19-AAD8-C4D576745E5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4.2b</a:t>
            </a:r>
          </a:p>
        </p:txBody>
      </p:sp>
      <p:sp>
        <p:nvSpPr>
          <p:cNvPr id="5" name="">
            <a:extLst xmlns:a="http://schemas.openxmlformats.org/drawingml/2006/main">
              <a:ext uri="{FF2B5EF4-FFF2-40B4-BE49-F238E27FC236}">
                <a16:creationId xmlns:a16="http://schemas.microsoft.com/office/drawing/2014/main" id="{04C5C4E7-8F00-4D55-9D14-9BD86479A39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F86F4950-ECB8-4A35-83BA-8066E6C286E8}"/>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Bean, DTO, entidad y record describen conceptos distintos.</a:t>
            </a:r>
          </a:p>
        </p:txBody>
      </p:sp>
      <p:sp>
        <p:nvSpPr>
          <p:cNvPr id="7" name="">
            <a:extLst xmlns:a="http://schemas.openxmlformats.org/drawingml/2006/main">
              <a:ext uri="{FF2B5EF4-FFF2-40B4-BE49-F238E27FC236}">
                <a16:creationId xmlns:a16="http://schemas.microsoft.com/office/drawing/2014/main" id="{43A73A9C-E156-4545-8DE1-F430B32F797F}"/>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DTO describe el propósito de transferir datos; JavaBean describe convenciones de propiedades; entidad describe identidad y comportamiento del dominio o persistencia. Un mismo objeto puede cumplir más de un papel, pero los términos no son sinónimos.</a:t>
            </a:r>
          </a:p>
        </p:txBody>
      </p:sp>
      <p:sp>
        <p:nvSpPr>
          <p:cNvPr id="8" name="">
            <a:extLst xmlns:a="http://schemas.openxmlformats.org/drawingml/2006/main">
              <a:ext uri="{FF2B5EF4-FFF2-40B4-BE49-F238E27FC236}">
                <a16:creationId xmlns:a16="http://schemas.microsoft.com/office/drawing/2014/main" id="{F37A4927-7515-42E3-A8CD-73A63EDC0C33}"/>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53275B-5768-42C4-82A1-6F435E3DF7B6}"/>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Un record ofrece componentes finales y accesores con el nombre del componente, como sensorId(), no getters getSensorId. Por eso algunas herramientas basadas exclusivamente en convenciones JavaBeans requieren adaptación.</a:t>
            </a:r>
          </a:p>
        </p:txBody>
      </p:sp>
    </p:spTree>
    <p:extLst>
      <p:ext uri="{BB962C8B-B14F-4D97-AF65-F5344CB8AC3E}">
        <p14:creationId xmlns:p14="http://schemas.microsoft.com/office/powerpoint/2010/main" val="14678247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78345E-4F17-4541-B5C1-70EA1F7EC59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3439C5-C66A-4254-BBC7-51361C1E444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D8A407BA-5E48-439D-AB8E-F8409002ECB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5CE450-98A5-4682-8FDB-9F37F86A89F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4.2b</a:t>
            </a:r>
          </a:p>
        </p:txBody>
      </p:sp>
      <p:sp>
        <p:nvSpPr>
          <p:cNvPr id="5" name="">
            <a:extLst xmlns:a="http://schemas.openxmlformats.org/drawingml/2006/main">
              <a:ext uri="{FF2B5EF4-FFF2-40B4-BE49-F238E27FC236}">
                <a16:creationId xmlns:a16="http://schemas.microsoft.com/office/drawing/2014/main" id="{CC61E78B-FC39-4318-9CE5-5D8D2318FEE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67224296-A27C-409E-AB4A-D32D68352483}"/>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8A7CED5-225E-45F5-A6C0-3C4A94BA503A}"/>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IntrospectionException, ReflectiveOperationException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SensorBean bean = new SensorBean();bean.setId("S01");bean.setUbicacion("Lab");</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var propiedades = Introspector.getBeanInfo(SensorBean.class,Object.class).getPropertyDescriptors();</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Arrays.sort(propiedades,Comparator.comparing(PropertyDescriptor::getName));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for(var p:propiedades) System.out.println(p.getName()+"="+p.getReadMethod().invoke(bean));</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F4DCDEAB-C857-4D14-BAE1-51A84D632D43}"/>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BeansDemo.java. Código completo y ejecución en material.md.</a:t>
            </a:r>
          </a:p>
        </p:txBody>
      </p:sp>
    </p:spTree>
    <p:extLst>
      <p:ext uri="{BB962C8B-B14F-4D97-AF65-F5344CB8AC3E}">
        <p14:creationId xmlns:p14="http://schemas.microsoft.com/office/powerpoint/2010/main" val="7508196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6775B8-54E7-4EBB-845E-4E58E371C8E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153A8B-A660-4CD8-9DBB-41D7EB975B95}"/>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3BA158EE-896F-4517-A411-28ED9301739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A5097B-390C-4819-A2F3-C99B9B2C8A9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4.2b</a:t>
            </a:r>
          </a:p>
        </p:txBody>
      </p:sp>
      <p:sp>
        <p:nvSpPr>
          <p:cNvPr id="5" name="">
            <a:extLst xmlns:a="http://schemas.openxmlformats.org/drawingml/2006/main">
              <a:ext uri="{FF2B5EF4-FFF2-40B4-BE49-F238E27FC236}">
                <a16:creationId xmlns:a16="http://schemas.microsoft.com/office/drawing/2014/main" id="{35A87758-58F1-425F-9CA7-274CD4DC310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Bean con propiedades válidas</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Introspección reconoce id y ubicación</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Ubicación vacía</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Setter rechaza</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Record</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Accesores no siguen automáticamente getX</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0204B331-23CA-4A6A-A8D1-5460A537B91F}"/>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id=S01 · ubicacion=Lab</a:t>
            </a:r>
          </a:p>
        </p:txBody>
      </p:sp>
    </p:spTree>
    <p:extLst>
      <p:ext uri="{BB962C8B-B14F-4D97-AF65-F5344CB8AC3E}">
        <p14:creationId xmlns:p14="http://schemas.microsoft.com/office/powerpoint/2010/main" val="8521760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1C2798-35E5-45C7-832C-4E8074A11F6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616FBA-1084-4492-940C-A5CEF56182F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PC4.2b · Ampliación del proyecto</a:t>
            </a:r>
          </a:p>
        </p:txBody>
      </p:sp>
      <p:sp>
        <p:nvSpPr>
          <p:cNvPr id="3" name="">
            <a:extLst xmlns:a="http://schemas.openxmlformats.org/drawingml/2006/main">
              <a:ext uri="{FF2B5EF4-FFF2-40B4-BE49-F238E27FC236}">
                <a16:creationId xmlns:a16="http://schemas.microsoft.com/office/drawing/2014/main" id="{FAE580C2-48F1-4A51-A753-185CE46AAEA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249003-F874-4A9B-B490-52B96F9B1BC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4.2b</a:t>
            </a:r>
          </a:p>
        </p:txBody>
      </p:sp>
      <p:sp>
        <p:nvSpPr>
          <p:cNvPr id="5" name="">
            <a:extLst xmlns:a="http://schemas.openxmlformats.org/drawingml/2006/main">
              <a:ext uri="{FF2B5EF4-FFF2-40B4-BE49-F238E27FC236}">
                <a16:creationId xmlns:a16="http://schemas.microsoft.com/office/drawing/2014/main" id="{0EA22781-2D4F-40EC-B09D-98B6BC3AD31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25897F5D-8195-45FB-876E-F8989A7A7521}"/>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0793A40D-4BB0-40B5-8152-E6584D0033C9}"/>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Crea SensorBean con constructor sin argumentos, getters y setters validados. Agrega un mapper explícito desde una fila JDBC.</a:t>
            </a:r>
          </a:p>
        </p:txBody>
      </p:sp>
      <p:sp>
        <p:nvSpPr>
          <p:cNvPr id="8" name="">
            <a:extLst xmlns:a="http://schemas.openxmlformats.org/drawingml/2006/main">
              <a:ext uri="{FF2B5EF4-FFF2-40B4-BE49-F238E27FC236}">
                <a16:creationId xmlns:a16="http://schemas.microsoft.com/office/drawing/2014/main" id="{6AF7A635-AF4C-478C-8168-FD9D131DE5E0}"/>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0D49B384-2575-481B-8A59-91D2E4D9DD74}"/>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Representa la misma salida con un record SensorDto y compara mutabilidad, constructores y nombres de accesores.</a:t>
            </a:r>
          </a:p>
        </p:txBody>
      </p:sp>
      <p:sp>
        <p:nvSpPr>
          <p:cNvPr id="10" name="">
            <a:extLst xmlns:a="http://schemas.openxmlformats.org/drawingml/2006/main">
              <a:ext uri="{FF2B5EF4-FFF2-40B4-BE49-F238E27FC236}">
                <a16:creationId xmlns:a16="http://schemas.microsoft.com/office/drawing/2014/main" id="{39557E09-2FC4-4E3B-8077-EC4A8FDE1CB2}"/>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02FCA521-885F-4C3D-B30E-94A0AA07DA01}"/>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Mantén el modelo de dominio separado de los componentes Swing. Documenta qué representación eliges para consultas de solo lectura.</a:t>
            </a:r>
          </a:p>
        </p:txBody>
      </p:sp>
    </p:spTree>
    <p:extLst>
      <p:ext uri="{BB962C8B-B14F-4D97-AF65-F5344CB8AC3E}">
        <p14:creationId xmlns:p14="http://schemas.microsoft.com/office/powerpoint/2010/main" val="8859784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EDD985-783F-4385-A957-155C0ED092B4}"/>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69EDA6-668E-4CA8-B0A2-59D72222637F}"/>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138A3496-D95E-44A8-A30F-DF64946246E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AE6D253-ACFB-4B09-BD81-8472E1D170D9}"/>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4.2b</a:t>
            </a:r>
          </a:p>
        </p:txBody>
      </p:sp>
      <p:sp>
        <p:nvSpPr>
          <p:cNvPr id="5" name="">
            <a:extLst xmlns:a="http://schemas.openxmlformats.org/drawingml/2006/main">
              <a:ext uri="{FF2B5EF4-FFF2-40B4-BE49-F238E27FC236}">
                <a16:creationId xmlns:a16="http://schemas.microsoft.com/office/drawing/2014/main" id="{4D8A83FF-3F37-49FD-AE60-7CC3E3487FD3}"/>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B4A07C39-AFFB-43F4-9141-FD1973C972D2}"/>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JavaBeans define convenciones de propiedades.</a:t>
            </a:r>
          </a:p>
        </p:txBody>
      </p:sp>
      <p:sp>
        <p:nvSpPr>
          <p:cNvPr id="7" name="">
            <a:extLst xmlns:a="http://schemas.openxmlformats.org/drawingml/2006/main">
              <a:ext uri="{FF2B5EF4-FFF2-40B4-BE49-F238E27FC236}">
                <a16:creationId xmlns:a16="http://schemas.microsoft.com/office/drawing/2014/main" id="{1FDA0706-2EF6-4C1C-9CDE-E3F73C145A23}"/>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Los setters deben preservar las reglas del objeto.</a:t>
            </a:r>
          </a:p>
        </p:txBody>
      </p:sp>
      <p:sp>
        <p:nvSpPr>
          <p:cNvPr id="8" name="">
            <a:extLst xmlns:a="http://schemas.openxmlformats.org/drawingml/2006/main">
              <a:ext uri="{FF2B5EF4-FFF2-40B4-BE49-F238E27FC236}">
                <a16:creationId xmlns:a16="http://schemas.microsoft.com/office/drawing/2014/main" id="{E9E05B52-D519-47B5-84CF-27797EC6AF63}"/>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La introspección descubre las propiedades del Bean.</a:t>
            </a:r>
          </a:p>
        </p:txBody>
      </p:sp>
      <p:sp>
        <p:nvSpPr>
          <p:cNvPr id="9" name="">
            <a:extLst xmlns:a="http://schemas.openxmlformats.org/drawingml/2006/main">
              <a:ext uri="{FF2B5EF4-FFF2-40B4-BE49-F238E27FC236}">
                <a16:creationId xmlns:a16="http://schemas.microsoft.com/office/drawing/2014/main" id="{7891F890-E88F-4487-9C84-1F9AA5BB04F6}"/>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Bean, DTO, entidad y record describen conceptos distintos.</a:t>
            </a:r>
          </a:p>
        </p:txBody>
      </p:sp>
    </p:spTree>
    <p:extLst>
      <p:ext uri="{BB962C8B-B14F-4D97-AF65-F5344CB8AC3E}">
        <p14:creationId xmlns:p14="http://schemas.microsoft.com/office/powerpoint/2010/main" val="14597518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2026-09-10T23:07:13.0450000Z</dcterms:created>
  <dcterms:modified xsi:type="dcterms:W3CDTF">2026-09-10T23:07:13.0450000Z</dcterms:modified>
</coreProperties>
</file>