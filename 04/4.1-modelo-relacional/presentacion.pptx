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1aaa5546bc45aa" /><Relationship Type="http://schemas.openxmlformats.org/officeDocument/2006/relationships/extended-properties" Target="/docProps/app.xml" Id="Rd329ddd17f8d4e5b" /><Relationship Type="http://schemas.openxmlformats.org/officeDocument/2006/relationships/officeDocument" Target="/ppt/presentation.xml" Id="R4ea04199553245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425f978f194ea3"/>
  </p:sldMasterIdLst>
  <p:notesMasterIdLst>
    <p:notesMasterId xmlns:r="http://schemas.openxmlformats.org/officeDocument/2006/relationships" r:id="R00b28629e0914afd"/>
  </p:notesMasterIdLst>
  <p:sldIdLst>
    <p:sldId xmlns:r="http://schemas.openxmlformats.org/officeDocument/2006/relationships" id="256" r:id="Rbcbb1772c4604650"/>
    <p:sldId xmlns:r="http://schemas.openxmlformats.org/officeDocument/2006/relationships" id="257" r:id="R4140a0961d6648a1"/>
    <p:sldId xmlns:r="http://schemas.openxmlformats.org/officeDocument/2006/relationships" id="258" r:id="R775281f78ddd4b30"/>
    <p:sldId xmlns:r="http://schemas.openxmlformats.org/officeDocument/2006/relationships" id="259" r:id="Rb7fe21fa71484c47"/>
    <p:sldId xmlns:r="http://schemas.openxmlformats.org/officeDocument/2006/relationships" id="260" r:id="Rc9a642178fec4305"/>
    <p:sldId xmlns:r="http://schemas.openxmlformats.org/officeDocument/2006/relationships" id="261" r:id="R4d7728380ad1471c"/>
    <p:sldId xmlns:r="http://schemas.openxmlformats.org/officeDocument/2006/relationships" id="262" r:id="R16d30e9b33ce4d2a"/>
    <p:sldId xmlns:r="http://schemas.openxmlformats.org/officeDocument/2006/relationships" id="263" r:id="R9450391b769b4177"/>
    <p:sldId xmlns:r="http://schemas.openxmlformats.org/officeDocument/2006/relationships" id="264" r:id="R26dbc52902594e9c"/>
    <p:sldId xmlns:r="http://schemas.openxmlformats.org/officeDocument/2006/relationships" id="265" r:id="Re8a736a8a81a4b95"/>
    <p:sldId xmlns:r="http://schemas.openxmlformats.org/officeDocument/2006/relationships" id="266" r:id="R1c7ea0a859484f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dca75f1d42426b" /><Relationship Type="http://schemas.openxmlformats.org/officeDocument/2006/relationships/slideMaster" Target="/ppt/slideMasters/slideMaster1.xml" Id="Reb425f978f194ea3" /><Relationship Type="http://schemas.openxmlformats.org/officeDocument/2006/relationships/notesMaster" Target="/ppt/notesMasters/notesMaster1.xml" Id="R00b28629e0914afd" /><Relationship Type="http://schemas.openxmlformats.org/officeDocument/2006/relationships/presProps" Target="/ppt/presProps.xml" Id="R9a99396c16e74e5f" /><Relationship Type="http://schemas.openxmlformats.org/officeDocument/2006/relationships/tableStyles" Target="/ppt/tableStyles.xml" Id="R5bacafbafb6f4610" /><Relationship Type="http://schemas.openxmlformats.org/officeDocument/2006/relationships/slide" Target="/ppt/slides/slide1.xml" Id="Rbcbb1772c4604650" /><Relationship Type="http://schemas.openxmlformats.org/officeDocument/2006/relationships/slide" Target="/ppt/slides/slide2.xml" Id="R4140a0961d6648a1" /><Relationship Type="http://schemas.openxmlformats.org/officeDocument/2006/relationships/slide" Target="/ppt/slides/slide3.xml" Id="R775281f78ddd4b30" /><Relationship Type="http://schemas.openxmlformats.org/officeDocument/2006/relationships/slide" Target="/ppt/slides/slide4.xml" Id="Rb7fe21fa71484c47" /><Relationship Type="http://schemas.openxmlformats.org/officeDocument/2006/relationships/slide" Target="/ppt/slides/slide5.xml" Id="Rc9a642178fec4305" /><Relationship Type="http://schemas.openxmlformats.org/officeDocument/2006/relationships/slide" Target="/ppt/slides/slide6.xml" Id="R4d7728380ad1471c" /><Relationship Type="http://schemas.openxmlformats.org/officeDocument/2006/relationships/slide" Target="/ppt/slides/slide7.xml" Id="R16d30e9b33ce4d2a" /><Relationship Type="http://schemas.openxmlformats.org/officeDocument/2006/relationships/slide" Target="/ppt/slides/slide8.xml" Id="R9450391b769b4177" /><Relationship Type="http://schemas.openxmlformats.org/officeDocument/2006/relationships/slide" Target="/ppt/slides/slide9.xml" Id="R26dbc52902594e9c" /><Relationship Type="http://schemas.openxmlformats.org/officeDocument/2006/relationships/slide" Target="/ppt/slides/slide10.xml" Id="Re8a736a8a81a4b95" /><Relationship Type="http://schemas.openxmlformats.org/officeDocument/2006/relationships/slide" Target="/ppt/slides/slide11.xml" Id="R1c7ea0a859484f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b6c8c1ae7146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9b182f950a4fdc" /><Relationship Type="http://schemas.openxmlformats.org/officeDocument/2006/relationships/notesMaster" Target="/ppt/notesMasters/notesMaster1.xml" Id="Rd1bdb397b94a42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b6b338d5cb48b9" /><Relationship Type="http://schemas.openxmlformats.org/officeDocument/2006/relationships/notesMaster" Target="/ppt/notesMasters/notesMaster1.xml" Id="R8d5cc75c12f440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04a5cc20044d10" /><Relationship Type="http://schemas.openxmlformats.org/officeDocument/2006/relationships/notesMaster" Target="/ppt/notesMasters/notesMaster1.xml" Id="R4e943107f02848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6219cebb444f50" /><Relationship Type="http://schemas.openxmlformats.org/officeDocument/2006/relationships/notesMaster" Target="/ppt/notesMasters/notesMaster1.xml" Id="R0d3b4a7fc8c14b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8a6cfca4324d10" /><Relationship Type="http://schemas.openxmlformats.org/officeDocument/2006/relationships/notesMaster" Target="/ppt/notesMasters/notesMaster1.xml" Id="Rac3b76c0135c46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328a0ada014d0b" /><Relationship Type="http://schemas.openxmlformats.org/officeDocument/2006/relationships/notesMaster" Target="/ppt/notesMasters/notesMaster1.xml" Id="Rb703697243534f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5afe57de9849c9" /><Relationship Type="http://schemas.openxmlformats.org/officeDocument/2006/relationships/notesMaster" Target="/ppt/notesMasters/notesMaster1.xml" Id="R1001420f92d44f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531b02e8be4c51" /><Relationship Type="http://schemas.openxmlformats.org/officeDocument/2006/relationships/notesMaster" Target="/ppt/notesMasters/notesMaster1.xml" Id="Re16410177b6d41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bc1bf2a0b14cb2" /><Relationship Type="http://schemas.openxmlformats.org/officeDocument/2006/relationships/notesMaster" Target="/ppt/notesMasters/notesMaster1.xml" Id="R18142a83080d47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649d92a8b3468f" /><Relationship Type="http://schemas.openxmlformats.org/officeDocument/2006/relationships/notesMaster" Target="/ppt/notesMasters/notesMaster1.xml" Id="R2cba57d2b8104d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11e42b4e8d427e" /><Relationship Type="http://schemas.openxmlformats.org/officeDocument/2006/relationships/notesMaster" Target="/ppt/notesMasters/notesMaster1.xml" Id="R2e54622b0a6a40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4.1. Modelo relacional y SQL. Autor: Ing. Pablo Torres, Mgtr.</a:t>
            </a:r>
          </a:p>
          <a:p xmlns:a="http://schemas.openxmlformats.org/drawingml/2006/main">
            <a:r>
              <a:t>Logo original proporcionado por 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repositorio en memoria pierde su contenido al cerrar CampusMonitor. Una base relacional permite guardar sensores y lecturas con identidades, relaciones y restricciones que sobreviven a la ejecución.</a:t>
            </a:r>
          </a:p>
          <a:p xmlns:a="http://schemas.openxmlformats.org/drawingml/2006/main">
            <a:r>
              <a:t>Fuente del desarrollo: material.md, contexto.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Imagen original generada para el material. Prompt y origen en docs/prompts-imagenes.json.</a:t>
            </a:r>
          </a:p>
          <a:p xmlns:a="http://schemas.openxmlformats.org/drawingml/2006/main">
            <a:r>
              <a:t>No constituye un esquema eléctrico ni una especificación técnica.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tabla representa una relación con columnas tipadas y filas. La clave primaria identifica cada fila y no admite valores nulos. Una clave foránea exige que una referencia corresponda a una fila válida de otra tabla, según las reglas configuradas. En CampusMonitor, lectura.sensor_id referencia sensor.id.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modelo separa sensores de lecturas para no repetir ubicación y tipo del dispositivo en cada medición. Una clave técnica generada puede identificar la lectura, mientras sensor_id y secuencia pueden formar una restricción única del protocolo. Diseña la identidad según la semántica de duplicados, no solo porque el motor permita autoincremento.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Elige tipos que representen el dato y su precisión. INTEGER sirve para cantidades enteras, NUMERIC para decimales exactos y DOUBLE PRECISION para medidas aproximadas. TIMESTAMP WITH TIME ZONE representa un instante con semántica temporal según el motor. En Java, Instant u OffsetDateTime ayudan a evitar la ambigüedad de horarios locales.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 NULL, UNIQUE, CHECK y FOREIGN KEY protegen invariantes incluso si otra aplicación escribe en la base. Una validación en Java ofrece mejores mensajes al usuario, pero no sustituye a la restricción persistente. Evita borrar un sensor con cascada sobre lecturas históricas sin decidir expresamente esa política.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INSERT crea filas, SELECT consulta, UPDATE modifica y DELETE elimina. WHERE restringe las filas afectadas y ORDER BY define el orden de los resultados. Sin ORDER BY no se garantiza un orden estable. JOIN reúne datos relacionados por una condición y no debe confundirse con copiar los datos físicamente.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 consultas agregadas como COUNT y AVG resumen grupos. GROUP BY determina las categorías del resumen. Un índice puede favorecer filtros o uniones, pero agrega costo a escrituras y almacenamiento. En la práctica inicial, consulta por sensor y orden temporal, observando primero la corrección del resultado antes de optimizar.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script de esquema versionado documenta cómo crear la base. Las migraciones posteriores deben conservar datos existentes y registrar su orden. No soluciones cada cambio eliminando la base completa. La demostración usa H2 en memoria para una ejecución aislada y reproducible. El proyecto del estudiante usará PostgreSQL mediante JDBC en los contenidos siguientes.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 diferencias entre motores importan: identidad, funciones, tipos temporales y sintaxis de retorno pueden variar. Los scripts de PostgreSQL se incluyen por separado. No se promete que una aplicación probada únicamente con H2 se comporte de forma idéntica en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</a:t>
            </a:r>
          </a:p>
          <a:p xmlns:a="http://schemas.openxmlformats.org/drawingml/2006/main">
            <a:r>
              <a:t>https://docs.oracle.com/en/java/javase/25/docs/api/java.sql/java/sql/package-summary.html</a:t>
            </a:r>
          </a:p>
          <a:p xmlns:a="http://schemas.openxmlformats.org/drawingml/2006/main">
            <a:r>
              <a:t>https://jdbc.postgresql.org/documentation/</a:t>
            </a:r>
          </a:p>
          <a:p xmlns:a="http://schemas.openxmlformats.org/drawingml/2006/main">
            <a:r>
              <a:t>https://db.apache.org/jdo/</a:t>
            </a:r>
          </a:p>
          <a:p xmlns:a="http://schemas.openxmlformats.org/drawingml/2006/main">
            <a:r>
              <a:t>https://www.datanucleus.org/products/accessplatform_6_0/jdo/guide.html</a:t>
            </a:r>
          </a:p>
          <a:p xmlns:a="http://schemas.openxmlformats.org/drawingml/2006/main">
            <a:r>
              <a:t>Correspondencia: material.md, sección 1.4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completo:</a:t>
            </a:r>
          </a:p>
          <a:p xmlns:a="http://schemas.openxmlformats.org/drawingml/2006/main">
            <a:r>
              <a:t>package edu.ups.pap.u04;</a:t>
            </a:r>
          </a:p>
          <a:p xmlns:a="http://schemas.openxmlformats.org/drawingml/2006/main">
            <a:r>
              <a:t>import java.sql.*;</a:t>
            </a:r>
          </a:p>
          <a:p xmlns:a="http://schemas.openxmlformats.org/drawingml/2006/main">
            <a:r>
              <a:t>public class RelacionalDemo {</a:t>
            </a:r>
          </a:p>
          <a:p xmlns:a="http://schemas.openxmlformats.org/drawingml/2006/main">
            <a:r>
              <a:t>    public static void main(String[] args) throws SQLException {</a:t>
            </a:r>
          </a:p>
          <a:p xmlns:a="http://schemas.openxmlformats.org/drawingml/2006/main">
            <a:r>
              <a:t>        try (Connection c = DriverManager.getConnection("jdbc:h2:mem:modelo")) {</a:t>
            </a:r>
          </a:p>
          <a:p xmlns:a="http://schemas.openxmlformats.org/drawingml/2006/main">
            <a:r>
              <a:t>            try (Statement s = c.createStatement()) {</a:t>
            </a:r>
          </a:p>
          <a:p xmlns:a="http://schemas.openxmlformats.org/drawingml/2006/main">
            <a:r>
              <a:t>                s.execute("CREATE TABLE sensor(id VARCHAR(8) PRIMARY KEY, ubicacion VARCHAR(80) NOT NULL)");</a:t>
            </a:r>
          </a:p>
          <a:p xmlns:a="http://schemas.openxmlformats.org/drawingml/2006/main">
            <a:r>
              <a:t>                s.execute("CREATE TABLE lectura(id BIGINT GENERATED ALWAYS AS IDENTITY PRIMARY KEY, sensor_id VARCHAR(8) REFERENCES sensor(id), valor DOUBLE PRECISION NOT NULL)");</a:t>
            </a:r>
          </a:p>
          <a:p xmlns:a="http://schemas.openxmlformats.org/drawingml/2006/main">
            <a:r>
              <a:t>                s.executeUpdate("INSERT INTO sensor VALUES('S01','Lab'),('S02','Biblioteca')");</a:t>
            </a:r>
          </a:p>
          <a:p xmlns:a="http://schemas.openxmlformats.org/drawingml/2006/main">
            <a:r>
              <a:t>                s.executeUpdate("INSERT INTO lectura(sensor_id,valor) VALUES('S01',22),('S01',24)");</a:t>
            </a:r>
          </a:p>
          <a:p xmlns:a="http://schemas.openxmlformats.org/drawingml/2006/main">
            <a:r>
              <a:t>                try (ResultSet r=s.executeQuery("SELECT s.id,COUNT(l.id) cantidad FROM sensor s LEFT JOIN lectura l ON s.id=l.sensor_id GROUP BY s.id ORDER BY s.id")) {</a:t>
            </a:r>
          </a:p>
          <a:p xmlns:a="http://schemas.openxmlformats.org/drawingml/2006/main">
            <a:r>
              <a:t>                    while(r.next()) System.out.println(r.getString("id")+": "+r.getInt("cantidad"));</a:t>
            </a:r>
          </a:p>
          <a:p xmlns:a="http://schemas.openxmlformats.org/drawingml/2006/main">
            <a:r>
              <a:t>                }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Salida:</a:t>
            </a:r>
          </a:p>
          <a:p xmlns:a="http://schemas.openxmlformats.org/drawingml/2006/main">
            <a:r>
              <a:t>S01: 2</a:t>
            </a:r>
          </a:p>
          <a:p xmlns:a="http://schemas.openxmlformats.org/drawingml/2006/main">
            <a:r>
              <a:t>S02: 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Salida esperada:</a:t>
            </a:r>
          </a:p>
          <a:p xmlns:a="http://schemas.openxmlformats.org/drawingml/2006/main">
            <a:r>
              <a:t>S01: 2</a:t>
            </a:r>
          </a:p>
          <a:p xmlns:a="http://schemas.openxmlformats.org/drawingml/2006/main">
            <a:r>
              <a:t>S02: 0</a:t>
            </a:r>
          </a:p>
          <a:p xmlns:a="http://schemas.openxmlformats.org/drawingml/2006/main">
            <a:r>
              <a:t>Casos de aceptación: material.md, sección 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Resuelve la ampliación en tu proyecto CampusMonitor.</a:t>
            </a:r>
          </a:p>
          <a:p xmlns:a="http://schemas.openxmlformats.org/drawingml/2006/main">
            <a:r>
              <a:t>Evidencia: evidencias/PC4.1.md y enlace al commit final.</a:t>
            </a:r>
          </a:p>
          <a:p xmlns:a="http://schemas.openxmlformats.org/drawingml/2006/main">
            <a:r>
              <a:t>Diseña sensor y lectura en PostgreSQL para CampusMonitor, con clave foránea, valores requeridos y unicidad de sensor más secuencia.</a:t>
            </a:r>
          </a:p>
          <a:p xmlns:a="http://schemas.openxmlformats.org/drawingml/2006/main">
            <a:r>
              <a:t>Versiona schema.sql y seed.sql. Inserta dos sensores, varias lecturas y un sensor sin lecturas para comprobar LEFT JOIN.</a:t>
            </a:r>
          </a:p>
          <a:p xmlns:a="http://schemas.openxmlformats.org/drawingml/2006/main">
            <a:r>
              <a:t>Escribe consultas de promedio por sensor y últimas lecturas ordenadas. Describe qué restricciones evitan datos inconsistentes.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del material. Revisa la sección 3 para la PC y la guía general para commits y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4170437a64a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1160e3302549fe" /><Relationship Type="http://schemas.openxmlformats.org/officeDocument/2006/relationships/slideLayout" Target="/ppt/slideLayouts/slideLayout1.xml" Id="Rbbc83800938d4b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c83800938d4b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9055bd1784a26" /><Relationship Type="http://schemas.openxmlformats.org/officeDocument/2006/relationships/image" Target="/ppt/media/image.png" Id="R51c0ba77e45e42c4" /><Relationship Type="http://schemas.openxmlformats.org/officeDocument/2006/relationships/notesSlide" Target="/ppt/notesSlides/notesSlide1.xml" Id="Ref3dc4a0d20f46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91ec89e0b45b4" /><Relationship Type="http://schemas.openxmlformats.org/officeDocument/2006/relationships/notesSlide" Target="/ppt/notesSlides/notesSlide2.xml" Id="R67a9813962b042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bf1954783457e" /><Relationship Type="http://schemas.openxmlformats.org/officeDocument/2006/relationships/image" Target="/ppt/media/image2.png" Id="R8fa9272f7ad94c47" /><Relationship Type="http://schemas.openxmlformats.org/officeDocument/2006/relationships/notesSlide" Target="/ppt/notesSlides/notesSlide3.xml" Id="Rf0abb35d410047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50cc59fc44b4e" /><Relationship Type="http://schemas.openxmlformats.org/officeDocument/2006/relationships/notesSlide" Target="/ppt/notesSlides/notesSlide4.xml" Id="R84095405c29a4f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1ccdf7f01425c" /><Relationship Type="http://schemas.openxmlformats.org/officeDocument/2006/relationships/notesSlide" Target="/ppt/notesSlides/notesSlide5.xml" Id="R89d1a04dc74f4c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d995e732d4211" /><Relationship Type="http://schemas.openxmlformats.org/officeDocument/2006/relationships/notesSlide" Target="/ppt/notesSlides/notesSlide6.xml" Id="R2b47bc847f4a41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7cf74f10340f0" /><Relationship Type="http://schemas.openxmlformats.org/officeDocument/2006/relationships/notesSlide" Target="/ppt/notesSlides/notesSlide7.xml" Id="Rd42b837237a141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9e501b4044064" /><Relationship Type="http://schemas.openxmlformats.org/officeDocument/2006/relationships/notesSlide" Target="/ppt/notesSlides/notesSlide8.xml" Id="R690fa8b860cc4f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6574d6d3d4d9c" /><Relationship Type="http://schemas.openxmlformats.org/officeDocument/2006/relationships/notesSlide" Target="/ppt/notesSlides/notesSlide9.xml" Id="R1928467d73d240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7a46506644cdc" /><Relationship Type="http://schemas.openxmlformats.org/officeDocument/2006/relationships/notesSlide" Target="/ppt/notesSlides/notesSlide10.xml" Id="R882c791bb56949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004d7cdb447bb" /><Relationship Type="http://schemas.openxmlformats.org/officeDocument/2006/relationships/notesSlide" Target="/ppt/notesSlides/notesSlide11.xml" Id="R275fd76fe90f4e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0ba77e45e42c4"/>
          <a:stretch xmlns:a="http://schemas.openxmlformats.org/drawingml/2006/main"/>
        </p:blipFill>
        <p:spPr>
          <a:xfrm xmlns:a="http://schemas.openxmlformats.org/drawingml/2006/main">
            <a:off x="609600" y="545418"/>
            <a:ext cx="6858000" cy="112848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8E553-DBB5-49C4-A99B-1A6EC6A5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45260-5870-4A61-AEF3-B1696B0D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Modelo relacional y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9D183-D607-45E3-BCAE-15729410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C2DCC-9C07-44DB-AE1A-93D6A6F1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Unidad 4 · 4.1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5DDFF-F359-46CB-9983-49372E61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93185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D97FF-EDDE-447E-ABB5-F7F058F7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89543-1FB9-4A99-9A5C-5F7491B1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problema de CampusMonitor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0D43A-330E-4924-8B00-1F9E3730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582DC-C29C-43D8-95FE-366AD652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9B900-F168-450E-A69C-5A44422C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FC469-3298-43D0-9B7B-B952AC99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repositorio en memoria pierde su contenido al cerrar CampusMonitor. Una base relacional permite guardar sensores y lecturas con identidades, relaciones y restricciones que sobreviven a la ejecución.</a:t>
            </a:r>
          </a:p>
        </p:txBody>
      </p:sp>
    </p:spTree>
    <p:extLst>
      <p:ext uri="{BB962C8B-B14F-4D97-AF65-F5344CB8AC3E}">
        <p14:creationId xmlns:p14="http://schemas.microsoft.com/office/powerpoint/2010/main" val="1975998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32BD6-4E14-454E-86D4-352A83FE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5F5A0-7DD0-457B-AC99-EA51F64F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Una analogía para el concepto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963A2-72E7-4813-BC15-91280645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7613B-1EBE-4F19-8D4F-74010F43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774A6-0D6B-4522-82D3-F55CE29F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9272f7ad94c47"/>
          <a:stretch xmlns:a="http://schemas.openxmlformats.org/drawingml/2006/main"/>
        </p:blipFill>
        <p:spPr>
          <a:xfrm xmlns:a="http://schemas.openxmlformats.org/drawingml/2006/main">
            <a:off x="4862513" y="1504950"/>
            <a:ext cx="6715125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BB80B-4C60-41DA-BD95-CE245F32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claves identifican filas y relacionan las tablas.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56084-714B-42DE-B0CD-E0D289F7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ilustración sirve como analogía. El contrato técnico se define en el código.</a:t>
            </a:r>
          </a:p>
        </p:txBody>
      </p:sp>
    </p:spTree>
    <p:extLst>
      <p:ext uri="{BB962C8B-B14F-4D97-AF65-F5344CB8AC3E}">
        <p14:creationId xmlns:p14="http://schemas.microsoft.com/office/powerpoint/2010/main" val="154247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52DE4-BC20-4E7C-98E8-7A5233BE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B93D9-192A-409B-969B-CF5126B4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Relaciones, filas y claves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C5BA8-0C3E-477A-A4AA-135E1FB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3FE6E-A4DD-49D1-B4D9-DCBE2FFE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EEA0E-6E80-4414-8AF7-BDB4C250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ACD67-9DDF-4833-9C39-627F35B5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claves identifican filas y relacionan las tablas.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5B67C-DFA3-469B-8A8F-A56D5A85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tabla representa una relación con columnas tipadas y filas. La clave primaria identifica cada fila y no admite valores nulos. Una clave foránea exige que una referencia corresponda a una fila válida de otra tabla, según las reglas configuradas. En CampusMonitor, lectura.sensor_id referencia sensor.id.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400FF-E9FD-4263-8099-B4167413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FCBA6-2D2D-4106-8367-F8361C8F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El modelo separa sensores de lecturas para no repetir ubicación y tipo del dispositivo en cada medición.</a:t>
            </a:r>
          </a:p>
        </p:txBody>
      </p:sp>
    </p:spTree>
    <p:extLst>
      <p:ext uri="{BB962C8B-B14F-4D97-AF65-F5344CB8AC3E}">
        <p14:creationId xmlns:p14="http://schemas.microsoft.com/office/powerpoint/2010/main" val="1360762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B5721-B430-47C9-B144-05422B3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31111-1C22-4C0B-AA03-EC16F790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Tipos y restricciones del dominio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8D632-EA36-432B-B851-6A2A29EF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4EEEB-5683-407B-AF53-8C54CF74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7FBD7-8762-4B39-8730-77288EAE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3C55D-84E8-4CEE-BFCC-20E444C8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restricciones complementan la validación en Java.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B1914-F3ED-4EF0-AB8C-4232977D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Elige tipos que representen el dato y su precisión. INTEGER sirve para cantidades enteras, NUMERIC para decimales exactos y DOUBLE PRECISION para medidas aproximadas. TIMESTAMP WITH TIME ZONE representa un instante con semántica temporal según el motor. En Java, Instant u OffsetDateTime ayudan a evitar la ambigüedad de horarios locales.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9E250-DC26-4FA1-B420-1306E2A5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61C4F-DDFA-4EBB-A291-829BED1A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NOT NULL, UNIQUE, CHECK y FOREIGN KEY protegen invariantes incluso si otra aplicación escribe en la base.</a:t>
            </a:r>
          </a:p>
        </p:txBody>
      </p:sp>
    </p:spTree>
    <p:extLst>
      <p:ext uri="{BB962C8B-B14F-4D97-AF65-F5344CB8AC3E}">
        <p14:creationId xmlns:p14="http://schemas.microsoft.com/office/powerpoint/2010/main" val="582145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5184B-3366-455C-81B3-6D8701F6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5DFBD-6D3C-462A-9BBE-E22F943E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Operaciones SQL y consultas relacionadas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02E7B-0E07-4AB6-848C-207302B1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27F24-C933-4A8F-97CC-D3D2B7BF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CC90D-095B-4643-8FE7-E6A7AE08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47E10-A8F2-4806-A004-C6268994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JOIN relaciona datos; ORDER BY define el orden.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1AC4F-C183-4038-8146-16882952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INSERT crea filas, SELECT consulta, UPDATE modifica y DELETE elimina. WHERE restringe las filas afectadas y ORDER BY define el orden de los resultados. Sin ORDER BY no se garantiza un orden estable.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E9F77-2BD3-432A-8510-9CF104F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5238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41162-C131-4B4C-801E-14E15E45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4819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SELECT s.id, s.ubicacion, COUNT(l.id) AS cantidad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FROM sensor s LEFT JOIN lectura l ON l.sensor_id = s.id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GROUP BY s.id, s.ubicacion</a:t>
            </a:r>
          </a:p>
          <a:p xmlns:a="http://schemas.openxmlformats.org/drawingml/2006/main">
            <a:pPr>
              <a:def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ORDER BY s.id;</a:t>
            </a:r>
          </a:p>
        </p:txBody>
      </p:sp>
    </p:spTree>
    <p:extLst>
      <p:ext uri="{BB962C8B-B14F-4D97-AF65-F5344CB8AC3E}">
        <p14:creationId xmlns:p14="http://schemas.microsoft.com/office/powerpoint/2010/main" val="14955976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E2DD5-E806-40DD-90CD-4C207F78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FEBDA-701C-416F-9DE1-F9DA624B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Esquema reproducible y entorno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A4E44-5042-4C38-8C5B-DF45F380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E30C5-A489-4B61-A201-AE5890AB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C149F-6E38-42DB-94AB-9D6257B5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32ED4-AF10-433F-9A45-4910FA93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 esquema versionado permite reconstruir el entorno.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8B606-038A-4F5D-91AE-B59912DE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script de esquema versionado documenta cómo crear la base. Las migraciones posteriores deben conservar datos existentes y registrar su orden. No soluciones cada cambio eliminando la base completa. La demostración usa H2 en memoria para una ejecución aislada y reproducible.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81AEB-C500-4A94-A86D-622572A8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01287-F3CD-4A2E-A1B8-D4D8CDD0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026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Las diferencias entre motores importan: identidad, funciones, tipos temporales y sintaxis de retorno pueden variar. Los scripts de PostgreSQL se incluyen por separado.</a:t>
            </a:r>
          </a:p>
        </p:txBody>
      </p:sp>
    </p:spTree>
    <p:extLst>
      <p:ext uri="{BB962C8B-B14F-4D97-AF65-F5344CB8AC3E}">
        <p14:creationId xmlns:p14="http://schemas.microsoft.com/office/powerpoint/2010/main" val="16438075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0AA59-5B4F-4C54-8CC2-E74D5CD8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332CA-AEB8-4645-9B16-973B5FE7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resuelta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0C6DB-3E0A-4548-AD49-40BA1547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6D57A-527B-4388-B6EB-863E78F7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6AA00-DD15-4D3A-BC66-4AD967BD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304C2-1AD0-4B5A-A78D-D61DF3DD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53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494DF-ACCB-4181-8BA1-117C4183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0477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public static void main(String[] args) throws SQLException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try (Connection c = DriverManager.getConnection("jdbc:h2:mem:modelo"))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try (Statement s = c.createStatement())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s.execute("CREATE TABLE sensor(id VARCHAR(8) PRIMARY KEY, ubicacion VARCHAR(80) NOT NULL)");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s.execute("CREATE TABLE lectura(id BIGINT GENERATED ALWAYS AS IDENTITY PRIMARY KEY, sensor_id VARCHAR(8) REFERENCES sensor(id), valor DOUBLE PRECISION NOT NULL)");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s.executeUpdate("INSERT INTO sensor VALUES('S01','Lab'),('S02','Biblioteca')");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s.executeUpdate("INSERT INTO lectura(sensor_id,valor) VALUES('S01',22),('S01',24)");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try (ResultSet r=s.executeQuery("SELECT s.id,COUNT(l.id) cantidad FROM sensor s LEFT JOIN lectura l ON s.id=l.sensor_id GROUP BY s.id ORDER BY s.id")) {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while(r.next()) System.out.println(r.getString("id")+": "+r.getInt("cantidad"));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}</a:t>
            </a:r>
          </a:p>
          <a:p xmlns:a="http://schemas.openxmlformats.org/drawingml/2006/main">
            <a:pPr>
              <a:def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B1B46-4F0F-4B6C-BE11-8B1C014C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RelacionalDemo.java. Código completo y ejecución en material.md.</a:t>
            </a:r>
          </a:p>
        </p:txBody>
      </p:sp>
    </p:spTree>
    <p:extLst>
      <p:ext uri="{BB962C8B-B14F-4D97-AF65-F5344CB8AC3E}">
        <p14:creationId xmlns:p14="http://schemas.microsoft.com/office/powerpoint/2010/main" val="20424190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36B28-8C3D-4EF7-BAFF-80F5F06D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9EA5F-FC94-462F-AFA8-CB9EDF89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D9DB4-FE74-4709-B705-08086C87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BA818-843E-42E2-9242-EB38B5F1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CE041-141E-4B70-93EE-E21CB023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62940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Comportamiento requerido</a:t>
                      </a:r>
                    </a:p>
                  </a:txBody>
                  <a:tcPr marL="152400" marR="152400" marT="133350" marB="114300" anchor="ctr">
                    <a:solidFill>
                      <a:srgbClr val="00377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Lectura de sensor existente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Inserción válida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Sensor inexistente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Violación de clave foránea</a:t>
                      </a:r>
                    </a:p>
                  </a:txBody>
                  <a:tcPr marL="152400" marR="152400" marT="133350" marB="1143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Sensor sin lecturas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Aparece con cantidad cero en LEFT JOIN</a:t>
                      </a:r>
                    </a:p>
                  </a:txBody>
                  <a:tcPr marL="152400" marR="152400" marT="133350" marB="114300" anchor="ctr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4042E-74DA-4203-86D7-093765B2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7508E"/>
                </a:solidFill>
                <a:latin typeface="DejaVu Sans"/>
                <a:ea typeface="DejaVu Sans"/>
                <a:cs typeface="DejaVu Sans"/>
              </a:rPr>
              <a:t>Salida de la demostración: S01: 2 · S02: 0</a:t>
            </a:r>
          </a:p>
        </p:txBody>
      </p:sp>
    </p:spTree>
    <p:extLst>
      <p:ext uri="{BB962C8B-B14F-4D97-AF65-F5344CB8AC3E}">
        <p14:creationId xmlns:p14="http://schemas.microsoft.com/office/powerpoint/2010/main" val="551478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0E96D-4403-4B7A-B66F-EB84DD8D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4C156-87EC-47F1-B6DC-CF1163E9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PC4.1 · Ampliación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C205D-6D31-4149-9CCD-E2ACF8C3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48301-ED79-45D2-B1D2-1D76CABF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74945-0368-40FE-BAC6-A86DEFDA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6D79A-3210-4478-9DB7-200F0B43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27A25-DE1A-4165-BA4D-4F4CC6D0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Diseña sensor y lectura en PostgreSQL para CampusMonitor, con clave foránea, valores requeridos y unicidad de sensor más secuencia.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F7F07-18E1-47F9-9617-363DF71D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8AF05-BA8B-4B65-A3B0-BCF052D0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24175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Versiona schema.sql y seed.sql. Inserta dos sensores, varias lecturas y un sensor sin lecturas para comprobar LEFT JOIN.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A2531-1223-41E2-8D96-B0822047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2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B4369-B48B-4376-AFB0-AE510E02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10153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Escribe consultas de promedio por sensor y últimas lecturas ordenadas. Describe qué restricciones evitan datos inconsistentes.</a:t>
            </a:r>
          </a:p>
        </p:txBody>
      </p:sp>
    </p:spTree>
    <p:extLst>
      <p:ext uri="{BB962C8B-B14F-4D97-AF65-F5344CB8AC3E}">
        <p14:creationId xmlns:p14="http://schemas.microsoft.com/office/powerpoint/2010/main" val="6368563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45162-1637-4F66-ABA1-3609F1D0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13662-C29E-4960-8F59-69112986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C95E9-EA69-4E63-AAA4-0851CC31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D7783-C95F-4610-A3AE-6D337B8A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Aplicada · 4.1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0D67D-E8AE-4900-886B-29DEF6BF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2507B-B7B5-4592-ACCD-AFE9A876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claves identifican filas y relacionan las tablas.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FE388-559A-49DC-91C1-8A2C1CBC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Las restricciones complementan la validación en Java.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1F38E-4050-432F-ACE8-FE62E9EA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JOIN relaciona datos; ORDER BY define el orden.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E2B6D-B0C2-4E89-87BE-5C69745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esquema versionado permite reconstruir el entorno.</a:t>
            </a:r>
          </a:p>
        </p:txBody>
      </p:sp>
    </p:spTree>
    <p:extLst>
      <p:ext uri="{BB962C8B-B14F-4D97-AF65-F5344CB8AC3E}">
        <p14:creationId xmlns:p14="http://schemas.microsoft.com/office/powerpoint/2010/main" val="1276269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2026-09-10T23:07:03.4230000Z</dcterms:created>
  <dcterms:modified xsi:type="dcterms:W3CDTF">2026-09-10T23:07:03.4230000Z</dcterms:modified>
</coreProperties>
</file>