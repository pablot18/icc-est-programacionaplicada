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bcc605473d04f36" /><Relationship Type="http://schemas.openxmlformats.org/officeDocument/2006/relationships/extended-properties" Target="/docProps/app.xml" Id="Rfe1ac7eb3aaa4b8d" /><Relationship Type="http://schemas.openxmlformats.org/officeDocument/2006/relationships/officeDocument" Target="/ppt/presentation.xml" Id="Rd349cb6a2ea9452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2db4518ae4247a6"/>
  </p:sldMasterIdLst>
  <p:notesMasterIdLst>
    <p:notesMasterId xmlns:r="http://schemas.openxmlformats.org/officeDocument/2006/relationships" r:id="Re58e7440b65c4df2"/>
  </p:notesMasterIdLst>
  <p:sldIdLst>
    <p:sldId xmlns:r="http://schemas.openxmlformats.org/officeDocument/2006/relationships" id="256" r:id="Rb30da9335dda4333"/>
    <p:sldId xmlns:r="http://schemas.openxmlformats.org/officeDocument/2006/relationships" id="257" r:id="R68db73bc63a24ee0"/>
    <p:sldId xmlns:r="http://schemas.openxmlformats.org/officeDocument/2006/relationships" id="258" r:id="R68f1fe3058504668"/>
    <p:sldId xmlns:r="http://schemas.openxmlformats.org/officeDocument/2006/relationships" id="259" r:id="R84e62626ed3543c0"/>
    <p:sldId xmlns:r="http://schemas.openxmlformats.org/officeDocument/2006/relationships" id="260" r:id="Rb216f567451e421e"/>
    <p:sldId xmlns:r="http://schemas.openxmlformats.org/officeDocument/2006/relationships" id="261" r:id="R40c2771ddb6a40ac"/>
    <p:sldId xmlns:r="http://schemas.openxmlformats.org/officeDocument/2006/relationships" id="262" r:id="R04eb617fc35b421d"/>
    <p:sldId xmlns:r="http://schemas.openxmlformats.org/officeDocument/2006/relationships" id="263" r:id="R803b2f77a35049ec"/>
    <p:sldId xmlns:r="http://schemas.openxmlformats.org/officeDocument/2006/relationships" id="264" r:id="R6c092d085d304a5d"/>
    <p:sldId xmlns:r="http://schemas.openxmlformats.org/officeDocument/2006/relationships" id="265" r:id="R4fbbb846c4ce4a2a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31f331ac11346b1" /><Relationship Type="http://schemas.openxmlformats.org/officeDocument/2006/relationships/slideMaster" Target="/ppt/slideMasters/slideMaster1.xml" Id="Rd2db4518ae4247a6" /><Relationship Type="http://schemas.openxmlformats.org/officeDocument/2006/relationships/notesMaster" Target="/ppt/notesMasters/notesMaster1.xml" Id="Re58e7440b65c4df2" /><Relationship Type="http://schemas.openxmlformats.org/officeDocument/2006/relationships/presProps" Target="/ppt/presProps.xml" Id="R0e0f719cd7a542b5" /><Relationship Type="http://schemas.openxmlformats.org/officeDocument/2006/relationships/tableStyles" Target="/ppt/tableStyles.xml" Id="Ra2af4defb5b441cb" /><Relationship Type="http://schemas.openxmlformats.org/officeDocument/2006/relationships/slide" Target="/ppt/slides/slide1.xml" Id="Rb30da9335dda4333" /><Relationship Type="http://schemas.openxmlformats.org/officeDocument/2006/relationships/slide" Target="/ppt/slides/slide2.xml" Id="R68db73bc63a24ee0" /><Relationship Type="http://schemas.openxmlformats.org/officeDocument/2006/relationships/slide" Target="/ppt/slides/slide3.xml" Id="R68f1fe3058504668" /><Relationship Type="http://schemas.openxmlformats.org/officeDocument/2006/relationships/slide" Target="/ppt/slides/slide4.xml" Id="R84e62626ed3543c0" /><Relationship Type="http://schemas.openxmlformats.org/officeDocument/2006/relationships/slide" Target="/ppt/slides/slide5.xml" Id="Rb216f567451e421e" /><Relationship Type="http://schemas.openxmlformats.org/officeDocument/2006/relationships/slide" Target="/ppt/slides/slide6.xml" Id="R40c2771ddb6a40ac" /><Relationship Type="http://schemas.openxmlformats.org/officeDocument/2006/relationships/slide" Target="/ppt/slides/slide7.xml" Id="R04eb617fc35b421d" /><Relationship Type="http://schemas.openxmlformats.org/officeDocument/2006/relationships/slide" Target="/ppt/slides/slide8.xml" Id="R803b2f77a35049ec" /><Relationship Type="http://schemas.openxmlformats.org/officeDocument/2006/relationships/slide" Target="/ppt/slides/slide9.xml" Id="R6c092d085d304a5d" /><Relationship Type="http://schemas.openxmlformats.org/officeDocument/2006/relationships/slide" Target="/ppt/slides/slide10.xml" Id="R4fbbb846c4ce4a2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a7ea65a6673458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2242d36b37f4086" /><Relationship Type="http://schemas.openxmlformats.org/officeDocument/2006/relationships/notesMaster" Target="/ppt/notesMasters/notesMaster1.xml" Id="R7b6833c79f8d4a4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6040d0c18354255" /><Relationship Type="http://schemas.openxmlformats.org/officeDocument/2006/relationships/notesMaster" Target="/ppt/notesMasters/notesMaster1.xml" Id="Rcfd8a29b02a9467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20a71dc19384dc4" /><Relationship Type="http://schemas.openxmlformats.org/officeDocument/2006/relationships/notesMaster" Target="/ppt/notesMasters/notesMaster1.xml" Id="R3c12201fdc98426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7fb333a02284f3b" /><Relationship Type="http://schemas.openxmlformats.org/officeDocument/2006/relationships/notesMaster" Target="/ppt/notesMasters/notesMaster1.xml" Id="R3d33aadfd9b842e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b0e0d899e6a4639" /><Relationship Type="http://schemas.openxmlformats.org/officeDocument/2006/relationships/notesMaster" Target="/ppt/notesMasters/notesMaster1.xml" Id="R93bd47cca6f44da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4340a4b62c64122" /><Relationship Type="http://schemas.openxmlformats.org/officeDocument/2006/relationships/notesMaster" Target="/ppt/notesMasters/notesMaster1.xml" Id="R4224847455334f5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dc13cfbf6c14d73" /><Relationship Type="http://schemas.openxmlformats.org/officeDocument/2006/relationships/notesMaster" Target="/ppt/notesMasters/notesMaster1.xml" Id="R68703b7edbb442fb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128859de5fe04b9a" /><Relationship Type="http://schemas.openxmlformats.org/officeDocument/2006/relationships/notesMaster" Target="/ppt/notesMasters/notesMaster1.xml" Id="R3095dce7abe141f7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6946fb51677f42a9" /><Relationship Type="http://schemas.openxmlformats.org/officeDocument/2006/relationships/notesMaster" Target="/ppt/notesMasters/notesMaster1.xml" Id="Raa59ec35a9be4347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68749d8c92ef4216" /><Relationship Type="http://schemas.openxmlformats.org/officeDocument/2006/relationships/notesMaster" Target="/ppt/notesMasters/notesMaster1.xml" Id="Re9cc18cd9b4942a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Material: 4.4. Persistencia JDBC y transacciones. Autor: Ing. Pablo Torres, Mgtr.</a:t>
            </a:r>
          </a:p>
          <a:p xmlns:a="http://schemas.openxmlformats.org/drawingml/2006/main">
            <a:r>
              <a:t>Logo original proporcionado por el docente.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La importación debe guardar un lote de lecturas con una política definida: confirmar todo o revertirlo si una operación falla. Además, el repositorio debe preservar la separación entre SQL, reglas del dominio e interfaz.</a:t>
            </a:r>
          </a:p>
          <a:p xmlns:a="http://schemas.openxmlformats.org/drawingml/2006/main">
            <a:r>
              <a:t>Fuente del desarrollo: material.md, contexto.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Con autoCommit activado, cada sentencia se confirma de manera independiente según las reglas del controlador. Para agrupar varias operaciones llama setAutoCommit(false), ejecuta los cambios y termina con commit. Si una operación falla, rollback revierte los cambios pendientes de esa transacción.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No abras una conexión distinta para cada operación que deba pertenecer a la misma transacción local. El servicio establece el alcance y pasa la misma conexión a las operaciones necesarias. Una transacción demasiado extensa retiene recursos y puede aumentar contención; evita esperar interacción humana o hardware dentro de ella.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Referencias:</a:t>
            </a:r>
          </a:p>
          <a:p xmlns:a="http://schemas.openxmlformats.org/drawingml/2006/main">
            <a:r>
              <a:t>https://docs.oracle.com/en/java/javase/25/docs/api/java.sql/java/sql/package-summary.html</a:t>
            </a:r>
          </a:p>
          <a:p xmlns:a="http://schemas.openxmlformats.org/drawingml/2006/main">
            <a:r>
              <a:t>https://jdbc.postgresql.org/documentation/</a:t>
            </a:r>
          </a:p>
          <a:p xmlns:a="http://schemas.openxmlformats.org/drawingml/2006/main">
            <a:r>
              <a:t>https://db.apache.org/jdo/</a:t>
            </a:r>
          </a:p>
          <a:p xmlns:a="http://schemas.openxmlformats.org/drawingml/2006/main">
            <a:r>
              <a:t>https://www.datanucleus.org/products/accessplatform_6_0/jdo/guide.html</a:t>
            </a:r>
          </a:p>
          <a:p xmlns:a="http://schemas.openxmlformats.org/drawingml/2006/main">
            <a:r>
              <a:t>Correspondencia: material.md, sección 1.1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Si falla rollback, preserva tanto la excepción original como la de reversión mediante addSuppressed. Al devolver una conexión a un pool, restaura su estado o sigue el contrato del pool. try-with-resources cierra recursos, pero no sustituye la decisión de confirmar o revertir.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SQLState y códigos del motor ayudan a clasificar errores como unicidad, clave foránea o conexión. No dependas exclusivamente del texto del mensaje, que puede variar por idioma y versión. Devuelve al usuario un mensaje útil sin mostrar contraseñas, cadenas de conexión con secretos o detalles innecesarios del servidor.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Referencias:</a:t>
            </a:r>
          </a:p>
          <a:p xmlns:a="http://schemas.openxmlformats.org/drawingml/2006/main">
            <a:r>
              <a:t>https://docs.oracle.com/en/java/javase/25/docs/api/java.sql/java/sql/package-summary.html</a:t>
            </a:r>
          </a:p>
          <a:p xmlns:a="http://schemas.openxmlformats.org/drawingml/2006/main">
            <a:r>
              <a:t>https://jdbc.postgresql.org/documentation/</a:t>
            </a:r>
          </a:p>
          <a:p xmlns:a="http://schemas.openxmlformats.org/drawingml/2006/main">
            <a:r>
              <a:t>https://db.apache.org/jdo/</a:t>
            </a:r>
          </a:p>
          <a:p xmlns:a="http://schemas.openxmlformats.org/drawingml/2006/main">
            <a:r>
              <a:t>https://www.datanucleus.org/products/accessplatform_6_0/jdo/guide.html</a:t>
            </a:r>
          </a:p>
          <a:p xmlns:a="http://schemas.openxmlformats.org/drawingml/2006/main">
            <a:r>
              <a:t>Correspondencia: material.md, sección 1.2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addBatch acumula parámetros y executeBatch envía un lote. La respuesta puede incluir SUCCESS_NO_INFO y no siempre un conteo exacto por sentencia. BatchUpdateException puede contener resultados parciales. Cuando el contrato es todo o nada, esos cambios se revierten si la transacción no se confirma.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Valida formato y dominio antes del lote, pero conserva restricciones en la base para proteger contra carreras y otros clientes. Una clave única por sensor y secuencia puede impedir duplicados. La política de reintento debe considerar qué quedó confirmado para no registrar dos veces el mismo evento.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Referencias:</a:t>
            </a:r>
          </a:p>
          <a:p xmlns:a="http://schemas.openxmlformats.org/drawingml/2006/main">
            <a:r>
              <a:t>https://docs.oracle.com/en/java/javase/25/docs/api/java.sql/java/sql/package-summary.html</a:t>
            </a:r>
          </a:p>
          <a:p xmlns:a="http://schemas.openxmlformats.org/drawingml/2006/main">
            <a:r>
              <a:t>https://jdbc.postgresql.org/documentation/</a:t>
            </a:r>
          </a:p>
          <a:p xmlns:a="http://schemas.openxmlformats.org/drawingml/2006/main">
            <a:r>
              <a:t>https://db.apache.org/jdo/</a:t>
            </a:r>
          </a:p>
          <a:p xmlns:a="http://schemas.openxmlformats.org/drawingml/2006/main">
            <a:r>
              <a:t>https://www.datanucleus.org/products/accessplatform_6_0/jdo/guide.html</a:t>
            </a:r>
          </a:p>
          <a:p xmlns:a="http://schemas.openxmlformats.org/drawingml/2006/main">
            <a:r>
              <a:t>Correspondencia: material.md, sección 1.3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El Repository JDBC implementa las operaciones del dominio y encapsula SQL y mapeo. El servicio coordina reglas y transacciones. La vista Swing muestra resultados de forma asíncrona sin compartir una conexión entre tareas. La fábrica de conexiones puede cambiar sin reescribir el parser.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La demostración fuerza una clave duplicada después de una inserción válida y comprueba que el lote completo se revierte. La PL repetirá estas pruebas en PostgreSQL y añadirá reinicio de la aplicación para demostrar persistencia real. Que un objeto siga en una lista de memoria no demuestra que la base guardó sus datos.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Referencias:</a:t>
            </a:r>
          </a:p>
          <a:p xmlns:a="http://schemas.openxmlformats.org/drawingml/2006/main">
            <a:r>
              <a:t>https://docs.oracle.com/en/java/javase/25/docs/api/java.sql/java/sql/package-summary.html</a:t>
            </a:r>
          </a:p>
          <a:p xmlns:a="http://schemas.openxmlformats.org/drawingml/2006/main">
            <a:r>
              <a:t>https://jdbc.postgresql.org/documentation/</a:t>
            </a:r>
          </a:p>
          <a:p xmlns:a="http://schemas.openxmlformats.org/drawingml/2006/main">
            <a:r>
              <a:t>https://db.apache.org/jdo/</a:t>
            </a:r>
          </a:p>
          <a:p xmlns:a="http://schemas.openxmlformats.org/drawingml/2006/main">
            <a:r>
              <a:t>https://www.datanucleus.org/products/accessplatform_6_0/jdo/guide.html</a:t>
            </a:r>
          </a:p>
          <a:p xmlns:a="http://schemas.openxmlformats.org/drawingml/2006/main">
            <a:r>
              <a:t>Correspondencia: material.md, sección 1.4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Código completo:</a:t>
            </a:r>
          </a:p>
          <a:p xmlns:a="http://schemas.openxmlformats.org/drawingml/2006/main">
            <a:r>
              <a:t>package edu.ups.pap.u04;</a:t>
            </a:r>
          </a:p>
          <a:p xmlns:a="http://schemas.openxmlformats.org/drawingml/2006/main">
            <a:r>
              <a:t>import java.sql.*;</a:t>
            </a:r>
          </a:p>
          <a:p xmlns:a="http://schemas.openxmlformats.org/drawingml/2006/main">
            <a:r>
              <a:t>public class TransaccionesDemo {</a:t>
            </a:r>
          </a:p>
          <a:p xmlns:a="http://schemas.openxmlformats.org/drawingml/2006/main">
            <a:r>
              <a:t>    public static void main(String[] args) throws SQLException {</a:t>
            </a:r>
          </a:p>
          <a:p xmlns:a="http://schemas.openxmlformats.org/drawingml/2006/main">
            <a:r>
              <a:t>        try(Connection c=DriverManager.getConnection("jdbc:h2:mem:transacciones")) {</a:t>
            </a:r>
          </a:p>
          <a:p xmlns:a="http://schemas.openxmlformats.org/drawingml/2006/main">
            <a:r>
              <a:t>            try(Statement s=c.createStatement()) {s.execute("CREATE TABLE lectura(id INT PRIMARY KEY, valor DOUBLE PRECISION NOT NULL)");}</a:t>
            </a:r>
          </a:p>
          <a:p xmlns:a="http://schemas.openxmlformats.org/drawingml/2006/main">
            <a:r>
              <a:t>            c.setAutoCommit(false);</a:t>
            </a:r>
          </a:p>
          <a:p xmlns:a="http://schemas.openxmlformats.org/drawingml/2006/main">
            <a:r>
              <a:t>            try(PreparedStatement p=c.prepareStatement("INSERT INTO lectura(id,valor) VALUES(?,?)")) {</a:t>
            </a:r>
          </a:p>
          <a:p xmlns:a="http://schemas.openxmlformats.org/drawingml/2006/main">
            <a:r>
              <a:t>                p.setInt(1,1);p.setDouble(2,22);p.executeUpdate();</a:t>
            </a:r>
          </a:p>
          <a:p xmlns:a="http://schemas.openxmlformats.org/drawingml/2006/main">
            <a:r>
              <a:t>                p.setInt(1,1);p.setDouble(2,24);p.executeUpdate();</a:t>
            </a:r>
          </a:p>
          <a:p xmlns:a="http://schemas.openxmlformats.org/drawingml/2006/main">
            <a:r>
              <a:t>                c.commit();</a:t>
            </a:r>
          </a:p>
          <a:p xmlns:a="http://schemas.openxmlformats.org/drawingml/2006/main">
            <a:r>
              <a:t>            } catch(SQLException e) {</a:t>
            </a:r>
          </a:p>
          <a:p xmlns:a="http://schemas.openxmlformats.org/drawingml/2006/main">
            <a:r>
              <a:t>                try {c.rollback();} catch(SQLException rollback) {e.addSuppressed(rollback);throw e;}</a:t>
            </a:r>
          </a:p>
          <a:p xmlns:a="http://schemas.openxmlformats.org/drawingml/2006/main">
            <a:r>
              <a:t>                System.out.println("Lote revertido por clave duplicada");</a:t>
            </a:r>
          </a:p>
          <a:p xmlns:a="http://schemas.openxmlformats.org/drawingml/2006/main">
            <a:r>
              <a:t>            } finally {c.setAutoCommit(true);}</a:t>
            </a:r>
          </a:p>
          <a:p xmlns:a="http://schemas.openxmlformats.org/drawingml/2006/main">
            <a:r>
              <a:t>            try(Statement s=c.createStatement();ResultSet r=s.executeQuery("SELECT COUNT(*) FROM lectura")) {</a:t>
            </a:r>
          </a:p>
          <a:p xmlns:a="http://schemas.openxmlformats.org/drawingml/2006/main">
            <a:r>
              <a:t>                r.next();System.out.println("Filas confirmadas: "+r.getInt(1));</a:t>
            </a:r>
          </a:p>
          <a:p xmlns:a="http://schemas.openxmlformats.org/drawingml/2006/main">
            <a:r>
              <a:t>                if(r.getInt(1)!=0) throw new AssertionError("Rollback incompleto");</a:t>
            </a:r>
          </a:p>
          <a:p xmlns:a="http://schemas.openxmlformats.org/drawingml/2006/main">
            <a:r>
              <a:t>            }</a:t>
            </a:r>
          </a:p>
          <a:p xmlns:a="http://schemas.openxmlformats.org/drawingml/2006/main">
            <a:r>
              <a:t>        }</a:t>
            </a:r>
          </a:p>
          <a:p xmlns:a="http://schemas.openxmlformats.org/drawingml/2006/main">
            <a:r>
              <a:t>    }</a:t>
            </a:r>
          </a:p>
          <a:p xmlns:a="http://schemas.openxmlformats.org/drawingml/2006/main">
            <a:r>
              <a:t>}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Salida:</a:t>
            </a:r>
          </a:p>
          <a:p xmlns:a="http://schemas.openxmlformats.org/drawingml/2006/main">
            <a:r>
              <a:t>Lote revertido por clave duplicada</a:t>
            </a:r>
          </a:p>
          <a:p xmlns:a="http://schemas.openxmlformats.org/drawingml/2006/main">
            <a:r>
              <a:t>Filas confirmadas: 0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Salida esperada:</a:t>
            </a:r>
          </a:p>
          <a:p xmlns:a="http://schemas.openxmlformats.org/drawingml/2006/main">
            <a:r>
              <a:t>Lote revertido por clave duplicada</a:t>
            </a:r>
          </a:p>
          <a:p xmlns:a="http://schemas.openxmlformats.org/drawingml/2006/main">
            <a:r>
              <a:t>Filas confirmadas: 0</a:t>
            </a:r>
          </a:p>
          <a:p xmlns:a="http://schemas.openxmlformats.org/drawingml/2006/main">
            <a:r>
              <a:t>Casos de aceptación: material.md, sección 3.2.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Resuelve la ampliación en tu proyecto CampusMonitor.</a:t>
            </a:r>
          </a:p>
          <a:p xmlns:a="http://schemas.openxmlformats.org/drawingml/2006/main">
            <a:r>
              <a:t>Evidencia: evidencias/PC4.4.md y enlace al commit final.</a:t>
            </a:r>
          </a:p>
          <a:p xmlns:a="http://schemas.openxmlformats.org/drawingml/2006/main">
            <a:r>
              <a:t>Implementa RepositorioJdbc en CampusMonitor y conserva la interfaz del repositorio en memoria donde sus contratos coincidan.</a:t>
            </a:r>
          </a:p>
          <a:p xmlns:a="http://schemas.openxmlformats.org/drawingml/2006/main">
            <a:r>
              <a:t>Guarda un lote en una transacción. Fuerza un duplicado en medio y comprueba cero nuevas filas al aplicar rollback.</a:t>
            </a:r>
          </a:p>
          <a:p xmlns:a="http://schemas.openxmlformats.org/drawingml/2006/main">
            <a:r>
              <a:t>Añade consulta desde Swing en segundo plano y prueba cerrar y reabrir la aplicación. Registra esquema, datos de prueba y resultados reales.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Síntesis del material. Revisa la sección 3 para la PC y la guía general para commits y evidencias.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e2e038d59fd416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3f376d27b6b4b1e" /><Relationship Type="http://schemas.openxmlformats.org/officeDocument/2006/relationships/slideLayout" Target="/ppt/slideLayouts/slideLayout1.xml" Id="Rbc3ce87149324c5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c3ce87149324c5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c0f9de3c01945f6" /><Relationship Type="http://schemas.openxmlformats.org/officeDocument/2006/relationships/image" Target="/ppt/media/image.png" Id="Rcc85b5960c904b6e" /><Relationship Type="http://schemas.openxmlformats.org/officeDocument/2006/relationships/notesSlide" Target="/ppt/notesSlides/notesSlide1.xml" Id="R6360f3c0fce44de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b251928730f4118" /><Relationship Type="http://schemas.openxmlformats.org/officeDocument/2006/relationships/notesSlide" Target="/ppt/notesSlides/notesSlide2.xml" Id="R01cef51942f149b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75abfc425054eee" /><Relationship Type="http://schemas.openxmlformats.org/officeDocument/2006/relationships/notesSlide" Target="/ppt/notesSlides/notesSlide3.xml" Id="R1be8b721e8644b3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89e1365acbc4b97" /><Relationship Type="http://schemas.openxmlformats.org/officeDocument/2006/relationships/notesSlide" Target="/ppt/notesSlides/notesSlide4.xml" Id="R9841d44663c646b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5f0520da7be4f73" /><Relationship Type="http://schemas.openxmlformats.org/officeDocument/2006/relationships/notesSlide" Target="/ppt/notesSlides/notesSlide5.xml" Id="Rbf589adce3b2419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2e4dc79e72242f3" /><Relationship Type="http://schemas.openxmlformats.org/officeDocument/2006/relationships/notesSlide" Target="/ppt/notesSlides/notesSlide6.xml" Id="Rec9e09a3a41c417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00e6b4245734f01" /><Relationship Type="http://schemas.openxmlformats.org/officeDocument/2006/relationships/notesSlide" Target="/ppt/notesSlides/notesSlide7.xml" Id="Rda238a560598447f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533ea5cb63b4a49" /><Relationship Type="http://schemas.openxmlformats.org/officeDocument/2006/relationships/notesSlide" Target="/ppt/notesSlides/notesSlide8.xml" Id="R39b71607de4a4676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490e673cecc4caf" /><Relationship Type="http://schemas.openxmlformats.org/officeDocument/2006/relationships/notesSlide" Target="/ppt/notesSlides/notesSlide9.xml" Id="R8ec64a51c57c4ba7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50f1124e90448b6" /><Relationship Type="http://schemas.openxmlformats.org/officeDocument/2006/relationships/notesSlide" Target="/ppt/notesSlides/notesSlide10.xml" Id="Re146163e8286479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c85b5960c904b6e"/>
          <a:stretch xmlns:a="http://schemas.openxmlformats.org/drawingml/2006/main"/>
        </p:blipFill>
        <p:spPr>
          <a:xfrm xmlns:a="http://schemas.openxmlformats.org/drawingml/2006/main">
            <a:off x="609600" y="545418"/>
            <a:ext cx="6858000" cy="1128489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AE535A0-C5E9-4E5B-8EE3-D75E95EDB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38375"/>
            <a:ext cx="107632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03772"/>
                </a:solidFill>
                <a:latin typeface="DejaVu Sans"/>
                <a:ea typeface="DejaVu Sans"/>
                <a:cs typeface="DejaVu Sans"/>
              </a:defRPr>
            </a:pPr>
            <a:r>
              <a:rPr sz="3150" b="1">
                <a:solidFill>
                  <a:srgbClr val="003772"/>
                </a:solidFill>
                <a:latin typeface="DejaVu Sans"/>
                <a:ea typeface="DejaVu Sans"/>
                <a:cs typeface="DejaVu Sans"/>
              </a:rPr>
              <a:t>Programación Aplicada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B4E0731-F79F-4D4A-857F-DFBD66291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62300"/>
            <a:ext cx="108204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003772"/>
                </a:solidFill>
                <a:latin typeface="DejaVu Sans"/>
                <a:ea typeface="DejaVu Sans"/>
                <a:cs typeface="DejaVu Sans"/>
              </a:defRPr>
            </a:pPr>
            <a:r>
              <a:rPr sz="2775" b="1">
                <a:solidFill>
                  <a:srgbClr val="003772"/>
                </a:solidFill>
                <a:latin typeface="DejaVu Sans"/>
                <a:ea typeface="DejaVu Sans"/>
                <a:cs typeface="DejaVu Sans"/>
              </a:rPr>
              <a:t>Persistencia JDBC y transacciones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1689A48-F3F1-4383-9F02-E7F7DFB47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05350"/>
            <a:ext cx="13811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000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4FF309D-779C-466C-A19E-F3ACA739A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67300"/>
            <a:ext cx="10477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07508E"/>
                </a:solidFill>
                <a:latin typeface="DejaVu Sans"/>
                <a:ea typeface="DejaVu Sans"/>
                <a:cs typeface="DejaVu Sans"/>
              </a:defRPr>
            </a:pPr>
            <a:r>
              <a:rPr sz="1575" b="0">
                <a:solidFill>
                  <a:srgbClr val="07508E"/>
                </a:solidFill>
                <a:latin typeface="DejaVu Sans"/>
                <a:ea typeface="DejaVu Sans"/>
                <a:cs typeface="DejaVu Sans"/>
              </a:rPr>
              <a:t>Unidad 4 · 4.4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C285E91-CC4E-4707-936A-1B0BF4108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76900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C5B5F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>
                <a:solidFill>
                  <a:srgbClr val="5C5B5F"/>
                </a:solidFill>
                <a:latin typeface="DejaVu Sans"/>
                <a:ea typeface="DejaVu Sans"/>
                <a:cs typeface="DejaVu Sans"/>
              </a:rPr>
              <a:t>Ing. Pablo Torres, Mgtr.</a:t>
            </a:r>
          </a:p>
        </p:txBody>
      </p:sp>
    </p:spTree>
    <p:extLst>
      <p:ext uri="{BB962C8B-B14F-4D97-AF65-F5344CB8AC3E}">
        <p14:creationId xmlns:p14="http://schemas.microsoft.com/office/powerpoint/2010/main" val="46095878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53F86A9-1212-44A2-A18F-4D0F2F3F4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47675"/>
            <a:ext cx="571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0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226C752-6B6C-40D9-9002-B63699A6C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9100"/>
            <a:ext cx="107442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003772"/>
                </a:solidFill>
                <a:latin typeface="DejaVu Sans"/>
                <a:ea typeface="DejaVu Sans"/>
                <a:cs typeface="DejaVu Sans"/>
              </a:defRPr>
            </a:pPr>
            <a:r>
              <a:rPr sz="2550" b="1">
                <a:solidFill>
                  <a:srgbClr val="003772"/>
                </a:solidFill>
                <a:latin typeface="DejaVu Sans"/>
                <a:ea typeface="DejaVu Sans"/>
                <a:cs typeface="DejaVu Sans"/>
              </a:rPr>
              <a:t>El problema de CampusMonitor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194B5A0-520D-4042-9170-4DF272A64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FEB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A77DE95-F9EC-498E-9822-10705BD6C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914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rPr>
              <a:t>Programación Aplicada · 4.4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A60D079-2DF4-4423-B725-2E53ADEFF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72225"/>
            <a:ext cx="619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rPr>
              <a:t>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5464B74-2CD7-4E1C-B0E2-8051B6603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71650"/>
            <a:ext cx="10477500" cy="342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2175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La importación debe guardar un lote de lecturas con una política definida: confirmar todo o revertirlo si una operación falla. Además, el repositorio debe preservar la separación entre SQL, reglas del dominio e interfaz.</a:t>
            </a:r>
          </a:p>
        </p:txBody>
      </p:sp>
    </p:spTree>
    <p:extLst>
      <p:ext uri="{BB962C8B-B14F-4D97-AF65-F5344CB8AC3E}">
        <p14:creationId xmlns:p14="http://schemas.microsoft.com/office/powerpoint/2010/main" val="105949379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75D4B5B-BE06-4034-9DE6-F242B000B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47675"/>
            <a:ext cx="571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0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2ACDCF9-97ED-4179-AF19-A260D22F1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9100"/>
            <a:ext cx="107442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003772"/>
                </a:solidFill>
                <a:latin typeface="DejaVu Sans"/>
                <a:ea typeface="DejaVu Sans"/>
                <a:cs typeface="DejaVu Sans"/>
              </a:defRPr>
            </a:pPr>
            <a:r>
              <a:rPr sz="2550" b="1">
                <a:solidFill>
                  <a:srgbClr val="003772"/>
                </a:solidFill>
                <a:latin typeface="DejaVu Sans"/>
                <a:ea typeface="DejaVu Sans"/>
                <a:cs typeface="DejaVu Sans"/>
              </a:rPr>
              <a:t>Transacción y atomicidad del lote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BB84224-F6F8-4BED-9557-A5D1EEF86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FEB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3DD7424-6D5C-4A08-A9E0-506A4E68C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914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rPr>
              <a:t>Programación Aplicada · 4.4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6669C69-298E-4812-8F35-DC30D965B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72225"/>
            <a:ext cx="619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rPr>
              <a:t>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FC07D2F-ACD0-48AC-A974-333BF4107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95450"/>
            <a:ext cx="10572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03772"/>
                </a:solidFill>
                <a:latin typeface="DejaVu Sans"/>
                <a:ea typeface="DejaVu Sans"/>
                <a:cs typeface="DejaVu Sans"/>
              </a:defRPr>
            </a:pPr>
            <a:r>
              <a:rPr sz="2400" b="1">
                <a:solidFill>
                  <a:srgbClr val="003772"/>
                </a:solidFill>
                <a:latin typeface="DejaVu Sans"/>
                <a:ea typeface="DejaVu Sans"/>
                <a:cs typeface="DejaVu Sans"/>
              </a:rPr>
              <a:t>La transacción define una unidad de confirmación.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98BEFA0-86B9-4D45-8D0D-E63D9DD98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857500"/>
            <a:ext cx="10477500" cy="1666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Con autoCommit activado, cada sentencia se confirma de manera independiente según las reglas del controlador. Para agrupar varias operaciones llama setAutoCommit(false), ejecuta los cambios y termina con commit. Si una operación falla, rollback revierte los cambios pendientes de esa transacción.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F51C7F2-CB4E-45A1-96FF-52A60D6E0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714875"/>
            <a:ext cx="47625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000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A8B8DA3-319B-4129-BF4D-1567C0EE9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648200"/>
            <a:ext cx="102679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07508E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07508E"/>
                </a:solidFill>
                <a:latin typeface="DejaVu Sans"/>
                <a:ea typeface="DejaVu Sans"/>
                <a:cs typeface="DejaVu Sans"/>
              </a:rPr>
              <a:t>No abras una conexión distinta para cada operación que deba pertenecer a la misma transacción local. El servicio establece el alcance y pasa la misma conexión a las operaciones necesarias.</a:t>
            </a:r>
          </a:p>
        </p:txBody>
      </p:sp>
    </p:spTree>
    <p:extLst>
      <p:ext uri="{BB962C8B-B14F-4D97-AF65-F5344CB8AC3E}">
        <p14:creationId xmlns:p14="http://schemas.microsoft.com/office/powerpoint/2010/main" val="101662596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78B5068-CEE5-4746-A385-939E1E4B2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47675"/>
            <a:ext cx="571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0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4C74E60-9FB5-48D1-9EE2-814F2B43C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9100"/>
            <a:ext cx="107442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003772"/>
                </a:solidFill>
                <a:latin typeface="DejaVu Sans"/>
                <a:ea typeface="DejaVu Sans"/>
                <a:cs typeface="DejaVu Sans"/>
              </a:defRPr>
            </a:pPr>
            <a:r>
              <a:rPr sz="2550" b="1">
                <a:solidFill>
                  <a:srgbClr val="003772"/>
                </a:solidFill>
                <a:latin typeface="DejaVu Sans"/>
                <a:ea typeface="DejaVu Sans"/>
                <a:cs typeface="DejaVu Sans"/>
              </a:rPr>
              <a:t>Rollback, errores y estado de la conexión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B92ADBD-1867-433E-92B2-CECB497B6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FEB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8C23E88-D58C-4637-A60F-E51C87934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914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rPr>
              <a:t>Programación Aplicada · 4.4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EDEE2CB-C399-4752-B111-1C5AF1C67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72225"/>
            <a:ext cx="619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rPr>
              <a:t>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8265590-CDBC-4898-B608-365A42B4F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95450"/>
            <a:ext cx="10572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03772"/>
                </a:solidFill>
                <a:latin typeface="DejaVu Sans"/>
                <a:ea typeface="DejaVu Sans"/>
                <a:cs typeface="DejaVu Sans"/>
              </a:defRPr>
            </a:pPr>
            <a:r>
              <a:rPr sz="2400" b="1">
                <a:solidFill>
                  <a:srgbClr val="003772"/>
                </a:solidFill>
                <a:latin typeface="DejaVu Sans"/>
                <a:ea typeface="DejaVu Sans"/>
                <a:cs typeface="DejaVu Sans"/>
              </a:rPr>
              <a:t>rollback revierte los cambios pendientes.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417048F-A881-4EB7-BBD1-EF6C7CB1A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857500"/>
            <a:ext cx="10477500" cy="1666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Si falla rollback, preserva tanto la excepción original como la de reversión mediante addSuppressed. Al devolver una conexión a un pool, restaura su estado o sigue el contrato del pool. try-with-resources cierra recursos, pero no sustituye la decisión de confirmar o revertir.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2F1B7E4-93C3-427C-A1B9-373B911B0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714875"/>
            <a:ext cx="47625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000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58F4D37-2CEA-4058-A744-0348386E1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648200"/>
            <a:ext cx="102679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07508E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07508E"/>
                </a:solidFill>
                <a:latin typeface="DejaVu Sans"/>
                <a:ea typeface="DejaVu Sans"/>
                <a:cs typeface="DejaVu Sans"/>
              </a:rPr>
              <a:t>SQLState y códigos del motor ayudan a clasificar errores como unicidad, clave foránea o conexión. No dependas exclusivamente del texto del mensaje, que puede variar por idioma y versión.</a:t>
            </a:r>
          </a:p>
        </p:txBody>
      </p:sp>
    </p:spTree>
    <p:extLst>
      <p:ext uri="{BB962C8B-B14F-4D97-AF65-F5344CB8AC3E}">
        <p14:creationId xmlns:p14="http://schemas.microsoft.com/office/powerpoint/2010/main" val="141285009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9EDCE05-B25C-4EB0-8040-BED473D1C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47675"/>
            <a:ext cx="571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0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A256626-CE50-4AC5-85DE-032F7847A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9100"/>
            <a:ext cx="107442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003772"/>
                </a:solidFill>
                <a:latin typeface="DejaVu Sans"/>
                <a:ea typeface="DejaVu Sans"/>
                <a:cs typeface="DejaVu Sans"/>
              </a:defRPr>
            </a:pPr>
            <a:r>
              <a:rPr sz="2550" b="1">
                <a:solidFill>
                  <a:srgbClr val="003772"/>
                </a:solidFill>
                <a:latin typeface="DejaVu Sans"/>
                <a:ea typeface="DejaVu Sans"/>
                <a:cs typeface="DejaVu Sans"/>
              </a:rPr>
              <a:t>Batch y validación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6EAA4FE-FAA9-4D5C-9D88-123B1C2FA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FEB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BF31EA6-49F3-470D-AD09-A9917F333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914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rPr>
              <a:t>Programación Aplicada · 4.4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805D358-2C02-4F7F-A6DB-7D9EDDE93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72225"/>
            <a:ext cx="619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rPr>
              <a:t>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B65751C-8BEB-4A06-88D7-A50DB83BC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95450"/>
            <a:ext cx="10572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03772"/>
                </a:solidFill>
                <a:latin typeface="DejaVu Sans"/>
                <a:ea typeface="DejaVu Sans"/>
                <a:cs typeface="DejaVu Sans"/>
              </a:defRPr>
            </a:pPr>
            <a:r>
              <a:rPr sz="2400" b="1">
                <a:solidFill>
                  <a:srgbClr val="003772"/>
                </a:solidFill>
                <a:latin typeface="DejaVu Sans"/>
                <a:ea typeface="DejaVu Sans"/>
                <a:cs typeface="DejaVu Sans"/>
              </a:rPr>
              <a:t>Batch agrupa operaciones; la transacción conserva la atomicidad.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8DAE58F-FD0D-4F31-B70E-385B06550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857500"/>
            <a:ext cx="10477500" cy="1666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addBatch acumula parámetros y executeBatch envía un lote. La respuesta puede incluir SUCCESS_NO_INFO y no siempre un conteo exacto por sentencia. BatchUpdateException puede contener resultados parciales. Cuando el contrato es todo o nada, esos cambios se revierten si la transacción no se confirma.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B42B04D-32C0-429F-8C8F-F5F3466ED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714875"/>
            <a:ext cx="47625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000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564B9C7-A99A-4B78-AE8F-6F2E4013B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648200"/>
            <a:ext cx="102679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07508E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07508E"/>
                </a:solidFill>
                <a:latin typeface="DejaVu Sans"/>
                <a:ea typeface="DejaVu Sans"/>
                <a:cs typeface="DejaVu Sans"/>
              </a:rPr>
              <a:t>Valida formato y dominio antes del lote, pero conserva restricciones en la base para proteger contra carreras y otros clientes. Una clave única por sensor y secuencia puede impedir duplicados.</a:t>
            </a:r>
          </a:p>
        </p:txBody>
      </p:sp>
    </p:spTree>
    <p:extLst>
      <p:ext uri="{BB962C8B-B14F-4D97-AF65-F5344CB8AC3E}">
        <p14:creationId xmlns:p14="http://schemas.microsoft.com/office/powerpoint/2010/main" val="5135867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0B9AEAA-613C-4D76-873A-0A113E640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47675"/>
            <a:ext cx="571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0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7EE01F0-6CF8-41A6-8265-4E4217E89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9100"/>
            <a:ext cx="107442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003772"/>
                </a:solidFill>
                <a:latin typeface="DejaVu Sans"/>
                <a:ea typeface="DejaVu Sans"/>
                <a:cs typeface="DejaVu Sans"/>
              </a:defRPr>
            </a:pPr>
            <a:r>
              <a:rPr sz="2550" b="1">
                <a:solidFill>
                  <a:srgbClr val="003772"/>
                </a:solidFill>
                <a:latin typeface="DejaVu Sans"/>
                <a:ea typeface="DejaVu Sans"/>
                <a:cs typeface="DejaVu Sans"/>
              </a:rPr>
              <a:t>Repository JDBC y pruebas de integración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63F6243-7FF5-44C6-8A8C-4AC9FF471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FEB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F5F2D3B-1EF1-496D-B781-84427073D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914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rPr>
              <a:t>Programación Aplicada · 4.4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A175199-C0C1-41C1-A2D6-01C33FA3C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72225"/>
            <a:ext cx="619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rPr>
              <a:t>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A2A5136-16CC-44BC-9DC6-E6380D7FC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95450"/>
            <a:ext cx="10572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03772"/>
                </a:solidFill>
                <a:latin typeface="DejaVu Sans"/>
                <a:ea typeface="DejaVu Sans"/>
                <a:cs typeface="DejaVu Sans"/>
              </a:defRPr>
            </a:pPr>
            <a:r>
              <a:rPr sz="2400" b="1">
                <a:solidFill>
                  <a:srgbClr val="003772"/>
                </a:solidFill>
                <a:latin typeface="DejaVu Sans"/>
                <a:ea typeface="DejaVu Sans"/>
                <a:cs typeface="DejaVu Sans"/>
              </a:rPr>
              <a:t>El servicio coordina la conexión de los repositorios.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E38FA79-354E-4797-B42A-0573A5151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857500"/>
            <a:ext cx="10477500" cy="1666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El Repository JDBC implementa las operaciones del dominio y encapsula SQL y mapeo. El servicio coordina reglas y transacciones. La vista Swing muestra resultados de forma asíncrona sin compartir una conexión entre tareas. La fábrica de conexiones puede cambiar sin reescribir el parser.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0BF52D5-806B-4099-A838-BBA234A7B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714875"/>
            <a:ext cx="47625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000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AD6438B-460C-4F35-BDC1-818088D3B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648200"/>
            <a:ext cx="102679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07508E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07508E"/>
                </a:solidFill>
                <a:latin typeface="DejaVu Sans"/>
                <a:ea typeface="DejaVu Sans"/>
                <a:cs typeface="DejaVu Sans"/>
              </a:rPr>
              <a:t>La demostración fuerza una clave duplicada después de una inserción válida y comprueba que el lote completo se revierte.</a:t>
            </a:r>
          </a:p>
        </p:txBody>
      </p:sp>
    </p:spTree>
    <p:extLst>
      <p:ext uri="{BB962C8B-B14F-4D97-AF65-F5344CB8AC3E}">
        <p14:creationId xmlns:p14="http://schemas.microsoft.com/office/powerpoint/2010/main" val="173779465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1D8A0BE-9D9F-4B64-BB78-AEFEFE7D7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47675"/>
            <a:ext cx="571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0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30C8BDB-AD4E-4714-8774-303550325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9100"/>
            <a:ext cx="107442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003772"/>
                </a:solidFill>
                <a:latin typeface="DejaVu Sans"/>
                <a:ea typeface="DejaVu Sans"/>
                <a:cs typeface="DejaVu Sans"/>
              </a:defRPr>
            </a:pPr>
            <a:r>
              <a:rPr sz="2550" b="1">
                <a:solidFill>
                  <a:srgbClr val="003772"/>
                </a:solidFill>
                <a:latin typeface="DejaVu Sans"/>
                <a:ea typeface="DejaVu Sans"/>
                <a:cs typeface="DejaVu Sans"/>
              </a:rPr>
              <a:t>Demostración resuelta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4B275C8-A538-44BD-91BD-C7D3C5185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FEB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F3F342D-0222-426D-8A36-F7F5A096F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914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rPr>
              <a:t>Programación Aplicada · 4.4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6011A2F-1FEE-4AC3-82C6-85345B63F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72225"/>
            <a:ext cx="619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rPr>
              <a:t>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0FB0FAA-B778-43DE-B6E2-F059A1C5E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590675"/>
            <a:ext cx="10953750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3FA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2593E1F-1553-456F-AADA-751CF6B3C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743075"/>
            <a:ext cx="10477500" cy="3381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public static void main(String[] args) throws SQLException {</a:t>
            </a:r>
          </a:p>
          <a:p xmlns:a="http://schemas.openxmlformats.org/drawingml/2006/main">
            <a:pPr>
              <a:defRPr sz="1500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  try(Connection c=DriverManager.getConnection("jdbc:h2:mem:transacciones")) {</a:t>
            </a:r>
          </a:p>
          <a:p xmlns:a="http://schemas.openxmlformats.org/drawingml/2006/main">
            <a:pPr>
              <a:defRPr sz="1500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    try(Statement s=c.createStatement()) {s.execute("CREATE TABLE lectura(id INT PRIMARY KEY, valor DOUBLE PRECISION NOT NULL)");}</a:t>
            </a:r>
          </a:p>
          <a:p xmlns:a="http://schemas.openxmlformats.org/drawingml/2006/main">
            <a:pPr>
              <a:defRPr sz="1500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    c.setAutoCommit(false);</a:t>
            </a:r>
          </a:p>
          <a:p xmlns:a="http://schemas.openxmlformats.org/drawingml/2006/main">
            <a:pPr>
              <a:defRPr sz="1500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    try(PreparedStatement p=c.prepareStatement("INSERT INTO lectura(id,valor) VALUES(?,?)")) {</a:t>
            </a:r>
          </a:p>
          <a:p xmlns:a="http://schemas.openxmlformats.org/drawingml/2006/main">
            <a:pPr>
              <a:defRPr sz="1500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      p.setInt(1,1);p.setDouble(2,22);p.executeUpdate();</a:t>
            </a:r>
          </a:p>
          <a:p xmlns:a="http://schemas.openxmlformats.org/drawingml/2006/main">
            <a:pPr>
              <a:defRPr sz="1500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      p.setInt(1,1);p.setDouble(2,24);p.executeUpdate();</a:t>
            </a:r>
          </a:p>
          <a:p xmlns:a="http://schemas.openxmlformats.org/drawingml/2006/main">
            <a:pPr>
              <a:defRPr sz="1500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      c.commit();</a:t>
            </a:r>
          </a:p>
          <a:p xmlns:a="http://schemas.openxmlformats.org/drawingml/2006/main">
            <a:pPr>
              <a:defRPr sz="1500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    } catch(SQLException e) {</a:t>
            </a:r>
          </a:p>
          <a:p xmlns:a="http://schemas.openxmlformats.org/drawingml/2006/main">
            <a:pPr>
              <a:defRPr sz="1500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      try {c.rollback();} catch(SQLException rollback) {e.addSuppressed(rollback);throw e;}</a:t>
            </a:r>
          </a:p>
          <a:p xmlns:a="http://schemas.openxmlformats.org/drawingml/2006/main">
            <a:pPr>
              <a:defRPr sz="1500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      System.out.println("Lote revertido por clave duplicada");</a:t>
            </a:r>
          </a:p>
          <a:p xmlns:a="http://schemas.openxmlformats.org/drawingml/2006/main">
            <a:pPr>
              <a:defRPr sz="1500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    } finally {c.setAutoCommit(true);}</a:t>
            </a:r>
          </a:p>
          <a:p xmlns:a="http://schemas.openxmlformats.org/drawingml/2006/main">
            <a:pPr>
              <a:defRPr sz="1500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    try(Statement s=c.createStatement();ResultSet r=s.executeQuery("SELECT COUNT(*) FROM lectura")) {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0593E6B-A6A8-480F-9C07-0DC40B627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81650"/>
            <a:ext cx="10763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C5B5F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>
                <a:solidFill>
                  <a:srgbClr val="5C5B5F"/>
                </a:solidFill>
                <a:latin typeface="DejaVu Sans"/>
                <a:ea typeface="DejaVu Sans"/>
                <a:cs typeface="DejaVu Sans"/>
              </a:rPr>
              <a:t>Fragmento de TransaccionesDemo.java. Código completo y ejecución en material.md.</a:t>
            </a:r>
          </a:p>
        </p:txBody>
      </p:sp>
    </p:spTree>
    <p:extLst>
      <p:ext uri="{BB962C8B-B14F-4D97-AF65-F5344CB8AC3E}">
        <p14:creationId xmlns:p14="http://schemas.microsoft.com/office/powerpoint/2010/main" val="148546802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7B56DDA-9791-4678-A286-5E3BA11A3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47675"/>
            <a:ext cx="571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0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68B347C-1D7F-4564-9714-C93515B4D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9100"/>
            <a:ext cx="107442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003772"/>
                </a:solidFill>
                <a:latin typeface="DejaVu Sans"/>
                <a:ea typeface="DejaVu Sans"/>
                <a:cs typeface="DejaVu Sans"/>
              </a:defRPr>
            </a:pPr>
            <a:r>
              <a:rPr sz="2550" b="1">
                <a:solidFill>
                  <a:srgbClr val="003772"/>
                </a:solidFill>
                <a:latin typeface="DejaVu Sans"/>
                <a:ea typeface="DejaVu Sans"/>
                <a:cs typeface="DejaVu Sans"/>
              </a:rPr>
              <a:t>Casos de aceptación de la PC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826BAF5-F24E-44F2-B99A-A4E82299D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FEB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BD5708A-CCD3-441C-9F9C-0B556349F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914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rPr>
              <a:t>Programación Aplicada · 4.4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7DB5B37-0DFD-4541-A749-57E155200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72225"/>
            <a:ext cx="619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rPr>
              <a:t>8</a:t>
            </a:r>
          </a:p>
        </p:txBody>
      </p:sp>
      <p:graphicFrame>
        <p:nvGraphicFramePr>
          <p:cNvPr id="13" name=""/>
          <p:cNvGraphicFramePr/>
          <p:nvPr/>
        </p:nvGraphicFramePr>
        <p:xfrm>
          <a:off xmlns:a="http://schemas.openxmlformats.org/drawingml/2006/main" x="609600" y="1638300"/>
          <a:ext xmlns:a="http://schemas.openxmlformats.org/drawingml/2006/main" cx="10972800" cy="3143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191000"/>
                <a:gridCol w="6629400"/>
              </a:tblGrid>
              <a:tr h="785813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Caso</a:t>
                      </a:r>
                    </a:p>
                  </a:txBody>
                  <a:tcPr marL="152400" marR="152400" marT="133350" marB="114300" anchor="ctr">
                    <a:solidFill>
                      <a:srgbClr val="00377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Comportamiento requerido</a:t>
                      </a:r>
                    </a:p>
                  </a:txBody>
                  <a:tcPr marL="152400" marR="152400" marT="133350" marB="114300" anchor="ctr">
                    <a:solidFill>
                      <a:srgbClr val="003772"/>
                    </a:solidFill>
                  </a:tcPr>
                </a:tc>
              </a:tr>
              <a:tr h="785813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403F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Lote válido</a:t>
                      </a:r>
                    </a:p>
                  </a:txBody>
                  <a:tcPr marL="152400" marR="152400" marT="133350" marB="114300" anchor="ctr">
                    <a:solidFill>
                      <a:srgbClr val="F3F3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403F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Todas las filas confirmadas</a:t>
                      </a:r>
                    </a:p>
                  </a:txBody>
                  <a:tcPr marL="152400" marR="152400" marT="133350" marB="114300" anchor="ctr">
                    <a:solidFill>
                      <a:srgbClr val="F3F3FA"/>
                    </a:solidFill>
                  </a:tcPr>
                </a:tc>
              </a:tr>
              <a:tr h="785813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403F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Duplicado a mitad del lote</a:t>
                      </a:r>
                    </a:p>
                  </a:txBody>
                  <a:tcPr marL="152400" marR="152400" marT="13335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403F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Ninguna fila nueva</a:t>
                      </a:r>
                    </a:p>
                  </a:txBody>
                  <a:tcPr marL="152400" marR="152400" marT="133350" marB="114300" anchor="ctr">
                    <a:solidFill>
                      <a:srgbClr val="FFFFFF"/>
                    </a:solidFill>
                  </a:tcPr>
                </a:tc>
              </a:tr>
              <a:tr h="785813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403F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Reinicio de aplicación</a:t>
                      </a:r>
                    </a:p>
                  </a:txBody>
                  <a:tcPr marL="152400" marR="152400" marT="133350" marB="114300" anchor="ctr">
                    <a:solidFill>
                      <a:srgbClr val="F3F3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403F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Lecturas confirmadas siguen disponibles</a:t>
                      </a:r>
                    </a:p>
                  </a:txBody>
                  <a:tcPr marL="152400" marR="152400" marT="133350" marB="114300" anchor="ctr">
                    <a:solidFill>
                      <a:srgbClr val="F3F3FA"/>
                    </a:solidFill>
                  </a:tcPr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575E3E6-3B8C-4FC7-979E-F4A97C75C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238750"/>
            <a:ext cx="10668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07508E"/>
                </a:solidFill>
                <a:latin typeface="DejaVu Sans"/>
                <a:ea typeface="DejaVu Sans"/>
                <a:cs typeface="DejaVu Sans"/>
              </a:defRPr>
            </a:pPr>
            <a:r>
              <a:rPr sz="1575" b="0">
                <a:solidFill>
                  <a:srgbClr val="07508E"/>
                </a:solidFill>
                <a:latin typeface="DejaVu Sans"/>
                <a:ea typeface="DejaVu Sans"/>
                <a:cs typeface="DejaVu Sans"/>
              </a:rPr>
              <a:t>Salida de la demostración: Lote revertido por clave duplicada · Filas confirmadas: 0</a:t>
            </a:r>
          </a:p>
        </p:txBody>
      </p:sp>
    </p:spTree>
    <p:extLst>
      <p:ext uri="{BB962C8B-B14F-4D97-AF65-F5344CB8AC3E}">
        <p14:creationId xmlns:p14="http://schemas.microsoft.com/office/powerpoint/2010/main" val="162368249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A9D3249-C207-411C-9BFF-EEBEB1D24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47675"/>
            <a:ext cx="571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0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CA18492-9B08-4400-8C79-BC52BA053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9100"/>
            <a:ext cx="107442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003772"/>
                </a:solidFill>
                <a:latin typeface="DejaVu Sans"/>
                <a:ea typeface="DejaVu Sans"/>
                <a:cs typeface="DejaVu Sans"/>
              </a:defRPr>
            </a:pPr>
            <a:r>
              <a:rPr sz="2550" b="1">
                <a:solidFill>
                  <a:srgbClr val="003772"/>
                </a:solidFill>
                <a:latin typeface="DejaVu Sans"/>
                <a:ea typeface="DejaVu Sans"/>
                <a:cs typeface="DejaVu Sans"/>
              </a:rPr>
              <a:t>PC4.4 · Ampliación del proyecto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55DD0CC-3C9F-4E69-97A6-3DCF68186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FEB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52E03C5-E2FF-4F58-9674-26047894A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914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rPr>
              <a:t>Programación Aplicada · 4.4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8293169-8E68-48CC-A6CC-3EEF9A578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72225"/>
            <a:ext cx="619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rPr>
              <a:t>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C5D3280-E9E3-4139-8105-B9224CADE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00200"/>
            <a:ext cx="4286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065B0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0065B0"/>
                </a:solidFill>
                <a:latin typeface="DejaVu Sans"/>
                <a:ea typeface="DejaVu Sans"/>
                <a:cs typeface="DejaVu Sans"/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BE7EA54-E00C-4A67-B030-77A7C85B1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1562100"/>
            <a:ext cx="10153650" cy="1133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Implementa RepositorioJdbc en CampusMonitor y conserva la interfaz del repositorio en memoria donde sus contratos coincidan.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632C322-F2CB-4FC2-80D0-9CF1EC465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62275"/>
            <a:ext cx="4286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065B0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0065B0"/>
                </a:solidFill>
                <a:latin typeface="DejaVu Sans"/>
                <a:ea typeface="DejaVu Sans"/>
                <a:cs typeface="DejaVu Sans"/>
              </a:rPr>
              <a:t>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2CCCA56-02E6-49A1-93D1-1998AD2A0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924175"/>
            <a:ext cx="10153650" cy="1133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Guarda un lote en una transacción. Fuerza un duplicado en medio y comprueba cero nuevas filas al aplicar rollback.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54ADABE-829E-4EEA-9C9A-3FE7F902C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24350"/>
            <a:ext cx="4286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065B0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0065B0"/>
                </a:solidFill>
                <a:latin typeface="DejaVu Sans"/>
                <a:ea typeface="DejaVu Sans"/>
                <a:cs typeface="DejaVu Sans"/>
              </a:rPr>
              <a:t>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A91BD91-08AA-4B79-AFE8-474EEED23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286250"/>
            <a:ext cx="10153650" cy="1133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Añade consulta desde Swing en segundo plano y prueba cerrar y reabrir la aplicación. Registra esquema, datos de prueba y resultados reales.</a:t>
            </a:r>
          </a:p>
        </p:txBody>
      </p:sp>
    </p:spTree>
    <p:extLst>
      <p:ext uri="{BB962C8B-B14F-4D97-AF65-F5344CB8AC3E}">
        <p14:creationId xmlns:p14="http://schemas.microsoft.com/office/powerpoint/2010/main" val="1775122594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4B5181C-091E-4991-A14B-70915F1CE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47675"/>
            <a:ext cx="571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0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28CE8AE-5AB6-4D43-A4F6-7391D5844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9100"/>
            <a:ext cx="107442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003772"/>
                </a:solidFill>
                <a:latin typeface="DejaVu Sans"/>
                <a:ea typeface="DejaVu Sans"/>
                <a:cs typeface="DejaVu Sans"/>
              </a:defRPr>
            </a:pPr>
            <a:r>
              <a:rPr sz="2550" b="1">
                <a:solidFill>
                  <a:srgbClr val="003772"/>
                </a:solidFill>
                <a:latin typeface="DejaVu Sans"/>
                <a:ea typeface="DejaVu Sans"/>
                <a:cs typeface="DejaVu Sans"/>
              </a:rPr>
              <a:t>Lo esencial de hoy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01CA4A8-1CF2-47D9-98FA-6C91833EE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FEB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E25DF00-1EC3-482F-8420-B6A82ADB0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914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rPr>
              <a:t>Programación Aplicada · 4.4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C9098A8-C1E5-471A-B1B8-D9EDCE893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72225"/>
            <a:ext cx="619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rPr>
              <a:t>10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A22BA82-8AD2-47D9-8B8C-FC2927B5A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43075"/>
            <a:ext cx="104775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003772"/>
                </a:solidFill>
                <a:latin typeface="DejaVu Sans"/>
                <a:ea typeface="DejaVu Sans"/>
                <a:cs typeface="DejaVu Sans"/>
              </a:defRPr>
            </a:pPr>
            <a:r>
              <a:rPr sz="2175" b="1">
                <a:solidFill>
                  <a:srgbClr val="003772"/>
                </a:solidFill>
                <a:latin typeface="DejaVu Sans"/>
                <a:ea typeface="DejaVu Sans"/>
                <a:cs typeface="DejaVu Sans"/>
              </a:rPr>
              <a:t>La transacción define una unidad de confirmación.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2E66EA0-A32A-4F82-A03D-7C410618C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38425"/>
            <a:ext cx="104775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2175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rollback revierte los cambios pendientes.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6BBFAB2-A09C-40BD-B504-3953A3AB8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533775"/>
            <a:ext cx="104775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003772"/>
                </a:solidFill>
                <a:latin typeface="DejaVu Sans"/>
                <a:ea typeface="DejaVu Sans"/>
                <a:cs typeface="DejaVu Sans"/>
              </a:defRPr>
            </a:pPr>
            <a:r>
              <a:rPr sz="2175" b="0">
                <a:solidFill>
                  <a:srgbClr val="003772"/>
                </a:solidFill>
                <a:latin typeface="DejaVu Sans"/>
                <a:ea typeface="DejaVu Sans"/>
                <a:cs typeface="DejaVu Sans"/>
              </a:rPr>
              <a:t>Batch agrupa operaciones; la transacción conserva la atomicidad.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114920D-5576-4B3A-9F35-C92B988A7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29125"/>
            <a:ext cx="104775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2175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El servicio coordina la conexión de los repositorios.</a:t>
            </a:r>
          </a:p>
        </p:txBody>
      </p:sp>
    </p:spTree>
    <p:extLst>
      <p:ext uri="{BB962C8B-B14F-4D97-AF65-F5344CB8AC3E}">
        <p14:creationId xmlns:p14="http://schemas.microsoft.com/office/powerpoint/2010/main" val="102481341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2026-09-10T23:07:25.9850000Z</dcterms:created>
  <dcterms:modified xsi:type="dcterms:W3CDTF">2026-09-10T23:07:25.9850000Z</dcterms:modified>
</coreProperties>
</file>