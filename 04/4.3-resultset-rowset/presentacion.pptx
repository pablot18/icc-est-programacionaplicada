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c8fa9822cc4376" /><Relationship Type="http://schemas.openxmlformats.org/officeDocument/2006/relationships/extended-properties" Target="/docProps/app.xml" Id="R544818316282468e" /><Relationship Type="http://schemas.openxmlformats.org/officeDocument/2006/relationships/officeDocument" Target="/ppt/presentation.xml" Id="R515c69fe40fe44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07b4f839fe40f4"/>
  </p:sldMasterIdLst>
  <p:notesMasterIdLst>
    <p:notesMasterId xmlns:r="http://schemas.openxmlformats.org/officeDocument/2006/relationships" r:id="R4c990a96762f42e9"/>
  </p:notesMasterIdLst>
  <p:sldIdLst>
    <p:sldId xmlns:r="http://schemas.openxmlformats.org/officeDocument/2006/relationships" id="256" r:id="Rb3697bda91844702"/>
    <p:sldId xmlns:r="http://schemas.openxmlformats.org/officeDocument/2006/relationships" id="257" r:id="R2bb17d71acf94876"/>
    <p:sldId xmlns:r="http://schemas.openxmlformats.org/officeDocument/2006/relationships" id="258" r:id="Rb6a176500b874cb9"/>
    <p:sldId xmlns:r="http://schemas.openxmlformats.org/officeDocument/2006/relationships" id="259" r:id="Rcda5d8d5d5b945c3"/>
    <p:sldId xmlns:r="http://schemas.openxmlformats.org/officeDocument/2006/relationships" id="260" r:id="R2498b077295f4cf9"/>
    <p:sldId xmlns:r="http://schemas.openxmlformats.org/officeDocument/2006/relationships" id="261" r:id="R26574789b752447d"/>
    <p:sldId xmlns:r="http://schemas.openxmlformats.org/officeDocument/2006/relationships" id="262" r:id="Rd8adbf0c9cdf4037"/>
    <p:sldId xmlns:r="http://schemas.openxmlformats.org/officeDocument/2006/relationships" id="263" r:id="R7fbcadcfb92d4822"/>
    <p:sldId xmlns:r="http://schemas.openxmlformats.org/officeDocument/2006/relationships" id="264" r:id="R264ab7c07bc54a02"/>
    <p:sldId xmlns:r="http://schemas.openxmlformats.org/officeDocument/2006/relationships" id="265" r:id="R8e4ec66b3d4f44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b44065977848ab" /><Relationship Type="http://schemas.openxmlformats.org/officeDocument/2006/relationships/slideMaster" Target="/ppt/slideMasters/slideMaster1.xml" Id="Rff07b4f839fe40f4" /><Relationship Type="http://schemas.openxmlformats.org/officeDocument/2006/relationships/notesMaster" Target="/ppt/notesMasters/notesMaster1.xml" Id="R4c990a96762f42e9" /><Relationship Type="http://schemas.openxmlformats.org/officeDocument/2006/relationships/presProps" Target="/ppt/presProps.xml" Id="Rf1f419ead1a146cc" /><Relationship Type="http://schemas.openxmlformats.org/officeDocument/2006/relationships/tableStyles" Target="/ppt/tableStyles.xml" Id="R820b97b72220417a" /><Relationship Type="http://schemas.openxmlformats.org/officeDocument/2006/relationships/slide" Target="/ppt/slides/slide1.xml" Id="Rb3697bda91844702" /><Relationship Type="http://schemas.openxmlformats.org/officeDocument/2006/relationships/slide" Target="/ppt/slides/slide2.xml" Id="R2bb17d71acf94876" /><Relationship Type="http://schemas.openxmlformats.org/officeDocument/2006/relationships/slide" Target="/ppt/slides/slide3.xml" Id="Rb6a176500b874cb9" /><Relationship Type="http://schemas.openxmlformats.org/officeDocument/2006/relationships/slide" Target="/ppt/slides/slide4.xml" Id="Rcda5d8d5d5b945c3" /><Relationship Type="http://schemas.openxmlformats.org/officeDocument/2006/relationships/slide" Target="/ppt/slides/slide5.xml" Id="R2498b077295f4cf9" /><Relationship Type="http://schemas.openxmlformats.org/officeDocument/2006/relationships/slide" Target="/ppt/slides/slide6.xml" Id="R26574789b752447d" /><Relationship Type="http://schemas.openxmlformats.org/officeDocument/2006/relationships/slide" Target="/ppt/slides/slide7.xml" Id="Rd8adbf0c9cdf4037" /><Relationship Type="http://schemas.openxmlformats.org/officeDocument/2006/relationships/slide" Target="/ppt/slides/slide8.xml" Id="R7fbcadcfb92d4822" /><Relationship Type="http://schemas.openxmlformats.org/officeDocument/2006/relationships/slide" Target="/ppt/slides/slide9.xml" Id="R264ab7c07bc54a02" /><Relationship Type="http://schemas.openxmlformats.org/officeDocument/2006/relationships/slide" Target="/ppt/slides/slide10.xml" Id="R8e4ec66b3d4f44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9d4efb381540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0dc74c30f04f8b" /><Relationship Type="http://schemas.openxmlformats.org/officeDocument/2006/relationships/notesMaster" Target="/ppt/notesMasters/notesMaster1.xml" Id="Rbde4bddeedaf4e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6be0f8c6b64912" /><Relationship Type="http://schemas.openxmlformats.org/officeDocument/2006/relationships/notesMaster" Target="/ppt/notesMasters/notesMaster1.xml" Id="R1876609e79f540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c20c9f6731474d" /><Relationship Type="http://schemas.openxmlformats.org/officeDocument/2006/relationships/notesMaster" Target="/ppt/notesMasters/notesMaster1.xml" Id="R22a761c4a6b64b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615efc96a74c7c" /><Relationship Type="http://schemas.openxmlformats.org/officeDocument/2006/relationships/notesMaster" Target="/ppt/notesMasters/notesMaster1.xml" Id="R594fae6d28b54d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3e52acdd7f4871" /><Relationship Type="http://schemas.openxmlformats.org/officeDocument/2006/relationships/notesMaster" Target="/ppt/notesMasters/notesMaster1.xml" Id="R3aa95955e4c347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f1c23520274686" /><Relationship Type="http://schemas.openxmlformats.org/officeDocument/2006/relationships/notesMaster" Target="/ppt/notesMasters/notesMaster1.xml" Id="Re18259cfdc3542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7f9dbbd46c4d2c" /><Relationship Type="http://schemas.openxmlformats.org/officeDocument/2006/relationships/notesMaster" Target="/ppt/notesMasters/notesMaster1.xml" Id="R4691825c48474b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69706a99504907" /><Relationship Type="http://schemas.openxmlformats.org/officeDocument/2006/relationships/notesMaster" Target="/ppt/notesMasters/notesMaster1.xml" Id="Rffe3726d727647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6bc50474ee4f01" /><Relationship Type="http://schemas.openxmlformats.org/officeDocument/2006/relationships/notesMaster" Target="/ppt/notesMasters/notesMaster1.xml" Id="R90a395d2979749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9d4e93b46e4b1a" /><Relationship Type="http://schemas.openxmlformats.org/officeDocument/2006/relationships/notesMaster" Target="/ppt/notesMasters/notesMaster1.xml" Id="Rb06f02c8318947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4.3. ResultSet, RowSet y consultas parametrizadas. Autor: Ing. Pablo Torres, Mgtr.</a:t>
            </a:r>
          </a:p>
          <a:p xmlns:a="http://schemas.openxmlformats.org/drawingml/2006/main">
            <a:r>
              <a:t>Logo original proporcionado por el docente.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CampusMonitor debe consultar lecturas por sensor y mostrar resultados cuando la conexión ya se cerró. ResultSet y CachedRowSet ofrecen modelos de acceso diferentes y exigen decisiones sobre tamaño, tipos y duración de los recursos.</a:t>
            </a:r>
          </a:p>
          <a:p xmlns:a="http://schemas.openxmlformats.org/drawingml/2006/main">
            <a:r>
              <a:t>Fuente del desarrollo: material.md, contexto.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ResultSet representa el resultado de una consulta y mantiene un cursor inicialmente antes de la primera fila. next avanza y devuelve false cuando no quedan filas. Acceder a columnas antes del primer next es un uso incorrecto. Usa nombres o alias claros para reducir errores al cambiar el SELECT.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getters convierten tipos según JDBC y el controlador. getInt devuelve cero cuando la columna SQL es NULL; para distinguirlo llama wasNull inmediatamente o usa getObject con un tipo compatible. Para importes usa BigDecimal y para valores temporales define la correspondencia explícita. No confundas un cero válido con ausencia de dato.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https://docs.oracle.com/en/java/javase/25/docs/api/java.sql/java/sql/package-summary.html</a:t>
            </a:r>
          </a:p>
          <a:p xmlns:a="http://schemas.openxmlformats.org/drawingml/2006/main">
            <a:r>
              <a:t>https://jdbc.postgresql.org/documentation/</a:t>
            </a:r>
          </a:p>
          <a:p xmlns:a="http://schemas.openxmlformats.org/drawingml/2006/main">
            <a:r>
              <a:t>https://db.apache.org/jdo/</a:t>
            </a:r>
          </a:p>
          <a:p xmlns:a="http://schemas.openxmlformats.org/drawingml/2006/main">
            <a:r>
              <a:t>https://www.datanucleus.org/products/accessplatform_6_0/jdo/guide.html</a:t>
            </a:r>
          </a:p>
          <a:p xmlns:a="http://schemas.openxmlformats.org/drawingml/2006/main">
            <a:r>
              <a:t>Correspondencia: material.md, sección 1.1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PreparedStatement separa estructura SQL y valores. Los marcadores ? representan valores que se asignan con setters tipados. No concatenes una entrada externa dentro del WHERE. Los parámetros no sirven para nombres de tabla, columnas ni direcciones ASC/DESC; esos elementos deben seleccionarse desde una lista permitida.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executeQuery se utiliza cuando se espera un resultado tabular, y executeUpdate devuelve el número de filas afectadas por cambios. Revisa ese número: actualizar cero filas puede significar que el ID no existe. El driver puede preparar sentencias en el servidor según su configuración y frecuencia, por lo que no debes prometer una mejora automática en toda consulta.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https://docs.oracle.com/en/java/javase/25/docs/api/java.sql/java/sql/package-summary.html</a:t>
            </a:r>
          </a:p>
          <a:p xmlns:a="http://schemas.openxmlformats.org/drawingml/2006/main">
            <a:r>
              <a:t>https://jdbc.postgresql.org/documentation/</a:t>
            </a:r>
          </a:p>
          <a:p xmlns:a="http://schemas.openxmlformats.org/drawingml/2006/main">
            <a:r>
              <a:t>https://db.apache.org/jdo/</a:t>
            </a:r>
          </a:p>
          <a:p xmlns:a="http://schemas.openxmlformats.org/drawingml/2006/main">
            <a:r>
              <a:t>https://www.datanucleus.org/products/accessplatform_6_0/jdo/guide.html</a:t>
            </a:r>
          </a:p>
          <a:p xmlns:a="http://schemas.openxmlformats.org/drawingml/2006/main">
            <a:r>
              <a:t>Correspondencia: material.md, sección 1.2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RowSet extiende ResultSet con una API más apta para componentes. JdbcRowSet es conectado y conserva acceso a su conexión. CachedRowSet copia filas y puede utilizarse desconectado. RowSetProvider crea implementaciones estándar sin importar clases internas com.sun.rowset.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CachedRowSet consume memoria proporcional a los datos copiados. No es un reemplazo adecuado para millones de filas. Sus capacidades de sincronización con la base requieren condiciones y resolución de conflictos; el ejemplo solo consulta y desconecta. Para una vista paginada, puede ser más simple mapear una página a una lista de DTOs.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https://docs.oracle.com/en/java/javase/25/docs/api/java.sql/java/sql/package-summary.html</a:t>
            </a:r>
          </a:p>
          <a:p xmlns:a="http://schemas.openxmlformats.org/drawingml/2006/main">
            <a:r>
              <a:t>https://jdbc.postgresql.org/documentation/</a:t>
            </a:r>
          </a:p>
          <a:p xmlns:a="http://schemas.openxmlformats.org/drawingml/2006/main">
            <a:r>
              <a:t>https://db.apache.org/jdo/</a:t>
            </a:r>
          </a:p>
          <a:p xmlns:a="http://schemas.openxmlformats.org/drawingml/2006/main">
            <a:r>
              <a:t>https://www.datanucleus.org/products/accessplatform_6_0/jdo/guide.html</a:t>
            </a:r>
          </a:p>
          <a:p xmlns:a="http://schemas.openxmlformats.org/drawingml/2006/main">
            <a:r>
              <a:t>Correspondencia: material.md, sección 1.3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consulta que alimenta una pantalla debe limitar resultados y establecer un orden. Para paginar, el orden necesita un desempate estable como id. LIMIT y OFFSET son sencillos, pero pueden tener costos altos en páginas profundas y cambiar de contenido mientras se insertan datos. La paginación por clave ofrece otra opción.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demostración copia dos filas en un CachedRowSet y las recorre después de cerrar Connection. El objetivo es observar su desconexión, no recomendar guardar toda la base en memoria. La PC compara este enfoque con el mapeo explícito a records.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https://docs.oracle.com/en/java/javase/25/docs/api/java.sql/java/sql/package-summary.html</a:t>
            </a:r>
          </a:p>
          <a:p xmlns:a="http://schemas.openxmlformats.org/drawingml/2006/main">
            <a:r>
              <a:t>https://jdbc.postgresql.org/documentation/</a:t>
            </a:r>
          </a:p>
          <a:p xmlns:a="http://schemas.openxmlformats.org/drawingml/2006/main">
            <a:r>
              <a:t>https://db.apache.org/jdo/</a:t>
            </a:r>
          </a:p>
          <a:p xmlns:a="http://schemas.openxmlformats.org/drawingml/2006/main">
            <a:r>
              <a:t>https://www.datanucleus.org/products/accessplatform_6_0/jdo/guide.html</a:t>
            </a:r>
          </a:p>
          <a:p xmlns:a="http://schemas.openxmlformats.org/drawingml/2006/main">
            <a:r>
              <a:t>Correspondencia: material.md, sección 1.4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 completo:</a:t>
            </a:r>
          </a:p>
          <a:p xmlns:a="http://schemas.openxmlformats.org/drawingml/2006/main">
            <a:r>
              <a:t>package edu.ups.pap.u04;</a:t>
            </a:r>
          </a:p>
          <a:p xmlns:a="http://schemas.openxmlformats.org/drawingml/2006/main">
            <a:r>
              <a:t>import java.sql.*;</a:t>
            </a:r>
          </a:p>
          <a:p xmlns:a="http://schemas.openxmlformats.org/drawingml/2006/main">
            <a:r>
              <a:t>import javax.sql.rowset.*;</a:t>
            </a:r>
          </a:p>
          <a:p xmlns:a="http://schemas.openxmlformats.org/drawingml/2006/main">
            <a:r>
              <a:t>public class RowSetDemo {</a:t>
            </a:r>
          </a:p>
          <a:p xmlns:a="http://schemas.openxmlformats.org/drawingml/2006/main">
            <a:r>
              <a:t>    public static void main(String[] args) throws SQLException {</a:t>
            </a:r>
          </a:p>
          <a:p xmlns:a="http://schemas.openxmlformats.org/drawingml/2006/main">
            <a:r>
              <a:t>        try(CachedRowSet copia=RowSetProvider.newFactory().createCachedRowSet()) {</a:t>
            </a:r>
          </a:p>
          <a:p xmlns:a="http://schemas.openxmlformats.org/drawingml/2006/main">
            <a:r>
              <a:t>            try(Connection c=DriverManager.getConnection("jdbc:h2:mem:filas")) {</a:t>
            </a:r>
          </a:p>
          <a:p xmlns:a="http://schemas.openxmlformats.org/drawingml/2006/main">
            <a:r>
              <a:t>                try(Statement s=c.createStatement()) {</a:t>
            </a:r>
          </a:p>
          <a:p xmlns:a="http://schemas.openxmlformats.org/drawingml/2006/main">
            <a:r>
              <a:t>                    s.execute("CREATE TABLE lectura(id INT PRIMARY KEY,sensor VARCHAR(8),valor DOUBLE PRECISION)");</a:t>
            </a:r>
          </a:p>
          <a:p xmlns:a="http://schemas.openxmlformats.org/drawingml/2006/main">
            <a:r>
              <a:t>                    s.executeUpdate("INSERT INTO lectura VALUES(1,'S01',22),(2,'S01',24),(3,'S02',30)");</a:t>
            </a:r>
          </a:p>
          <a:p xmlns:a="http://schemas.openxmlformats.org/drawingml/2006/main">
            <a:r>
              <a:t>                }</a:t>
            </a:r>
          </a:p>
          <a:p xmlns:a="http://schemas.openxmlformats.org/drawingml/2006/main">
            <a:r>
              <a:t>                try(PreparedStatement p=c.prepareStatement("SELECT id,valor FROM lectura WHERE sensor=? ORDER BY id")) {</a:t>
            </a:r>
          </a:p>
          <a:p xmlns:a="http://schemas.openxmlformats.org/drawingml/2006/main">
            <a:r>
              <a:t>                    p.setString(1,"S01");</a:t>
            </a:r>
          </a:p>
          <a:p xmlns:a="http://schemas.openxmlformats.org/drawingml/2006/main">
            <a:r>
              <a:t>                    try(ResultSet r=p.executeQuery()){copia.populate(r);}</a:t>
            </a:r>
          </a:p>
          <a:p xmlns:a="http://schemas.openxmlformats.org/drawingml/2006/main">
            <a:r>
              <a:t>                }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  while(copia.next()) System.out.println(copia.getInt("id")+": "+copia.getDouble("valor"));</a:t>
            </a:r>
          </a:p>
          <a:p xmlns:a="http://schemas.openxmlformats.org/drawingml/2006/main">
            <a:r>
              <a:t>            System.out.println("Filas desconectadas: "+copia.size());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Salida:</a:t>
            </a:r>
          </a:p>
          <a:p xmlns:a="http://schemas.openxmlformats.org/drawingml/2006/main">
            <a:r>
              <a:t>1: 22.0</a:t>
            </a:r>
          </a:p>
          <a:p xmlns:a="http://schemas.openxmlformats.org/drawingml/2006/main">
            <a:r>
              <a:t>2: 24.0</a:t>
            </a:r>
          </a:p>
          <a:p xmlns:a="http://schemas.openxmlformats.org/drawingml/2006/main">
            <a:r>
              <a:t>Filas desconectadas: 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Salida esperada:</a:t>
            </a:r>
          </a:p>
          <a:p xmlns:a="http://schemas.openxmlformats.org/drawingml/2006/main">
            <a:r>
              <a:t>1: 22.0</a:t>
            </a:r>
          </a:p>
          <a:p xmlns:a="http://schemas.openxmlformats.org/drawingml/2006/main">
            <a:r>
              <a:t>2: 24.0</a:t>
            </a:r>
          </a:p>
          <a:p xmlns:a="http://schemas.openxmlformats.org/drawingml/2006/main">
            <a:r>
              <a:t>Filas desconectadas: 2</a:t>
            </a:r>
          </a:p>
          <a:p xmlns:a="http://schemas.openxmlformats.org/drawingml/2006/main">
            <a:r>
              <a:t>Casos de aceptación: material.md, sección 3.2.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Resuelve la ampliación en tu proyecto CampusMonitor.</a:t>
            </a:r>
          </a:p>
          <a:p xmlns:a="http://schemas.openxmlformats.org/drawingml/2006/main">
            <a:r>
              <a:t>Evidencia: evidencias/PC4.3.md y enlace al commit final.</a:t>
            </a:r>
          </a:p>
          <a:p xmlns:a="http://schemas.openxmlformats.org/drawingml/2006/main">
            <a:r>
              <a:t>Implementa una consulta de CampusMonitor por sensor y rango de valores con PreparedStatement. Los filtros son valores parametrizados.</a:t>
            </a:r>
          </a:p>
          <a:p xmlns:a="http://schemas.openxmlformats.org/drawingml/2006/main">
            <a:r>
              <a:t>Mapea el resultado a List&lt;LecturaDto&gt; y crea otra consulta limitada con CachedRowSet para comparar el uso tras cerrar la conexión.</a:t>
            </a:r>
          </a:p>
          <a:p xmlns:a="http://schemas.openxmlformats.org/drawingml/2006/main">
            <a:r>
              <a:t>Agrega paginación con orden por instante e ID. Prueba un ID con comillas como entrada y verifica que no modifica la consulta.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Síntesis del material. Revisa la sección 3 para la PC y la guía general para commits y evidencias.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8ec4ce87b54d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cb455bda7d4d12" /><Relationship Type="http://schemas.openxmlformats.org/officeDocument/2006/relationships/slideLayout" Target="/ppt/slideLayouts/slideLayout1.xml" Id="R54f2b558bc3043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f2b558bc3043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c9d330c9c4dcb" /><Relationship Type="http://schemas.openxmlformats.org/officeDocument/2006/relationships/image" Target="/ppt/media/image.png" Id="R01792052bd0845a4" /><Relationship Type="http://schemas.openxmlformats.org/officeDocument/2006/relationships/notesSlide" Target="/ppt/notesSlides/notesSlide1.xml" Id="R19f050e3510c4a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58c534beb4ab2" /><Relationship Type="http://schemas.openxmlformats.org/officeDocument/2006/relationships/notesSlide" Target="/ppt/notesSlides/notesSlide2.xml" Id="Rfe04df4d6b3a44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e267bb8c240c2" /><Relationship Type="http://schemas.openxmlformats.org/officeDocument/2006/relationships/notesSlide" Target="/ppt/notesSlides/notesSlide3.xml" Id="Rd9fa30af1bb545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9800a79f24859" /><Relationship Type="http://schemas.openxmlformats.org/officeDocument/2006/relationships/notesSlide" Target="/ppt/notesSlides/notesSlide4.xml" Id="R866cee25866049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aecf77799499e" /><Relationship Type="http://schemas.openxmlformats.org/officeDocument/2006/relationships/notesSlide" Target="/ppt/notesSlides/notesSlide5.xml" Id="R073f5543a7c54f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6ef7e11d946ff" /><Relationship Type="http://schemas.openxmlformats.org/officeDocument/2006/relationships/notesSlide" Target="/ppt/notesSlides/notesSlide6.xml" Id="Rfd75b785904a4c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d6c9a535840ef" /><Relationship Type="http://schemas.openxmlformats.org/officeDocument/2006/relationships/notesSlide" Target="/ppt/notesSlides/notesSlide7.xml" Id="R836ee457f62443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5d6e5b083473f" /><Relationship Type="http://schemas.openxmlformats.org/officeDocument/2006/relationships/notesSlide" Target="/ppt/notesSlides/notesSlide8.xml" Id="Re3ecc53a504e40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4181e083d44ff" /><Relationship Type="http://schemas.openxmlformats.org/officeDocument/2006/relationships/notesSlide" Target="/ppt/notesSlides/notesSlide9.xml" Id="R181266016e5849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d537573924eaa" /><Relationship Type="http://schemas.openxmlformats.org/officeDocument/2006/relationships/notesSlide" Target="/ppt/notesSlides/notesSlide10.xml" Id="Re9caa785367f40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792052bd0845a4"/>
          <a:stretch xmlns:a="http://schemas.openxmlformats.org/drawingml/2006/main"/>
        </p:blipFill>
        <p:spPr>
          <a:xfrm xmlns:a="http://schemas.openxmlformats.org/drawingml/2006/main">
            <a:off x="609600" y="545418"/>
            <a:ext cx="6858000" cy="112848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48C17-C540-46B5-8950-73C3C301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Programación Aplicada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62812-F2C4-44FB-9708-E92EB431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ResultSet, RowSet y consultas parametrizadas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78896-7409-4DBA-9F73-1C53803E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957DEC-3997-4021-9057-A1CC27D6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Unidad 4 · 4.3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1E55E-DBB7-4EB2-8F1D-8FE863EE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18164290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865BD-B054-4C2A-A104-0C0B00FF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34396-7317-4ADB-843C-A8FB801C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El problema de CampusMonitor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C5136-B1E0-442D-BD69-0C74B594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B0946-4C60-4D6F-9040-1AD80850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0C523-89DC-4F95-891E-2C33D196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008366-06F4-4D70-9445-9E7E0744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477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CampusMonitor debe consultar lecturas por sensor y mostrar resultados cuando la conexión ya se cerró. ResultSet y CachedRowSet ofrecen modelos de acceso diferentes y exigen decisiones sobre tamaño, tipos y duración de los recursos.</a:t>
            </a:r>
          </a:p>
        </p:txBody>
      </p:sp>
    </p:spTree>
    <p:extLst>
      <p:ext uri="{BB962C8B-B14F-4D97-AF65-F5344CB8AC3E}">
        <p14:creationId xmlns:p14="http://schemas.microsoft.com/office/powerpoint/2010/main" val="17751157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0D5423-2F5C-4FE0-844D-C23EB8E7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EB4DF-5E81-40B5-9486-B30F085F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Cursor y lectura de columnas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3895B-7677-42C5-8FB2-3B6A948A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E719E-E234-4E02-935D-959C6CC5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3AD43-DD04-4F4B-9877-ECAB55AF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41D63-B85A-4A31-99E8-9E81B75C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ResultSet se recorre con next.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FAA85-C3F6-4339-8EFA-EE415E7C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ResultSet representa el resultado de una consulta y mantiene un cursor inicialmente antes de la primera fila. next avanza y devuelve false cuando no quedan filas. Acceder a columnas antes del primer next es un uso incorrecto. Usa nombres o alias claros para reducir errores al cambiar el SELECT.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0C609-9849-4AF5-937B-D3D21373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F11D5-8DED-4FC3-A35B-8716AF60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026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Los getters convierten tipos según JDBC y el controlador. getInt devuelve cero cuando la columna SQL es NULL; para distinguirlo llama wasNull inmediatamente o usa getObject con un tipo compatible.</a:t>
            </a:r>
          </a:p>
        </p:txBody>
      </p:sp>
    </p:spTree>
    <p:extLst>
      <p:ext uri="{BB962C8B-B14F-4D97-AF65-F5344CB8AC3E}">
        <p14:creationId xmlns:p14="http://schemas.microsoft.com/office/powerpoint/2010/main" val="2842437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77A58A-99A8-473E-90F0-9ACC4F0A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2608D-D1A6-431C-A999-724EA471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PreparedStatement y parámetros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F1839-2E77-42AF-82DE-FDDF946C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BFD28-ADC9-4B5E-AEF9-68593A94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F37BE5-041C-4867-9517-129E3F89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DB379-AB63-43EA-BABE-BA2C4EFE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PreparedStatement parametriza valores.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081CC-1CCA-44E9-82CE-E444C894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PreparedStatement separa estructura SQL y valores. Los marcadores ? representan valores que se asignan con setters tipados. No concatenes una entrada externa dentro del WHERE. Los parámetros no sirven para nombres de tabla, columnas ni direcciones ASC/DESC; esos elementos deben seleccionarse desde una lista permitida.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12C5F-E80D-46AC-9BAE-E5E9F87F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71C2E7-BBF5-4C0B-86EB-69AA287B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026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executeQuery se utiliza cuando se espera un resultado tabular, y executeUpdate devuelve el número de filas afectadas por cambios. Revisa ese número: actualizar cero filas puede significar que el ID no existe.</a:t>
            </a:r>
          </a:p>
        </p:txBody>
      </p:sp>
    </p:spTree>
    <p:extLst>
      <p:ext uri="{BB962C8B-B14F-4D97-AF65-F5344CB8AC3E}">
        <p14:creationId xmlns:p14="http://schemas.microsoft.com/office/powerpoint/2010/main" val="4201415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CF9C8-7C7D-4262-A54B-51423105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6171C-207C-4151-AF34-483CC3E0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RowSet conectado y desconectado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BB964-4476-415C-8A37-E0D8BEBC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6C5F8-C90F-472A-B29E-D868B021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D46F4-CFEF-4C0C-AA39-A8AB9B12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7DF3B-1E45-4DA3-BEC3-191E5232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CachedRowSet permite lectura desconectada.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8179D-EFA8-463D-AD5C-41B72BCA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RowSet extiende ResultSet con una API más apta para componentes. JdbcRowSet es conectado y conserva acceso a su conexión. CachedRowSet copia filas y puede utilizarse desconectado. RowSetProvider crea implementaciones estándar sin importar clases internas com.sun.rowset.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F04E7-8D86-4B72-AF4C-E9A61CEA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5D24C-B22D-4CE3-A435-C27F8E82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026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CachedRowSet consume memoria proporcional a los datos copiados. No es un reemplazo adecuado para millones de filas.</a:t>
            </a:r>
          </a:p>
        </p:txBody>
      </p:sp>
    </p:spTree>
    <p:extLst>
      <p:ext uri="{BB962C8B-B14F-4D97-AF65-F5344CB8AC3E}">
        <p14:creationId xmlns:p14="http://schemas.microsoft.com/office/powerpoint/2010/main" val="1762721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D79C46-2159-468D-B981-5C047513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76D8D-3904-44DD-ADD9-49B900DE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Límite, orden y paginación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38ECB-A052-42B1-B32B-A81EBB70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E9569-AF27-4546-9463-A21EC994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E432C-732F-4490-BCBD-118EECAB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85DF2-2C2B-4AD1-9576-1CD0C2F1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La paginación necesita un orden estable.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01104-D9DA-4A17-97CF-034C3875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Una consulta que alimenta una pantalla debe limitar resultados y establecer un orden. Para paginar, el orden necesita un desempate estable como id. LIMIT y OFFSET son sencillos, pero pueden tener costos altos en páginas profundas y cambiar de contenido mientras se insertan datos. La paginación por clave ofrece otra opción.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902AB-D79C-45CA-BA2E-572E231B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CA400-60C0-410E-BBEF-1D1DD34F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026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La demostración copia dos filas en un CachedRowSet y las recorre después de cerrar Connection. El objetivo es observar su desconexión, no recomendar guardar toda la base en memoria.</a:t>
            </a:r>
          </a:p>
        </p:txBody>
      </p:sp>
    </p:spTree>
    <p:extLst>
      <p:ext uri="{BB962C8B-B14F-4D97-AF65-F5344CB8AC3E}">
        <p14:creationId xmlns:p14="http://schemas.microsoft.com/office/powerpoint/2010/main" val="13462987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9D52B-EC72-4773-8FB4-DEE77CFC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1C0D4-DB60-4D96-AD5F-85D33288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Demostración resuelta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2ED03-AA13-49D3-8BEE-63016A6E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D319B-9478-472F-B7F6-794EF8E0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31B68-E3B4-417D-9E1C-8FF181D0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D8CBD-44D0-4930-8CB7-01C745C9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90675"/>
            <a:ext cx="10953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9A0E7-F4B1-4817-A863-AB5FF02F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43075"/>
            <a:ext cx="10477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public static void main(String[] args) throws SQLException {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try(CachedRowSet copia=RowSetProvider.newFactory().createCachedRowSet()) {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try(Connection c=DriverManager.getConnection("jdbc:h2:mem:filas")) {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try(Statement s=c.createStatement()) {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  s.execute("CREATE TABLE lectura(id INT PRIMARY KEY,sensor VARCHAR(8),valor DOUBLE PRECISION)");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  s.executeUpdate("INSERT INTO lectura VALUES(1,'S01',22),(2,'S01',24),(3,'S02',30)");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}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try(PreparedStatement p=c.prepareStatement("SELECT id,valor FROM lectura WHERE sensor=? ORDER BY id")) {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  p.setString(1,"S01");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  try(ResultSet r=p.executeQuery()){copia.populate(r);}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}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}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while(copia.next()) System.out.println(copia.getInt("id")+": "+copia.getDouble("valor"));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E156D-B222-413A-BCEC-1E8DA1C5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Fragmento de RowSetDemo.java. Código completo y ejecución en material.md.</a:t>
            </a:r>
          </a:p>
        </p:txBody>
      </p:sp>
    </p:spTree>
    <p:extLst>
      <p:ext uri="{BB962C8B-B14F-4D97-AF65-F5344CB8AC3E}">
        <p14:creationId xmlns:p14="http://schemas.microsoft.com/office/powerpoint/2010/main" val="1781541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4FDC2A-ABE5-42D2-9B1E-6F2EC1D0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EC11E-7DF0-41A0-AD27-53D56B96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 de la 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46773-6145-44D0-B142-BD222A61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9A1A8-F6CF-46DF-8CBB-716DD2F1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36E1A-6E2F-475A-BE4A-12A99CB1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629400"/>
              </a:tblGrid>
              <a:tr h="7858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Caso</a:t>
                      </a:r>
                    </a:p>
                  </a:txBody>
                  <a:tcPr marL="152400" marR="152400" marT="133350" marB="114300" anchor="ctr">
                    <a:solidFill>
                      <a:srgbClr val="0037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Comportamiento requerido</a:t>
                      </a:r>
                    </a:p>
                  </a:txBody>
                  <a:tcPr marL="152400" marR="152400" marT="133350" marB="114300" anchor="ctr">
                    <a:solidFill>
                      <a:srgbClr val="003772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Filtro S01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Solo lecturas de ese sensor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 con ' OR '1'='1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 trata como valor literal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NULL numérico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 distingue de cero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B467E-5A3E-4ECA-BB22-97E108FA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Salida de la demostración: 1: 22.0 · 2: 24.0 · Filas desconectadas: 2</a:t>
            </a:r>
          </a:p>
        </p:txBody>
      </p:sp>
    </p:spTree>
    <p:extLst>
      <p:ext uri="{BB962C8B-B14F-4D97-AF65-F5344CB8AC3E}">
        <p14:creationId xmlns:p14="http://schemas.microsoft.com/office/powerpoint/2010/main" val="1279026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C83B82-999B-4761-A0EA-03772005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A4A90-8141-4A81-B7D6-79FC0555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PC4.3 · Ampliación del proyecto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3078B7-A7FE-4933-A370-E96668B9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8A525-91D5-4D1F-AE66-3B476183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5D53D-B114-448A-BFCC-332759FD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FA1E7-4AFE-49D1-9AEC-EBD02C07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7748D-3691-4ED7-A604-9EBD443B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01536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Implementa una consulta de CampusMonitor por sensor y rango de valores con PreparedStatement. Los filtros son valores parametrizados.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F5138-4A2A-4BB8-9284-B7893900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73030-8C2F-4798-BEFC-4D425BB2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24175"/>
            <a:ext cx="101536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Mapea el resultado a List&lt;LecturaDto&gt; y crea otra consulta limitada con CachedRowSet para comparar el uso tras cerrar la conexión.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F9DBA-10C1-4E71-8057-4A2F3AAB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E6D2E-D336-4BA1-B0F8-36ABCAE9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86250"/>
            <a:ext cx="101536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Agrega paginación con orden por instante e ID. Prueba un ID con comillas como entrada y verifica que no modifica la consulta.</a:t>
            </a:r>
          </a:p>
        </p:txBody>
      </p:sp>
    </p:spTree>
    <p:extLst>
      <p:ext uri="{BB962C8B-B14F-4D97-AF65-F5344CB8AC3E}">
        <p14:creationId xmlns:p14="http://schemas.microsoft.com/office/powerpoint/2010/main" val="13148849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816FFF-F99E-4BB6-87E4-4F325A98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5FBCA-4097-4014-8065-15DC84B5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 esencial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EA9F50-E14A-48A1-B460-08F9E467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611E1-89B6-4E0C-A8C7-85F3ADB9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15D18-07E6-4BD1-B884-08040215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EDF0A-995E-456B-ABA0-4FCA4222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ResultSet se recorre con next.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13E454-D7E1-4E18-9C84-56CD4205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PreparedStatement parametriza valores.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13C16-2856-491E-BA9C-8196C20B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CachedRowSet permite lectura desconectada.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1004E8-9ECF-44A9-97B1-4646306A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paginación necesita un orden estable.</a:t>
            </a:r>
          </a:p>
        </p:txBody>
      </p:sp>
    </p:spTree>
    <p:extLst>
      <p:ext uri="{BB962C8B-B14F-4D97-AF65-F5344CB8AC3E}">
        <p14:creationId xmlns:p14="http://schemas.microsoft.com/office/powerpoint/2010/main" val="19641910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2026-09-10T23:07:21.7100000Z</dcterms:created>
  <dcterms:modified xsi:type="dcterms:W3CDTF">2026-09-10T23:07:21.7100000Z</dcterms:modified>
</coreProperties>
</file>