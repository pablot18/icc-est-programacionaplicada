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db2af380b44fc2" /><Relationship Type="http://schemas.openxmlformats.org/officeDocument/2006/relationships/extended-properties" Target="/docProps/app.xml" Id="R16d0bbd995764a56" /><Relationship Type="http://schemas.openxmlformats.org/officeDocument/2006/relationships/officeDocument" Target="/ppt/presentation.xml" Id="R8b08dafd1167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bf7657bc044bdd"/>
  </p:sldMasterIdLst>
  <p:notesMasterIdLst>
    <p:notesMasterId xmlns:r="http://schemas.openxmlformats.org/officeDocument/2006/relationships" r:id="R7ae9076a9fba454f"/>
  </p:notesMasterIdLst>
  <p:sldIdLst>
    <p:sldId xmlns:r="http://schemas.openxmlformats.org/officeDocument/2006/relationships" id="256" r:id="Rbc71bdc160134a1f"/>
    <p:sldId xmlns:r="http://schemas.openxmlformats.org/officeDocument/2006/relationships" id="257" r:id="Rc477e45be07746e4"/>
    <p:sldId xmlns:r="http://schemas.openxmlformats.org/officeDocument/2006/relationships" id="258" r:id="R4395726ea2114385"/>
    <p:sldId xmlns:r="http://schemas.openxmlformats.org/officeDocument/2006/relationships" id="259" r:id="R26a47aabdd8445de"/>
    <p:sldId xmlns:r="http://schemas.openxmlformats.org/officeDocument/2006/relationships" id="260" r:id="R6addfee76f074119"/>
    <p:sldId xmlns:r="http://schemas.openxmlformats.org/officeDocument/2006/relationships" id="261" r:id="Ra807f4ae7b194b9f"/>
    <p:sldId xmlns:r="http://schemas.openxmlformats.org/officeDocument/2006/relationships" id="262" r:id="Rad8f8fd0966a4e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830bc91c8e46ed" /><Relationship Type="http://schemas.openxmlformats.org/officeDocument/2006/relationships/slideMaster" Target="/ppt/slideMasters/slideMaster1.xml" Id="R3dbf7657bc044bdd" /><Relationship Type="http://schemas.openxmlformats.org/officeDocument/2006/relationships/notesMaster" Target="/ppt/notesMasters/notesMaster1.xml" Id="R7ae9076a9fba454f" /><Relationship Type="http://schemas.openxmlformats.org/officeDocument/2006/relationships/presProps" Target="/ppt/presProps.xml" Id="R630cbe3e187045d6" /><Relationship Type="http://schemas.openxmlformats.org/officeDocument/2006/relationships/tableStyles" Target="/ppt/tableStyles.xml" Id="R83f514f4855a4aa9" /><Relationship Type="http://schemas.openxmlformats.org/officeDocument/2006/relationships/slide" Target="/ppt/slides/slide1.xml" Id="Rbc71bdc160134a1f" /><Relationship Type="http://schemas.openxmlformats.org/officeDocument/2006/relationships/slide" Target="/ppt/slides/slide2.xml" Id="Rc477e45be07746e4" /><Relationship Type="http://schemas.openxmlformats.org/officeDocument/2006/relationships/slide" Target="/ppt/slides/slide3.xml" Id="R4395726ea2114385" /><Relationship Type="http://schemas.openxmlformats.org/officeDocument/2006/relationships/slide" Target="/ppt/slides/slide4.xml" Id="R26a47aabdd8445de" /><Relationship Type="http://schemas.openxmlformats.org/officeDocument/2006/relationships/slide" Target="/ppt/slides/slide5.xml" Id="R6addfee76f074119" /><Relationship Type="http://schemas.openxmlformats.org/officeDocument/2006/relationships/slide" Target="/ppt/slides/slide6.xml" Id="Ra807f4ae7b194b9f" /><Relationship Type="http://schemas.openxmlformats.org/officeDocument/2006/relationships/slide" Target="/ppt/slides/slide7.xml" Id="Rad8f8fd0966a4e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9fc8f9594442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048539b816423e" /><Relationship Type="http://schemas.openxmlformats.org/officeDocument/2006/relationships/notesMaster" Target="/ppt/notesMasters/notesMaster1.xml" Id="R01207da02bf3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927a0aa7943b9" /><Relationship Type="http://schemas.openxmlformats.org/officeDocument/2006/relationships/notesMaster" Target="/ppt/notesMasters/notesMaster1.xml" Id="Rda977cab8d32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093d55e414c42" /><Relationship Type="http://schemas.openxmlformats.org/officeDocument/2006/relationships/notesMaster" Target="/ppt/notesMasters/notesMaster1.xml" Id="R5aac787cac6247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ee6809af1248a8" /><Relationship Type="http://schemas.openxmlformats.org/officeDocument/2006/relationships/notesMaster" Target="/ppt/notesMasters/notesMaster1.xml" Id="R579315f7af77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4ed6a3b5b74315" /><Relationship Type="http://schemas.openxmlformats.org/officeDocument/2006/relationships/notesMaster" Target="/ppt/notesMasters/notesMaster1.xml" Id="R8fd13b93289545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c9f0a1c24a4ca5" /><Relationship Type="http://schemas.openxmlformats.org/officeDocument/2006/relationships/notesMaster" Target="/ppt/notesMasters/notesMaster1.xml" Id="R8132a9fee47148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bf9bcfce40488c" /><Relationship Type="http://schemas.openxmlformats.org/officeDocument/2006/relationships/notesMaster" Target="/ppt/notesMasters/notesMaster1.xml" Id="R3a8cfa451b22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PL4.1. Monitor persistente con PostgreSQL y JDBC.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sesiones del monitor deben consultarse después de reiniciar la aplicación. Un lote parcialmente guardado puede producir estadísticas incorrectas, por lo que la importación necesita una transacción y una política de identidad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Evoluciona CampusMonitor a Gradle Kotlin DSL con Wrapper, Java 25, controlador PostgreSQL y configuración YAML cargada explícitamente. Credenciales solo por entorno.</a:t>
            </a:r>
          </a:p>
          <a:p xmlns:a="http://schemas.openxmlformats.org/drawingml/2006/main">
            <a:r>
              <a:t>Crea sensor, sesion y lectura mediante scripts versionados. Define claves primarias y foráneas, valores requeridos y unicidad de sesión, sensor y secuencia.</a:t>
            </a:r>
          </a:p>
          <a:p xmlns:a="http://schemas.openxmlformats.org/drawingml/2006/main">
            <a:r>
              <a:t>Implementa alta y consulta de sensores, guardado transaccional de lotes y consultas de lecturas por sensor, sesión y rango. Todos los valores externos se parametrizan.</a:t>
            </a:r>
          </a:p>
          <a:p xmlns:a="http://schemas.openxmlformats.org/drawingml/2006/main">
            <a:r>
              <a:t>Ofrece consulta paginada con orden estable y resumen por sensor. Mapea filas a DTOs y compara una consulta limitada mediante CachedRowSet.</a:t>
            </a:r>
          </a:p>
          <a:p xmlns:a="http://schemas.openxmlformats.org/drawingml/2006/main">
            <a:r>
              <a:t>Fuerza un duplicado en medio de un lote y demuestra que la política todo o nada deja cero filas nuevas. Incluye manejo de SQLException y cierre de recursos.</a:t>
            </a:r>
          </a:p>
          <a:p xmlns:a="http://schemas.openxmlformats.org/drawingml/2006/main">
            <a:r>
              <a:t>Mantén consultas de la interfaz fuera del EDT y una conexión por operación o consumidor. Reinicia la aplicación y verifica registros persistidos.</a:t>
            </a:r>
          </a:p>
          <a:p xmlns:a="http://schemas.openxmlformats.org/drawingml/2006/main">
            <a:r>
              <a:t>Realiza una comparación breve con JavaBeans y JDO usando las demostraciones de 4.2. No sustituyas la implementación JDBC de esta PL por un 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PL4.1.html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Evoluciona CampusMonitor a Gradle Kotlin DSL con Wrapper, Java 25, controlador PostgreSQL y configuración YAML cargada explícitamente. Credenciales solo por entorno.</a:t>
            </a:r>
          </a:p>
          <a:p xmlns:a="http://schemas.openxmlformats.org/drawingml/2006/main">
            <a:r>
              <a:t>Crea sensor, sesion y lectura mediante scripts versionados. Define claves primarias y foráneas, valores requeridos y unicidad de sesión, sensor y secuencia.</a:t>
            </a:r>
          </a:p>
          <a:p xmlns:a="http://schemas.openxmlformats.org/drawingml/2006/main">
            <a:r>
              <a:t>Implementa alta y consulta de sensores, guardado transaccional de lotes y consultas de lecturas por sensor, sesión y rango. Todos los valores externos se parametrizan.</a:t>
            </a:r>
          </a:p>
          <a:p xmlns:a="http://schemas.openxmlformats.org/drawingml/2006/main">
            <a:r>
              <a:t>Ofrece consulta paginada con orden estable y resumen por sensor. Mapea filas a DTOs y compara una consulta limitada mediante CachedRowSet.</a:t>
            </a:r>
          </a:p>
          <a:p xmlns:a="http://schemas.openxmlformats.org/drawingml/2006/main">
            <a:r>
              <a:t>Fuerza un duplicado en medio de un lote y demuestra que la política todo o nada deja cero filas nuevas. Incluye manejo de SQLException y cierre de recursos.</a:t>
            </a:r>
          </a:p>
          <a:p xmlns:a="http://schemas.openxmlformats.org/drawingml/2006/main">
            <a:r>
              <a:t>Mantén consultas de la interfaz fuera del EDT y una conexión por operación o consumidor. Reinicia la aplicación y verifica registros persistidos.</a:t>
            </a:r>
          </a:p>
          <a:p xmlns:a="http://schemas.openxmlformats.org/drawingml/2006/main">
            <a:r>
              <a:t>Realiza una comparación breve con JavaBeans y JDO usando las demostraciones de 4.2. No sustituyas la implementación JDBC de esta PL por un 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PL4.1.html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Evoluciona CampusMonitor a Gradle Kotlin DSL con Wrapper, Java 25, controlador PostgreSQL y configuración YAML cargada explícitamente. Credenciales solo por entorno.</a:t>
            </a:r>
          </a:p>
          <a:p xmlns:a="http://schemas.openxmlformats.org/drawingml/2006/main">
            <a:r>
              <a:t>Crea sensor, sesion y lectura mediante scripts versionados. Define claves primarias y foráneas, valores requeridos y unicidad de sesión, sensor y secuencia.</a:t>
            </a:r>
          </a:p>
          <a:p xmlns:a="http://schemas.openxmlformats.org/drawingml/2006/main">
            <a:r>
              <a:t>Implementa alta y consulta de sensores, guardado transaccional de lotes y consultas de lecturas por sensor, sesión y rango. Todos los valores externos se parametrizan.</a:t>
            </a:r>
          </a:p>
          <a:p xmlns:a="http://schemas.openxmlformats.org/drawingml/2006/main">
            <a:r>
              <a:t>Ofrece consulta paginada con orden estable y resumen por sensor. Mapea filas a DTOs y compara una consulta limitada mediante CachedRowSet.</a:t>
            </a:r>
          </a:p>
          <a:p xmlns:a="http://schemas.openxmlformats.org/drawingml/2006/main">
            <a:r>
              <a:t>Fuerza un duplicado en medio de un lote y demuestra que la política todo o nada deja cero filas nuevas. Incluye manejo de SQLException y cierre de recursos.</a:t>
            </a:r>
          </a:p>
          <a:p xmlns:a="http://schemas.openxmlformats.org/drawingml/2006/main">
            <a:r>
              <a:t>Mantén consultas de la interfaz fuera del EDT y una conexión por operación o consumidor. Reinicia la aplicación y verifica registros persistidos.</a:t>
            </a:r>
          </a:p>
          <a:p xmlns:a="http://schemas.openxmlformats.org/drawingml/2006/main">
            <a:r>
              <a:t>Realiza una comparación breve con JavaBeans y JDO usando las demostraciones de 4.2. No sustituyas la implementación JDBC de esta PL por un 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PL4.1.html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Fuentes, Wrapper, scripts SQL y README de instalación, sin credenciales.</a:t>
            </a:r>
          </a:p>
          <a:p xmlns:a="http://schemas.openxmlformats.org/drawingml/2006/main">
            <a:r>
              <a:t>evidencias/PL4.1.md con consultas reales, rollback, reinicio y commits.</a:t>
            </a:r>
          </a:p>
          <a:p xmlns:a="http://schemas.openxmlformats.org/drawingml/2006/main">
            <a:r>
              <a:t>Presentación del estudiante de 6 a 8 diapositivas con modelo, flujo JDBC y demostración de consistencia.</a:t>
            </a:r>
          </a:p>
          <a:p xmlns:a="http://schemas.openxmlformats.org/drawingml/2006/main">
            <a:r>
              <a:t>Defensa: Introduce un duplicado durante un lote y muestra, desde una consulta independiente, que ninguna fila nueva de ese lote quedó confirmada.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relacional · 2 · Claves, restricciones y scripts reproducen el modelo requerido. · Falta una restricción o script. · Modelo inconsistente o no reproducible.</a:t>
            </a:r>
          </a:p>
          <a:p xmlns:a="http://schemas.openxmlformats.org/drawingml/2006/main">
            <a:r>
              <a:t>JDBC y consultas · 2 · Mapeo correcto, parámetros tipados y paginación estable. · Una consulta o caso NULL está incompleto. · Concatena datos externos o devuelve resultados incorrectos.</a:t>
            </a:r>
          </a:p>
          <a:p xmlns:a="http://schemas.openxmlformats.org/drawingml/2006/main">
            <a:r>
              <a:t>Transacciones · 2 · Commit y rollback mantienen atomicidad y cierran recursos. · Un caso de fallo no queda demostrado. · El lote queda parcialmente confirmado.</a:t>
            </a:r>
          </a:p>
          <a:p xmlns:a="http://schemas.openxmlformats.org/drawingml/2006/main">
            <a:r>
              <a:t>Configuración e integración · 2 · Gradle reproducible, YAML explícito y vista sin bloqueo con PostgreSQL. · Configuración o integración parcial. · No conecta al motor requerido o publica secretos.</a:t>
            </a:r>
          </a:p>
          <a:p xmlns:a="http://schemas.openxmlformats.org/drawingml/2006/main">
            <a:r>
              <a:t>Evidencia y defensa · 2 · Pruebas reales tras reinicio, commits y explicación del alcance transaccional. · Evidencia o explicación parcial. · No demuestra persistencia ni reversión.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3192776654d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5b60d0debf483c" /><Relationship Type="http://schemas.openxmlformats.org/officeDocument/2006/relationships/slideLayout" Target="/ppt/slideLayouts/slideLayout1.xml" Id="R10fb19f186c344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b19f186c344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5b92fa4434ee1" /><Relationship Type="http://schemas.openxmlformats.org/officeDocument/2006/relationships/image" Target="/ppt/media/image.png" Id="Rf369af9dd2f64392" /><Relationship Type="http://schemas.openxmlformats.org/officeDocument/2006/relationships/notesSlide" Target="/ppt/notesSlides/notesSlide1.xml" Id="R2e8bb21f65ff4a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f82db762e4d16" /><Relationship Type="http://schemas.openxmlformats.org/officeDocument/2006/relationships/notesSlide" Target="/ppt/notesSlides/notesSlide2.xml" Id="Raf8c3a5c4c2142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ef42fadcb4ca3" /><Relationship Type="http://schemas.openxmlformats.org/officeDocument/2006/relationships/notesSlide" Target="/ppt/notesSlides/notesSlide3.xml" Id="Rc391d17d8bbc49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648dea1ea46a5" /><Relationship Type="http://schemas.openxmlformats.org/officeDocument/2006/relationships/notesSlide" Target="/ppt/notesSlides/notesSlide4.xml" Id="R6dd92e61259f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a017220394a37" /><Relationship Type="http://schemas.openxmlformats.org/officeDocument/2006/relationships/notesSlide" Target="/ppt/notesSlides/notesSlide5.xml" Id="Rd0351e8d2d2f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cdc80587d48a7" /><Relationship Type="http://schemas.openxmlformats.org/officeDocument/2006/relationships/notesSlide" Target="/ppt/notesSlides/notesSlide6.xml" Id="Ra13e621e57d443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4f09bb07840fd" /><Relationship Type="http://schemas.openxmlformats.org/officeDocument/2006/relationships/notesSlide" Target="/ppt/notesSlides/notesSlide7.xml" Id="Ra56bbb0e289441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9af9dd2f64392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DCD08-F917-4258-A715-68C4F4E6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31B3E-BDCA-4BC0-B2A6-B49530E8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Monitor persistente con PostgreSQL y JDBC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7C1F3-B6AE-4101-A753-31B866BA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6DCED-782A-4C9D-B9C7-4BB3D3C3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4 · PL4.1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2E8AD-3446-41EF-887D-4EF48220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43860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A14A1-B759-4CBA-BB36-33CB472A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3751-5D30-4D64-84CC-13B14F86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la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4C22B-7504-4E05-A5B8-06D764E0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A8A63-E142-4425-90AA-78AA0B17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587BB-0ED3-4B4D-B5F9-F9A3A0B9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11403-08AC-4DFE-9BDB-4D26E991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47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Las sesiones del monitor deben consultarse después de reiniciar la aplicación. Un lote parcialmente guardado puede producir estadísticas incorrectas, por lo que la importación necesita una transacción y una política de identidad verificable.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90D96-7B59-44F9-814C-08870D1C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Proyecto personal: CampusMonitor</a:t>
            </a:r>
          </a:p>
        </p:txBody>
      </p:sp>
    </p:spTree>
    <p:extLst>
      <p:ext uri="{BB962C8B-B14F-4D97-AF65-F5344CB8AC3E}">
        <p14:creationId xmlns:p14="http://schemas.microsoft.com/office/powerpoint/2010/main" val="1913847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DBAF-D4EB-4BBD-B424-5E09B752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30825-D23E-4C82-8A64-F895982B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 · Esquema y configuración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0C931-196E-4422-86F8-69D17A73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F3270-6654-42D8-8FCC-8194746C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3C2D9-D135-4DA3-B799-ADC57D22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B9621-941F-421F-9A1F-81C883F1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Prepara scripts, datos semilla, variables de entorno y conexión verificable.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EC525-46A3-4583-AB6D-3E2C810E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Evoluciona CampusMonitor a Gradle Kotlin DSL con Wrapper, Java 25, controlador PostgreSQL y configuración YAML cargada explícitamente. Credenciales solo por entorno.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0690F-033E-4DD6-97AF-1AB7AA40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 sensor, sesion y lectura mediante scripts versionados. Define claves primarias y foráneas, valores requeridos y unicidad de sesión, sensor y secuencia.</a:t>
            </a:r>
          </a:p>
        </p:txBody>
      </p:sp>
    </p:spTree>
    <p:extLst>
      <p:ext uri="{BB962C8B-B14F-4D97-AF65-F5344CB8AC3E}">
        <p14:creationId xmlns:p14="http://schemas.microsoft.com/office/powerpoint/2010/main" val="240501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959D3-21D6-4825-8CA6-E47CA5EF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280D5-2FE4-4FAC-9920-AFDB2278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 · Repositorios y transacciones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D625E-21DD-4978-9569-4EF96F16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DFABF-DD6B-47F3-B466-899C4E9B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22837-35B4-402F-9533-D8451EC8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44A8-0573-4A38-B615-E79B6848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Implementa operaciones con PreparedStatement, mapeo y alcance transaccional.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3DDA2-D643-4D21-9545-FF16C040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alta y consulta de sensores, guardado transaccional de lotes y consultas de lecturas por sensor, sesión y rango. Todos los valores externos se parametrizan.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98FAD-6D3B-4975-8485-B253A78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Ofrece consulta paginada con orden estable y resumen por sensor. Mapea filas a DTOs y compara una consulta limitada mediante CachedRowSet.</a:t>
            </a:r>
          </a:p>
        </p:txBody>
      </p:sp>
    </p:spTree>
    <p:extLst>
      <p:ext uri="{BB962C8B-B14F-4D97-AF65-F5344CB8AC3E}">
        <p14:creationId xmlns:p14="http://schemas.microsoft.com/office/powerpoint/2010/main" val="362036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F9A35-647B-489B-880B-B44A8A8D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C14AB-6B2C-43BB-9E2E-658B4957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 · Consulta y recuperación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85FD5-953E-4D69-BBD7-DF61DC7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5F05C-27C2-4F16-82A5-50B61E03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361F4-4B1D-4695-9BF7-36D6C08E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C510D-1020-4471-B03A-DD371EE1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Agrega paginación y vista, fuerza rollback y verifica datos después de reiniciar.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5DFBD-251E-4828-84CE-F9CC4F7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Fuerza un duplicado en medio de un lote y demuestra que la política todo o nada deja cero filas nuevas. Incluye manejo de SQLException y cierre de recursos.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9A37B-7C48-4B46-B8F3-89E88C50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Mantén consultas de la interfaz fuera del EDT y una conexión por operación o consumidor. Reinicia la aplicación y verifica registros persistidos.</a:t>
            </a:r>
          </a:p>
        </p:txBody>
      </p:sp>
    </p:spTree>
    <p:extLst>
      <p:ext uri="{BB962C8B-B14F-4D97-AF65-F5344CB8AC3E}">
        <p14:creationId xmlns:p14="http://schemas.microsoft.com/office/powerpoint/2010/main" val="1468405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14013-DBDB-4FFF-BB60-3AFC3F9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B1801-6565-488F-8FA1-65E3DF6F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 y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B6C63-7403-4333-97C4-56A92922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540A1-A1B8-47F7-9EA2-521157B3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3EA8C-C10C-4732-ADDA-9F2462F5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FF4EE-7DB0-48DF-BB47-B3CE2CF8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Fuentes, Wrapper, scripts SQL y README de instalación, sin credenciales.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E9DE4-C4CB-4195-8CDE-55AE6B85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evidencias/PL4.1.md con consultas reales, rollback, reinicio y commits.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CE8EC-1C45-44BF-ACF6-81619F1B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del estudiante de 6 a 8 diapositivas con modelo, flujo JDBC y demostración de consistencia.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C2008-E0E5-4E4F-BC0F-F132BDF0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Introduce un duplicado durante un lote y muestra, desde una consulta independiente, que ninguna fila nueva de ese lote quedó confirmada.</a:t>
            </a:r>
          </a:p>
        </p:txBody>
      </p:sp>
    </p:spTree>
    <p:extLst>
      <p:ext uri="{BB962C8B-B14F-4D97-AF65-F5344CB8AC3E}">
        <p14:creationId xmlns:p14="http://schemas.microsoft.com/office/powerpoint/2010/main" val="1257617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90C0B-AD75-46D1-95C6-E4DA3B62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57902-8E2C-4F67-B870-24B9D630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la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842BE-0A34-421D-9F1E-591EB0A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681F9-9485-49AF-BC13-1E9F681A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32AAE-9994-4776-AE1E-EB4A989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0"/>
                <a:gridCol w="2781300"/>
              </a:tblGrid>
              <a:tr h="622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Modelo relacional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JDBC y consultas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Transacciones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Configuración e integración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 y defensa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0E4D8-6D60-4A81-863D-6FA120F1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Total: 10 puntos. Niveles: completo, parcial y no logrado. Descriptores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276335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2026-09-10T23:05:00.5380000Z</dcterms:created>
  <dcterms:modified xsi:type="dcterms:W3CDTF">2026-09-10T23:05:00.5380000Z</dcterms:modified>
</coreProperties>
</file>