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0ae5cd89d0420b" /><Relationship Type="http://schemas.openxmlformats.org/officeDocument/2006/relationships/extended-properties" Target="/docProps/app.xml" Id="R0bfeee4591444aa7" /><Relationship Type="http://schemas.openxmlformats.org/officeDocument/2006/relationships/officeDocument" Target="/ppt/presentation.xml" Id="R2316a785aeb14d74" /></Relationships>
</file>

<file path=ppt/presentation.xml><?xml version="1.0" encoding="utf-8"?>
<p:presentation xmlns:p="http://schemas.openxmlformats.org/presentationml/2006/main">
  <p:sldMasterIdLst>
    <p:sldMasterId xmlns:r="http://schemas.openxmlformats.org/officeDocument/2006/relationships" id="2147483648" r:id="R21a25e8f31584e62"/>
  </p:sldMasterIdLst>
  <p:notesMasterIdLst>
    <p:notesMasterId xmlns:r="http://schemas.openxmlformats.org/officeDocument/2006/relationships" r:id="R7994c69a80e3449c"/>
  </p:notesMasterIdLst>
  <p:sldIdLst>
    <p:sldId xmlns:r="http://schemas.openxmlformats.org/officeDocument/2006/relationships" id="256" r:id="R92998459afdb42bd"/>
    <p:sldId xmlns:r="http://schemas.openxmlformats.org/officeDocument/2006/relationships" id="257" r:id="R253585a55acb47f0"/>
    <p:sldId xmlns:r="http://schemas.openxmlformats.org/officeDocument/2006/relationships" id="258" r:id="R2203d23e89db4266"/>
    <p:sldId xmlns:r="http://schemas.openxmlformats.org/officeDocument/2006/relationships" id="259" r:id="R1308001c2e464bc5"/>
    <p:sldId xmlns:r="http://schemas.openxmlformats.org/officeDocument/2006/relationships" id="260" r:id="Rf5d78e8ddbdf4c28"/>
    <p:sldId xmlns:r="http://schemas.openxmlformats.org/officeDocument/2006/relationships" id="261" r:id="R7236fbe06d504255"/>
    <p:sldId xmlns:r="http://schemas.openxmlformats.org/officeDocument/2006/relationships" id="262" r:id="R78bd11ae07824e88"/>
    <p:sldId xmlns:r="http://schemas.openxmlformats.org/officeDocument/2006/relationships" id="263" r:id="R17f5e349ce694241"/>
    <p:sldId xmlns:r="http://schemas.openxmlformats.org/officeDocument/2006/relationships" id="264" r:id="R189d83e90f6641ab"/>
    <p:sldId xmlns:r="http://schemas.openxmlformats.org/officeDocument/2006/relationships" id="265" r:id="Rd1838efe2eb147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e777e4dc48749dd" /><Relationship Type="http://schemas.openxmlformats.org/officeDocument/2006/relationships/slideMaster" Target="/ppt/slideMasters/slideMaster1.xml" Id="R21a25e8f31584e62" /><Relationship Type="http://schemas.openxmlformats.org/officeDocument/2006/relationships/notesMaster" Target="/ppt/notesMasters/notesMaster1.xml" Id="R7994c69a80e3449c" /><Relationship Type="http://schemas.openxmlformats.org/officeDocument/2006/relationships/presProps" Target="/ppt/presProps.xml" Id="R5f1b400290df4785" /><Relationship Type="http://schemas.openxmlformats.org/officeDocument/2006/relationships/tableStyles" Target="/ppt/tableStyles.xml" Id="Rec4a4e1f1c0e415d" /><Relationship Type="http://schemas.openxmlformats.org/officeDocument/2006/relationships/slide" Target="/ppt/slides/slide1.xml" Id="R92998459afdb42bd" /><Relationship Type="http://schemas.openxmlformats.org/officeDocument/2006/relationships/slide" Target="/ppt/slides/slide2.xml" Id="R253585a55acb47f0" /><Relationship Type="http://schemas.openxmlformats.org/officeDocument/2006/relationships/slide" Target="/ppt/slides/slide3.xml" Id="R2203d23e89db4266" /><Relationship Type="http://schemas.openxmlformats.org/officeDocument/2006/relationships/slide" Target="/ppt/slides/slide4.xml" Id="R1308001c2e464bc5" /><Relationship Type="http://schemas.openxmlformats.org/officeDocument/2006/relationships/slide" Target="/ppt/slides/slide5.xml" Id="Rf5d78e8ddbdf4c28" /><Relationship Type="http://schemas.openxmlformats.org/officeDocument/2006/relationships/slide" Target="/ppt/slides/slide6.xml" Id="R7236fbe06d504255" /><Relationship Type="http://schemas.openxmlformats.org/officeDocument/2006/relationships/slide" Target="/ppt/slides/slide7.xml" Id="R78bd11ae07824e88" /><Relationship Type="http://schemas.openxmlformats.org/officeDocument/2006/relationships/slide" Target="/ppt/slides/slide8.xml" Id="R17f5e349ce694241" /><Relationship Type="http://schemas.openxmlformats.org/officeDocument/2006/relationships/slide" Target="/ppt/slides/slide9.xml" Id="R189d83e90f6641ab" /><Relationship Type="http://schemas.openxmlformats.org/officeDocument/2006/relationships/slide" Target="/ppt/slides/slide10.xml" Id="Rd1838efe2eb147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a371d345e042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0faeb6f7ef4155" /><Relationship Type="http://schemas.openxmlformats.org/officeDocument/2006/relationships/notesMaster" Target="/ppt/notesMasters/notesMaster1.xml" Id="R49e283d6126e4d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d765857ad24983" /><Relationship Type="http://schemas.openxmlformats.org/officeDocument/2006/relationships/notesMaster" Target="/ppt/notesMasters/notesMaster1.xml" Id="Rcabfeed1d3a446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c1d7a4982d4a79" /><Relationship Type="http://schemas.openxmlformats.org/officeDocument/2006/relationships/notesMaster" Target="/ppt/notesMasters/notesMaster1.xml" Id="R6403063192b2428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32433e17714401" /><Relationship Type="http://schemas.openxmlformats.org/officeDocument/2006/relationships/notesMaster" Target="/ppt/notesMasters/notesMaster1.xml" Id="R7af6a425a7704d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20b6400e6642e9" /><Relationship Type="http://schemas.openxmlformats.org/officeDocument/2006/relationships/notesMaster" Target="/ppt/notesMasters/notesMaster1.xml" Id="Rd5e453ab1dcf40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988b2a1d184e4f" /><Relationship Type="http://schemas.openxmlformats.org/officeDocument/2006/relationships/notesMaster" Target="/ppt/notesMasters/notesMaster1.xml" Id="Rfab1409537a04b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8be5920249403d" /><Relationship Type="http://schemas.openxmlformats.org/officeDocument/2006/relationships/notesMaster" Target="/ppt/notesMasters/notesMaster1.xml" Id="Rb5c85258da114a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6f4a2f06ad4e07" /><Relationship Type="http://schemas.openxmlformats.org/officeDocument/2006/relationships/notesMaster" Target="/ppt/notesMasters/notesMaster1.xml" Id="R5a08c8246ad046be"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9da16eb18e4150" /><Relationship Type="http://schemas.openxmlformats.org/officeDocument/2006/relationships/notesMaster" Target="/ppt/notesMasters/notesMaster1.xml" Id="R7fbedc1fdd9341c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c08dc00091c4fc1" /><Relationship Type="http://schemas.openxmlformats.org/officeDocument/2006/relationships/notesMaster" Target="/ppt/notesMasters/notesMaster1.xml" Id="R59c2e3815fd74b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2.3. Aserciones y límites de coincidencia. Autor: Ing. Pablo Torres, Mgtr.</a:t>
            </a:r>
          </a:p>
          <a:p xmlns:a="http://schemas.openxmlformats.org/drawingml/2006/main">
            <a:r>
              <a:t>Logo original proporcionado por el docente.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los registros de diagnóstico aparecen etiquetas mezcladas con unidades y estados. A veces se necesita encontrar un valor únicamente si está acompañado por un contexto, sin incluir ese contexto en el resultado.</a:t>
            </a:r>
          </a:p>
          <a:p xmlns:a="http://schemas.openxmlformats.org/drawingml/2006/main">
            <a:r>
              <a:t>Fuente del desarrollo: material.md, contexto.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aserción verifica una condición en una posición de la entrada y no consume caracteres. ^, $, límites de palabra y lookarounds pertenecen a esta familia. La coincidencia puede depender de símbolos anteriores o posteriores que no forman parte del texto capturado.</a:t>
            </a:r>
          </a:p>
          <a:p xmlns:a="http://schemas.openxmlformats.org/drawingml/2006/main">
            <a:r>
              <a:t/>
            </a:r>
          </a:p>
          <a:p xmlns:a="http://schemas.openxmlformats.org/drawingml/2006/main">
            <a:r>
              <a:t>Lookahead positivo (?=...) exige lo que sigue y el negativo (?!...) lo prohíbe. Lookbehind positivo (?&lt;=...) exige lo anterior y el negativo (?&lt;!...) lo prohíbe. Diseña primero la coincidencia que deseas devolver y luego las condiciones de contexto. Si una captura normal produce una solución más clara, no hace falta sustituirla por aserciones.</a:t>
            </a:r>
          </a:p>
          <a:p xmlns:a="http://schemas.openxmlformats.org/drawingml/2006/main">
            <a:r>
              <a:t/>
            </a:r>
          </a:p>
          <a:p xmlns:a="http://schemas.openxmlformats.org/drawingml/2006/main">
            <a:r>
              <a:t>Referencias:</a:t>
            </a:r>
          </a:p>
          <a:p xmlns:a="http://schemas.openxmlformats.org/drawingml/2006/main">
            <a:r>
              <a:t>https://docs.oracle.com/en/java/javase/25/docs/api/java.base/java/util/regex/Pattern.html</a:t>
            </a:r>
          </a:p>
          <a:p xmlns:a="http://schemas.openxmlformats.org/drawingml/2006/main">
            <a:r>
              <a:t>https://docs.oracle.com/en/java/javase/25/docs/api/java.base/java/util/regex/Matcher.html</a:t>
            </a:r>
          </a:p>
          <a:p xmlns:a="http://schemas.openxmlformats.org/drawingml/2006/main">
            <a:r>
              <a:t>https://docs.oracle.com/en/java/javase/25/docs/api/java.base/java/nio/file/Files.html</a:t>
            </a:r>
          </a:p>
          <a:p xmlns:a="http://schemas.openxmlformats.org/drawingml/2006/main">
            <a:r>
              <a:t>Correspondencia: material.md, sección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y $ pueden depender del modo multilínea, y $ admite ciertas posiciones antes de un terminador final. Para límites absolutos del texto, Java ofrece \A y \z. Con Matcher.matches normalmente no hace falta añadir anclas para exigir coincidencia total. El límite \b se relaciona con caracteres de palabra, no con cualquier separador visual.</a:t>
            </a:r>
          </a:p>
          <a:p xmlns:a="http://schemas.openxmlformats.org/drawingml/2006/main">
            <a:r>
              <a:t/>
            </a:r>
          </a:p>
          <a:p xmlns:a="http://schemas.openxmlformats.org/drawingml/2006/main">
            <a:r>
              <a:t>En protocolos definidos conviene escribir límites explícitos. Para extraer TEMP= seguido de un decimal y C, un lookbehind fijo reconoce la etiqueta y un lookahead comprueba la unidad. Rechaza coincidencias parciales dentro de tokens mayores. La elección de espacios permitidos debe estar documentada.</a:t>
            </a:r>
          </a:p>
          <a:p xmlns:a="http://schemas.openxmlformats.org/drawingml/2006/main">
            <a:r>
              <a:t/>
            </a:r>
          </a:p>
          <a:p xmlns:a="http://schemas.openxmlformats.org/drawingml/2006/main">
            <a:r>
              <a:t>Referencias:</a:t>
            </a:r>
          </a:p>
          <a:p xmlns:a="http://schemas.openxmlformats.org/drawingml/2006/main">
            <a:r>
              <a:t>https://docs.oracle.com/en/java/javase/25/docs/api/java.base/java/util/regex/Pattern.html</a:t>
            </a:r>
          </a:p>
          <a:p xmlns:a="http://schemas.openxmlformats.org/drawingml/2006/main">
            <a:r>
              <a:t>https://docs.oracle.com/en/java/javase/25/docs/api/java.base/java/util/regex/Matcher.html</a:t>
            </a:r>
          </a:p>
          <a:p xmlns:a="http://schemas.openxmlformats.org/drawingml/2006/main">
            <a:r>
              <a:t>https://docs.oracle.com/en/java/javase/25/docs/api/java.base/java/nio/file/Files.html</a:t>
            </a:r>
          </a:p>
          <a:p xmlns:a="http://schemas.openxmlformats.org/drawingml/2006/main">
            <a:r>
              <a:t>Correspondencia: material.md, sección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Varias aserciones al inicio pueden verificar condiciones independientes sobre una misma entrada. Esto se usa en validadores, pero una sucesión larga puede ser menos legible que varias comprobaciones de dominio. No uses una regex para comparar dos números ni para comprobar relaciones con una base de datos.</a:t>
            </a:r>
          </a:p>
          <a:p xmlns:a="http://schemas.openxmlformats.org/drawingml/2006/main">
            <a:r>
              <a:t/>
            </a:r>
          </a:p>
          <a:p xmlns:a="http://schemas.openxmlformats.org/drawingml/2006/main">
            <a:r>
              <a:t>Evita lookbehinds de longitud variable complejos aunque el motor acepte ciertas variantes. Los límites fijos facilitan explicar y probar el patrón. Los cuantificadores anidados y alternativas que reconocen el mismo prefijo pueden producir retroceso costoso. Los grupos atómicos y cuantificadores posesivos cambian la exploración y pueden alterar el conjunto de coincidencias, así que requieren pruebas específicas.</a:t>
            </a:r>
          </a:p>
          <a:p xmlns:a="http://schemas.openxmlformats.org/drawingml/2006/main">
            <a:r>
              <a:t/>
            </a:r>
          </a:p>
          <a:p xmlns:a="http://schemas.openxmlformats.org/drawingml/2006/main">
            <a:r>
              <a:t>Referencias:</a:t>
            </a:r>
          </a:p>
          <a:p xmlns:a="http://schemas.openxmlformats.org/drawingml/2006/main">
            <a:r>
              <a:t>https://docs.oracle.com/en/java/javase/25/docs/api/java.base/java/util/regex/Pattern.html</a:t>
            </a:r>
          </a:p>
          <a:p xmlns:a="http://schemas.openxmlformats.org/drawingml/2006/main">
            <a:r>
              <a:t>https://docs.oracle.com/en/java/javase/25/docs/api/java.base/java/util/regex/Matcher.html</a:t>
            </a:r>
          </a:p>
          <a:p xmlns:a="http://schemas.openxmlformats.org/drawingml/2006/main">
            <a:r>
              <a:t>https://docs.oracle.com/en/java/javase/25/docs/api/java.base/java/nio/file/Files.html</a:t>
            </a:r>
          </a:p>
          <a:p xmlns:a="http://schemas.openxmlformats.org/drawingml/2006/main">
            <a:r>
              <a:t>Correspondencia: material.md, sección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pruebas de una aserción deben variar tanto el fragmento buscado como su entorno. Mantén el mismo número y cambia la etiqueta, la unidad y los separadores. Así compruebas que el patrón verifica la condición y no acepta la cifra por accidente.</a:t>
            </a:r>
          </a:p>
          <a:p xmlns:a="http://schemas.openxmlformats.org/drawingml/2006/main">
            <a:r>
              <a:t/>
            </a:r>
          </a:p>
          <a:p xmlns:a="http://schemas.openxmlformats.org/drawingml/2006/main">
            <a:r>
              <a:t>Matcher.find avanza entre coincidencias y también maneja coincidencias vacías. En extracción de valores numéricos conviene que la parte consumida tenga al menos un carácter. El ejemplo extrae temperaturas solo tras TEMP= y antes de C seguida de espacio o final. No valida una línea completa: selecciona ocurrencias dentro de un texto.</a:t>
            </a:r>
          </a:p>
          <a:p xmlns:a="http://schemas.openxmlformats.org/drawingml/2006/main">
            <a:r>
              <a:t/>
            </a:r>
          </a:p>
          <a:p xmlns:a="http://schemas.openxmlformats.org/drawingml/2006/main">
            <a:r>
              <a:t>Referencias:</a:t>
            </a:r>
          </a:p>
          <a:p xmlns:a="http://schemas.openxmlformats.org/drawingml/2006/main">
            <a:r>
              <a:t>https://docs.oracle.com/en/java/javase/25/docs/api/java.base/java/util/regex/Pattern.html</a:t>
            </a:r>
          </a:p>
          <a:p xmlns:a="http://schemas.openxmlformats.org/drawingml/2006/main">
            <a:r>
              <a:t>https://docs.oracle.com/en/java/javase/25/docs/api/java.base/java/util/regex/Matcher.html</a:t>
            </a:r>
          </a:p>
          <a:p xmlns:a="http://schemas.openxmlformats.org/drawingml/2006/main">
            <a:r>
              <a:t>https://docs.oracle.com/en/java/javase/25/docs/api/java.base/java/nio/file/Files.html</a:t>
            </a:r>
          </a:p>
          <a:p xmlns:a="http://schemas.openxmlformats.org/drawingml/2006/main">
            <a:r>
              <a:t>Correspondencia: material.md, sección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a:t>
            </a:r>
          </a:p>
          <a:p xmlns:a="http://schemas.openxmlformats.org/drawingml/2006/main">
            <a:r>
              <a:t>package edu.ups.pap.u02;</a:t>
            </a:r>
          </a:p>
          <a:p xmlns:a="http://schemas.openxmlformats.org/drawingml/2006/main">
            <a:r>
              <a:t>import java.util.regex.*;</a:t>
            </a:r>
          </a:p>
          <a:p xmlns:a="http://schemas.openxmlformats.org/drawingml/2006/main">
            <a:r>
              <a:t>public class AsercionesDemo {</a:t>
            </a:r>
          </a:p>
          <a:p xmlns:a="http://schemas.openxmlformats.org/drawingml/2006/main">
            <a:r>
              <a:t>    static final Pattern TEMP = Pattern.compile(</a:t>
            </a:r>
          </a:p>
          <a:p xmlns:a="http://schemas.openxmlformats.org/drawingml/2006/main">
            <a:r>
              <a:t>        "(?&lt;=TEMP=)-?[0-9]+(?:[.][0-9]+)?(?=C(?: |$))");</a:t>
            </a:r>
          </a:p>
          <a:p xmlns:a="http://schemas.openxmlformats.org/drawingml/2006/main">
            <a:r>
              <a:t>    public static void main(String[] args) {</a:t>
            </a:r>
          </a:p>
          <a:p xmlns:a="http://schemas.openxmlformats.org/drawingml/2006/main">
            <a:r>
              <a:t>        String texto = "TEMP=23.5C HUM=40PCT TEMP=-2C TEMP=7F TEMP=8CX";</a:t>
            </a:r>
          </a:p>
          <a:p xmlns:a="http://schemas.openxmlformats.org/drawingml/2006/main">
            <a:r>
              <a:t>        Matcher m = TEMP.matcher(texto);</a:t>
            </a:r>
          </a:p>
          <a:p xmlns:a="http://schemas.openxmlformats.org/drawingml/2006/main">
            <a:r>
              <a:t>        int n = 0;</a:t>
            </a:r>
          </a:p>
          <a:p xmlns:a="http://schemas.openxmlformats.org/drawingml/2006/main">
            <a:r>
              <a:t>        while (m.find()) {</a:t>
            </a:r>
          </a:p>
          <a:p xmlns:a="http://schemas.openxmlformats.org/drawingml/2006/main">
            <a:r>
              <a:t>            double valor = Double.parseDouble(m.group());</a:t>
            </a:r>
          </a:p>
          <a:p xmlns:a="http://schemas.openxmlformats.org/drawingml/2006/main">
            <a:r>
              <a:t>            System.out.println(valor + " en [" + m.start() + "," + m.end() + ")");</a:t>
            </a:r>
          </a:p>
          <a:p xmlns:a="http://schemas.openxmlformats.org/drawingml/2006/main">
            <a:r>
              <a:t>            n++;</a:t>
            </a:r>
          </a:p>
          <a:p xmlns:a="http://schemas.openxmlformats.org/drawingml/2006/main">
            <a:r>
              <a:t>        }</a:t>
            </a:r>
          </a:p>
          <a:p xmlns:a="http://schemas.openxmlformats.org/drawingml/2006/main">
            <a:r>
              <a:t>        if (n != 2) throw new AssertionError("Se esperaban dos temperaturas");</a:t>
            </a:r>
          </a:p>
          <a:p xmlns:a="http://schemas.openxmlformats.org/drawingml/2006/main">
            <a:r>
              <a:t>        System.out.println("Coincidencias: " + n);</a:t>
            </a:r>
          </a:p>
          <a:p xmlns:a="http://schemas.openxmlformats.org/drawingml/2006/main">
            <a:r>
              <a:t>    }</a:t>
            </a:r>
          </a:p>
          <a:p xmlns:a="http://schemas.openxmlformats.org/drawingml/2006/main">
            <a:r>
              <a:t>}</a:t>
            </a:r>
          </a:p>
          <a:p xmlns:a="http://schemas.openxmlformats.org/drawingml/2006/main">
            <a:r>
              <a:t/>
            </a:r>
          </a:p>
          <a:p xmlns:a="http://schemas.openxmlformats.org/drawingml/2006/main">
            <a:r>
              <a:t/>
            </a:r>
          </a:p>
          <a:p xmlns:a="http://schemas.openxmlformats.org/drawingml/2006/main">
            <a:r>
              <a:t>Salida:</a:t>
            </a:r>
          </a:p>
          <a:p xmlns:a="http://schemas.openxmlformats.org/drawingml/2006/main">
            <a:r>
              <a:t>Extrae 23.5 y -2, con sus posiciones de inicio y fin. No extrae 7F ni 8CX.</a:t>
            </a:r>
          </a:p>
          <a:p xmlns:a="http://schemas.openxmlformats.org/drawingml/2006/main">
            <a:r>
              <a:t>Coincidencias: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Salida esperada:</a:t>
            </a:r>
          </a:p>
          <a:p xmlns:a="http://schemas.openxmlformats.org/drawingml/2006/main">
            <a:r>
              <a:t>Extrae 23.5 y -2, con sus posiciones de inicio y fin. No extrae 7F ni 8CX.</a:t>
            </a:r>
          </a:p>
          <a:p xmlns:a="http://schemas.openxmlformats.org/drawingml/2006/main">
            <a:r>
              <a:t>Coincidencias: 2</a:t>
            </a:r>
          </a:p>
          <a:p xmlns:a="http://schemas.openxmlformats.org/drawingml/2006/main">
            <a:r>
              <a:t>Casos de aceptación: material.md, sección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Resuelve la ampliación en tu proyecto CampusMonitor.</a:t>
            </a:r>
          </a:p>
          <a:p xmlns:a="http://schemas.openxmlformats.org/drawingml/2006/main">
            <a:r>
              <a:t>Evidencia: evidencias/PC2.3.md y enlace al commit final.</a:t>
            </a:r>
          </a:p>
          <a:p xmlns:a="http://schemas.openxmlformats.org/drawingml/2006/main">
            <a:r>
              <a:t>Agrega al analizador de CampusMonitor una extracción de valores con etiqueta TEMP= y unidad C usando lookaround.</a:t>
            </a:r>
          </a:p>
          <a:p xmlns:a="http://schemas.openxmlformats.org/drawingml/2006/main">
            <a:r>
              <a:t>Implementa otra extracción de IDs que no estén inmediatamente precedidos por DESCARTADO:. Mantén una lista de casos del contexto.</a:t>
            </a:r>
          </a:p>
          <a:p xmlns:a="http://schemas.openxmlformats.org/drawingml/2006/main">
            <a:r>
              <a:t>Compara la solución con grupos de captura sin lookaround. Documenta cuál firma devuelve exactamente el texto deseado.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del material. Revisa la sección 3 para la PC y la guía general para commits y evidencias.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4b842e03e04a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548cb926514e35" /><Relationship Type="http://schemas.openxmlformats.org/officeDocument/2006/relationships/slideLayout" Target="/ppt/slideLayouts/slideLayout1.xml" Id="Rdac88f8bd16c4b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c88f8bd16c4b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6cc5e3d327c419b" /><Relationship Type="http://schemas.openxmlformats.org/officeDocument/2006/relationships/image" Target="/ppt/media/image.png" Id="R637d82b5bd6a45ed" /><Relationship Type="http://schemas.openxmlformats.org/officeDocument/2006/relationships/notesSlide" Target="/ppt/notesSlides/notesSlide1.xml" Id="R5434aa5561934c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2bf040841364128" /><Relationship Type="http://schemas.openxmlformats.org/officeDocument/2006/relationships/notesSlide" Target="/ppt/notesSlides/notesSlide2.xml" Id="R95e9ce8c55ca48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89dd9bfa566408e" /><Relationship Type="http://schemas.openxmlformats.org/officeDocument/2006/relationships/notesSlide" Target="/ppt/notesSlides/notesSlide3.xml" Id="Rb670d9b1bb4945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83f62ded74a48d3" /><Relationship Type="http://schemas.openxmlformats.org/officeDocument/2006/relationships/notesSlide" Target="/ppt/notesSlides/notesSlide4.xml" Id="R509e67af1eab4b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e34510e062f41a9" /><Relationship Type="http://schemas.openxmlformats.org/officeDocument/2006/relationships/notesSlide" Target="/ppt/notesSlides/notesSlide5.xml" Id="R2dd6937c944842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94339987ee843e0" /><Relationship Type="http://schemas.openxmlformats.org/officeDocument/2006/relationships/notesSlide" Target="/ppt/notesSlides/notesSlide6.xml" Id="Rb996c19438da48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08151a8fac8499d" /><Relationship Type="http://schemas.openxmlformats.org/officeDocument/2006/relationships/notesSlide" Target="/ppt/notesSlides/notesSlide7.xml" Id="Rd762decc8f1d49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51485a93265475e" /><Relationship Type="http://schemas.openxmlformats.org/officeDocument/2006/relationships/notesSlide" Target="/ppt/notesSlides/notesSlide8.xml" Id="Rb964a990f77c48d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3bc834127074516" /><Relationship Type="http://schemas.openxmlformats.org/officeDocument/2006/relationships/notesSlide" Target="/ppt/notesSlides/notesSlide9.xml" Id="R59c676962a6b44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41a44d6cd844e99" /><Relationship Type="http://schemas.openxmlformats.org/officeDocument/2006/relationships/notesSlide" Target="/ppt/notesSlides/notesSlide10.xml" Id="Rf41445d1f3814d5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37d82b5bd6a45ed"/>
          <a:stretch xmlns:a="http://schemas.openxmlformats.org/drawingml/2006/main"/>
        </p:blipFill>
        <p:spPr>
          <a:xfrm xmlns:a="http://schemas.openxmlformats.org/drawingml/2006/main">
            <a:off x="609600" y="545418"/>
            <a:ext cx="6858000" cy="112848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9E496C6-A11B-4A5D-BE62-947DAE4EF2A9}"/>
              </a:ext>
            </a:extLst>
          </p:cNvPr>
          <p:cNvSpPr>
            <a:spLocks xmlns:a="http://schemas.openxmlformats.org/drawingml/2006/main" noGrp="1"/>
          </p:cNvSpPr>
          <p:nvPr/>
        </p:nvSpPr>
        <p:spPr>
          <a:xfrm xmlns:a="http://schemas.openxmlformats.org/drawingml/2006/main">
            <a:off x="609600" y="2238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003772"/>
                </a:solidFill>
                <a:latin typeface="DejaVu Sans"/>
                <a:ea typeface="DejaVu Sans"/>
                <a:cs typeface="DejaVu Sans"/>
              </a:defRPr>
            </a:pPr>
            <a:r>
              <a:rPr sz="3150" b="1">
                <a:solidFill>
                  <a:srgbClr val="003772"/>
                </a:solidFill>
                <a:latin typeface="DejaVu Sans"/>
                <a:ea typeface="DejaVu Sans"/>
                <a:cs typeface="DejaVu Sans"/>
              </a:rPr>
              <a:t>Programación Aplicada</a:t>
            </a:r>
          </a:p>
        </p:txBody>
      </p:sp>
      <p:sp>
        <p:nvSpPr>
          <p:cNvPr id="3" name="">
            <a:extLst xmlns:a="http://schemas.openxmlformats.org/drawingml/2006/main">
              <a:ext uri="{FF2B5EF4-FFF2-40B4-BE49-F238E27FC236}">
                <a16:creationId xmlns:a16="http://schemas.microsoft.com/office/drawing/2014/main" id="{BDEFB992-3109-4418-A63E-AFF9464E38B7}"/>
              </a:ext>
            </a:extLst>
          </p:cNvPr>
          <p:cNvSpPr>
            <a:spLocks xmlns:a="http://schemas.openxmlformats.org/drawingml/2006/main" noGrp="1"/>
          </p:cNvSpPr>
          <p:nvPr/>
        </p:nvSpPr>
        <p:spPr>
          <a:xfrm xmlns:a="http://schemas.openxmlformats.org/drawingml/2006/main">
            <a:off x="609600" y="31623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003772"/>
                </a:solidFill>
                <a:latin typeface="DejaVu Sans"/>
                <a:ea typeface="DejaVu Sans"/>
                <a:cs typeface="DejaVu Sans"/>
              </a:defRPr>
            </a:pPr>
            <a:r>
              <a:rPr sz="2775" b="1">
                <a:solidFill>
                  <a:srgbClr val="003772"/>
                </a:solidFill>
                <a:latin typeface="DejaVu Sans"/>
                <a:ea typeface="DejaVu Sans"/>
                <a:cs typeface="DejaVu Sans"/>
              </a:rPr>
              <a:t>Aserciones y límites de coincidencia</a:t>
            </a:r>
          </a:p>
        </p:txBody>
      </p:sp>
      <p:sp>
        <p:nvSpPr>
          <p:cNvPr id="4" name="">
            <a:extLst xmlns:a="http://schemas.openxmlformats.org/drawingml/2006/main">
              <a:ext uri="{FF2B5EF4-FFF2-40B4-BE49-F238E27FC236}">
                <a16:creationId xmlns:a16="http://schemas.microsoft.com/office/drawing/2014/main" id="{91637D08-A9D1-46B2-A67D-C9774317B777}"/>
              </a:ext>
            </a:extLst>
          </p:cNvPr>
          <p:cNvSpPr>
            <a:spLocks xmlns:a="http://schemas.openxmlformats.org/drawingml/2006/main" noGrp="1"/>
          </p:cNvSpPr>
          <p:nvPr/>
        </p:nvSpPr>
        <p:spPr>
          <a:xfrm xmlns:a="http://schemas.openxmlformats.org/drawingml/2006/main">
            <a:off x="609600" y="4705350"/>
            <a:ext cx="1381125"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605E81D-4BA5-4A05-9C1E-2E96748AC01B}"/>
              </a:ext>
            </a:extLst>
          </p:cNvPr>
          <p:cNvSpPr>
            <a:spLocks xmlns:a="http://schemas.openxmlformats.org/drawingml/2006/main" noGrp="1"/>
          </p:cNvSpPr>
          <p:nvPr/>
        </p:nvSpPr>
        <p:spPr>
          <a:xfrm xmlns:a="http://schemas.openxmlformats.org/drawingml/2006/main">
            <a:off x="609600" y="50673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Unidad 2 · 2.3</a:t>
            </a:r>
          </a:p>
        </p:txBody>
      </p:sp>
      <p:sp>
        <p:nvSpPr>
          <p:cNvPr id="6" name="">
            <a:extLst xmlns:a="http://schemas.openxmlformats.org/drawingml/2006/main">
              <a:ext uri="{FF2B5EF4-FFF2-40B4-BE49-F238E27FC236}">
                <a16:creationId xmlns:a16="http://schemas.microsoft.com/office/drawing/2014/main" id="{D107B783-47B8-421C-B62E-321239044B21}"/>
              </a:ext>
            </a:extLst>
          </p:cNvPr>
          <p:cNvSpPr>
            <a:spLocks xmlns:a="http://schemas.openxmlformats.org/drawingml/2006/main" noGrp="1"/>
          </p:cNvSpPr>
          <p:nvPr/>
        </p:nvSpPr>
        <p:spPr>
          <a:xfrm xmlns:a="http://schemas.openxmlformats.org/drawingml/2006/main">
            <a:off x="609600" y="5676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16540319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A36995-9B76-40F3-9A87-E5F147BA832A}"/>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E178AE-90B3-42B8-B34D-6BC900EDEDFE}"/>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El problema de CampusMonitor</a:t>
            </a:r>
          </a:p>
        </p:txBody>
      </p:sp>
      <p:sp>
        <p:nvSpPr>
          <p:cNvPr id="3" name="">
            <a:extLst xmlns:a="http://schemas.openxmlformats.org/drawingml/2006/main">
              <a:ext uri="{FF2B5EF4-FFF2-40B4-BE49-F238E27FC236}">
                <a16:creationId xmlns:a16="http://schemas.microsoft.com/office/drawing/2014/main" id="{CFB229AA-75F7-49BD-ABEA-109049A9F4C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DFF175F-53AF-4A0C-99A1-0345383DD847}"/>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2.3</a:t>
            </a:r>
          </a:p>
        </p:txBody>
      </p:sp>
      <p:sp>
        <p:nvSpPr>
          <p:cNvPr id="5" name="">
            <a:extLst xmlns:a="http://schemas.openxmlformats.org/drawingml/2006/main">
              <a:ext uri="{FF2B5EF4-FFF2-40B4-BE49-F238E27FC236}">
                <a16:creationId xmlns:a16="http://schemas.microsoft.com/office/drawing/2014/main" id="{D1D70EAF-1EEA-4D4E-A879-C5B34D3C0682}"/>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07057EAF-02F7-4F15-BEF9-93710DD88BA4}"/>
              </a:ext>
            </a:extLst>
          </p:cNvPr>
          <p:cNvSpPr>
            <a:spLocks xmlns:a="http://schemas.openxmlformats.org/drawingml/2006/main" noGrp="1"/>
          </p:cNvSpPr>
          <p:nvPr/>
        </p:nvSpPr>
        <p:spPr>
          <a:xfrm xmlns:a="http://schemas.openxmlformats.org/drawingml/2006/main">
            <a:off x="762000" y="1771650"/>
            <a:ext cx="10477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En los registros de diagnóstico aparecen etiquetas mezcladas con unidades y estados. A veces se necesita encontrar un valor únicamente si está acompañado por un contexto, sin incluir ese contexto en el resultado.</a:t>
            </a:r>
          </a:p>
        </p:txBody>
      </p:sp>
    </p:spTree>
    <p:extLst>
      <p:ext uri="{BB962C8B-B14F-4D97-AF65-F5344CB8AC3E}">
        <p14:creationId xmlns:p14="http://schemas.microsoft.com/office/powerpoint/2010/main" val="19843073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DC4FAA3-B47A-4998-B9CF-C6E3583048AA}"/>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B2EC39-C869-4D6A-9A32-F7C776268BFA}"/>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Aserciones de longitud cero</a:t>
            </a:r>
          </a:p>
        </p:txBody>
      </p:sp>
      <p:sp>
        <p:nvSpPr>
          <p:cNvPr id="3" name="">
            <a:extLst xmlns:a="http://schemas.openxmlformats.org/drawingml/2006/main">
              <a:ext uri="{FF2B5EF4-FFF2-40B4-BE49-F238E27FC236}">
                <a16:creationId xmlns:a16="http://schemas.microsoft.com/office/drawing/2014/main" id="{B1EA9587-7FB9-4B01-9207-093CCD789EE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17E82A4-572F-43E7-A589-85FE5779078B}"/>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2.3</a:t>
            </a:r>
          </a:p>
        </p:txBody>
      </p:sp>
      <p:sp>
        <p:nvSpPr>
          <p:cNvPr id="5" name="">
            <a:extLst xmlns:a="http://schemas.openxmlformats.org/drawingml/2006/main">
              <a:ext uri="{FF2B5EF4-FFF2-40B4-BE49-F238E27FC236}">
                <a16:creationId xmlns:a16="http://schemas.microsoft.com/office/drawing/2014/main" id="{A9AB30F3-9490-4178-ACE3-B0592E3052B1}"/>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0474C754-CEC2-4363-A917-4781B3821776}"/>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Las aserciones no consumen caracteres.</a:t>
            </a:r>
          </a:p>
        </p:txBody>
      </p:sp>
      <p:sp>
        <p:nvSpPr>
          <p:cNvPr id="7" name="">
            <a:extLst xmlns:a="http://schemas.openxmlformats.org/drawingml/2006/main">
              <a:ext uri="{FF2B5EF4-FFF2-40B4-BE49-F238E27FC236}">
                <a16:creationId xmlns:a16="http://schemas.microsoft.com/office/drawing/2014/main" id="{FF98AA1F-C0A6-41CC-8916-A1408BCDFDA1}"/>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Una aserción verifica una condición en una posición de la entrada y no consume caracteres. ^, $, límites de palabra y lookarounds pertenecen a esta familia. La coincidencia puede depender de símbolos anteriores o posteriores que no forman parte del texto capturado.</a:t>
            </a:r>
          </a:p>
        </p:txBody>
      </p:sp>
      <p:sp>
        <p:nvSpPr>
          <p:cNvPr id="8" name="">
            <a:extLst xmlns:a="http://schemas.openxmlformats.org/drawingml/2006/main">
              <a:ext uri="{FF2B5EF4-FFF2-40B4-BE49-F238E27FC236}">
                <a16:creationId xmlns:a16="http://schemas.microsoft.com/office/drawing/2014/main" id="{94D2F6DE-7A4F-426A-93F9-8A2701746292}"/>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6DC2DE0-C924-42A5-9DBB-6E4CFB4B4698}"/>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Lookahead positivo (?=...) exige lo que sigue y el negativo (?!...) lo prohíbe. Lookbehind positivo (?&lt;=...) exige lo anterior y el negativo (?&lt;!...) lo prohíbe.</a:t>
            </a:r>
          </a:p>
        </p:txBody>
      </p:sp>
    </p:spTree>
    <p:extLst>
      <p:ext uri="{BB962C8B-B14F-4D97-AF65-F5344CB8AC3E}">
        <p14:creationId xmlns:p14="http://schemas.microsoft.com/office/powerpoint/2010/main" val="2363832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6F970CC-2249-4586-81C8-581104F3FFD7}"/>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B918F2-3B29-4F8D-ABC0-5EBC195B3713}"/>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Anclas y límites de palabra</a:t>
            </a:r>
          </a:p>
        </p:txBody>
      </p:sp>
      <p:sp>
        <p:nvSpPr>
          <p:cNvPr id="3" name="">
            <a:extLst xmlns:a="http://schemas.openxmlformats.org/drawingml/2006/main">
              <a:ext uri="{FF2B5EF4-FFF2-40B4-BE49-F238E27FC236}">
                <a16:creationId xmlns:a16="http://schemas.microsoft.com/office/drawing/2014/main" id="{2239B259-2420-4851-BA8E-3CB4E49FAA2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66FFD4E-9198-4551-A8D2-6D6F9EF3DD3F}"/>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2.3</a:t>
            </a:r>
          </a:p>
        </p:txBody>
      </p:sp>
      <p:sp>
        <p:nvSpPr>
          <p:cNvPr id="5" name="">
            <a:extLst xmlns:a="http://schemas.openxmlformats.org/drawingml/2006/main">
              <a:ext uri="{FF2B5EF4-FFF2-40B4-BE49-F238E27FC236}">
                <a16:creationId xmlns:a16="http://schemas.microsoft.com/office/drawing/2014/main" id="{8109262C-8789-4C69-B1F4-728817C6E4AF}"/>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83CA5D5E-7546-4F12-A9AA-7DA9659E8B24}"/>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Las anclas y los límites restringen dónde coincide el patrón.</a:t>
            </a:r>
          </a:p>
        </p:txBody>
      </p:sp>
      <p:sp>
        <p:nvSpPr>
          <p:cNvPr id="7" name="">
            <a:extLst xmlns:a="http://schemas.openxmlformats.org/drawingml/2006/main">
              <a:ext uri="{FF2B5EF4-FFF2-40B4-BE49-F238E27FC236}">
                <a16:creationId xmlns:a16="http://schemas.microsoft.com/office/drawing/2014/main" id="{D94175C3-7AD8-46F6-8984-26023944F394}"/>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 y $ pueden depender del modo multilínea, y $ admite ciertas posiciones antes de un terminador final. Para límites absolutos del texto, Java ofrece \A y \z. Con Matcher.matches normalmente no hace falta añadir anclas para exigir coincidencia total.</a:t>
            </a:r>
          </a:p>
        </p:txBody>
      </p:sp>
      <p:sp>
        <p:nvSpPr>
          <p:cNvPr id="8" name="">
            <a:extLst xmlns:a="http://schemas.openxmlformats.org/drawingml/2006/main">
              <a:ext uri="{FF2B5EF4-FFF2-40B4-BE49-F238E27FC236}">
                <a16:creationId xmlns:a16="http://schemas.microsoft.com/office/drawing/2014/main" id="{FF86F82F-285E-4475-A0BC-4EFF58825013}"/>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649AA86-BFC3-4047-B3E4-D28C4168CF70}"/>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En protocolos definidos conviene escribir límites explícitos. Para extraer TEMP= seguido de un decimal y C, un lookbehind fijo reconoce la etiqueta y un lookahead comprueba la unidad.</a:t>
            </a:r>
          </a:p>
        </p:txBody>
      </p:sp>
    </p:spTree>
    <p:extLst>
      <p:ext uri="{BB962C8B-B14F-4D97-AF65-F5344CB8AC3E}">
        <p14:creationId xmlns:p14="http://schemas.microsoft.com/office/powerpoint/2010/main" val="10322121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3C1B572-BE8C-46FE-B4B6-5988775A8A86}"/>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52243DB-8914-4EF3-A1B5-B0E75C799B73}"/>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Composición sin ambigüedad</a:t>
            </a:r>
          </a:p>
        </p:txBody>
      </p:sp>
      <p:sp>
        <p:nvSpPr>
          <p:cNvPr id="3" name="">
            <a:extLst xmlns:a="http://schemas.openxmlformats.org/drawingml/2006/main">
              <a:ext uri="{FF2B5EF4-FFF2-40B4-BE49-F238E27FC236}">
                <a16:creationId xmlns:a16="http://schemas.microsoft.com/office/drawing/2014/main" id="{E74C1A89-793E-4D2C-ADAB-98791D9072D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66092EA-8DB2-469F-A8EE-4C9057C477D2}"/>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2.3</a:t>
            </a:r>
          </a:p>
        </p:txBody>
      </p:sp>
      <p:sp>
        <p:nvSpPr>
          <p:cNvPr id="5" name="">
            <a:extLst xmlns:a="http://schemas.openxmlformats.org/drawingml/2006/main">
              <a:ext uri="{FF2B5EF4-FFF2-40B4-BE49-F238E27FC236}">
                <a16:creationId xmlns:a16="http://schemas.microsoft.com/office/drawing/2014/main" id="{512585DB-2F20-498F-A8DF-99D8CA74351E}"/>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1F9154DA-72EB-47C7-A716-72AE62035878}"/>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Lookahead y lookbehind comprueban el contexto de coincidencia.</a:t>
            </a:r>
          </a:p>
        </p:txBody>
      </p:sp>
      <p:sp>
        <p:nvSpPr>
          <p:cNvPr id="7" name="">
            <a:extLst xmlns:a="http://schemas.openxmlformats.org/drawingml/2006/main">
              <a:ext uri="{FF2B5EF4-FFF2-40B4-BE49-F238E27FC236}">
                <a16:creationId xmlns:a16="http://schemas.microsoft.com/office/drawing/2014/main" id="{D9FF4691-8F97-493B-9CB3-02FA86AF295A}"/>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Varias aserciones al inicio pueden verificar condiciones independientes sobre una misma entrada. Esto se usa en validadores, pero una sucesión larga puede ser menos legible que varias comprobaciones de dominio. No uses una regex para comparar dos números ni para comprobar relaciones con una base de datos.</a:t>
            </a:r>
          </a:p>
        </p:txBody>
      </p:sp>
      <p:sp>
        <p:nvSpPr>
          <p:cNvPr id="8" name="">
            <a:extLst xmlns:a="http://schemas.openxmlformats.org/drawingml/2006/main">
              <a:ext uri="{FF2B5EF4-FFF2-40B4-BE49-F238E27FC236}">
                <a16:creationId xmlns:a16="http://schemas.microsoft.com/office/drawing/2014/main" id="{3B81E34C-966F-4B24-B271-41E7B414D628}"/>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A23EB73-9A80-4303-B3A6-81C1B429B7C1}"/>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Evita lookbehinds de longitud variable complejos aunque el motor acepte ciertas variantes. Los límites fijos facilitan explicar y probar el patrón.</a:t>
            </a:r>
          </a:p>
        </p:txBody>
      </p:sp>
    </p:spTree>
    <p:extLst>
      <p:ext uri="{BB962C8B-B14F-4D97-AF65-F5344CB8AC3E}">
        <p14:creationId xmlns:p14="http://schemas.microsoft.com/office/powerpoint/2010/main" val="10064819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5084935-3D30-4FC2-9174-F4B7DAF146A8}"/>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3818E2-2195-41B0-8764-BB6B6A5E188D}"/>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Pruebas del contexto</a:t>
            </a:r>
          </a:p>
        </p:txBody>
      </p:sp>
      <p:sp>
        <p:nvSpPr>
          <p:cNvPr id="3" name="">
            <a:extLst xmlns:a="http://schemas.openxmlformats.org/drawingml/2006/main">
              <a:ext uri="{FF2B5EF4-FFF2-40B4-BE49-F238E27FC236}">
                <a16:creationId xmlns:a16="http://schemas.microsoft.com/office/drawing/2014/main" id="{709DE0E4-908A-43F3-94E4-2DBF7AD9AC3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4577A54-FE57-4099-AB2F-BB830CC057DA}"/>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2.3</a:t>
            </a:r>
          </a:p>
        </p:txBody>
      </p:sp>
      <p:sp>
        <p:nvSpPr>
          <p:cNvPr id="5" name="">
            <a:extLst xmlns:a="http://schemas.openxmlformats.org/drawingml/2006/main">
              <a:ext uri="{FF2B5EF4-FFF2-40B4-BE49-F238E27FC236}">
                <a16:creationId xmlns:a16="http://schemas.microsoft.com/office/drawing/2014/main" id="{9BFFB8CD-3896-4C04-86BE-1756227941AB}"/>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DE5FC50E-46AD-46E9-B6C2-0CF7D1463B63}"/>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Las pruebas deben variar el entorno de la coincidencia.</a:t>
            </a:r>
          </a:p>
        </p:txBody>
      </p:sp>
      <p:sp>
        <p:nvSpPr>
          <p:cNvPr id="7" name="">
            <a:extLst xmlns:a="http://schemas.openxmlformats.org/drawingml/2006/main">
              <a:ext uri="{FF2B5EF4-FFF2-40B4-BE49-F238E27FC236}">
                <a16:creationId xmlns:a16="http://schemas.microsoft.com/office/drawing/2014/main" id="{A6EE8528-432F-4902-8E08-AB7F359DFDC5}"/>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Las pruebas de una aserción deben variar tanto el fragmento buscado como su entorno. Mantén el mismo número y cambia la etiqueta, la unidad y los separadores. Así compruebas que el patrón verifica la condición y no acepta la cifra por accidente.</a:t>
            </a:r>
          </a:p>
        </p:txBody>
      </p:sp>
      <p:sp>
        <p:nvSpPr>
          <p:cNvPr id="8" name="">
            <a:extLst xmlns:a="http://schemas.openxmlformats.org/drawingml/2006/main">
              <a:ext uri="{FF2B5EF4-FFF2-40B4-BE49-F238E27FC236}">
                <a16:creationId xmlns:a16="http://schemas.microsoft.com/office/drawing/2014/main" id="{99959E5E-AF18-43C1-97BF-AD3FF746DEBC}"/>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D710AA5-9271-40C4-AB82-0D60EFABBB8D}"/>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Matcher.find avanza entre coincidencias y también maneja coincidencias vacías. En extracción de valores numéricos conviene que la parte consumida tenga al menos un carácter.</a:t>
            </a:r>
          </a:p>
        </p:txBody>
      </p:sp>
    </p:spTree>
    <p:extLst>
      <p:ext uri="{BB962C8B-B14F-4D97-AF65-F5344CB8AC3E}">
        <p14:creationId xmlns:p14="http://schemas.microsoft.com/office/powerpoint/2010/main" val="120678515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DD9C910-D7F0-4D96-9872-6AF473382076}"/>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61AED3-49E6-46E1-AEB1-46A70AFA9857}"/>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Demostración resuelta</a:t>
            </a:r>
          </a:p>
        </p:txBody>
      </p:sp>
      <p:sp>
        <p:nvSpPr>
          <p:cNvPr id="3" name="">
            <a:extLst xmlns:a="http://schemas.openxmlformats.org/drawingml/2006/main">
              <a:ext uri="{FF2B5EF4-FFF2-40B4-BE49-F238E27FC236}">
                <a16:creationId xmlns:a16="http://schemas.microsoft.com/office/drawing/2014/main" id="{45C741AC-4596-4C72-810D-C418B229DD1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103A48A-AB00-4D77-BAC3-F4026803453D}"/>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2.3</a:t>
            </a:r>
          </a:p>
        </p:txBody>
      </p:sp>
      <p:sp>
        <p:nvSpPr>
          <p:cNvPr id="5" name="">
            <a:extLst xmlns:a="http://schemas.openxmlformats.org/drawingml/2006/main">
              <a:ext uri="{FF2B5EF4-FFF2-40B4-BE49-F238E27FC236}">
                <a16:creationId xmlns:a16="http://schemas.microsoft.com/office/drawing/2014/main" id="{38872BD5-2B63-45A0-875A-750F5326F326}"/>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0AA7705B-792B-44E2-895F-09B12BB82085}"/>
              </a:ext>
            </a:extLst>
          </p:cNvPr>
          <p:cNvSpPr>
            <a:spLocks xmlns:a="http://schemas.openxmlformats.org/drawingml/2006/main" noGrp="1"/>
          </p:cNvSpPr>
          <p:nvPr/>
        </p:nvSpPr>
        <p:spPr>
          <a:xfrm xmlns:a="http://schemas.openxmlformats.org/drawingml/2006/main">
            <a:off x="628650" y="1590675"/>
            <a:ext cx="10953750" cy="371475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2CC2E44-0A8F-44E2-B074-3094B0CB81C8}"/>
              </a:ext>
            </a:extLst>
          </p:cNvPr>
          <p:cNvSpPr>
            <a:spLocks xmlns:a="http://schemas.openxmlformats.org/drawingml/2006/main" noGrp="1"/>
          </p:cNvSpPr>
          <p:nvPr/>
        </p:nvSpPr>
        <p:spPr>
          <a:xfrm xmlns:a="http://schemas.openxmlformats.org/drawingml/2006/main">
            <a:off x="857250" y="1743075"/>
            <a:ext cx="10477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public static void main(String[] args)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String texto = "TEMP=23.5C HUM=40PCT TEMP=-2C TEMP=7F TEMP=8CX";</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Matcher m = TEMP.matcher(texto);</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int n = 0;</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while (m.find())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double valor = Double.parseDouble(m.group());</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System.out.println(valor + " en [" + m.start() + "," + m.end() +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n++;</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if (n != 2) throw new AssertionError("Se esperaban dos temperaturas");</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System.out.println("Coincidencias: " + n);</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a:t>
            </a:r>
          </a:p>
        </p:txBody>
      </p:sp>
      <p:sp>
        <p:nvSpPr>
          <p:cNvPr id="8" name="">
            <a:extLst xmlns:a="http://schemas.openxmlformats.org/drawingml/2006/main">
              <a:ext uri="{FF2B5EF4-FFF2-40B4-BE49-F238E27FC236}">
                <a16:creationId xmlns:a16="http://schemas.microsoft.com/office/drawing/2014/main" id="{7D6097DD-CB3A-4CEC-9658-24002A38AC0D}"/>
              </a:ext>
            </a:extLst>
          </p:cNvPr>
          <p:cNvSpPr>
            <a:spLocks xmlns:a="http://schemas.openxmlformats.org/drawingml/2006/main" noGrp="1"/>
          </p:cNvSpPr>
          <p:nvPr/>
        </p:nvSpPr>
        <p:spPr>
          <a:xfrm xmlns:a="http://schemas.openxmlformats.org/drawingml/2006/main">
            <a:off x="685800" y="55816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Fragmento de AsercionesDemo.java. Código completo y ejecución en material.md.</a:t>
            </a:r>
          </a:p>
        </p:txBody>
      </p:sp>
    </p:spTree>
    <p:extLst>
      <p:ext uri="{BB962C8B-B14F-4D97-AF65-F5344CB8AC3E}">
        <p14:creationId xmlns:p14="http://schemas.microsoft.com/office/powerpoint/2010/main" val="67628919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D2B54B-1CAA-4E08-9DD2-BC1EE8E7F439}"/>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F4DF98E-5472-472F-A32B-B711AAC456A3}"/>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Casos de aceptación de la PC</a:t>
            </a:r>
          </a:p>
        </p:txBody>
      </p:sp>
      <p:sp>
        <p:nvSpPr>
          <p:cNvPr id="3" name="">
            <a:extLst xmlns:a="http://schemas.openxmlformats.org/drawingml/2006/main">
              <a:ext uri="{FF2B5EF4-FFF2-40B4-BE49-F238E27FC236}">
                <a16:creationId xmlns:a16="http://schemas.microsoft.com/office/drawing/2014/main" id="{A221D671-3447-492F-83D4-66ECCF795C3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92BF457-CA85-4C59-8D73-E2620C183D59}"/>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2.3</a:t>
            </a:r>
          </a:p>
        </p:txBody>
      </p:sp>
      <p:sp>
        <p:nvSpPr>
          <p:cNvPr id="5" name="">
            <a:extLst xmlns:a="http://schemas.openxmlformats.org/drawingml/2006/main">
              <a:ext uri="{FF2B5EF4-FFF2-40B4-BE49-F238E27FC236}">
                <a16:creationId xmlns:a16="http://schemas.microsoft.com/office/drawing/2014/main" id="{BF9F02CA-11D8-46E2-A65E-08B523154AA3}"/>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8</a:t>
            </a:r>
          </a:p>
        </p:txBody>
      </p:sp>
      <p:graphicFrame>
        <p:nvGraphicFramePr>
          <p:cNvPr id="13" name=""/>
          <p:cNvGraphicFramePr/>
          <p:nvPr/>
        </p:nvGraphicFramePr>
        <p:xfrm>
          <a:off xmlns:a="http://schemas.openxmlformats.org/drawingml/2006/main" x="609600" y="1638300"/>
          <a:ext xmlns:a="http://schemas.openxmlformats.org/drawingml/2006/main" cx="10972800" cy="3143250"/>
        </p:xfrm>
        <a:graphic xmlns:a="http://schemas.openxmlformats.org/drawingml/2006/main">
          <a:graphicData uri="http://schemas.openxmlformats.org/drawingml/2006/table">
            <a:tbl>
              <a:tblPr/>
              <a:tblGrid>
                <a:gridCol w="4191000"/>
                <a:gridCol w="6629400"/>
              </a:tblGrid>
              <a:tr h="785813">
                <a:tc>
                  <a:txBody>
                    <a:bodyPr/>
                    <a:lstStyle/>
                    <a:p>
                      <a:r>
                        <a:rPr sz="1725" b="1">
                          <a:solidFill>
                            <a:srgbClr val="FFFFFF"/>
                          </a:solidFill>
                          <a:latin typeface="DejaVu Sans"/>
                          <a:ea typeface="DejaVu Sans"/>
                          <a:cs typeface="DejaVu Sans"/>
                        </a:rPr>
                        <a:t>Caso</a:t>
                      </a:r>
                    </a:p>
                  </a:txBody>
                  <a:tcPr marL="152400" marR="152400" marT="133350" marB="114300" anchor="ctr">
                    <a:solidFill>
                      <a:srgbClr val="003772"/>
                    </a:solidFill>
                  </a:tcPr>
                </a:tc>
                <a:tc>
                  <a:txBody>
                    <a:bodyPr/>
                    <a:lstStyle/>
                    <a:p>
                      <a:r>
                        <a:rPr sz="1725" b="1">
                          <a:solidFill>
                            <a:srgbClr val="FFFFFF"/>
                          </a:solidFill>
                          <a:latin typeface="DejaVu Sans"/>
                          <a:ea typeface="DejaVu Sans"/>
                          <a:cs typeface="DejaVu Sans"/>
                        </a:rPr>
                        <a:t>Comportamiento requerido</a:t>
                      </a:r>
                    </a:p>
                  </a:txBody>
                  <a:tcPr marL="152400" marR="152400" marT="133350" marB="114300" anchor="ctr">
                    <a:solidFill>
                      <a:srgbClr val="003772"/>
                    </a:solidFill>
                  </a:tcPr>
                </a:tc>
              </a:tr>
              <a:tr h="785813">
                <a:tc>
                  <a:txBody>
                    <a:bodyPr/>
                    <a:lstStyle/>
                    <a:p>
                      <a:r>
                        <a:rPr sz="1725" b="0">
                          <a:solidFill>
                            <a:srgbClr val="403F3B"/>
                          </a:solidFill>
                          <a:latin typeface="DejaVu Sans"/>
                          <a:ea typeface="DejaVu Sans"/>
                          <a:cs typeface="DejaVu Sans"/>
                        </a:rPr>
                        <a:t>TEMP=23.5C</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Captura 23.5</a:t>
                      </a:r>
                    </a:p>
                  </a:txBody>
                  <a:tcPr marL="152400" marR="152400" marT="133350" marB="114300" anchor="ctr">
                    <a:solidFill>
                      <a:srgbClr val="F3F3FA"/>
                    </a:solidFill>
                  </a:tcPr>
                </a:tc>
              </a:tr>
              <a:tr h="785813">
                <a:tc>
                  <a:txBody>
                    <a:bodyPr/>
                    <a:lstStyle/>
                    <a:p>
                      <a:r>
                        <a:rPr sz="1725" b="0">
                          <a:solidFill>
                            <a:srgbClr val="403F3B"/>
                          </a:solidFill>
                          <a:latin typeface="DejaVu Sans"/>
                          <a:ea typeface="DejaVu Sans"/>
                          <a:cs typeface="DejaVu Sans"/>
                        </a:rPr>
                        <a:t>TEMP=23.5F o TEMP=23.5CX</a:t>
                      </a:r>
                    </a:p>
                  </a:txBody>
                  <a:tcPr marL="152400" marR="152400" marT="133350" marB="114300" anchor="ctr">
                    <a:solidFill>
                      <a:srgbClr val="FFFFFF"/>
                    </a:solidFill>
                  </a:tcPr>
                </a:tc>
                <a:tc>
                  <a:txBody>
                    <a:bodyPr/>
                    <a:lstStyle/>
                    <a:p>
                      <a:r>
                        <a:rPr sz="1725" b="0">
                          <a:solidFill>
                            <a:srgbClr val="403F3B"/>
                          </a:solidFill>
                          <a:latin typeface="DejaVu Sans"/>
                          <a:ea typeface="DejaVu Sans"/>
                          <a:cs typeface="DejaVu Sans"/>
                        </a:rPr>
                        <a:t>No captura</a:t>
                      </a:r>
                    </a:p>
                  </a:txBody>
                  <a:tcPr marL="152400" marR="152400" marT="133350" marB="114300" anchor="ctr">
                    <a:solidFill>
                      <a:srgbClr val="FFFFFF"/>
                    </a:solidFill>
                  </a:tcPr>
                </a:tc>
              </a:tr>
              <a:tr h="785813">
                <a:tc>
                  <a:txBody>
                    <a:bodyPr/>
                    <a:lstStyle/>
                    <a:p>
                      <a:r>
                        <a:rPr sz="1725" b="0">
                          <a:solidFill>
                            <a:srgbClr val="403F3B"/>
                          </a:solidFill>
                          <a:latin typeface="DejaVu Sans"/>
                          <a:ea typeface="DejaVu Sans"/>
                          <a:cs typeface="DejaVu Sans"/>
                        </a:rPr>
                        <a:t>DESCARTADO:T001</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ID excluido</a:t>
                      </a:r>
                    </a:p>
                  </a:txBody>
                  <a:tcPr marL="152400" marR="152400" marT="133350" marB="114300" anchor="ctr">
                    <a:solidFill>
                      <a:srgbClr val="F3F3FA"/>
                    </a:solidFill>
                  </a:tcPr>
                </a:tc>
              </a:tr>
            </a:tbl>
          </a:graphicData>
        </a:graphic>
      </p:graphicFrame>
      <p:sp>
        <p:nvSpPr>
          <p:cNvPr id="7" name="">
            <a:extLst xmlns:a="http://schemas.openxmlformats.org/drawingml/2006/main">
              <a:ext uri="{FF2B5EF4-FFF2-40B4-BE49-F238E27FC236}">
                <a16:creationId xmlns:a16="http://schemas.microsoft.com/office/drawing/2014/main" id="{AB0CAC19-63F0-4317-9CA8-256ACDF8F87D}"/>
              </a:ext>
            </a:extLst>
          </p:cNvPr>
          <p:cNvSpPr>
            <a:spLocks xmlns:a="http://schemas.openxmlformats.org/drawingml/2006/main" noGrp="1"/>
          </p:cNvSpPr>
          <p:nvPr/>
        </p:nvSpPr>
        <p:spPr>
          <a:xfrm xmlns:a="http://schemas.openxmlformats.org/drawingml/2006/main">
            <a:off x="742950" y="52387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Salida de la demostración: Extrae 23.5 y -2, con sus posiciones de inicio y fin. No extrae 7F ni 8CX. · Coincidencias: 2</a:t>
            </a:r>
          </a:p>
        </p:txBody>
      </p:sp>
    </p:spTree>
    <p:extLst>
      <p:ext uri="{BB962C8B-B14F-4D97-AF65-F5344CB8AC3E}">
        <p14:creationId xmlns:p14="http://schemas.microsoft.com/office/powerpoint/2010/main" val="50397385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BA8D4F6-5DA0-4F83-8456-CC6D2FA2D284}"/>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9214F7-0558-4BAB-9D27-6F5A195EDF4C}"/>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PC2.3 · Ampliación del proyecto</a:t>
            </a:r>
          </a:p>
        </p:txBody>
      </p:sp>
      <p:sp>
        <p:nvSpPr>
          <p:cNvPr id="3" name="">
            <a:extLst xmlns:a="http://schemas.openxmlformats.org/drawingml/2006/main">
              <a:ext uri="{FF2B5EF4-FFF2-40B4-BE49-F238E27FC236}">
                <a16:creationId xmlns:a16="http://schemas.microsoft.com/office/drawing/2014/main" id="{7F4811FF-3EBC-4B17-86E9-8C56359FA86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D0A2F0C-D17D-4CB4-B753-051673E1F5E3}"/>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2.3</a:t>
            </a:r>
          </a:p>
        </p:txBody>
      </p:sp>
      <p:sp>
        <p:nvSpPr>
          <p:cNvPr id="5" name="">
            <a:extLst xmlns:a="http://schemas.openxmlformats.org/drawingml/2006/main">
              <a:ext uri="{FF2B5EF4-FFF2-40B4-BE49-F238E27FC236}">
                <a16:creationId xmlns:a16="http://schemas.microsoft.com/office/drawing/2014/main" id="{005DF2D8-2664-4921-9A74-D2916CD005B7}"/>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B4EE98B9-5A36-415D-9DC9-B0828E3045D0}"/>
              </a:ext>
            </a:extLst>
          </p:cNvPr>
          <p:cNvSpPr>
            <a:spLocks xmlns:a="http://schemas.openxmlformats.org/drawingml/2006/main" noGrp="1"/>
          </p:cNvSpPr>
          <p:nvPr/>
        </p:nvSpPr>
        <p:spPr>
          <a:xfrm xmlns:a="http://schemas.openxmlformats.org/drawingml/2006/main">
            <a:off x="685800" y="160020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1</a:t>
            </a:r>
          </a:p>
        </p:txBody>
      </p:sp>
      <p:sp>
        <p:nvSpPr>
          <p:cNvPr id="7" name="">
            <a:extLst xmlns:a="http://schemas.openxmlformats.org/drawingml/2006/main">
              <a:ext uri="{FF2B5EF4-FFF2-40B4-BE49-F238E27FC236}">
                <a16:creationId xmlns:a16="http://schemas.microsoft.com/office/drawing/2014/main" id="{0EF89DB2-253C-4106-98A1-3770AB5F727B}"/>
              </a:ext>
            </a:extLst>
          </p:cNvPr>
          <p:cNvSpPr>
            <a:spLocks xmlns:a="http://schemas.openxmlformats.org/drawingml/2006/main" noGrp="1"/>
          </p:cNvSpPr>
          <p:nvPr/>
        </p:nvSpPr>
        <p:spPr>
          <a:xfrm xmlns:a="http://schemas.openxmlformats.org/drawingml/2006/main">
            <a:off x="1219200" y="156210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Agrega al analizador de CampusMonitor una extracción de valores con etiqueta TEMP= y unidad C usando lookaround.</a:t>
            </a:r>
          </a:p>
        </p:txBody>
      </p:sp>
      <p:sp>
        <p:nvSpPr>
          <p:cNvPr id="8" name="">
            <a:extLst xmlns:a="http://schemas.openxmlformats.org/drawingml/2006/main">
              <a:ext uri="{FF2B5EF4-FFF2-40B4-BE49-F238E27FC236}">
                <a16:creationId xmlns:a16="http://schemas.microsoft.com/office/drawing/2014/main" id="{511C967E-32DC-4448-A24D-7DE613C83154}"/>
              </a:ext>
            </a:extLst>
          </p:cNvPr>
          <p:cNvSpPr>
            <a:spLocks xmlns:a="http://schemas.openxmlformats.org/drawingml/2006/main" noGrp="1"/>
          </p:cNvSpPr>
          <p:nvPr/>
        </p:nvSpPr>
        <p:spPr>
          <a:xfrm xmlns:a="http://schemas.openxmlformats.org/drawingml/2006/main">
            <a:off x="685800" y="2962275"/>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C05D3A80-7C20-430E-98C5-448E24565FE0}"/>
              </a:ext>
            </a:extLst>
          </p:cNvPr>
          <p:cNvSpPr>
            <a:spLocks xmlns:a="http://schemas.openxmlformats.org/drawingml/2006/main" noGrp="1"/>
          </p:cNvSpPr>
          <p:nvPr/>
        </p:nvSpPr>
        <p:spPr>
          <a:xfrm xmlns:a="http://schemas.openxmlformats.org/drawingml/2006/main">
            <a:off x="1219200" y="2924175"/>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Implementa otra extracción de IDs que no estén inmediatamente precedidos por DESCARTADO:. Mantén una lista de casos del contexto.</a:t>
            </a:r>
          </a:p>
        </p:txBody>
      </p:sp>
      <p:sp>
        <p:nvSpPr>
          <p:cNvPr id="10" name="">
            <a:extLst xmlns:a="http://schemas.openxmlformats.org/drawingml/2006/main">
              <a:ext uri="{FF2B5EF4-FFF2-40B4-BE49-F238E27FC236}">
                <a16:creationId xmlns:a16="http://schemas.microsoft.com/office/drawing/2014/main" id="{3F92F29C-311B-46DE-9A0F-1AD98B5BD1A9}"/>
              </a:ext>
            </a:extLst>
          </p:cNvPr>
          <p:cNvSpPr>
            <a:spLocks xmlns:a="http://schemas.openxmlformats.org/drawingml/2006/main" noGrp="1"/>
          </p:cNvSpPr>
          <p:nvPr/>
        </p:nvSpPr>
        <p:spPr>
          <a:xfrm xmlns:a="http://schemas.openxmlformats.org/drawingml/2006/main">
            <a:off x="685800" y="432435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E3E28FB9-73FE-4138-A696-92026561095B}"/>
              </a:ext>
            </a:extLst>
          </p:cNvPr>
          <p:cNvSpPr>
            <a:spLocks xmlns:a="http://schemas.openxmlformats.org/drawingml/2006/main" noGrp="1"/>
          </p:cNvSpPr>
          <p:nvPr/>
        </p:nvSpPr>
        <p:spPr>
          <a:xfrm xmlns:a="http://schemas.openxmlformats.org/drawingml/2006/main">
            <a:off x="1219200" y="428625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Compara la solución con grupos de captura sin lookaround. Documenta cuál firma devuelve exactamente el texto deseado.</a:t>
            </a:r>
          </a:p>
        </p:txBody>
      </p:sp>
    </p:spTree>
    <p:extLst>
      <p:ext uri="{BB962C8B-B14F-4D97-AF65-F5344CB8AC3E}">
        <p14:creationId xmlns:p14="http://schemas.microsoft.com/office/powerpoint/2010/main" val="104467687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DC5525D-3B31-4DFC-9851-7A7B147DCD8F}"/>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25BF51-7C1B-4BC1-8316-C20D20CB75AB}"/>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4E94D97A-2320-48CA-B9C2-55D7EE854F4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32BC181-F1E6-4AFC-A7BC-A923749B8D6C}"/>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2.3</a:t>
            </a:r>
          </a:p>
        </p:txBody>
      </p:sp>
      <p:sp>
        <p:nvSpPr>
          <p:cNvPr id="5" name="">
            <a:extLst xmlns:a="http://schemas.openxmlformats.org/drawingml/2006/main">
              <a:ext uri="{FF2B5EF4-FFF2-40B4-BE49-F238E27FC236}">
                <a16:creationId xmlns:a16="http://schemas.microsoft.com/office/drawing/2014/main" id="{A9290F09-B9B1-4D80-9522-9B504F964CD8}"/>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F9077D5B-085C-49B6-8C0C-B5EEAB3EE7AB}"/>
              </a:ext>
            </a:extLst>
          </p:cNvPr>
          <p:cNvSpPr>
            <a:spLocks xmlns:a="http://schemas.openxmlformats.org/drawingml/2006/main" noGrp="1"/>
          </p:cNvSpPr>
          <p:nvPr/>
        </p:nvSpPr>
        <p:spPr>
          <a:xfrm xmlns:a="http://schemas.openxmlformats.org/drawingml/2006/main">
            <a:off x="762000" y="17430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3772"/>
                </a:solidFill>
                <a:latin typeface="DejaVu Sans"/>
                <a:ea typeface="DejaVu Sans"/>
                <a:cs typeface="DejaVu Sans"/>
              </a:defRPr>
            </a:pPr>
            <a:r>
              <a:rPr sz="2175" b="1">
                <a:solidFill>
                  <a:srgbClr val="003772"/>
                </a:solidFill>
                <a:latin typeface="DejaVu Sans"/>
                <a:ea typeface="DejaVu Sans"/>
                <a:cs typeface="DejaVu Sans"/>
              </a:rPr>
              <a:t>Las aserciones no consumen caracteres.</a:t>
            </a:r>
          </a:p>
        </p:txBody>
      </p:sp>
      <p:sp>
        <p:nvSpPr>
          <p:cNvPr id="7" name="">
            <a:extLst xmlns:a="http://schemas.openxmlformats.org/drawingml/2006/main">
              <a:ext uri="{FF2B5EF4-FFF2-40B4-BE49-F238E27FC236}">
                <a16:creationId xmlns:a16="http://schemas.microsoft.com/office/drawing/2014/main" id="{C307BC3D-A9AB-4AE2-A3B3-F971DB1140E6}"/>
              </a:ext>
            </a:extLst>
          </p:cNvPr>
          <p:cNvSpPr>
            <a:spLocks xmlns:a="http://schemas.openxmlformats.org/drawingml/2006/main" noGrp="1"/>
          </p:cNvSpPr>
          <p:nvPr/>
        </p:nvSpPr>
        <p:spPr>
          <a:xfrm xmlns:a="http://schemas.openxmlformats.org/drawingml/2006/main">
            <a:off x="762000" y="26384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Las anclas y los límites restringen dónde coincide el patrón.</a:t>
            </a:r>
          </a:p>
        </p:txBody>
      </p:sp>
      <p:sp>
        <p:nvSpPr>
          <p:cNvPr id="8" name="">
            <a:extLst xmlns:a="http://schemas.openxmlformats.org/drawingml/2006/main">
              <a:ext uri="{FF2B5EF4-FFF2-40B4-BE49-F238E27FC236}">
                <a16:creationId xmlns:a16="http://schemas.microsoft.com/office/drawing/2014/main" id="{55FE0380-42FA-4850-8FA8-5D80E64229CB}"/>
              </a:ext>
            </a:extLst>
          </p:cNvPr>
          <p:cNvSpPr>
            <a:spLocks xmlns:a="http://schemas.openxmlformats.org/drawingml/2006/main" noGrp="1"/>
          </p:cNvSpPr>
          <p:nvPr/>
        </p:nvSpPr>
        <p:spPr>
          <a:xfrm xmlns:a="http://schemas.openxmlformats.org/drawingml/2006/main">
            <a:off x="762000" y="35337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03772"/>
                </a:solidFill>
                <a:latin typeface="DejaVu Sans"/>
                <a:ea typeface="DejaVu Sans"/>
                <a:cs typeface="DejaVu Sans"/>
              </a:defRPr>
            </a:pPr>
            <a:r>
              <a:rPr sz="2175" b="0">
                <a:solidFill>
                  <a:srgbClr val="003772"/>
                </a:solidFill>
                <a:latin typeface="DejaVu Sans"/>
                <a:ea typeface="DejaVu Sans"/>
                <a:cs typeface="DejaVu Sans"/>
              </a:rPr>
              <a:t>Lookahead y lookbehind comprueban el contexto de coincidencia.</a:t>
            </a:r>
          </a:p>
        </p:txBody>
      </p:sp>
      <p:sp>
        <p:nvSpPr>
          <p:cNvPr id="9" name="">
            <a:extLst xmlns:a="http://schemas.openxmlformats.org/drawingml/2006/main">
              <a:ext uri="{FF2B5EF4-FFF2-40B4-BE49-F238E27FC236}">
                <a16:creationId xmlns:a16="http://schemas.microsoft.com/office/drawing/2014/main" id="{744DE732-E751-473D-9C21-9573641FFF7A}"/>
              </a:ext>
            </a:extLst>
          </p:cNvPr>
          <p:cNvSpPr>
            <a:spLocks xmlns:a="http://schemas.openxmlformats.org/drawingml/2006/main" noGrp="1"/>
          </p:cNvSpPr>
          <p:nvPr/>
        </p:nvSpPr>
        <p:spPr>
          <a:xfrm xmlns:a="http://schemas.openxmlformats.org/drawingml/2006/main">
            <a:off x="762000" y="44291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Las pruebas deben variar el entorno de la coincidencia.</a:t>
            </a:r>
          </a:p>
        </p:txBody>
      </p:sp>
    </p:spTree>
    <p:extLst>
      <p:ext uri="{BB962C8B-B14F-4D97-AF65-F5344CB8AC3E}">
        <p14:creationId xmlns:p14="http://schemas.microsoft.com/office/powerpoint/2010/main" val="4570259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2026-09-10T23:06:13.2030000Z</dcterms:created>
  <dcterms:modified xsi:type="dcterms:W3CDTF">2026-09-10T23:06:13.2030000Z</dcterms:modified>
</coreProperties>
</file>