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b5edd6ac3674132" /><Relationship Type="http://schemas.openxmlformats.org/officeDocument/2006/relationships/extended-properties" Target="/docProps/app.xml" Id="R474dc97a61594506" /><Relationship Type="http://schemas.openxmlformats.org/officeDocument/2006/relationships/officeDocument" Target="/ppt/presentation.xml" Id="R348990455d5f4621" /></Relationships>
</file>

<file path=ppt/presentation.xml><?xml version="1.0" encoding="utf-8"?>
<p:presentation xmlns:p="http://schemas.openxmlformats.org/presentationml/2006/main">
  <p:sldMasterIdLst>
    <p:sldMasterId xmlns:r="http://schemas.openxmlformats.org/officeDocument/2006/relationships" id="2147483648" r:id="R3ca7720924d648cd"/>
  </p:sldMasterIdLst>
  <p:notesMasterIdLst>
    <p:notesMasterId xmlns:r="http://schemas.openxmlformats.org/officeDocument/2006/relationships" r:id="R1ceb1345af55457b"/>
  </p:notesMasterIdLst>
  <p:sldIdLst>
    <p:sldId xmlns:r="http://schemas.openxmlformats.org/officeDocument/2006/relationships" id="256" r:id="R70d4f2371fce4deb"/>
    <p:sldId xmlns:r="http://schemas.openxmlformats.org/officeDocument/2006/relationships" id="257" r:id="R1f4e59edaaa04ab4"/>
    <p:sldId xmlns:r="http://schemas.openxmlformats.org/officeDocument/2006/relationships" id="258" r:id="R38e8a5c17d144a12"/>
    <p:sldId xmlns:r="http://schemas.openxmlformats.org/officeDocument/2006/relationships" id="259" r:id="R3ab56568ccce482b"/>
    <p:sldId xmlns:r="http://schemas.openxmlformats.org/officeDocument/2006/relationships" id="260" r:id="Rfe068d9ec2b44e35"/>
    <p:sldId xmlns:r="http://schemas.openxmlformats.org/officeDocument/2006/relationships" id="261" r:id="Rcb0ef67163a34d0d"/>
    <p:sldId xmlns:r="http://schemas.openxmlformats.org/officeDocument/2006/relationships" id="262" r:id="R50a55c5553084e41"/>
    <p:sldId xmlns:r="http://schemas.openxmlformats.org/officeDocument/2006/relationships" id="263" r:id="R2d2b3a74520e424a"/>
    <p:sldId xmlns:r="http://schemas.openxmlformats.org/officeDocument/2006/relationships" id="264" r:id="Rb3753eb133274a0c"/>
    <p:sldId xmlns:r="http://schemas.openxmlformats.org/officeDocument/2006/relationships" id="265" r:id="R1922d0d6d10243ce"/>
    <p:sldId xmlns:r="http://schemas.openxmlformats.org/officeDocument/2006/relationships" id="266" r:id="R5d223627ef3c4f4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b1aa6e1a3f14cd4" /><Relationship Type="http://schemas.openxmlformats.org/officeDocument/2006/relationships/slideMaster" Target="/ppt/slideMasters/slideMaster1.xml" Id="R3ca7720924d648cd" /><Relationship Type="http://schemas.openxmlformats.org/officeDocument/2006/relationships/notesMaster" Target="/ppt/notesMasters/notesMaster1.xml" Id="R1ceb1345af55457b" /><Relationship Type="http://schemas.openxmlformats.org/officeDocument/2006/relationships/presProps" Target="/ppt/presProps.xml" Id="Rdb56402da0d34f8f" /><Relationship Type="http://schemas.openxmlformats.org/officeDocument/2006/relationships/tableStyles" Target="/ppt/tableStyles.xml" Id="R395dd26bf40d45cc" /><Relationship Type="http://schemas.openxmlformats.org/officeDocument/2006/relationships/slide" Target="/ppt/slides/slide1.xml" Id="R70d4f2371fce4deb" /><Relationship Type="http://schemas.openxmlformats.org/officeDocument/2006/relationships/slide" Target="/ppt/slides/slide2.xml" Id="R1f4e59edaaa04ab4" /><Relationship Type="http://schemas.openxmlformats.org/officeDocument/2006/relationships/slide" Target="/ppt/slides/slide3.xml" Id="R38e8a5c17d144a12" /><Relationship Type="http://schemas.openxmlformats.org/officeDocument/2006/relationships/slide" Target="/ppt/slides/slide4.xml" Id="R3ab56568ccce482b" /><Relationship Type="http://schemas.openxmlformats.org/officeDocument/2006/relationships/slide" Target="/ppt/slides/slide5.xml" Id="Rfe068d9ec2b44e35" /><Relationship Type="http://schemas.openxmlformats.org/officeDocument/2006/relationships/slide" Target="/ppt/slides/slide6.xml" Id="Rcb0ef67163a34d0d" /><Relationship Type="http://schemas.openxmlformats.org/officeDocument/2006/relationships/slide" Target="/ppt/slides/slide7.xml" Id="R50a55c5553084e41" /><Relationship Type="http://schemas.openxmlformats.org/officeDocument/2006/relationships/slide" Target="/ppt/slides/slide8.xml" Id="R2d2b3a74520e424a" /><Relationship Type="http://schemas.openxmlformats.org/officeDocument/2006/relationships/slide" Target="/ppt/slides/slide9.xml" Id="Rb3753eb133274a0c" /><Relationship Type="http://schemas.openxmlformats.org/officeDocument/2006/relationships/slide" Target="/ppt/slides/slide10.xml" Id="R1922d0d6d10243ce" /><Relationship Type="http://schemas.openxmlformats.org/officeDocument/2006/relationships/slide" Target="/ppt/slides/slide11.xml" Id="R5d223627ef3c4f4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68835570bea434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1a15a699acf443b" /><Relationship Type="http://schemas.openxmlformats.org/officeDocument/2006/relationships/notesMaster" Target="/ppt/notesMasters/notesMaster1.xml" Id="R4e8af17b3ae848e0" /></Relationships>
</file>

<file path=ppt/notesSlides/_rels/notesSlide2.xml.rels>&#65279;<?xml version="1.0" encoding="utf-8"?><Relationships xmlns="http://schemas.openxmlformats.org/package/2006/relationships"><Relationship Type="http://schemas.openxmlformats.org/officeDocument/2006/relationships/slide" Target="/ppt/slides/slide2.xml" Id="Rd9297bc89ea84919" /><Relationship Type="http://schemas.openxmlformats.org/officeDocument/2006/relationships/notesMaster" Target="/ppt/notesMasters/notesMaster1.xml" Id="R8c07ef6b09c94a38" /></Relationships>
</file>

<file path=ppt/notesSlides/_rels/notesSlide3.xml.rels>&#65279;<?xml version="1.0" encoding="utf-8"?><Relationships xmlns="http://schemas.openxmlformats.org/package/2006/relationships"><Relationship Type="http://schemas.openxmlformats.org/officeDocument/2006/relationships/slide" Target="/ppt/slides/slide3.xml" Id="Rc0c7455755974575" /><Relationship Type="http://schemas.openxmlformats.org/officeDocument/2006/relationships/notesMaster" Target="/ppt/notesMasters/notesMaster1.xml" Id="R899d03ba0d6246e3" /></Relationships>
</file>

<file path=ppt/notesSlides/_rels/notesSlide4.xml.rels>&#65279;<?xml version="1.0" encoding="utf-8"?><Relationships xmlns="http://schemas.openxmlformats.org/package/2006/relationships"><Relationship Type="http://schemas.openxmlformats.org/officeDocument/2006/relationships/slide" Target="/ppt/slides/slide4.xml" Id="Ra14f7ef4b6c74edc" /><Relationship Type="http://schemas.openxmlformats.org/officeDocument/2006/relationships/notesMaster" Target="/ppt/notesMasters/notesMaster1.xml" Id="R05464fcde75046e3" /></Relationships>
</file>

<file path=ppt/notesSlides/_rels/notesSlide5.xml.rels>&#65279;<?xml version="1.0" encoding="utf-8"?><Relationships xmlns="http://schemas.openxmlformats.org/package/2006/relationships"><Relationship Type="http://schemas.openxmlformats.org/officeDocument/2006/relationships/slide" Target="/ppt/slides/slide5.xml" Id="R8161ffbffc5049c0" /><Relationship Type="http://schemas.openxmlformats.org/officeDocument/2006/relationships/notesMaster" Target="/ppt/notesMasters/notesMaster1.xml" Id="R1a026817f0144f9a" /></Relationships>
</file>

<file path=ppt/notesSlides/_rels/notesSlide6.xml.rels>&#65279;<?xml version="1.0" encoding="utf-8"?><Relationships xmlns="http://schemas.openxmlformats.org/package/2006/relationships"><Relationship Type="http://schemas.openxmlformats.org/officeDocument/2006/relationships/slide" Target="/ppt/slides/slide6.xml" Id="R38fa53617c3649f3" /><Relationship Type="http://schemas.openxmlformats.org/officeDocument/2006/relationships/notesMaster" Target="/ppt/notesMasters/notesMaster1.xml" Id="Rfdc9caabded04b0a" /></Relationships>
</file>

<file path=ppt/notesSlides/_rels/notesSlide7.xml.rels>&#65279;<?xml version="1.0" encoding="utf-8"?><Relationships xmlns="http://schemas.openxmlformats.org/package/2006/relationships"><Relationship Type="http://schemas.openxmlformats.org/officeDocument/2006/relationships/slide" Target="/ppt/slides/slide7.xml" Id="R7c675069188344e9" /><Relationship Type="http://schemas.openxmlformats.org/officeDocument/2006/relationships/notesMaster" Target="/ppt/notesMasters/notesMaster1.xml" Id="Rc7b5fe86e40a412f" /></Relationships>
</file>

<file path=ppt/notesSlides/_rels/notesSlide8.xml.rels>&#65279;<?xml version="1.0" encoding="utf-8"?><Relationships xmlns="http://schemas.openxmlformats.org/package/2006/relationships"><Relationship Type="http://schemas.openxmlformats.org/officeDocument/2006/relationships/slide" Target="/ppt/slides/slide8.xml" Id="R348742528fe04082" /><Relationship Type="http://schemas.openxmlformats.org/officeDocument/2006/relationships/notesMaster" Target="/ppt/notesMasters/notesMaster1.xml" Id="R60823a881dea4332" /></Relationships>
</file>

<file path=ppt/notesSlides/_rels/notesSlide9.xml.rels>&#65279;<?xml version="1.0" encoding="utf-8"?><Relationships xmlns="http://schemas.openxmlformats.org/package/2006/relationships"><Relationship Type="http://schemas.openxmlformats.org/officeDocument/2006/relationships/slide" Target="/ppt/slides/slide9.xml" Id="Rbcf624c15065443f" /><Relationship Type="http://schemas.openxmlformats.org/officeDocument/2006/relationships/notesMaster" Target="/ppt/notesMasters/notesMaster1.xml" Id="R4ce0351f176d4a2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385a94ab98546b1" /><Relationship Type="http://schemas.openxmlformats.org/officeDocument/2006/relationships/notesMaster" Target="/ppt/notesMasters/notesMaster1.xml" Id="R0ffe4b8a31bf4e5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c224ecd27c947d8" /><Relationship Type="http://schemas.openxmlformats.org/officeDocument/2006/relationships/notesMaster" Target="/ppt/notesMasters/notesMaster1.xml" Id="Rab20a7d83ead428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Material: 2.1. Fundamentos de lenguajes regulares. Autor: Ing. Pablo Torres, Mgtr.</a:t>
            </a:r>
          </a:p>
          <a:p xmlns:a="http://schemas.openxmlformats.org/drawingml/2006/main">
            <a:r>
              <a:t>Logo original proporcionado por el docente.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CampusMonitor recibirá líneas como S01;23.5. Antes de convertirlas a objetos necesitamos definir qué textos pertenecen al formato aceptado. Una expresión regular describe una estructura léxica y un autómata ayuda a explicar cómo se reconoce.</a:t>
            </a:r>
          </a:p>
          <a:p xmlns:a="http://schemas.openxmlformats.org/drawingml/2006/main">
            <a:r>
              <a:t>Fuente del desarrollo: material.md, contexto.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Imagen original generada para el material. Prompt y origen en docs/prompts-imagenes.json.</a:t>
            </a:r>
          </a:p>
          <a:p xmlns:a="http://schemas.openxmlformats.org/drawingml/2006/main">
            <a:r>
              <a:t>No constituye un esquema eléctrico ni una especificación técnica.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 alfabeto es un conjunto de símbolos. Una cadena es una secuencia finita de esos símbolos, incluida la cadena vacía ε. Un lenguaje es un conjunto de cadenas sobre un alfabeto. Para identificadores de sensor, podemos definir S seguida de exactamente dos dígitos ASCII: S00 a S99.</a:t>
            </a:r>
          </a:p>
          <a:p xmlns:a="http://schemas.openxmlformats.org/drawingml/2006/main">
            <a:r>
              <a:t/>
            </a:r>
          </a:p>
          <a:p xmlns:a="http://schemas.openxmlformats.org/drawingml/2006/main">
            <a:r>
              <a:t>El patrón no explica aún qué sensor existe ni si está autorizado. Reconoce una forma. Después se valida el significado con reglas del dominio. Esta separación evita expresiones difíciles de mantener que intentan resolver relaciones de datos. En CampusMonitor, una trama puede tener un ID bien formado y aun así referirse a un sensor no registrado.</a:t>
            </a:r>
          </a:p>
          <a:p xmlns:a="http://schemas.openxmlformats.org/drawingml/2006/main">
            <a:r>
              <a:t/>
            </a:r>
          </a:p>
          <a:p xmlns:a="http://schemas.openxmlformats.org/drawingml/2006/main">
            <a:r>
              <a:t>Referencias:</a:t>
            </a:r>
          </a:p>
          <a:p xmlns:a="http://schemas.openxmlformats.org/drawingml/2006/main">
            <a:r>
              <a:t>https://docs.oracle.com/en/java/javase/25/docs/api/java.base/java/util/regex/Pattern.html</a:t>
            </a:r>
          </a:p>
          <a:p xmlns:a="http://schemas.openxmlformats.org/drawingml/2006/main">
            <a:r>
              <a:t>https://docs.oracle.com/en/java/javase/25/docs/api/java.base/java/util/regex/Matcher.html</a:t>
            </a:r>
          </a:p>
          <a:p xmlns:a="http://schemas.openxmlformats.org/drawingml/2006/main">
            <a:r>
              <a:t>https://docs.oracle.com/en/java/javase/25/docs/api/java.base/java/nio/file/Files.html</a:t>
            </a:r>
          </a:p>
          <a:p xmlns:a="http://schemas.openxmlformats.org/drawingml/2006/main">
            <a:r>
              <a:t>Correspondencia: material.md, sección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 operaciones básicas son unión, concatenación y clausura de Kleene. Unión admite alternativas. Concatenación exige una secuencia. La estrella permite cero o más repeticiones. Los lenguajes regulares pueden reconocerse mediante autómatas finitos. Un autómata mantiene un estado que resume la parte relevante del prefijo leído.</a:t>
            </a:r>
          </a:p>
          <a:p xmlns:a="http://schemas.openxmlformats.org/drawingml/2006/main">
            <a:r>
              <a:t/>
            </a:r>
          </a:p>
          <a:p xmlns:a="http://schemas.openxmlformats.org/drawingml/2006/main">
            <a:r>
              <a:t>Para S y dos dígitos, q0 espera S, q1 espera el primer dígito, q2 el segundo y q3 acepta únicamente si terminó la entrada. Una transición inválida rechaza. El autómata no necesita recordar una cantidad ilimitada de símbolos. La demostración implementa esta lógica y la compara con Pattern, haciendo visible la equivalencia para este lenguaje.</a:t>
            </a:r>
          </a:p>
          <a:p xmlns:a="http://schemas.openxmlformats.org/drawingml/2006/main">
            <a:r>
              <a:t/>
            </a:r>
          </a:p>
          <a:p xmlns:a="http://schemas.openxmlformats.org/drawingml/2006/main">
            <a:r>
              <a:t>Referencias:</a:t>
            </a:r>
          </a:p>
          <a:p xmlns:a="http://schemas.openxmlformats.org/drawingml/2006/main">
            <a:r>
              <a:t>https://docs.oracle.com/en/java/javase/25/docs/api/java.base/java/util/regex/Pattern.html</a:t>
            </a:r>
          </a:p>
          <a:p xmlns:a="http://schemas.openxmlformats.org/drawingml/2006/main">
            <a:r>
              <a:t>https://docs.oracle.com/en/java/javase/25/docs/api/java.base/java/util/regex/Matcher.html</a:t>
            </a:r>
          </a:p>
          <a:p xmlns:a="http://schemas.openxmlformats.org/drawingml/2006/main">
            <a:r>
              <a:t>https://docs.oracle.com/en/java/javase/25/docs/api/java.base/java/nio/file/Files.html</a:t>
            </a:r>
          </a:p>
          <a:p xmlns:a="http://schemas.openxmlformats.org/drawingml/2006/main">
            <a:r>
              <a:t>Correspondencia: material.md, sección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sintaxis de java.util.regex incorpora funciones adicionales a las expresiones regulares formales, como referencias a grupos previamente capturados. No todos los patrones admitidos por el motor describen lenguajes regulares en el sentido teórico. Por ejemplo, exigir la repetición exacta de una subcadena arbitraria puede necesitar memoria no acotada.</a:t>
            </a:r>
          </a:p>
          <a:p xmlns:a="http://schemas.openxmlformats.org/drawingml/2006/main">
            <a:r>
              <a:t/>
            </a:r>
          </a:p>
          <a:p xmlns:a="http://schemas.openxmlformats.org/drawingml/2006/main">
            <a:r>
              <a:t>Java utiliza un motor con retroceso. Una expresión ambigua puede explorar muchas alternativas antes de rechazar un texto. El hecho de que la sintaxis sea breve no garantiza buen rendimiento. En los siguientes temas se evitarán cuantificadores anidados ambiguos y se limitará el tamaño de las entradas externas.</a:t>
            </a:r>
          </a:p>
          <a:p xmlns:a="http://schemas.openxmlformats.org/drawingml/2006/main">
            <a:r>
              <a:t/>
            </a:r>
          </a:p>
          <a:p xmlns:a="http://schemas.openxmlformats.org/drawingml/2006/main">
            <a:r>
              <a:t>Referencias:</a:t>
            </a:r>
          </a:p>
          <a:p xmlns:a="http://schemas.openxmlformats.org/drawingml/2006/main">
            <a:r>
              <a:t>https://docs.oracle.com/en/java/javase/25/docs/api/java.base/java/util/regex/Pattern.html</a:t>
            </a:r>
          </a:p>
          <a:p xmlns:a="http://schemas.openxmlformats.org/drawingml/2006/main">
            <a:r>
              <a:t>https://docs.oracle.com/en/java/javase/25/docs/api/java.base/java/util/regex/Matcher.html</a:t>
            </a:r>
          </a:p>
          <a:p xmlns:a="http://schemas.openxmlformats.org/drawingml/2006/main">
            <a:r>
              <a:t>https://docs.oracle.com/en/java/javase/25/docs/api/java.base/java/nio/file/Files.html</a:t>
            </a:r>
          </a:p>
          <a:p xmlns:a="http://schemas.openxmlformats.org/drawingml/2006/main">
            <a:r>
              <a:t>Correspondencia: material.md, sección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Matcher.matches exige que toda la región de entrada coincida. Matcher.find busca una coincidencia dentro del texto. Para validar un identificador completo, matches expresa la intención. Usar find podría aceptar XXS01YY porque contiene una subcadena válida.</a:t>
            </a:r>
          </a:p>
          <a:p xmlns:a="http://schemas.openxmlformats.org/drawingml/2006/main">
            <a:r>
              <a:t/>
            </a:r>
          </a:p>
          <a:p xmlns:a="http://schemas.openxmlformats.org/drawingml/2006/main">
            <a:r>
              <a:t>Las pruebas deben incluir longitudes cercanas al límite, símbolos de otro alfabeto, prefijos, sufijos y cadena vacía. [0-9] limita los dígitos a ASCII de forma explícita. La categoría Unicode de dígitos tiene un alcance diferente y debe decidirse según el protocolo. La PC definirá primero el lenguaje y después la expresión.</a:t>
            </a:r>
          </a:p>
          <a:p xmlns:a="http://schemas.openxmlformats.org/drawingml/2006/main">
            <a:r>
              <a:t/>
            </a:r>
          </a:p>
          <a:p xmlns:a="http://schemas.openxmlformats.org/drawingml/2006/main">
            <a:r>
              <a:t>Referencias:</a:t>
            </a:r>
          </a:p>
          <a:p xmlns:a="http://schemas.openxmlformats.org/drawingml/2006/main">
            <a:r>
              <a:t>https://docs.oracle.com/en/java/javase/25/docs/api/java.base/java/util/regex/Pattern.html</a:t>
            </a:r>
          </a:p>
          <a:p xmlns:a="http://schemas.openxmlformats.org/drawingml/2006/main">
            <a:r>
              <a:t>https://docs.oracle.com/en/java/javase/25/docs/api/java.base/java/util/regex/Matcher.html</a:t>
            </a:r>
          </a:p>
          <a:p xmlns:a="http://schemas.openxmlformats.org/drawingml/2006/main">
            <a:r>
              <a:t>https://docs.oracle.com/en/java/javase/25/docs/api/java.base/java/nio/file/Files.html</a:t>
            </a:r>
          </a:p>
          <a:p xmlns:a="http://schemas.openxmlformats.org/drawingml/2006/main">
            <a:r>
              <a:t>Correspondencia: material.md, sección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Código completo:</a:t>
            </a:r>
          </a:p>
          <a:p xmlns:a="http://schemas.openxmlformats.org/drawingml/2006/main">
            <a:r>
              <a:t>package edu.ups.pap.u02;</a:t>
            </a:r>
          </a:p>
          <a:p xmlns:a="http://schemas.openxmlformats.org/drawingml/2006/main">
            <a:r>
              <a:t>import java.util.regex.Pattern;</a:t>
            </a:r>
          </a:p>
          <a:p xmlns:a="http://schemas.openxmlformats.org/drawingml/2006/main">
            <a:r>
              <a:t>public class LenguajeDemo {</a:t>
            </a:r>
          </a:p>
          <a:p xmlns:a="http://schemas.openxmlformats.org/drawingml/2006/main">
            <a:r>
              <a:t>    static boolean automata(String texto) {</a:t>
            </a:r>
          </a:p>
          <a:p xmlns:a="http://schemas.openxmlformats.org/drawingml/2006/main">
            <a:r>
              <a:t>        int estado = 0;</a:t>
            </a:r>
          </a:p>
          <a:p xmlns:a="http://schemas.openxmlformats.org/drawingml/2006/main">
            <a:r>
              <a:t>        for (char c : texto.toCharArray()) {</a:t>
            </a:r>
          </a:p>
          <a:p xmlns:a="http://schemas.openxmlformats.org/drawingml/2006/main">
            <a:r>
              <a:t>            if (estado == 0 &amp;&amp; c == 'S') estado = 1;</a:t>
            </a:r>
          </a:p>
          <a:p xmlns:a="http://schemas.openxmlformats.org/drawingml/2006/main">
            <a:r>
              <a:t>            else if ((estado == 1 || estado == 2) &amp;&amp; c &gt;= '0' &amp;&amp; c &lt;= '9') estado++;</a:t>
            </a:r>
          </a:p>
          <a:p xmlns:a="http://schemas.openxmlformats.org/drawingml/2006/main">
            <a:r>
              <a:t>            else return false;</a:t>
            </a:r>
          </a:p>
          <a:p xmlns:a="http://schemas.openxmlformats.org/drawingml/2006/main">
            <a:r>
              <a:t>        }</a:t>
            </a:r>
          </a:p>
          <a:p xmlns:a="http://schemas.openxmlformats.org/drawingml/2006/main">
            <a:r>
              <a:t>        return estado == 3;</a:t>
            </a:r>
          </a:p>
          <a:p xmlns:a="http://schemas.openxmlformats.org/drawingml/2006/main">
            <a:r>
              <a:t>    }</a:t>
            </a:r>
          </a:p>
          <a:p xmlns:a="http://schemas.openxmlformats.org/drawingml/2006/main">
            <a:r>
              <a:t>    public static void main(String[] args) {</a:t>
            </a:r>
          </a:p>
          <a:p xmlns:a="http://schemas.openxmlformats.org/drawingml/2006/main">
            <a:r>
              <a:t>        Pattern patron = Pattern.compile("S[0-9]{2}");</a:t>
            </a:r>
          </a:p>
          <a:p xmlns:a="http://schemas.openxmlformats.org/drawingml/2006/main">
            <a:r>
              <a:t>        for (String s : new String[]{"S01","S9","XS01","S001","S99",""}) {</a:t>
            </a:r>
          </a:p>
          <a:p xmlns:a="http://schemas.openxmlformats.org/drawingml/2006/main">
            <a:r>
              <a:t>            boolean manual = automata(s), regex = patron.matcher(s).matches();</a:t>
            </a:r>
          </a:p>
          <a:p xmlns:a="http://schemas.openxmlformats.org/drawingml/2006/main">
            <a:r>
              <a:t>            if (manual != regex) throw new AssertionError(s);</a:t>
            </a:r>
          </a:p>
          <a:p xmlns:a="http://schemas.openxmlformats.org/drawingml/2006/main">
            <a:r>
              <a:t>            System.out.println("'" + s + "' -&gt; " + regex);</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
            </a:r>
          </a:p>
          <a:p xmlns:a="http://schemas.openxmlformats.org/drawingml/2006/main">
            <a:r>
              <a:t>Salida:</a:t>
            </a:r>
          </a:p>
          <a:p xmlns:a="http://schemas.openxmlformats.org/drawingml/2006/main">
            <a:r>
              <a:t>'S01' -&gt; true</a:t>
            </a:r>
          </a:p>
          <a:p xmlns:a="http://schemas.openxmlformats.org/drawingml/2006/main">
            <a:r>
              <a:t>'S9' -&gt; false</a:t>
            </a:r>
          </a:p>
          <a:p xmlns:a="http://schemas.openxmlformats.org/drawingml/2006/main">
            <a:r>
              <a:t>'XS01' -&gt; false</a:t>
            </a:r>
          </a:p>
          <a:p xmlns:a="http://schemas.openxmlformats.org/drawingml/2006/main">
            <a:r>
              <a:t>'S001' -&gt; false</a:t>
            </a:r>
          </a:p>
          <a:p xmlns:a="http://schemas.openxmlformats.org/drawingml/2006/main">
            <a:r>
              <a:t>'S99' -&gt; true</a:t>
            </a:r>
          </a:p>
          <a:p xmlns:a="http://schemas.openxmlformats.org/drawingml/2006/main">
            <a:r>
              <a:t>'' -&gt; false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Salida esperada:</a:t>
            </a:r>
          </a:p>
          <a:p xmlns:a="http://schemas.openxmlformats.org/drawingml/2006/main">
            <a:r>
              <a:t>'S01' -&gt; true</a:t>
            </a:r>
          </a:p>
          <a:p xmlns:a="http://schemas.openxmlformats.org/drawingml/2006/main">
            <a:r>
              <a:t>'S9' -&gt; false</a:t>
            </a:r>
          </a:p>
          <a:p xmlns:a="http://schemas.openxmlformats.org/drawingml/2006/main">
            <a:r>
              <a:t>'XS01' -&gt; false</a:t>
            </a:r>
          </a:p>
          <a:p xmlns:a="http://schemas.openxmlformats.org/drawingml/2006/main">
            <a:r>
              <a:t>'S001' -&gt; false</a:t>
            </a:r>
          </a:p>
          <a:p xmlns:a="http://schemas.openxmlformats.org/drawingml/2006/main">
            <a:r>
              <a:t>'S99' -&gt; true</a:t>
            </a:r>
          </a:p>
          <a:p xmlns:a="http://schemas.openxmlformats.org/drawingml/2006/main">
            <a:r>
              <a:t>'' -&gt; false</a:t>
            </a:r>
          </a:p>
          <a:p xmlns:a="http://schemas.openxmlformats.org/drawingml/2006/main">
            <a:r>
              <a:t>Casos de aceptación: material.md, sección 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Resuelve la ampliación en tu proyecto CampusMonitor.</a:t>
            </a:r>
          </a:p>
          <a:p xmlns:a="http://schemas.openxmlformats.org/drawingml/2006/main">
            <a:r>
              <a:t>Evidencia: evidencias/PC2.1.md y enlace al commit final.</a:t>
            </a:r>
          </a:p>
          <a:p xmlns:a="http://schemas.openxmlformats.org/drawingml/2006/main">
            <a:r>
              <a:t>Especifica el lenguaje de identificadores de CampusMonitor: una letra T u O seguida de tres dígitos ASCII.</a:t>
            </a:r>
          </a:p>
          <a:p xmlns:a="http://schemas.openxmlformats.org/drawingml/2006/main">
            <a:r>
              <a:t>Implementa un reconocedor por estados y otro con Pattern. Integra la validación antes de registrar sensores.</a:t>
            </a:r>
          </a:p>
          <a:p xmlns:a="http://schemas.openxmlformats.org/drawingml/2006/main">
            <a:r>
              <a:t>Prueba al menos ocho cadenas que cubran aceptación, rechazo y límites. Explica por qué un ID válido puede no existir en el catálogo.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Síntesis del material. Revisa la sección 3 para la PC y la guía general para commits y evidencias.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dccc23b4119499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40524791e524153" /><Relationship Type="http://schemas.openxmlformats.org/officeDocument/2006/relationships/slideLayout" Target="/ppt/slideLayouts/slideLayout1.xml" Id="R89c937a74e994b2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9c937a74e994b2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878de3a6c5e4fab" /><Relationship Type="http://schemas.openxmlformats.org/officeDocument/2006/relationships/image" Target="/ppt/media/image.png" Id="Ree861400073b4161" /><Relationship Type="http://schemas.openxmlformats.org/officeDocument/2006/relationships/notesSlide" Target="/ppt/notesSlides/notesSlide1.xml" Id="Re5c50d96982341b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c75b8ad1a4c4b0e" /><Relationship Type="http://schemas.openxmlformats.org/officeDocument/2006/relationships/notesSlide" Target="/ppt/notesSlides/notesSlide2.xml" Id="R339dd83e2f3a4fb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5764ddb26b5446d" /><Relationship Type="http://schemas.openxmlformats.org/officeDocument/2006/relationships/image" Target="/ppt/media/image2.png" Id="R3510a8097e1043bb" /><Relationship Type="http://schemas.openxmlformats.org/officeDocument/2006/relationships/notesSlide" Target="/ppt/notesSlides/notesSlide3.xml" Id="R23fc6ec073ad412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273722589b74452" /><Relationship Type="http://schemas.openxmlformats.org/officeDocument/2006/relationships/notesSlide" Target="/ppt/notesSlides/notesSlide4.xml" Id="Rebf450bc9f8b461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bb60f663a9846b8" /><Relationship Type="http://schemas.openxmlformats.org/officeDocument/2006/relationships/notesSlide" Target="/ppt/notesSlides/notesSlide5.xml" Id="R9f79c7fa6f444c9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ce84e64c32f47d9" /><Relationship Type="http://schemas.openxmlformats.org/officeDocument/2006/relationships/notesSlide" Target="/ppt/notesSlides/notesSlide6.xml" Id="R4420629ef0fe4a7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e5d295cddc34c20" /><Relationship Type="http://schemas.openxmlformats.org/officeDocument/2006/relationships/notesSlide" Target="/ppt/notesSlides/notesSlide7.xml" Id="R3e803f0444cf48e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5c4bca456a3489a" /><Relationship Type="http://schemas.openxmlformats.org/officeDocument/2006/relationships/notesSlide" Target="/ppt/notesSlides/notesSlide8.xml" Id="R17b4fe35a7d14ea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75ac140286c4578" /><Relationship Type="http://schemas.openxmlformats.org/officeDocument/2006/relationships/notesSlide" Target="/ppt/notesSlides/notesSlide9.xml" Id="R834bc0acfc334f3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7c914a278ec4f57" /><Relationship Type="http://schemas.openxmlformats.org/officeDocument/2006/relationships/notesSlide" Target="/ppt/notesSlides/notesSlide10.xml" Id="R12d50455043d4b8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02e16b58d014430" /><Relationship Type="http://schemas.openxmlformats.org/officeDocument/2006/relationships/notesSlide" Target="/ppt/notesSlides/notesSlide11.xml" Id="Ra630469d3b664d45"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ee861400073b4161"/>
          <a:stretch xmlns:a="http://schemas.openxmlformats.org/drawingml/2006/main"/>
        </p:blipFill>
        <p:spPr>
          <a:xfrm xmlns:a="http://schemas.openxmlformats.org/drawingml/2006/main">
            <a:off x="609600" y="545418"/>
            <a:ext cx="6858000" cy="112848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B93DAC4-F2E1-4407-AB12-B44A85169401}"/>
              </a:ext>
            </a:extLst>
          </p:cNvPr>
          <p:cNvSpPr>
            <a:spLocks xmlns:a="http://schemas.openxmlformats.org/drawingml/2006/main" noGrp="1"/>
          </p:cNvSpPr>
          <p:nvPr/>
        </p:nvSpPr>
        <p:spPr>
          <a:xfrm xmlns:a="http://schemas.openxmlformats.org/drawingml/2006/main">
            <a:off x="609600" y="2238375"/>
            <a:ext cx="1076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150" b="1">
                <a:solidFill>
                  <a:srgbClr val="003772"/>
                </a:solidFill>
                <a:latin typeface="DejaVu Sans"/>
                <a:ea typeface="DejaVu Sans"/>
                <a:cs typeface="DejaVu Sans"/>
              </a:defRPr>
            </a:pPr>
            <a:r>
              <a:rPr sz="3150" b="1">
                <a:solidFill>
                  <a:srgbClr val="003772"/>
                </a:solidFill>
                <a:latin typeface="DejaVu Sans"/>
                <a:ea typeface="DejaVu Sans"/>
                <a:cs typeface="DejaVu Sans"/>
              </a:rPr>
              <a:t>Programación Aplicada</a:t>
            </a:r>
          </a:p>
        </p:txBody>
      </p:sp>
      <p:sp>
        <p:nvSpPr>
          <p:cNvPr id="3" name="">
            <a:extLst xmlns:a="http://schemas.openxmlformats.org/drawingml/2006/main">
              <a:ext uri="{FF2B5EF4-FFF2-40B4-BE49-F238E27FC236}">
                <a16:creationId xmlns:a16="http://schemas.microsoft.com/office/drawing/2014/main" id="{9A557B2A-7344-4B98-98DB-BFBF9C927D46}"/>
              </a:ext>
            </a:extLst>
          </p:cNvPr>
          <p:cNvSpPr>
            <a:spLocks xmlns:a="http://schemas.openxmlformats.org/drawingml/2006/main" noGrp="1"/>
          </p:cNvSpPr>
          <p:nvPr/>
        </p:nvSpPr>
        <p:spPr>
          <a:xfrm xmlns:a="http://schemas.openxmlformats.org/drawingml/2006/main">
            <a:off x="609600" y="3162300"/>
            <a:ext cx="108204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775" b="1">
                <a:solidFill>
                  <a:srgbClr val="003772"/>
                </a:solidFill>
                <a:latin typeface="DejaVu Sans"/>
                <a:ea typeface="DejaVu Sans"/>
                <a:cs typeface="DejaVu Sans"/>
              </a:defRPr>
            </a:pPr>
            <a:r>
              <a:rPr sz="2775" b="1">
                <a:solidFill>
                  <a:srgbClr val="003772"/>
                </a:solidFill>
                <a:latin typeface="DejaVu Sans"/>
                <a:ea typeface="DejaVu Sans"/>
                <a:cs typeface="DejaVu Sans"/>
              </a:rPr>
              <a:t>Fundamentos de lenguajes regulares</a:t>
            </a:r>
          </a:p>
        </p:txBody>
      </p:sp>
      <p:sp>
        <p:nvSpPr>
          <p:cNvPr id="4" name="">
            <a:extLst xmlns:a="http://schemas.openxmlformats.org/drawingml/2006/main">
              <a:ext uri="{FF2B5EF4-FFF2-40B4-BE49-F238E27FC236}">
                <a16:creationId xmlns:a16="http://schemas.microsoft.com/office/drawing/2014/main" id="{1BF478BE-C67C-46FA-8A60-777F6B7780F7}"/>
              </a:ext>
            </a:extLst>
          </p:cNvPr>
          <p:cNvSpPr>
            <a:spLocks xmlns:a="http://schemas.openxmlformats.org/drawingml/2006/main" noGrp="1"/>
          </p:cNvSpPr>
          <p:nvPr/>
        </p:nvSpPr>
        <p:spPr>
          <a:xfrm xmlns:a="http://schemas.openxmlformats.org/drawingml/2006/main">
            <a:off x="609600" y="4705350"/>
            <a:ext cx="1381125" cy="47625"/>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E0A5D69-F88D-402E-A72F-FE4CAEB2FC80}"/>
              </a:ext>
            </a:extLst>
          </p:cNvPr>
          <p:cNvSpPr>
            <a:spLocks xmlns:a="http://schemas.openxmlformats.org/drawingml/2006/main" noGrp="1"/>
          </p:cNvSpPr>
          <p:nvPr/>
        </p:nvSpPr>
        <p:spPr>
          <a:xfrm xmlns:a="http://schemas.openxmlformats.org/drawingml/2006/main">
            <a:off x="609600" y="506730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07508E"/>
                </a:solidFill>
                <a:latin typeface="DejaVu Sans"/>
                <a:ea typeface="DejaVu Sans"/>
                <a:cs typeface="DejaVu Sans"/>
              </a:defRPr>
            </a:pPr>
            <a:r>
              <a:rPr sz="1575" b="0">
                <a:solidFill>
                  <a:srgbClr val="07508E"/>
                </a:solidFill>
                <a:latin typeface="DejaVu Sans"/>
                <a:ea typeface="DejaVu Sans"/>
                <a:cs typeface="DejaVu Sans"/>
              </a:rPr>
              <a:t>Unidad 2 · 2.1</a:t>
            </a:r>
          </a:p>
        </p:txBody>
      </p:sp>
      <p:sp>
        <p:nvSpPr>
          <p:cNvPr id="6" name="">
            <a:extLst xmlns:a="http://schemas.openxmlformats.org/drawingml/2006/main">
              <a:ext uri="{FF2B5EF4-FFF2-40B4-BE49-F238E27FC236}">
                <a16:creationId xmlns:a16="http://schemas.microsoft.com/office/drawing/2014/main" id="{D527D1E0-BBFA-446A-8D33-EBE3BC74033B}"/>
              </a:ext>
            </a:extLst>
          </p:cNvPr>
          <p:cNvSpPr>
            <a:spLocks xmlns:a="http://schemas.openxmlformats.org/drawingml/2006/main" noGrp="1"/>
          </p:cNvSpPr>
          <p:nvPr/>
        </p:nvSpPr>
        <p:spPr>
          <a:xfrm xmlns:a="http://schemas.openxmlformats.org/drawingml/2006/main">
            <a:off x="609600" y="56769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5C5B5F"/>
                </a:solidFill>
                <a:latin typeface="DejaVu Sans"/>
                <a:ea typeface="DejaVu Sans"/>
                <a:cs typeface="DejaVu Sans"/>
              </a:defRPr>
            </a:pPr>
            <a:r>
              <a:rPr sz="1425" b="0">
                <a:solidFill>
                  <a:srgbClr val="5C5B5F"/>
                </a:solidFill>
                <a:latin typeface="DejaVu Sans"/>
                <a:ea typeface="DejaVu Sans"/>
                <a:cs typeface="DejaVu Sans"/>
              </a:rPr>
              <a:t>Ing. Pablo Torres, Mgtr.</a:t>
            </a:r>
          </a:p>
        </p:txBody>
      </p:sp>
    </p:spTree>
    <p:extLst>
      <p:ext uri="{BB962C8B-B14F-4D97-AF65-F5344CB8AC3E}">
        <p14:creationId xmlns:p14="http://schemas.microsoft.com/office/powerpoint/2010/main" val="212341087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482AC3D-CE28-4F15-9057-933173433C54}"/>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0855144-BA24-4288-9509-BC51B2973E50}"/>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El problema de CampusMonitor</a:t>
            </a:r>
          </a:p>
        </p:txBody>
      </p:sp>
      <p:sp>
        <p:nvSpPr>
          <p:cNvPr id="3" name="">
            <a:extLst xmlns:a="http://schemas.openxmlformats.org/drawingml/2006/main">
              <a:ext uri="{FF2B5EF4-FFF2-40B4-BE49-F238E27FC236}">
                <a16:creationId xmlns:a16="http://schemas.microsoft.com/office/drawing/2014/main" id="{3818551F-1D2D-472F-89B1-371CE8206BBF}"/>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84E66EB-78D0-43B6-AE48-2AE020BD190C}"/>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2.1</a:t>
            </a:r>
          </a:p>
        </p:txBody>
      </p:sp>
      <p:sp>
        <p:nvSpPr>
          <p:cNvPr id="5" name="">
            <a:extLst xmlns:a="http://schemas.openxmlformats.org/drawingml/2006/main">
              <a:ext uri="{FF2B5EF4-FFF2-40B4-BE49-F238E27FC236}">
                <a16:creationId xmlns:a16="http://schemas.microsoft.com/office/drawing/2014/main" id="{03DEA3BB-6A06-4DDD-8DE4-0E89515EFE29}"/>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2</a:t>
            </a:r>
          </a:p>
        </p:txBody>
      </p:sp>
      <p:sp>
        <p:nvSpPr>
          <p:cNvPr id="6" name="">
            <a:extLst xmlns:a="http://schemas.openxmlformats.org/drawingml/2006/main">
              <a:ext uri="{FF2B5EF4-FFF2-40B4-BE49-F238E27FC236}">
                <a16:creationId xmlns:a16="http://schemas.microsoft.com/office/drawing/2014/main" id="{C1C76532-E334-4BF6-A69B-EF757F0E4ED3}"/>
              </a:ext>
            </a:extLst>
          </p:cNvPr>
          <p:cNvSpPr>
            <a:spLocks xmlns:a="http://schemas.openxmlformats.org/drawingml/2006/main" noGrp="1"/>
          </p:cNvSpPr>
          <p:nvPr/>
        </p:nvSpPr>
        <p:spPr>
          <a:xfrm xmlns:a="http://schemas.openxmlformats.org/drawingml/2006/main">
            <a:off x="762000" y="1771650"/>
            <a:ext cx="104775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CampusMonitor recibirá líneas como S01;23.5. Antes de convertirlas a objetos necesitamos definir qué textos pertenecen al formato aceptado. Una expresión regular describe una estructura léxica y un autómata ayuda a explicar cómo se reconoce.</a:t>
            </a:r>
          </a:p>
        </p:txBody>
      </p:sp>
    </p:spTree>
    <p:extLst>
      <p:ext uri="{BB962C8B-B14F-4D97-AF65-F5344CB8AC3E}">
        <p14:creationId xmlns:p14="http://schemas.microsoft.com/office/powerpoint/2010/main" val="57042450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843855D-ECFF-482B-85C5-E80CBB364C4F}"/>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4E9605B-C54E-4D2A-8EF0-0E99A11A8862}"/>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Una analogía para el concepto</a:t>
            </a:r>
          </a:p>
        </p:txBody>
      </p:sp>
      <p:sp>
        <p:nvSpPr>
          <p:cNvPr id="3" name="">
            <a:extLst xmlns:a="http://schemas.openxmlformats.org/drawingml/2006/main">
              <a:ext uri="{FF2B5EF4-FFF2-40B4-BE49-F238E27FC236}">
                <a16:creationId xmlns:a16="http://schemas.microsoft.com/office/drawing/2014/main" id="{720F2BD7-ADA2-4F99-84A9-E775163010F2}"/>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A706F96-380C-46A6-9224-97F9688A1FF6}"/>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2.1</a:t>
            </a:r>
          </a:p>
        </p:txBody>
      </p:sp>
      <p:sp>
        <p:nvSpPr>
          <p:cNvPr id="5" name="">
            <a:extLst xmlns:a="http://schemas.openxmlformats.org/drawingml/2006/main">
              <a:ext uri="{FF2B5EF4-FFF2-40B4-BE49-F238E27FC236}">
                <a16:creationId xmlns:a16="http://schemas.microsoft.com/office/drawing/2014/main" id="{7D42B038-6D6B-4B6D-B5F2-EF0907339983}"/>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3</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3510a8097e1043bb"/>
          <a:stretch xmlns:a="http://schemas.openxmlformats.org/drawingml/2006/main"/>
        </p:blipFill>
        <p:spPr>
          <a:xfrm xmlns:a="http://schemas.openxmlformats.org/drawingml/2006/main">
            <a:off x="4862513" y="1504950"/>
            <a:ext cx="6715125" cy="44767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9EDB2491-655B-4ACE-9515-54E4F561D59A}"/>
              </a:ext>
            </a:extLst>
          </p:cNvPr>
          <p:cNvSpPr>
            <a:spLocks xmlns:a="http://schemas.openxmlformats.org/drawingml/2006/main" noGrp="1"/>
          </p:cNvSpPr>
          <p:nvPr/>
        </p:nvSpPr>
        <p:spPr>
          <a:xfrm xmlns:a="http://schemas.openxmlformats.org/drawingml/2006/main">
            <a:off x="685800" y="2000250"/>
            <a:ext cx="3810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3772"/>
                </a:solidFill>
                <a:latin typeface="DejaVu Sans"/>
                <a:ea typeface="DejaVu Sans"/>
                <a:cs typeface="DejaVu Sans"/>
              </a:defRPr>
            </a:pPr>
            <a:r>
              <a:rPr sz="2400" b="1">
                <a:solidFill>
                  <a:srgbClr val="003772"/>
                </a:solidFill>
                <a:latin typeface="DejaVu Sans"/>
                <a:ea typeface="DejaVu Sans"/>
                <a:cs typeface="DejaVu Sans"/>
              </a:rPr>
              <a:t>Un lenguaje es un conjunto de cadenas.</a:t>
            </a:r>
          </a:p>
        </p:txBody>
      </p:sp>
      <p:sp>
        <p:nvSpPr>
          <p:cNvPr id="8" name="">
            <a:extLst xmlns:a="http://schemas.openxmlformats.org/drawingml/2006/main">
              <a:ext uri="{FF2B5EF4-FFF2-40B4-BE49-F238E27FC236}">
                <a16:creationId xmlns:a16="http://schemas.microsoft.com/office/drawing/2014/main" id="{596A62D2-3AFD-4C9A-A696-EA1D6C9FC7A0}"/>
              </a:ext>
            </a:extLst>
          </p:cNvPr>
          <p:cNvSpPr>
            <a:spLocks xmlns:a="http://schemas.openxmlformats.org/drawingml/2006/main" noGrp="1"/>
          </p:cNvSpPr>
          <p:nvPr/>
        </p:nvSpPr>
        <p:spPr>
          <a:xfrm xmlns:a="http://schemas.openxmlformats.org/drawingml/2006/main">
            <a:off x="685800" y="3752850"/>
            <a:ext cx="3810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La ilustración sirve como analogía. El contrato técnico se define en el código.</a:t>
            </a:r>
          </a:p>
        </p:txBody>
      </p:sp>
    </p:spTree>
    <p:extLst>
      <p:ext uri="{BB962C8B-B14F-4D97-AF65-F5344CB8AC3E}">
        <p14:creationId xmlns:p14="http://schemas.microsoft.com/office/powerpoint/2010/main" val="57941913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730F679-7C1B-4996-BB9C-9B70B98ECB1B}"/>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F41A460-4CDB-4275-8E5E-62A244ABFE62}"/>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Alfabeto, cadena y lenguaje</a:t>
            </a:r>
          </a:p>
        </p:txBody>
      </p:sp>
      <p:sp>
        <p:nvSpPr>
          <p:cNvPr id="3" name="">
            <a:extLst xmlns:a="http://schemas.openxmlformats.org/drawingml/2006/main">
              <a:ext uri="{FF2B5EF4-FFF2-40B4-BE49-F238E27FC236}">
                <a16:creationId xmlns:a16="http://schemas.microsoft.com/office/drawing/2014/main" id="{3577ADD0-B0BB-4EE2-94F0-8A6BFAF635A6}"/>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3721026-69A8-4C0B-ABC2-094C1FDF7627}"/>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2.1</a:t>
            </a:r>
          </a:p>
        </p:txBody>
      </p:sp>
      <p:sp>
        <p:nvSpPr>
          <p:cNvPr id="5" name="">
            <a:extLst xmlns:a="http://schemas.openxmlformats.org/drawingml/2006/main">
              <a:ext uri="{FF2B5EF4-FFF2-40B4-BE49-F238E27FC236}">
                <a16:creationId xmlns:a16="http://schemas.microsoft.com/office/drawing/2014/main" id="{B984A0BB-6EF8-43A2-ADC3-F56F26D3F50D}"/>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4</a:t>
            </a:r>
          </a:p>
        </p:txBody>
      </p:sp>
      <p:sp>
        <p:nvSpPr>
          <p:cNvPr id="6" name="">
            <a:extLst xmlns:a="http://schemas.openxmlformats.org/drawingml/2006/main">
              <a:ext uri="{FF2B5EF4-FFF2-40B4-BE49-F238E27FC236}">
                <a16:creationId xmlns:a16="http://schemas.microsoft.com/office/drawing/2014/main" id="{9C996964-0CCE-4B69-8C78-FEE9A4E64B8E}"/>
              </a:ext>
            </a:extLst>
          </p:cNvPr>
          <p:cNvSpPr>
            <a:spLocks xmlns:a="http://schemas.openxmlformats.org/drawingml/2006/main" noGrp="1"/>
          </p:cNvSpPr>
          <p:nvPr/>
        </p:nvSpPr>
        <p:spPr>
          <a:xfrm xmlns:a="http://schemas.openxmlformats.org/drawingml/2006/main">
            <a:off x="723900" y="16954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3772"/>
                </a:solidFill>
                <a:latin typeface="DejaVu Sans"/>
                <a:ea typeface="DejaVu Sans"/>
                <a:cs typeface="DejaVu Sans"/>
              </a:defRPr>
            </a:pPr>
            <a:r>
              <a:rPr sz="2400" b="1">
                <a:solidFill>
                  <a:srgbClr val="003772"/>
                </a:solidFill>
                <a:latin typeface="DejaVu Sans"/>
                <a:ea typeface="DejaVu Sans"/>
                <a:cs typeface="DejaVu Sans"/>
              </a:rPr>
              <a:t>Un lenguaje es un conjunto de cadenas.</a:t>
            </a:r>
          </a:p>
        </p:txBody>
      </p:sp>
      <p:sp>
        <p:nvSpPr>
          <p:cNvPr id="7" name="">
            <a:extLst xmlns:a="http://schemas.openxmlformats.org/drawingml/2006/main">
              <a:ext uri="{FF2B5EF4-FFF2-40B4-BE49-F238E27FC236}">
                <a16:creationId xmlns:a16="http://schemas.microsoft.com/office/drawing/2014/main" id="{EC2A3883-9A90-4576-B5DA-344CCB9F599C}"/>
              </a:ext>
            </a:extLst>
          </p:cNvPr>
          <p:cNvSpPr>
            <a:spLocks xmlns:a="http://schemas.openxmlformats.org/drawingml/2006/main" noGrp="1"/>
          </p:cNvSpPr>
          <p:nvPr/>
        </p:nvSpPr>
        <p:spPr>
          <a:xfrm xmlns:a="http://schemas.openxmlformats.org/drawingml/2006/main">
            <a:off x="723900" y="2857500"/>
            <a:ext cx="10477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403F3B"/>
                </a:solidFill>
                <a:latin typeface="DejaVu Sans"/>
                <a:ea typeface="DejaVu Sans"/>
                <a:cs typeface="DejaVu Sans"/>
              </a:defRPr>
            </a:pPr>
            <a:r>
              <a:rPr sz="2025" b="0">
                <a:solidFill>
                  <a:srgbClr val="403F3B"/>
                </a:solidFill>
                <a:latin typeface="DejaVu Sans"/>
                <a:ea typeface="DejaVu Sans"/>
                <a:cs typeface="DejaVu Sans"/>
              </a:rPr>
              <a:t>Un alfabeto es un conjunto de símbolos. Una cadena es una secuencia finita de esos símbolos, incluida la cadena vacía ε. Un lenguaje es un conjunto de cadenas sobre un alfabeto. Para identificadores de sensor, podemos definir S seguida de exactamente dos dígitos ASCII: S00 a S99.</a:t>
            </a:r>
          </a:p>
        </p:txBody>
      </p:sp>
      <p:sp>
        <p:nvSpPr>
          <p:cNvPr id="8" name="">
            <a:extLst xmlns:a="http://schemas.openxmlformats.org/drawingml/2006/main">
              <a:ext uri="{FF2B5EF4-FFF2-40B4-BE49-F238E27FC236}">
                <a16:creationId xmlns:a16="http://schemas.microsoft.com/office/drawing/2014/main" id="{5B1F3A3D-041D-47A9-9589-A3ABD72F5BC7}"/>
              </a:ext>
            </a:extLst>
          </p:cNvPr>
          <p:cNvSpPr>
            <a:spLocks xmlns:a="http://schemas.openxmlformats.org/drawingml/2006/main" noGrp="1"/>
          </p:cNvSpPr>
          <p:nvPr/>
        </p:nvSpPr>
        <p:spPr>
          <a:xfrm xmlns:a="http://schemas.openxmlformats.org/drawingml/2006/main">
            <a:off x="723900" y="4714875"/>
            <a:ext cx="47625" cy="9715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A9DF3CC-4E8A-484C-BC0C-C19C3A4B3FE7}"/>
              </a:ext>
            </a:extLst>
          </p:cNvPr>
          <p:cNvSpPr>
            <a:spLocks xmlns:a="http://schemas.openxmlformats.org/drawingml/2006/main" noGrp="1"/>
          </p:cNvSpPr>
          <p:nvPr/>
        </p:nvSpPr>
        <p:spPr>
          <a:xfrm xmlns:a="http://schemas.openxmlformats.org/drawingml/2006/main">
            <a:off x="971550" y="4648200"/>
            <a:ext cx="102679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7508E"/>
                </a:solidFill>
                <a:latin typeface="DejaVu Sans"/>
                <a:ea typeface="DejaVu Sans"/>
                <a:cs typeface="DejaVu Sans"/>
              </a:defRPr>
            </a:pPr>
            <a:r>
              <a:rPr sz="1725" b="0">
                <a:solidFill>
                  <a:srgbClr val="07508E"/>
                </a:solidFill>
                <a:latin typeface="DejaVu Sans"/>
                <a:ea typeface="DejaVu Sans"/>
                <a:cs typeface="DejaVu Sans"/>
              </a:rPr>
              <a:t>El patrón no explica aún qué sensor existe ni si está autorizado. Reconoce una forma. Después se valida el significado con reglas del dominio.</a:t>
            </a:r>
          </a:p>
        </p:txBody>
      </p:sp>
    </p:spTree>
    <p:extLst>
      <p:ext uri="{BB962C8B-B14F-4D97-AF65-F5344CB8AC3E}">
        <p14:creationId xmlns:p14="http://schemas.microsoft.com/office/powerpoint/2010/main" val="52973855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E1A56A9-CCEC-4928-9B05-1BEACD27E737}"/>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A92A2DE-CD14-4F29-BAA6-EE24A21F4A26}"/>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Operaciones regulares y autómatas</a:t>
            </a:r>
          </a:p>
        </p:txBody>
      </p:sp>
      <p:sp>
        <p:nvSpPr>
          <p:cNvPr id="3" name="">
            <a:extLst xmlns:a="http://schemas.openxmlformats.org/drawingml/2006/main">
              <a:ext uri="{FF2B5EF4-FFF2-40B4-BE49-F238E27FC236}">
                <a16:creationId xmlns:a16="http://schemas.microsoft.com/office/drawing/2014/main" id="{FE012A93-DAFA-44CC-911F-0EB4C5DC6ADC}"/>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88C9E6D-F603-489B-BE0B-498A12237E3B}"/>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2.1</a:t>
            </a:r>
          </a:p>
        </p:txBody>
      </p:sp>
      <p:sp>
        <p:nvSpPr>
          <p:cNvPr id="5" name="">
            <a:extLst xmlns:a="http://schemas.openxmlformats.org/drawingml/2006/main">
              <a:ext uri="{FF2B5EF4-FFF2-40B4-BE49-F238E27FC236}">
                <a16:creationId xmlns:a16="http://schemas.microsoft.com/office/drawing/2014/main" id="{FBE9B937-7693-4BA0-8513-0E55069695D1}"/>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5</a:t>
            </a:r>
          </a:p>
        </p:txBody>
      </p:sp>
      <p:sp>
        <p:nvSpPr>
          <p:cNvPr id="6" name="">
            <a:extLst xmlns:a="http://schemas.openxmlformats.org/drawingml/2006/main">
              <a:ext uri="{FF2B5EF4-FFF2-40B4-BE49-F238E27FC236}">
                <a16:creationId xmlns:a16="http://schemas.microsoft.com/office/drawing/2014/main" id="{65B31533-BD76-4DAF-AEB4-BA82FBF6515D}"/>
              </a:ext>
            </a:extLst>
          </p:cNvPr>
          <p:cNvSpPr>
            <a:spLocks xmlns:a="http://schemas.openxmlformats.org/drawingml/2006/main" noGrp="1"/>
          </p:cNvSpPr>
          <p:nvPr/>
        </p:nvSpPr>
        <p:spPr>
          <a:xfrm xmlns:a="http://schemas.openxmlformats.org/drawingml/2006/main">
            <a:off x="723900" y="16954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3772"/>
                </a:solidFill>
                <a:latin typeface="DejaVu Sans"/>
                <a:ea typeface="DejaVu Sans"/>
                <a:cs typeface="DejaVu Sans"/>
              </a:defRPr>
            </a:pPr>
            <a:r>
              <a:rPr sz="2400" b="1">
                <a:solidFill>
                  <a:srgbClr val="003772"/>
                </a:solidFill>
                <a:latin typeface="DejaVu Sans"/>
                <a:ea typeface="DejaVu Sans"/>
                <a:cs typeface="DejaVu Sans"/>
              </a:rPr>
              <a:t>Un autómata finito resume el prefijo en un estado.</a:t>
            </a:r>
          </a:p>
        </p:txBody>
      </p:sp>
      <p:sp>
        <p:nvSpPr>
          <p:cNvPr id="7" name="">
            <a:extLst xmlns:a="http://schemas.openxmlformats.org/drawingml/2006/main">
              <a:ext uri="{FF2B5EF4-FFF2-40B4-BE49-F238E27FC236}">
                <a16:creationId xmlns:a16="http://schemas.microsoft.com/office/drawing/2014/main" id="{D8315FA0-E3D4-4710-8ABF-B20DF6EE25A1}"/>
              </a:ext>
            </a:extLst>
          </p:cNvPr>
          <p:cNvSpPr>
            <a:spLocks xmlns:a="http://schemas.openxmlformats.org/drawingml/2006/main" noGrp="1"/>
          </p:cNvSpPr>
          <p:nvPr/>
        </p:nvSpPr>
        <p:spPr>
          <a:xfrm xmlns:a="http://schemas.openxmlformats.org/drawingml/2006/main">
            <a:off x="723900" y="2857500"/>
            <a:ext cx="10477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403F3B"/>
                </a:solidFill>
                <a:latin typeface="DejaVu Sans"/>
                <a:ea typeface="DejaVu Sans"/>
                <a:cs typeface="DejaVu Sans"/>
              </a:defRPr>
            </a:pPr>
            <a:r>
              <a:rPr sz="2025" b="0">
                <a:solidFill>
                  <a:srgbClr val="403F3B"/>
                </a:solidFill>
                <a:latin typeface="DejaVu Sans"/>
                <a:ea typeface="DejaVu Sans"/>
                <a:cs typeface="DejaVu Sans"/>
              </a:rPr>
              <a:t>Las operaciones básicas son unión, concatenación y clausura de Kleene. Unión admite alternativas. Concatenación exige una secuencia. La estrella permite cero o más repeticiones. Los lenguajes regulares pueden reconocerse mediante autómatas finitos. Un autómata mantiene un estado que resume la parte relevante del prefijo leído.</a:t>
            </a:r>
          </a:p>
        </p:txBody>
      </p:sp>
      <p:sp>
        <p:nvSpPr>
          <p:cNvPr id="8" name="">
            <a:extLst xmlns:a="http://schemas.openxmlformats.org/drawingml/2006/main">
              <a:ext uri="{FF2B5EF4-FFF2-40B4-BE49-F238E27FC236}">
                <a16:creationId xmlns:a16="http://schemas.microsoft.com/office/drawing/2014/main" id="{762C480A-1EF5-45E3-8134-5D16EE0F39AD}"/>
              </a:ext>
            </a:extLst>
          </p:cNvPr>
          <p:cNvSpPr>
            <a:spLocks xmlns:a="http://schemas.openxmlformats.org/drawingml/2006/main" noGrp="1"/>
          </p:cNvSpPr>
          <p:nvPr/>
        </p:nvSpPr>
        <p:spPr>
          <a:xfrm xmlns:a="http://schemas.openxmlformats.org/drawingml/2006/main">
            <a:off x="723900" y="4714875"/>
            <a:ext cx="47625" cy="9715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C480660-F78C-467D-BDE7-47A3EBA0FEE7}"/>
              </a:ext>
            </a:extLst>
          </p:cNvPr>
          <p:cNvSpPr>
            <a:spLocks xmlns:a="http://schemas.openxmlformats.org/drawingml/2006/main" noGrp="1"/>
          </p:cNvSpPr>
          <p:nvPr/>
        </p:nvSpPr>
        <p:spPr>
          <a:xfrm xmlns:a="http://schemas.openxmlformats.org/drawingml/2006/main">
            <a:off x="971550" y="4648200"/>
            <a:ext cx="102679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7508E"/>
                </a:solidFill>
                <a:latin typeface="DejaVu Sans"/>
                <a:ea typeface="DejaVu Sans"/>
                <a:cs typeface="DejaVu Sans"/>
              </a:defRPr>
            </a:pPr>
            <a:r>
              <a:rPr sz="1725" b="0">
                <a:solidFill>
                  <a:srgbClr val="07508E"/>
                </a:solidFill>
                <a:latin typeface="DejaVu Sans"/>
                <a:ea typeface="DejaVu Sans"/>
                <a:cs typeface="DejaVu Sans"/>
              </a:rPr>
              <a:t>Para S y dos dígitos, q0 espera S, q1 espera el primer dígito, q2 el segundo y q3 acepta únicamente si terminó la entrada. Una transición inválida rechaza.</a:t>
            </a:r>
          </a:p>
        </p:txBody>
      </p:sp>
    </p:spTree>
    <p:extLst>
      <p:ext uri="{BB962C8B-B14F-4D97-AF65-F5344CB8AC3E}">
        <p14:creationId xmlns:p14="http://schemas.microsoft.com/office/powerpoint/2010/main" val="128888470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A496E0A-9D57-4DE5-B076-7E412F4CDA7A}"/>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B659123-BC7D-434A-B6B7-6CD609835C09}"/>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Expresiones formales y motor de Java</a:t>
            </a:r>
          </a:p>
        </p:txBody>
      </p:sp>
      <p:sp>
        <p:nvSpPr>
          <p:cNvPr id="3" name="">
            <a:extLst xmlns:a="http://schemas.openxmlformats.org/drawingml/2006/main">
              <a:ext uri="{FF2B5EF4-FFF2-40B4-BE49-F238E27FC236}">
                <a16:creationId xmlns:a16="http://schemas.microsoft.com/office/drawing/2014/main" id="{113046FA-0A0A-400C-B374-65F262C511B5}"/>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B5B58F7-8D45-4252-9F13-4825201DA77A}"/>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2.1</a:t>
            </a:r>
          </a:p>
        </p:txBody>
      </p:sp>
      <p:sp>
        <p:nvSpPr>
          <p:cNvPr id="5" name="">
            <a:extLst xmlns:a="http://schemas.openxmlformats.org/drawingml/2006/main">
              <a:ext uri="{FF2B5EF4-FFF2-40B4-BE49-F238E27FC236}">
                <a16:creationId xmlns:a16="http://schemas.microsoft.com/office/drawing/2014/main" id="{7D2F32AD-6621-4C74-BC44-E478360A43D7}"/>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6</a:t>
            </a:r>
          </a:p>
        </p:txBody>
      </p:sp>
      <p:sp>
        <p:nvSpPr>
          <p:cNvPr id="6" name="">
            <a:extLst xmlns:a="http://schemas.openxmlformats.org/drawingml/2006/main">
              <a:ext uri="{FF2B5EF4-FFF2-40B4-BE49-F238E27FC236}">
                <a16:creationId xmlns:a16="http://schemas.microsoft.com/office/drawing/2014/main" id="{524CC584-FC59-4744-8EEC-599CE5E33B71}"/>
              </a:ext>
            </a:extLst>
          </p:cNvPr>
          <p:cNvSpPr>
            <a:spLocks xmlns:a="http://schemas.openxmlformats.org/drawingml/2006/main" noGrp="1"/>
          </p:cNvSpPr>
          <p:nvPr/>
        </p:nvSpPr>
        <p:spPr>
          <a:xfrm xmlns:a="http://schemas.openxmlformats.org/drawingml/2006/main">
            <a:off x="723900" y="16954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3772"/>
                </a:solidFill>
                <a:latin typeface="DejaVu Sans"/>
                <a:ea typeface="DejaVu Sans"/>
                <a:cs typeface="DejaVu Sans"/>
              </a:defRPr>
            </a:pPr>
            <a:r>
              <a:rPr sz="2400" b="1">
                <a:solidFill>
                  <a:srgbClr val="003772"/>
                </a:solidFill>
                <a:latin typeface="DejaVu Sans"/>
                <a:ea typeface="DejaVu Sans"/>
                <a:cs typeface="DejaVu Sans"/>
              </a:rPr>
              <a:t>El motor Java incluye extensiones al formalismo regular.</a:t>
            </a:r>
          </a:p>
        </p:txBody>
      </p:sp>
      <p:sp>
        <p:nvSpPr>
          <p:cNvPr id="7" name="">
            <a:extLst xmlns:a="http://schemas.openxmlformats.org/drawingml/2006/main">
              <a:ext uri="{FF2B5EF4-FFF2-40B4-BE49-F238E27FC236}">
                <a16:creationId xmlns:a16="http://schemas.microsoft.com/office/drawing/2014/main" id="{66A5C439-B04B-49BB-B861-74BE22BBC1AF}"/>
              </a:ext>
            </a:extLst>
          </p:cNvPr>
          <p:cNvSpPr>
            <a:spLocks xmlns:a="http://schemas.openxmlformats.org/drawingml/2006/main" noGrp="1"/>
          </p:cNvSpPr>
          <p:nvPr/>
        </p:nvSpPr>
        <p:spPr>
          <a:xfrm xmlns:a="http://schemas.openxmlformats.org/drawingml/2006/main">
            <a:off x="723900" y="2857500"/>
            <a:ext cx="10477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403F3B"/>
                </a:solidFill>
                <a:latin typeface="DejaVu Sans"/>
                <a:ea typeface="DejaVu Sans"/>
                <a:cs typeface="DejaVu Sans"/>
              </a:defRPr>
            </a:pPr>
            <a:r>
              <a:rPr sz="2025" b="0">
                <a:solidFill>
                  <a:srgbClr val="403F3B"/>
                </a:solidFill>
                <a:latin typeface="DejaVu Sans"/>
                <a:ea typeface="DejaVu Sans"/>
                <a:cs typeface="DejaVu Sans"/>
              </a:rPr>
              <a:t>La sintaxis de java.util.regex incorpora funciones adicionales a las expresiones regulares formales, como referencias a grupos previamente capturados. No todos los patrones admitidos por el motor describen lenguajes regulares en el sentido teórico. Por ejemplo, exigir la repetición exacta de una subcadena arbitraria puede necesitar memoria no acotada.</a:t>
            </a:r>
          </a:p>
        </p:txBody>
      </p:sp>
      <p:sp>
        <p:nvSpPr>
          <p:cNvPr id="8" name="">
            <a:extLst xmlns:a="http://schemas.openxmlformats.org/drawingml/2006/main">
              <a:ext uri="{FF2B5EF4-FFF2-40B4-BE49-F238E27FC236}">
                <a16:creationId xmlns:a16="http://schemas.microsoft.com/office/drawing/2014/main" id="{40EF9044-548D-4D7A-A36E-9A9F2A920D97}"/>
              </a:ext>
            </a:extLst>
          </p:cNvPr>
          <p:cNvSpPr>
            <a:spLocks xmlns:a="http://schemas.openxmlformats.org/drawingml/2006/main" noGrp="1"/>
          </p:cNvSpPr>
          <p:nvPr/>
        </p:nvSpPr>
        <p:spPr>
          <a:xfrm xmlns:a="http://schemas.openxmlformats.org/drawingml/2006/main">
            <a:off x="723900" y="4714875"/>
            <a:ext cx="47625" cy="9715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5930E2E-2C91-40FC-9303-C9669E168A0E}"/>
              </a:ext>
            </a:extLst>
          </p:cNvPr>
          <p:cNvSpPr>
            <a:spLocks xmlns:a="http://schemas.openxmlformats.org/drawingml/2006/main" noGrp="1"/>
          </p:cNvSpPr>
          <p:nvPr/>
        </p:nvSpPr>
        <p:spPr>
          <a:xfrm xmlns:a="http://schemas.openxmlformats.org/drawingml/2006/main">
            <a:off x="971550" y="4648200"/>
            <a:ext cx="102679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7508E"/>
                </a:solidFill>
                <a:latin typeface="DejaVu Sans"/>
                <a:ea typeface="DejaVu Sans"/>
                <a:cs typeface="DejaVu Sans"/>
              </a:defRPr>
            </a:pPr>
            <a:r>
              <a:rPr sz="1725" b="0">
                <a:solidFill>
                  <a:srgbClr val="07508E"/>
                </a:solidFill>
                <a:latin typeface="DejaVu Sans"/>
                <a:ea typeface="DejaVu Sans"/>
                <a:cs typeface="DejaVu Sans"/>
              </a:rPr>
              <a:t>Java utiliza un motor con retroceso. Una expresión ambigua puede explorar muchas alternativas antes de rechazar un texto. El hecho de que la sintaxis sea breve no garantiza buen rendimiento.</a:t>
            </a:r>
          </a:p>
        </p:txBody>
      </p:sp>
    </p:spTree>
    <p:extLst>
      <p:ext uri="{BB962C8B-B14F-4D97-AF65-F5344CB8AC3E}">
        <p14:creationId xmlns:p14="http://schemas.microsoft.com/office/powerpoint/2010/main" val="205705249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C1576C9-48F9-4258-80B4-B51F0DBDA576}"/>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081AEAA-2124-4BF9-AA15-5633E22DDEEC}"/>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Validación completa y pruebas negativas</a:t>
            </a:r>
          </a:p>
        </p:txBody>
      </p:sp>
      <p:sp>
        <p:nvSpPr>
          <p:cNvPr id="3" name="">
            <a:extLst xmlns:a="http://schemas.openxmlformats.org/drawingml/2006/main">
              <a:ext uri="{FF2B5EF4-FFF2-40B4-BE49-F238E27FC236}">
                <a16:creationId xmlns:a16="http://schemas.microsoft.com/office/drawing/2014/main" id="{16A4A8DA-CECD-4E28-9A15-B16CBA1CB1CB}"/>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E14F683-F375-4E87-94F2-1541AF04D40F}"/>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2.1</a:t>
            </a:r>
          </a:p>
        </p:txBody>
      </p:sp>
      <p:sp>
        <p:nvSpPr>
          <p:cNvPr id="5" name="">
            <a:extLst xmlns:a="http://schemas.openxmlformats.org/drawingml/2006/main">
              <a:ext uri="{FF2B5EF4-FFF2-40B4-BE49-F238E27FC236}">
                <a16:creationId xmlns:a16="http://schemas.microsoft.com/office/drawing/2014/main" id="{8F161DE3-C09A-4F1F-AA6B-BF2089C0386D}"/>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7</a:t>
            </a:r>
          </a:p>
        </p:txBody>
      </p:sp>
      <p:sp>
        <p:nvSpPr>
          <p:cNvPr id="6" name="">
            <a:extLst xmlns:a="http://schemas.openxmlformats.org/drawingml/2006/main">
              <a:ext uri="{FF2B5EF4-FFF2-40B4-BE49-F238E27FC236}">
                <a16:creationId xmlns:a16="http://schemas.microsoft.com/office/drawing/2014/main" id="{F6B89F50-2C7E-4B8E-A2FE-3710F2525434}"/>
              </a:ext>
            </a:extLst>
          </p:cNvPr>
          <p:cNvSpPr>
            <a:spLocks xmlns:a="http://schemas.openxmlformats.org/drawingml/2006/main" noGrp="1"/>
          </p:cNvSpPr>
          <p:nvPr/>
        </p:nvSpPr>
        <p:spPr>
          <a:xfrm xmlns:a="http://schemas.openxmlformats.org/drawingml/2006/main">
            <a:off x="723900" y="16954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3772"/>
                </a:solidFill>
                <a:latin typeface="DejaVu Sans"/>
                <a:ea typeface="DejaVu Sans"/>
                <a:cs typeface="DejaVu Sans"/>
              </a:defRPr>
            </a:pPr>
            <a:r>
              <a:rPr sz="2400" b="1">
                <a:solidFill>
                  <a:srgbClr val="003772"/>
                </a:solidFill>
                <a:latin typeface="DejaVu Sans"/>
                <a:ea typeface="DejaVu Sans"/>
                <a:cs typeface="DejaVu Sans"/>
              </a:rPr>
              <a:t>matches comprueba toda la entrada; el dominio valida su sentido.</a:t>
            </a:r>
          </a:p>
        </p:txBody>
      </p:sp>
      <p:sp>
        <p:nvSpPr>
          <p:cNvPr id="7" name="">
            <a:extLst xmlns:a="http://schemas.openxmlformats.org/drawingml/2006/main">
              <a:ext uri="{FF2B5EF4-FFF2-40B4-BE49-F238E27FC236}">
                <a16:creationId xmlns:a16="http://schemas.microsoft.com/office/drawing/2014/main" id="{45319A24-2AA9-4239-BA90-AC7255E43667}"/>
              </a:ext>
            </a:extLst>
          </p:cNvPr>
          <p:cNvSpPr>
            <a:spLocks xmlns:a="http://schemas.openxmlformats.org/drawingml/2006/main" noGrp="1"/>
          </p:cNvSpPr>
          <p:nvPr/>
        </p:nvSpPr>
        <p:spPr>
          <a:xfrm xmlns:a="http://schemas.openxmlformats.org/drawingml/2006/main">
            <a:off x="723900" y="2857500"/>
            <a:ext cx="10477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403F3B"/>
                </a:solidFill>
                <a:latin typeface="DejaVu Sans"/>
                <a:ea typeface="DejaVu Sans"/>
                <a:cs typeface="DejaVu Sans"/>
              </a:defRPr>
            </a:pPr>
            <a:r>
              <a:rPr sz="2025" b="0">
                <a:solidFill>
                  <a:srgbClr val="403F3B"/>
                </a:solidFill>
                <a:latin typeface="DejaVu Sans"/>
                <a:ea typeface="DejaVu Sans"/>
                <a:cs typeface="DejaVu Sans"/>
              </a:rPr>
              <a:t>Matcher.matches exige que toda la región de entrada coincida. Matcher.find busca una coincidencia dentro del texto. Para validar un identificador completo, matches expresa la intención. Usar find podría aceptar XXS01YY porque contiene una subcadena válida.</a:t>
            </a:r>
          </a:p>
        </p:txBody>
      </p:sp>
      <p:sp>
        <p:nvSpPr>
          <p:cNvPr id="8" name="">
            <a:extLst xmlns:a="http://schemas.openxmlformats.org/drawingml/2006/main">
              <a:ext uri="{FF2B5EF4-FFF2-40B4-BE49-F238E27FC236}">
                <a16:creationId xmlns:a16="http://schemas.microsoft.com/office/drawing/2014/main" id="{729C0E6B-F438-4399-B42F-CAC57FB7F314}"/>
              </a:ext>
            </a:extLst>
          </p:cNvPr>
          <p:cNvSpPr>
            <a:spLocks xmlns:a="http://schemas.openxmlformats.org/drawingml/2006/main" noGrp="1"/>
          </p:cNvSpPr>
          <p:nvPr/>
        </p:nvSpPr>
        <p:spPr>
          <a:xfrm xmlns:a="http://schemas.openxmlformats.org/drawingml/2006/main">
            <a:off x="723900" y="4714875"/>
            <a:ext cx="47625" cy="9715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7EE08B6-E8B1-4017-9BB1-01E58EADDC4B}"/>
              </a:ext>
            </a:extLst>
          </p:cNvPr>
          <p:cNvSpPr>
            <a:spLocks xmlns:a="http://schemas.openxmlformats.org/drawingml/2006/main" noGrp="1"/>
          </p:cNvSpPr>
          <p:nvPr/>
        </p:nvSpPr>
        <p:spPr>
          <a:xfrm xmlns:a="http://schemas.openxmlformats.org/drawingml/2006/main">
            <a:off x="971550" y="4648200"/>
            <a:ext cx="102679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7508E"/>
                </a:solidFill>
                <a:latin typeface="DejaVu Sans"/>
                <a:ea typeface="DejaVu Sans"/>
                <a:cs typeface="DejaVu Sans"/>
              </a:defRPr>
            </a:pPr>
            <a:r>
              <a:rPr sz="1725" b="0">
                <a:solidFill>
                  <a:srgbClr val="07508E"/>
                </a:solidFill>
                <a:latin typeface="DejaVu Sans"/>
                <a:ea typeface="DejaVu Sans"/>
                <a:cs typeface="DejaVu Sans"/>
              </a:rPr>
              <a:t>Las pruebas deben incluir longitudes cercanas al límite, símbolos de otro alfabeto, prefijos, sufijos y cadena vacía. [0-9] limita los dígitos a ASCII de forma explícita.</a:t>
            </a:r>
          </a:p>
        </p:txBody>
      </p:sp>
    </p:spTree>
    <p:extLst>
      <p:ext uri="{BB962C8B-B14F-4D97-AF65-F5344CB8AC3E}">
        <p14:creationId xmlns:p14="http://schemas.microsoft.com/office/powerpoint/2010/main" val="27257249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B9D5A01-4701-4654-AFFF-6F9CC02A83B5}"/>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2A4BCBD-DE1B-4060-A7A8-C40E6393611E}"/>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Demostración resuelta</a:t>
            </a:r>
          </a:p>
        </p:txBody>
      </p:sp>
      <p:sp>
        <p:nvSpPr>
          <p:cNvPr id="3" name="">
            <a:extLst xmlns:a="http://schemas.openxmlformats.org/drawingml/2006/main">
              <a:ext uri="{FF2B5EF4-FFF2-40B4-BE49-F238E27FC236}">
                <a16:creationId xmlns:a16="http://schemas.microsoft.com/office/drawing/2014/main" id="{4A2A835A-C90D-4F29-993A-1417D1325D87}"/>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165A93A-9F78-4467-957A-419FE594FA90}"/>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2.1</a:t>
            </a:r>
          </a:p>
        </p:txBody>
      </p:sp>
      <p:sp>
        <p:nvSpPr>
          <p:cNvPr id="5" name="">
            <a:extLst xmlns:a="http://schemas.openxmlformats.org/drawingml/2006/main">
              <a:ext uri="{FF2B5EF4-FFF2-40B4-BE49-F238E27FC236}">
                <a16:creationId xmlns:a16="http://schemas.microsoft.com/office/drawing/2014/main" id="{D185C760-56D3-4084-8528-E096901A2CE7}"/>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8</a:t>
            </a:r>
          </a:p>
        </p:txBody>
      </p:sp>
      <p:sp>
        <p:nvSpPr>
          <p:cNvPr id="6" name="">
            <a:extLst xmlns:a="http://schemas.openxmlformats.org/drawingml/2006/main">
              <a:ext uri="{FF2B5EF4-FFF2-40B4-BE49-F238E27FC236}">
                <a16:creationId xmlns:a16="http://schemas.microsoft.com/office/drawing/2014/main" id="{1903BF4E-34A9-442C-A240-F6818980D516}"/>
              </a:ext>
            </a:extLst>
          </p:cNvPr>
          <p:cNvSpPr>
            <a:spLocks xmlns:a="http://schemas.openxmlformats.org/drawingml/2006/main" noGrp="1"/>
          </p:cNvSpPr>
          <p:nvPr/>
        </p:nvSpPr>
        <p:spPr>
          <a:xfrm xmlns:a="http://schemas.openxmlformats.org/drawingml/2006/main">
            <a:off x="628650" y="1590675"/>
            <a:ext cx="10953750" cy="3714750"/>
          </a:xfrm>
          <a:prstGeom xmlns:a="http://schemas.openxmlformats.org/drawingml/2006/main" prst="rect">
            <a:avLst/>
          </a:prstGeom>
          <a:solidFill xmlns:a="http://schemas.openxmlformats.org/drawingml/2006/main">
            <a:srgbClr val="F3F3F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B91EFF6-B14D-429E-A6A7-78BEE82A85A1}"/>
              </a:ext>
            </a:extLst>
          </p:cNvPr>
          <p:cNvSpPr>
            <a:spLocks xmlns:a="http://schemas.openxmlformats.org/drawingml/2006/main" noGrp="1"/>
          </p:cNvSpPr>
          <p:nvPr/>
        </p:nvSpPr>
        <p:spPr>
          <a:xfrm xmlns:a="http://schemas.openxmlformats.org/drawingml/2006/main">
            <a:off x="857250" y="1743075"/>
            <a:ext cx="10477500" cy="3381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static boolean automata(String texto) {</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int estado = 0;</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for (char c : texto.toCharArray()) {</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if (estado == 0 &amp;&amp; c == 'S') estado = 1;</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else if ((estado == 1 || estado == 2) &amp;&amp; c &gt;= '0' &amp;&amp; c &lt;= '9') estado++;</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else return false;</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return estado == 3;</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public static void main(String[] args) {</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Pattern patron = Pattern.compile("S[0-9]{2}");</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for (String s : new String[]{"S01","S9","XS01","S001","S99",""}) {</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boolean manual = automata(s), regex = patron.matcher(s).matches();</a:t>
            </a:r>
          </a:p>
        </p:txBody>
      </p:sp>
      <p:sp>
        <p:nvSpPr>
          <p:cNvPr id="8" name="">
            <a:extLst xmlns:a="http://schemas.openxmlformats.org/drawingml/2006/main">
              <a:ext uri="{FF2B5EF4-FFF2-40B4-BE49-F238E27FC236}">
                <a16:creationId xmlns:a16="http://schemas.microsoft.com/office/drawing/2014/main" id="{F7848E41-5B8E-490A-BBE3-196249F0E188}"/>
              </a:ext>
            </a:extLst>
          </p:cNvPr>
          <p:cNvSpPr>
            <a:spLocks xmlns:a="http://schemas.openxmlformats.org/drawingml/2006/main" noGrp="1"/>
          </p:cNvSpPr>
          <p:nvPr/>
        </p:nvSpPr>
        <p:spPr>
          <a:xfrm xmlns:a="http://schemas.openxmlformats.org/drawingml/2006/main">
            <a:off x="685800" y="558165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5C5B5F"/>
                </a:solidFill>
                <a:latin typeface="DejaVu Sans"/>
                <a:ea typeface="DejaVu Sans"/>
                <a:cs typeface="DejaVu Sans"/>
              </a:defRPr>
            </a:pPr>
            <a:r>
              <a:rPr sz="1425" b="0">
                <a:solidFill>
                  <a:srgbClr val="5C5B5F"/>
                </a:solidFill>
                <a:latin typeface="DejaVu Sans"/>
                <a:ea typeface="DejaVu Sans"/>
                <a:cs typeface="DejaVu Sans"/>
              </a:rPr>
              <a:t>Fragmento de LenguajeDemo.java. Código completo y ejecución en material.md.</a:t>
            </a:r>
          </a:p>
        </p:txBody>
      </p:sp>
    </p:spTree>
    <p:extLst>
      <p:ext uri="{BB962C8B-B14F-4D97-AF65-F5344CB8AC3E}">
        <p14:creationId xmlns:p14="http://schemas.microsoft.com/office/powerpoint/2010/main" val="183159067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DCD7436-66CA-41BB-BF99-6E8934F08F90}"/>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C53CDEB-9AB5-40C9-AAA8-508D04AE65B0}"/>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Casos de aceptación de la PC</a:t>
            </a:r>
          </a:p>
        </p:txBody>
      </p:sp>
      <p:sp>
        <p:nvSpPr>
          <p:cNvPr id="3" name="">
            <a:extLst xmlns:a="http://schemas.openxmlformats.org/drawingml/2006/main">
              <a:ext uri="{FF2B5EF4-FFF2-40B4-BE49-F238E27FC236}">
                <a16:creationId xmlns:a16="http://schemas.microsoft.com/office/drawing/2014/main" id="{DD077BBC-2A89-4FCA-8E71-BD96D7484648}"/>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AE2FD67-020B-4D11-A726-5F3F3AE63255}"/>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2.1</a:t>
            </a:r>
          </a:p>
        </p:txBody>
      </p:sp>
      <p:sp>
        <p:nvSpPr>
          <p:cNvPr id="5" name="">
            <a:extLst xmlns:a="http://schemas.openxmlformats.org/drawingml/2006/main">
              <a:ext uri="{FF2B5EF4-FFF2-40B4-BE49-F238E27FC236}">
                <a16:creationId xmlns:a16="http://schemas.microsoft.com/office/drawing/2014/main" id="{7F3D9D03-2D30-4A1D-A8A5-42A1BF19ED5A}"/>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9</a:t>
            </a:r>
          </a:p>
        </p:txBody>
      </p:sp>
      <p:graphicFrame>
        <p:nvGraphicFramePr>
          <p:cNvPr id="13" name=""/>
          <p:cNvGraphicFramePr/>
          <p:nvPr/>
        </p:nvGraphicFramePr>
        <p:xfrm>
          <a:off xmlns:a="http://schemas.openxmlformats.org/drawingml/2006/main" x="609600" y="1638300"/>
          <a:ext xmlns:a="http://schemas.openxmlformats.org/drawingml/2006/main" cx="10972800" cy="3143250"/>
        </p:xfrm>
        <a:graphic xmlns:a="http://schemas.openxmlformats.org/drawingml/2006/main">
          <a:graphicData uri="http://schemas.openxmlformats.org/drawingml/2006/table">
            <a:tbl>
              <a:tblPr/>
              <a:tblGrid>
                <a:gridCol w="4191000"/>
                <a:gridCol w="6629400"/>
              </a:tblGrid>
              <a:tr h="785813">
                <a:tc>
                  <a:txBody>
                    <a:bodyPr/>
                    <a:lstStyle/>
                    <a:p>
                      <a:r>
                        <a:rPr sz="1725" b="1">
                          <a:solidFill>
                            <a:srgbClr val="FFFFFF"/>
                          </a:solidFill>
                          <a:latin typeface="DejaVu Sans"/>
                          <a:ea typeface="DejaVu Sans"/>
                          <a:cs typeface="DejaVu Sans"/>
                        </a:rPr>
                        <a:t>Caso</a:t>
                      </a:r>
                    </a:p>
                  </a:txBody>
                  <a:tcPr marL="152400" marR="152400" marT="133350" marB="114300" anchor="ctr">
                    <a:solidFill>
                      <a:srgbClr val="003772"/>
                    </a:solidFill>
                  </a:tcPr>
                </a:tc>
                <a:tc>
                  <a:txBody>
                    <a:bodyPr/>
                    <a:lstStyle/>
                    <a:p>
                      <a:r>
                        <a:rPr sz="1725" b="1">
                          <a:solidFill>
                            <a:srgbClr val="FFFFFF"/>
                          </a:solidFill>
                          <a:latin typeface="DejaVu Sans"/>
                          <a:ea typeface="DejaVu Sans"/>
                          <a:cs typeface="DejaVu Sans"/>
                        </a:rPr>
                        <a:t>Comportamiento requerido</a:t>
                      </a:r>
                    </a:p>
                  </a:txBody>
                  <a:tcPr marL="152400" marR="152400" marT="133350" marB="114300" anchor="ctr">
                    <a:solidFill>
                      <a:srgbClr val="003772"/>
                    </a:solidFill>
                  </a:tcPr>
                </a:tc>
              </a:tr>
              <a:tr h="785813">
                <a:tc>
                  <a:txBody>
                    <a:bodyPr/>
                    <a:lstStyle/>
                    <a:p>
                      <a:r>
                        <a:rPr sz="1725" b="0">
                          <a:solidFill>
                            <a:srgbClr val="403F3B"/>
                          </a:solidFill>
                          <a:latin typeface="DejaVu Sans"/>
                          <a:ea typeface="DejaVu Sans"/>
                          <a:cs typeface="DejaVu Sans"/>
                        </a:rPr>
                        <a:t>T001 y O999</a:t>
                      </a:r>
                    </a:p>
                  </a:txBody>
                  <a:tcPr marL="152400" marR="152400" marT="133350" marB="114300" anchor="ctr">
                    <a:solidFill>
                      <a:srgbClr val="F3F3FA"/>
                    </a:solidFill>
                  </a:tcPr>
                </a:tc>
                <a:tc>
                  <a:txBody>
                    <a:bodyPr/>
                    <a:lstStyle/>
                    <a:p>
                      <a:r>
                        <a:rPr sz="1725" b="0">
                          <a:solidFill>
                            <a:srgbClr val="403F3B"/>
                          </a:solidFill>
                          <a:latin typeface="DejaVu Sans"/>
                          <a:ea typeface="DejaVu Sans"/>
                          <a:cs typeface="DejaVu Sans"/>
                        </a:rPr>
                        <a:t>Aceptados</a:t>
                      </a:r>
                    </a:p>
                  </a:txBody>
                  <a:tcPr marL="152400" marR="152400" marT="133350" marB="114300" anchor="ctr">
                    <a:solidFill>
                      <a:srgbClr val="F3F3FA"/>
                    </a:solidFill>
                  </a:tcPr>
                </a:tc>
              </a:tr>
              <a:tr h="785813">
                <a:tc>
                  <a:txBody>
                    <a:bodyPr/>
                    <a:lstStyle/>
                    <a:p>
                      <a:r>
                        <a:rPr sz="1725" b="0">
                          <a:solidFill>
                            <a:srgbClr val="403F3B"/>
                          </a:solidFill>
                          <a:latin typeface="DejaVu Sans"/>
                          <a:ea typeface="DejaVu Sans"/>
                          <a:cs typeface="DejaVu Sans"/>
                        </a:rPr>
                        <a:t>T01, A001, XT001</a:t>
                      </a:r>
                    </a:p>
                  </a:txBody>
                  <a:tcPr marL="152400" marR="152400" marT="133350" marB="114300" anchor="ctr">
                    <a:solidFill>
                      <a:srgbClr val="FFFFFF"/>
                    </a:solidFill>
                  </a:tcPr>
                </a:tc>
                <a:tc>
                  <a:txBody>
                    <a:bodyPr/>
                    <a:lstStyle/>
                    <a:p>
                      <a:r>
                        <a:rPr sz="1725" b="0">
                          <a:solidFill>
                            <a:srgbClr val="403F3B"/>
                          </a:solidFill>
                          <a:latin typeface="DejaVu Sans"/>
                          <a:ea typeface="DejaVu Sans"/>
                          <a:cs typeface="DejaVu Sans"/>
                        </a:rPr>
                        <a:t>Rechazados</a:t>
                      </a:r>
                    </a:p>
                  </a:txBody>
                  <a:tcPr marL="152400" marR="152400" marT="133350" marB="114300" anchor="ctr">
                    <a:solidFill>
                      <a:srgbClr val="FFFFFF"/>
                    </a:solidFill>
                  </a:tcPr>
                </a:tc>
              </a:tr>
              <a:tr h="785813">
                <a:tc>
                  <a:txBody>
                    <a:bodyPr/>
                    <a:lstStyle/>
                    <a:p>
                      <a:r>
                        <a:rPr sz="1725" b="0">
                          <a:solidFill>
                            <a:srgbClr val="403F3B"/>
                          </a:solidFill>
                          <a:latin typeface="DejaVu Sans"/>
                          <a:ea typeface="DejaVu Sans"/>
                          <a:cs typeface="DejaVu Sans"/>
                        </a:rPr>
                        <a:t>T001 en catálogo vacío</a:t>
                      </a:r>
                    </a:p>
                  </a:txBody>
                  <a:tcPr marL="152400" marR="152400" marT="133350" marB="114300" anchor="ctr">
                    <a:solidFill>
                      <a:srgbClr val="F3F3FA"/>
                    </a:solidFill>
                  </a:tcPr>
                </a:tc>
                <a:tc>
                  <a:txBody>
                    <a:bodyPr/>
                    <a:lstStyle/>
                    <a:p>
                      <a:r>
                        <a:rPr sz="1725" b="0">
                          <a:solidFill>
                            <a:srgbClr val="403F3B"/>
                          </a:solidFill>
                          <a:latin typeface="DejaVu Sans"/>
                          <a:ea typeface="DejaVu Sans"/>
                          <a:cs typeface="DejaVu Sans"/>
                        </a:rPr>
                        <a:t>Formato válido, entidad ausente</a:t>
                      </a:r>
                    </a:p>
                  </a:txBody>
                  <a:tcPr marL="152400" marR="152400" marT="133350" marB="114300" anchor="ctr">
                    <a:solidFill>
                      <a:srgbClr val="F3F3FA"/>
                    </a:solidFill>
                  </a:tcPr>
                </a:tc>
              </a:tr>
            </a:tbl>
          </a:graphicData>
        </a:graphic>
      </p:graphicFrame>
      <p:sp>
        <p:nvSpPr>
          <p:cNvPr id="7" name="">
            <a:extLst xmlns:a="http://schemas.openxmlformats.org/drawingml/2006/main">
              <a:ext uri="{FF2B5EF4-FFF2-40B4-BE49-F238E27FC236}">
                <a16:creationId xmlns:a16="http://schemas.microsoft.com/office/drawing/2014/main" id="{2321EC4C-434F-4ADE-A1A3-8B774EE39B75}"/>
              </a:ext>
            </a:extLst>
          </p:cNvPr>
          <p:cNvSpPr>
            <a:spLocks xmlns:a="http://schemas.openxmlformats.org/drawingml/2006/main" noGrp="1"/>
          </p:cNvSpPr>
          <p:nvPr/>
        </p:nvSpPr>
        <p:spPr>
          <a:xfrm xmlns:a="http://schemas.openxmlformats.org/drawingml/2006/main">
            <a:off x="742950" y="52387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07508E"/>
                </a:solidFill>
                <a:latin typeface="DejaVu Sans"/>
                <a:ea typeface="DejaVu Sans"/>
                <a:cs typeface="DejaVu Sans"/>
              </a:defRPr>
            </a:pPr>
            <a:r>
              <a:rPr sz="1575" b="0">
                <a:solidFill>
                  <a:srgbClr val="07508E"/>
                </a:solidFill>
                <a:latin typeface="DejaVu Sans"/>
                <a:ea typeface="DejaVu Sans"/>
                <a:cs typeface="DejaVu Sans"/>
              </a:rPr>
              <a:t>Salida de la demostración: 'S01' -&gt; true · 'S9' -&gt; false · 'XS01' -&gt; false · 'S001' -&gt; false · 'S99' -&gt; true · '' -&gt; false</a:t>
            </a:r>
          </a:p>
        </p:txBody>
      </p:sp>
    </p:spTree>
    <p:extLst>
      <p:ext uri="{BB962C8B-B14F-4D97-AF65-F5344CB8AC3E}">
        <p14:creationId xmlns:p14="http://schemas.microsoft.com/office/powerpoint/2010/main" val="106755238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9CA2717-B400-424B-9D67-8F32A6162B57}"/>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0F5D2CB-35B3-44B7-A3F9-00B595AA055C}"/>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PC2.1 · Ampliación del proyecto</a:t>
            </a:r>
          </a:p>
        </p:txBody>
      </p:sp>
      <p:sp>
        <p:nvSpPr>
          <p:cNvPr id="3" name="">
            <a:extLst xmlns:a="http://schemas.openxmlformats.org/drawingml/2006/main">
              <a:ext uri="{FF2B5EF4-FFF2-40B4-BE49-F238E27FC236}">
                <a16:creationId xmlns:a16="http://schemas.microsoft.com/office/drawing/2014/main" id="{1C42CF27-8B61-4C0F-B450-CD7867C68544}"/>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8B3EC6F-B1E0-4174-9C3E-B5A8B2067131}"/>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2.1</a:t>
            </a:r>
          </a:p>
        </p:txBody>
      </p:sp>
      <p:sp>
        <p:nvSpPr>
          <p:cNvPr id="5" name="">
            <a:extLst xmlns:a="http://schemas.openxmlformats.org/drawingml/2006/main">
              <a:ext uri="{FF2B5EF4-FFF2-40B4-BE49-F238E27FC236}">
                <a16:creationId xmlns:a16="http://schemas.microsoft.com/office/drawing/2014/main" id="{D0C28DD4-C019-4423-A835-A7541BC83BAA}"/>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10</a:t>
            </a:r>
          </a:p>
        </p:txBody>
      </p:sp>
      <p:sp>
        <p:nvSpPr>
          <p:cNvPr id="6" name="">
            <a:extLst xmlns:a="http://schemas.openxmlformats.org/drawingml/2006/main">
              <a:ext uri="{FF2B5EF4-FFF2-40B4-BE49-F238E27FC236}">
                <a16:creationId xmlns:a16="http://schemas.microsoft.com/office/drawing/2014/main" id="{5D479445-D392-4694-A075-0CA54B8C5244}"/>
              </a:ext>
            </a:extLst>
          </p:cNvPr>
          <p:cNvSpPr>
            <a:spLocks xmlns:a="http://schemas.openxmlformats.org/drawingml/2006/main" noGrp="1"/>
          </p:cNvSpPr>
          <p:nvPr/>
        </p:nvSpPr>
        <p:spPr>
          <a:xfrm xmlns:a="http://schemas.openxmlformats.org/drawingml/2006/main">
            <a:off x="685800" y="1600200"/>
            <a:ext cx="42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0065B0"/>
                </a:solidFill>
                <a:latin typeface="DejaVu Sans"/>
                <a:ea typeface="DejaVu Sans"/>
                <a:cs typeface="DejaVu Sans"/>
              </a:defRPr>
            </a:pPr>
            <a:r>
              <a:rPr sz="2025" b="1">
                <a:solidFill>
                  <a:srgbClr val="0065B0"/>
                </a:solidFill>
                <a:latin typeface="DejaVu Sans"/>
                <a:ea typeface="DejaVu Sans"/>
                <a:cs typeface="DejaVu Sans"/>
              </a:rPr>
              <a:t>1</a:t>
            </a:r>
          </a:p>
        </p:txBody>
      </p:sp>
      <p:sp>
        <p:nvSpPr>
          <p:cNvPr id="7" name="">
            <a:extLst xmlns:a="http://schemas.openxmlformats.org/drawingml/2006/main">
              <a:ext uri="{FF2B5EF4-FFF2-40B4-BE49-F238E27FC236}">
                <a16:creationId xmlns:a16="http://schemas.microsoft.com/office/drawing/2014/main" id="{5C6D7545-A7F9-4B3A-BA96-E70D85D367B3}"/>
              </a:ext>
            </a:extLst>
          </p:cNvPr>
          <p:cNvSpPr>
            <a:spLocks xmlns:a="http://schemas.openxmlformats.org/drawingml/2006/main" noGrp="1"/>
          </p:cNvSpPr>
          <p:nvPr/>
        </p:nvSpPr>
        <p:spPr>
          <a:xfrm xmlns:a="http://schemas.openxmlformats.org/drawingml/2006/main">
            <a:off x="1219200" y="1562100"/>
            <a:ext cx="101536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403F3B"/>
                </a:solidFill>
                <a:latin typeface="DejaVu Sans"/>
                <a:ea typeface="DejaVu Sans"/>
                <a:cs typeface="DejaVu Sans"/>
              </a:defRPr>
            </a:pPr>
            <a:r>
              <a:rPr sz="1950" b="0">
                <a:solidFill>
                  <a:srgbClr val="403F3B"/>
                </a:solidFill>
                <a:latin typeface="DejaVu Sans"/>
                <a:ea typeface="DejaVu Sans"/>
                <a:cs typeface="DejaVu Sans"/>
              </a:rPr>
              <a:t>Especifica el lenguaje de identificadores de CampusMonitor: una letra T u O seguida de tres dígitos ASCII.</a:t>
            </a:r>
          </a:p>
        </p:txBody>
      </p:sp>
      <p:sp>
        <p:nvSpPr>
          <p:cNvPr id="8" name="">
            <a:extLst xmlns:a="http://schemas.openxmlformats.org/drawingml/2006/main">
              <a:ext uri="{FF2B5EF4-FFF2-40B4-BE49-F238E27FC236}">
                <a16:creationId xmlns:a16="http://schemas.microsoft.com/office/drawing/2014/main" id="{0371C629-766C-4EDD-A3A5-EEFD8E0B8B65}"/>
              </a:ext>
            </a:extLst>
          </p:cNvPr>
          <p:cNvSpPr>
            <a:spLocks xmlns:a="http://schemas.openxmlformats.org/drawingml/2006/main" noGrp="1"/>
          </p:cNvSpPr>
          <p:nvPr/>
        </p:nvSpPr>
        <p:spPr>
          <a:xfrm xmlns:a="http://schemas.openxmlformats.org/drawingml/2006/main">
            <a:off x="685800" y="2962275"/>
            <a:ext cx="42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0065B0"/>
                </a:solidFill>
                <a:latin typeface="DejaVu Sans"/>
                <a:ea typeface="DejaVu Sans"/>
                <a:cs typeface="DejaVu Sans"/>
              </a:defRPr>
            </a:pPr>
            <a:r>
              <a:rPr sz="2025" b="1">
                <a:solidFill>
                  <a:srgbClr val="0065B0"/>
                </a:solidFill>
                <a:latin typeface="DejaVu Sans"/>
                <a:ea typeface="DejaVu Sans"/>
                <a:cs typeface="DejaVu Sans"/>
              </a:rPr>
              <a:t>2</a:t>
            </a:r>
          </a:p>
        </p:txBody>
      </p:sp>
      <p:sp>
        <p:nvSpPr>
          <p:cNvPr id="9" name="">
            <a:extLst xmlns:a="http://schemas.openxmlformats.org/drawingml/2006/main">
              <a:ext uri="{FF2B5EF4-FFF2-40B4-BE49-F238E27FC236}">
                <a16:creationId xmlns:a16="http://schemas.microsoft.com/office/drawing/2014/main" id="{DB312742-5477-4C5C-B87C-42821FB0A735}"/>
              </a:ext>
            </a:extLst>
          </p:cNvPr>
          <p:cNvSpPr>
            <a:spLocks xmlns:a="http://schemas.openxmlformats.org/drawingml/2006/main" noGrp="1"/>
          </p:cNvSpPr>
          <p:nvPr/>
        </p:nvSpPr>
        <p:spPr>
          <a:xfrm xmlns:a="http://schemas.openxmlformats.org/drawingml/2006/main">
            <a:off x="1219200" y="2924175"/>
            <a:ext cx="101536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403F3B"/>
                </a:solidFill>
                <a:latin typeface="DejaVu Sans"/>
                <a:ea typeface="DejaVu Sans"/>
                <a:cs typeface="DejaVu Sans"/>
              </a:defRPr>
            </a:pPr>
            <a:r>
              <a:rPr sz="1950" b="0">
                <a:solidFill>
                  <a:srgbClr val="403F3B"/>
                </a:solidFill>
                <a:latin typeface="DejaVu Sans"/>
                <a:ea typeface="DejaVu Sans"/>
                <a:cs typeface="DejaVu Sans"/>
              </a:rPr>
              <a:t>Implementa un reconocedor por estados y otro con Pattern. Integra la validación antes de registrar sensores.</a:t>
            </a:r>
          </a:p>
        </p:txBody>
      </p:sp>
      <p:sp>
        <p:nvSpPr>
          <p:cNvPr id="10" name="">
            <a:extLst xmlns:a="http://schemas.openxmlformats.org/drawingml/2006/main">
              <a:ext uri="{FF2B5EF4-FFF2-40B4-BE49-F238E27FC236}">
                <a16:creationId xmlns:a16="http://schemas.microsoft.com/office/drawing/2014/main" id="{E0A9663B-C1DF-4257-8D20-A06B903B3F6D}"/>
              </a:ext>
            </a:extLst>
          </p:cNvPr>
          <p:cNvSpPr>
            <a:spLocks xmlns:a="http://schemas.openxmlformats.org/drawingml/2006/main" noGrp="1"/>
          </p:cNvSpPr>
          <p:nvPr/>
        </p:nvSpPr>
        <p:spPr>
          <a:xfrm xmlns:a="http://schemas.openxmlformats.org/drawingml/2006/main">
            <a:off x="685800" y="4324350"/>
            <a:ext cx="42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0065B0"/>
                </a:solidFill>
                <a:latin typeface="DejaVu Sans"/>
                <a:ea typeface="DejaVu Sans"/>
                <a:cs typeface="DejaVu Sans"/>
              </a:defRPr>
            </a:pPr>
            <a:r>
              <a:rPr sz="2025" b="1">
                <a:solidFill>
                  <a:srgbClr val="0065B0"/>
                </a:solidFill>
                <a:latin typeface="DejaVu Sans"/>
                <a:ea typeface="DejaVu Sans"/>
                <a:cs typeface="DejaVu Sans"/>
              </a:rPr>
              <a:t>3</a:t>
            </a:r>
          </a:p>
        </p:txBody>
      </p:sp>
      <p:sp>
        <p:nvSpPr>
          <p:cNvPr id="11" name="">
            <a:extLst xmlns:a="http://schemas.openxmlformats.org/drawingml/2006/main">
              <a:ext uri="{FF2B5EF4-FFF2-40B4-BE49-F238E27FC236}">
                <a16:creationId xmlns:a16="http://schemas.microsoft.com/office/drawing/2014/main" id="{BB8876A1-6D84-4D64-9088-9D947644CD89}"/>
              </a:ext>
            </a:extLst>
          </p:cNvPr>
          <p:cNvSpPr>
            <a:spLocks xmlns:a="http://schemas.openxmlformats.org/drawingml/2006/main" noGrp="1"/>
          </p:cNvSpPr>
          <p:nvPr/>
        </p:nvSpPr>
        <p:spPr>
          <a:xfrm xmlns:a="http://schemas.openxmlformats.org/drawingml/2006/main">
            <a:off x="1219200" y="4286250"/>
            <a:ext cx="101536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403F3B"/>
                </a:solidFill>
                <a:latin typeface="DejaVu Sans"/>
                <a:ea typeface="DejaVu Sans"/>
                <a:cs typeface="DejaVu Sans"/>
              </a:defRPr>
            </a:pPr>
            <a:r>
              <a:rPr sz="1950" b="0">
                <a:solidFill>
                  <a:srgbClr val="403F3B"/>
                </a:solidFill>
                <a:latin typeface="DejaVu Sans"/>
                <a:ea typeface="DejaVu Sans"/>
                <a:cs typeface="DejaVu Sans"/>
              </a:rPr>
              <a:t>Prueba al menos ocho cadenas que cubran aceptación, rechazo y límites. Explica por qué un ID válido puede no existir en el catálogo.</a:t>
            </a:r>
          </a:p>
        </p:txBody>
      </p:sp>
    </p:spTree>
    <p:extLst>
      <p:ext uri="{BB962C8B-B14F-4D97-AF65-F5344CB8AC3E}">
        <p14:creationId xmlns:p14="http://schemas.microsoft.com/office/powerpoint/2010/main" val="117580420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3762905-A7B4-43DD-9F73-BA9B38AAEC3C}"/>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506C7DF-A665-47E1-894E-2D4EDC492567}"/>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Lo esencial de hoy</a:t>
            </a:r>
          </a:p>
        </p:txBody>
      </p:sp>
      <p:sp>
        <p:nvSpPr>
          <p:cNvPr id="3" name="">
            <a:extLst xmlns:a="http://schemas.openxmlformats.org/drawingml/2006/main">
              <a:ext uri="{FF2B5EF4-FFF2-40B4-BE49-F238E27FC236}">
                <a16:creationId xmlns:a16="http://schemas.microsoft.com/office/drawing/2014/main" id="{907ACEAC-C2B8-4A76-BAA1-4C74B054D9B2}"/>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B49A203-6E01-4354-A183-87AF3A30FAF3}"/>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2.1</a:t>
            </a:r>
          </a:p>
        </p:txBody>
      </p:sp>
      <p:sp>
        <p:nvSpPr>
          <p:cNvPr id="5" name="">
            <a:extLst xmlns:a="http://schemas.openxmlformats.org/drawingml/2006/main">
              <a:ext uri="{FF2B5EF4-FFF2-40B4-BE49-F238E27FC236}">
                <a16:creationId xmlns:a16="http://schemas.microsoft.com/office/drawing/2014/main" id="{0FEB281F-04B8-45A2-8897-4FCA711F982D}"/>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11</a:t>
            </a:r>
          </a:p>
        </p:txBody>
      </p:sp>
      <p:sp>
        <p:nvSpPr>
          <p:cNvPr id="6" name="">
            <a:extLst xmlns:a="http://schemas.openxmlformats.org/drawingml/2006/main">
              <a:ext uri="{FF2B5EF4-FFF2-40B4-BE49-F238E27FC236}">
                <a16:creationId xmlns:a16="http://schemas.microsoft.com/office/drawing/2014/main" id="{6D66478A-F264-4FB8-B664-6ED112998A0F}"/>
              </a:ext>
            </a:extLst>
          </p:cNvPr>
          <p:cNvSpPr>
            <a:spLocks xmlns:a="http://schemas.openxmlformats.org/drawingml/2006/main" noGrp="1"/>
          </p:cNvSpPr>
          <p:nvPr/>
        </p:nvSpPr>
        <p:spPr>
          <a:xfrm xmlns:a="http://schemas.openxmlformats.org/drawingml/2006/main">
            <a:off x="762000" y="1743075"/>
            <a:ext cx="10477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03772"/>
                </a:solidFill>
                <a:latin typeface="DejaVu Sans"/>
                <a:ea typeface="DejaVu Sans"/>
                <a:cs typeface="DejaVu Sans"/>
              </a:defRPr>
            </a:pPr>
            <a:r>
              <a:rPr sz="2175" b="1">
                <a:solidFill>
                  <a:srgbClr val="003772"/>
                </a:solidFill>
                <a:latin typeface="DejaVu Sans"/>
                <a:ea typeface="DejaVu Sans"/>
                <a:cs typeface="DejaVu Sans"/>
              </a:rPr>
              <a:t>Un lenguaje es un conjunto de cadenas.</a:t>
            </a:r>
          </a:p>
        </p:txBody>
      </p:sp>
      <p:sp>
        <p:nvSpPr>
          <p:cNvPr id="7" name="">
            <a:extLst xmlns:a="http://schemas.openxmlformats.org/drawingml/2006/main">
              <a:ext uri="{FF2B5EF4-FFF2-40B4-BE49-F238E27FC236}">
                <a16:creationId xmlns:a16="http://schemas.microsoft.com/office/drawing/2014/main" id="{7E29EDE1-E4BE-4914-8431-23D8FA586DA5}"/>
              </a:ext>
            </a:extLst>
          </p:cNvPr>
          <p:cNvSpPr>
            <a:spLocks xmlns:a="http://schemas.openxmlformats.org/drawingml/2006/main" noGrp="1"/>
          </p:cNvSpPr>
          <p:nvPr/>
        </p:nvSpPr>
        <p:spPr>
          <a:xfrm xmlns:a="http://schemas.openxmlformats.org/drawingml/2006/main">
            <a:off x="762000" y="2638425"/>
            <a:ext cx="10477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Un autómata finito resume el prefijo en un estado.</a:t>
            </a:r>
          </a:p>
        </p:txBody>
      </p:sp>
      <p:sp>
        <p:nvSpPr>
          <p:cNvPr id="8" name="">
            <a:extLst xmlns:a="http://schemas.openxmlformats.org/drawingml/2006/main">
              <a:ext uri="{FF2B5EF4-FFF2-40B4-BE49-F238E27FC236}">
                <a16:creationId xmlns:a16="http://schemas.microsoft.com/office/drawing/2014/main" id="{B8FE0C33-3F21-4394-8D07-641F97FCFDBC}"/>
              </a:ext>
            </a:extLst>
          </p:cNvPr>
          <p:cNvSpPr>
            <a:spLocks xmlns:a="http://schemas.openxmlformats.org/drawingml/2006/main" noGrp="1"/>
          </p:cNvSpPr>
          <p:nvPr/>
        </p:nvSpPr>
        <p:spPr>
          <a:xfrm xmlns:a="http://schemas.openxmlformats.org/drawingml/2006/main">
            <a:off x="762000" y="3533775"/>
            <a:ext cx="10477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003772"/>
                </a:solidFill>
                <a:latin typeface="DejaVu Sans"/>
                <a:ea typeface="DejaVu Sans"/>
                <a:cs typeface="DejaVu Sans"/>
              </a:defRPr>
            </a:pPr>
            <a:r>
              <a:rPr sz="2175" b="0">
                <a:solidFill>
                  <a:srgbClr val="003772"/>
                </a:solidFill>
                <a:latin typeface="DejaVu Sans"/>
                <a:ea typeface="DejaVu Sans"/>
                <a:cs typeface="DejaVu Sans"/>
              </a:rPr>
              <a:t>El motor Java incluye extensiones al formalismo regular.</a:t>
            </a:r>
          </a:p>
        </p:txBody>
      </p:sp>
      <p:sp>
        <p:nvSpPr>
          <p:cNvPr id="9" name="">
            <a:extLst xmlns:a="http://schemas.openxmlformats.org/drawingml/2006/main">
              <a:ext uri="{FF2B5EF4-FFF2-40B4-BE49-F238E27FC236}">
                <a16:creationId xmlns:a16="http://schemas.microsoft.com/office/drawing/2014/main" id="{EAB84852-0704-46EB-9186-77B7CF6DB9A3}"/>
              </a:ext>
            </a:extLst>
          </p:cNvPr>
          <p:cNvSpPr>
            <a:spLocks xmlns:a="http://schemas.openxmlformats.org/drawingml/2006/main" noGrp="1"/>
          </p:cNvSpPr>
          <p:nvPr/>
        </p:nvSpPr>
        <p:spPr>
          <a:xfrm xmlns:a="http://schemas.openxmlformats.org/drawingml/2006/main">
            <a:off x="762000" y="4429125"/>
            <a:ext cx="10477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matches comprueba toda la entrada; el dominio valida su sentido.</a:t>
            </a:r>
          </a:p>
        </p:txBody>
      </p:sp>
    </p:spTree>
    <p:extLst>
      <p:ext uri="{BB962C8B-B14F-4D97-AF65-F5344CB8AC3E}">
        <p14:creationId xmlns:p14="http://schemas.microsoft.com/office/powerpoint/2010/main" val="193593115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2026-09-10T23:06:03.1850000Z</dcterms:created>
  <dcterms:modified xsi:type="dcterms:W3CDTF">2026-09-10T23:06:03.1860000Z</dcterms:modified>
</coreProperties>
</file>