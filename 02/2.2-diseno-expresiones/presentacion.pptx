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2dfc286e964726" /><Relationship Type="http://schemas.openxmlformats.org/officeDocument/2006/relationships/extended-properties" Target="/docProps/app.xml" Id="R9a6de8dcf6934f4a" /><Relationship Type="http://schemas.openxmlformats.org/officeDocument/2006/relationships/officeDocument" Target="/ppt/presentation.xml" Id="R7bcc74641d4e4659" /></Relationships>
</file>

<file path=ppt/presentation.xml><?xml version="1.0" encoding="utf-8"?>
<p:presentation xmlns:p="http://schemas.openxmlformats.org/presentationml/2006/main">
  <p:sldMasterIdLst>
    <p:sldMasterId xmlns:r="http://schemas.openxmlformats.org/officeDocument/2006/relationships" id="2147483648" r:id="R6528de6223d345f4"/>
  </p:sldMasterIdLst>
  <p:notesMasterIdLst>
    <p:notesMasterId xmlns:r="http://schemas.openxmlformats.org/officeDocument/2006/relationships" r:id="R94ac734a58c74169"/>
  </p:notesMasterIdLst>
  <p:sldIdLst>
    <p:sldId xmlns:r="http://schemas.openxmlformats.org/officeDocument/2006/relationships" id="256" r:id="R54e926ac749444b9"/>
    <p:sldId xmlns:r="http://schemas.openxmlformats.org/officeDocument/2006/relationships" id="257" r:id="R33bfe048191e4e6a"/>
    <p:sldId xmlns:r="http://schemas.openxmlformats.org/officeDocument/2006/relationships" id="258" r:id="R3e18983362d04990"/>
    <p:sldId xmlns:r="http://schemas.openxmlformats.org/officeDocument/2006/relationships" id="259" r:id="Rb27638ece9ee4c25"/>
    <p:sldId xmlns:r="http://schemas.openxmlformats.org/officeDocument/2006/relationships" id="260" r:id="Re31945b156cb4f00"/>
    <p:sldId xmlns:r="http://schemas.openxmlformats.org/officeDocument/2006/relationships" id="261" r:id="Rde36bec9f86f458e"/>
    <p:sldId xmlns:r="http://schemas.openxmlformats.org/officeDocument/2006/relationships" id="262" r:id="Re375b15070fb4fa6"/>
    <p:sldId xmlns:r="http://schemas.openxmlformats.org/officeDocument/2006/relationships" id="263" r:id="Rd0039341056d49d9"/>
    <p:sldId xmlns:r="http://schemas.openxmlformats.org/officeDocument/2006/relationships" id="264" r:id="Rff4af639c10142b8"/>
    <p:sldId xmlns:r="http://schemas.openxmlformats.org/officeDocument/2006/relationships" id="265" r:id="R765e1dd24f954c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0615e5e54e487a" /><Relationship Type="http://schemas.openxmlformats.org/officeDocument/2006/relationships/slideMaster" Target="/ppt/slideMasters/slideMaster1.xml" Id="R6528de6223d345f4" /><Relationship Type="http://schemas.openxmlformats.org/officeDocument/2006/relationships/notesMaster" Target="/ppt/notesMasters/notesMaster1.xml" Id="R94ac734a58c74169" /><Relationship Type="http://schemas.openxmlformats.org/officeDocument/2006/relationships/presProps" Target="/ppt/presProps.xml" Id="R61774d4d6f564e89" /><Relationship Type="http://schemas.openxmlformats.org/officeDocument/2006/relationships/tableStyles" Target="/ppt/tableStyles.xml" Id="Rbefe1470fc774ee5" /><Relationship Type="http://schemas.openxmlformats.org/officeDocument/2006/relationships/slide" Target="/ppt/slides/slide1.xml" Id="R54e926ac749444b9" /><Relationship Type="http://schemas.openxmlformats.org/officeDocument/2006/relationships/slide" Target="/ppt/slides/slide2.xml" Id="R33bfe048191e4e6a" /><Relationship Type="http://schemas.openxmlformats.org/officeDocument/2006/relationships/slide" Target="/ppt/slides/slide3.xml" Id="R3e18983362d04990" /><Relationship Type="http://schemas.openxmlformats.org/officeDocument/2006/relationships/slide" Target="/ppt/slides/slide4.xml" Id="Rb27638ece9ee4c25" /><Relationship Type="http://schemas.openxmlformats.org/officeDocument/2006/relationships/slide" Target="/ppt/slides/slide5.xml" Id="Re31945b156cb4f00" /><Relationship Type="http://schemas.openxmlformats.org/officeDocument/2006/relationships/slide" Target="/ppt/slides/slide6.xml" Id="Rde36bec9f86f458e" /><Relationship Type="http://schemas.openxmlformats.org/officeDocument/2006/relationships/slide" Target="/ppt/slides/slide7.xml" Id="Re375b15070fb4fa6" /><Relationship Type="http://schemas.openxmlformats.org/officeDocument/2006/relationships/slide" Target="/ppt/slides/slide8.xml" Id="Rd0039341056d49d9" /><Relationship Type="http://schemas.openxmlformats.org/officeDocument/2006/relationships/slide" Target="/ppt/slides/slide9.xml" Id="Rff4af639c10142b8" /><Relationship Type="http://schemas.openxmlformats.org/officeDocument/2006/relationships/slide" Target="/ppt/slides/slide10.xml" Id="R765e1dd24f954c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5fac6a9a2f4d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d06568fc8b4f77" /><Relationship Type="http://schemas.openxmlformats.org/officeDocument/2006/relationships/notesMaster" Target="/ppt/notesMasters/notesMaster1.xml" Id="R47f157d58d7548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db8b862a8a4e8b" /><Relationship Type="http://schemas.openxmlformats.org/officeDocument/2006/relationships/notesMaster" Target="/ppt/notesMasters/notesMaster1.xml" Id="R62e39898164746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08fc5378974a54" /><Relationship Type="http://schemas.openxmlformats.org/officeDocument/2006/relationships/notesMaster" Target="/ppt/notesMasters/notesMaster1.xml" Id="Rc1deccf438ed41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ce374ad1834d29" /><Relationship Type="http://schemas.openxmlformats.org/officeDocument/2006/relationships/notesMaster" Target="/ppt/notesMasters/notesMaster1.xml" Id="Rf5dd3895ba8c4f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4bee4e25c04589" /><Relationship Type="http://schemas.openxmlformats.org/officeDocument/2006/relationships/notesMaster" Target="/ppt/notesMasters/notesMaster1.xml" Id="R3d53185538ac42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003a0a182c4cc8" /><Relationship Type="http://schemas.openxmlformats.org/officeDocument/2006/relationships/notesMaster" Target="/ppt/notesMasters/notesMaster1.xml" Id="Rd7609142226a4a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5e21de53f6408d" /><Relationship Type="http://schemas.openxmlformats.org/officeDocument/2006/relationships/notesMaster" Target="/ppt/notesMasters/notesMaster1.xml" Id="Rdfa55de511ec4c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f14f730a884eba" /><Relationship Type="http://schemas.openxmlformats.org/officeDocument/2006/relationships/notesMaster" Target="/ppt/notesMasters/notesMaster1.xml" Id="R1034af7ab84f4b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cf7770668145a2" /><Relationship Type="http://schemas.openxmlformats.org/officeDocument/2006/relationships/notesMaster" Target="/ppt/notesMasters/notesMaster1.xml" Id="Rc5c61f27a38a41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4229314ac345ef" /><Relationship Type="http://schemas.openxmlformats.org/officeDocument/2006/relationships/notesMaster" Target="/ppt/notesMasters/notesMaster1.xml" Id="Rd92d0f57a5ff40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2.2. Diseño de expresiones regulares.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entradas ya tienen identificadores definidos. La siguiente versión de CampusMonitor debe extraer campos de una línea, convertir un valor decimal y registrar errores útiles sin mezclar reconocimiento con persistencia.</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clases de caracteres delimitan símbolos admitidos. [0-9] acepta un dígito y [A-Z] una letra mayúscula ASCII. Los cuantificadores ?, *, + y {m,n} controlan repetición. Los paréntesis capturan grupos y (?:...) agrupa sin capturar. Usa grupos con nombre para campos semánticos: sensor, valor y unidad son más mantenibles que posiciones numéricas dispersas.</a:t>
            </a:r>
          </a:p>
          <a:p xmlns:a="http://schemas.openxmlformats.org/drawingml/2006/main">
            <a:r>
              <a:t/>
            </a:r>
          </a:p>
          <a:p xmlns:a="http://schemas.openxmlformats.org/drawingml/2006/main">
            <a:r>
              <a:t>Diseña desde ejemplos positivos y negativos. Un decimal del protocolo puede admitir un signo menos opcional, una parte entera y una fracción opcional con punto. Esa gramática no acepta coma decimal, exponente o NaN. La decisión debe estar en el contrato del protocolo, no depender de la configuración regional del equipo.</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texto de un literal Java se interpreta antes de que Pattern procese la expresión regular. Para expresar el metacarácter de dígito \d en un literal se escribe "\\d". Para un punto literal puede usarse "\\." o la clase "[.]". La demostración utiliza [.] para hacer explícito que el separador decimal es un punto.</a:t>
            </a:r>
          </a:p>
          <a:p xmlns:a="http://schemas.openxmlformats.org/drawingml/2006/main">
            <a:r>
              <a:t/>
            </a:r>
          </a:p>
          <a:p xmlns:a="http://schemas.openxmlformats.org/drawingml/2006/main">
            <a:r>
              <a:t>Pattern.quote convierte texto externo en un literal del patrón. Matcher.quoteReplacement protege texto externo utilizado como reemplazo, porque $ y la barra inversa tienen significado especial allí. Son funciones diferentes y no intercambiables. Evita concatenar directamente un nombre ingresado por el usuario en una expresión.</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Pattern representa la expresión compilada y puede reutilizarse. Matcher contiene estado de una búsqueda sobre una entrada. Crea un Matcher por operación y no lo compartas entre hilos. Compilar el mismo patrón dentro de un bucle añade trabajo evitable.</a:t>
            </a:r>
          </a:p>
          <a:p xmlns:a="http://schemas.openxmlformats.org/drawingml/2006/main">
            <a:r>
              <a:t/>
            </a:r>
          </a:p>
          <a:p xmlns:a="http://schemas.openxmlformats.org/drawingml/2006/main">
            <a:r>
              <a:t>CASE_INSENSITIVE modifica la comparación de letras, MULTILINE cambia el comportamiento de ^ y $ respecto de las líneas y DOTALL permite que el punto coincida con saltos de línea. Ninguno de esos flags debe activarse por costumbre. Para protocolos de una línea, el diseño más claro suele rechazar saltos y utilizar matches sobre una línea ya delimitada.</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captura sigue siendo texto. Double.parseDouble transforma el valor y puede lanzar NumberFormatException. Incluso una cadena numérica muy larga puede producir infinito, por lo que se comprueba Double.isFinite. Después se validan rangos físicos y unidades.</a:t>
            </a:r>
          </a:p>
          <a:p xmlns:a="http://schemas.openxmlformats.org/drawingml/2006/main">
            <a:r>
              <a:t/>
            </a:r>
          </a:p>
          <a:p xmlns:a="http://schemas.openxmlformats.org/drawingml/2006/main">
            <a:r>
              <a:t>La demostración devuelve un record y usa IllegalArgumentException para comunicar una trama inválida. En un importador de lotes, estos errores deben registrarse por línea en lugar de abortar todos los datos. No escondas el error convirtiéndolo a cero: cero puede ser una medida real y produciría un registro incorrecto.</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edu.ups.pap.u02;</a:t>
            </a:r>
          </a:p>
          <a:p xmlns:a="http://schemas.openxmlformats.org/drawingml/2006/main">
            <a:r>
              <a:t>import java.util.regex.*;</a:t>
            </a:r>
          </a:p>
          <a:p xmlns:a="http://schemas.openxmlformats.org/drawingml/2006/main">
            <a:r>
              <a:t>public class RegexDemo {</a:t>
            </a:r>
          </a:p>
          <a:p xmlns:a="http://schemas.openxmlformats.org/drawingml/2006/main">
            <a:r>
              <a:t>    record Trama(String sensor, double valor, String unidad) {}</a:t>
            </a:r>
          </a:p>
          <a:p xmlns:a="http://schemas.openxmlformats.org/drawingml/2006/main">
            <a:r>
              <a:t>    static final Pattern P = Pattern.compile(</a:t>
            </a:r>
          </a:p>
          <a:p xmlns:a="http://schemas.openxmlformats.org/drawingml/2006/main">
            <a:r>
              <a:t>        "(?&lt;sensor&gt;S[0-9]{2});(?&lt;valor&gt;-?[0-9]+(?:[.][0-9]+)?);(?&lt;unidad&gt;C|PCT)");</a:t>
            </a:r>
          </a:p>
          <a:p xmlns:a="http://schemas.openxmlformats.org/drawingml/2006/main">
            <a:r>
              <a:t>    static Trama parsear(String linea) {</a:t>
            </a:r>
          </a:p>
          <a:p xmlns:a="http://schemas.openxmlformats.org/drawingml/2006/main">
            <a:r>
              <a:t>        if (linea.length() &gt; 80) throw new IllegalArgumentException("Trama demasiado larga");</a:t>
            </a:r>
          </a:p>
          <a:p xmlns:a="http://schemas.openxmlformats.org/drawingml/2006/main">
            <a:r>
              <a:t>        Matcher m = P.matcher(linea);</a:t>
            </a:r>
          </a:p>
          <a:p xmlns:a="http://schemas.openxmlformats.org/drawingml/2006/main">
            <a:r>
              <a:t>        if (!m.matches()) throw new IllegalArgumentException("Formato inválido");</a:t>
            </a:r>
          </a:p>
          <a:p xmlns:a="http://schemas.openxmlformats.org/drawingml/2006/main">
            <a:r>
              <a:t>        double valor = Double.parseDouble(m.group("valor"));</a:t>
            </a:r>
          </a:p>
          <a:p xmlns:a="http://schemas.openxmlformats.org/drawingml/2006/main">
            <a:r>
              <a:t>        if (!Double.isFinite(valor)) throw new IllegalArgumentException("Valor no finito");</a:t>
            </a:r>
          </a:p>
          <a:p xmlns:a="http://schemas.openxmlformats.org/drawingml/2006/main">
            <a:r>
              <a:t>        return new Trama(m.group("sensor"),valor,m.group("unidad"));</a:t>
            </a:r>
          </a:p>
          <a:p xmlns:a="http://schemas.openxmlformats.org/drawingml/2006/main">
            <a:r>
              <a:t>    }</a:t>
            </a:r>
          </a:p>
          <a:p xmlns:a="http://schemas.openxmlformats.org/drawingml/2006/main">
            <a:r>
              <a:t>    public static void main(String[] args) {</a:t>
            </a:r>
          </a:p>
          <a:p xmlns:a="http://schemas.openxmlformats.org/drawingml/2006/main">
            <a:r>
              <a:t>        for (String s : new String[]{"S01;23.5;C","S02;-2;C","S1;22;C","S01;NaN;C"}) {</a:t>
            </a:r>
          </a:p>
          <a:p xmlns:a="http://schemas.openxmlformats.org/drawingml/2006/main">
            <a:r>
              <a:t>            try { System.out.println(parsear(s)); }</a:t>
            </a:r>
          </a:p>
          <a:p xmlns:a="http://schemas.openxmlformats.org/drawingml/2006/main">
            <a:r>
              <a:t>            catch (IllegalArgumentException e) { System.out.println(s + ": " + e.getMessage());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Trama[sensor=S01, valor=23.5, unidad=C]</a:t>
            </a:r>
          </a:p>
          <a:p xmlns:a="http://schemas.openxmlformats.org/drawingml/2006/main">
            <a:r>
              <a:t>Trama[sensor=S02, valor=-2.0, unidad=C]</a:t>
            </a:r>
          </a:p>
          <a:p xmlns:a="http://schemas.openxmlformats.org/drawingml/2006/main">
            <a:r>
              <a:t>S1;22;C: Formato inválido</a:t>
            </a:r>
          </a:p>
          <a:p xmlns:a="http://schemas.openxmlformats.org/drawingml/2006/main">
            <a:r>
              <a:t>S01;NaN;C: Formato inválido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Trama[sensor=S01, valor=23.5, unidad=C]</a:t>
            </a:r>
          </a:p>
          <a:p xmlns:a="http://schemas.openxmlformats.org/drawingml/2006/main">
            <a:r>
              <a:t>Trama[sensor=S02, valor=-2.0, unidad=C]</a:t>
            </a:r>
          </a:p>
          <a:p xmlns:a="http://schemas.openxmlformats.org/drawingml/2006/main">
            <a:r>
              <a:t>S1;22;C: Formato inválido</a:t>
            </a:r>
          </a:p>
          <a:p xmlns:a="http://schemas.openxmlformats.org/drawingml/2006/main">
            <a:r>
              <a:t>S01;NaN;C: Formato inválido</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evidencias/PC2.2.md y enlace al commit final.</a:t>
            </a:r>
          </a:p>
          <a:p xmlns:a="http://schemas.openxmlformats.org/drawingml/2006/main">
            <a:r>
              <a:t>Adapta el parser a IDs T001 u O001 del catálogo y a una trama id;valor;unidad. Usa grupos con nombre.</a:t>
            </a:r>
          </a:p>
          <a:p xmlns:a="http://schemas.openxmlformats.org/drawingml/2006/main">
            <a:r>
              <a:t>Limita la entrada a 80 caracteres y admite únicamente unidades C y PERSONAS. Comprueba que ocupación sea un entero no negativo.</a:t>
            </a:r>
          </a:p>
          <a:p xmlns:a="http://schemas.openxmlformats.org/drawingml/2006/main">
            <a:r>
              <a:t>Integra un comando validar-trama que muestre cada campo o un error preciso. Conserva la cadena original en la evidencia de errores.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170d29aab949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fdb9a0f416499f" /><Relationship Type="http://schemas.openxmlformats.org/officeDocument/2006/relationships/slideLayout" Target="/ppt/slideLayouts/slideLayout1.xml" Id="Rae85af7656634b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85af7656634b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ea2d6d6229b485f" /><Relationship Type="http://schemas.openxmlformats.org/officeDocument/2006/relationships/image" Target="/ppt/media/image.png" Id="R06241c183de8496f" /><Relationship Type="http://schemas.openxmlformats.org/officeDocument/2006/relationships/notesSlide" Target="/ppt/notesSlides/notesSlide1.xml" Id="R923b2bae8d7d41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a41419b5534655" /><Relationship Type="http://schemas.openxmlformats.org/officeDocument/2006/relationships/notesSlide" Target="/ppt/notesSlides/notesSlide2.xml" Id="R70cc9ed422944a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d979cb4d2146c7" /><Relationship Type="http://schemas.openxmlformats.org/officeDocument/2006/relationships/notesSlide" Target="/ppt/notesSlides/notesSlide3.xml" Id="R3373df93e9cb4c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04b033ef2e47e0" /><Relationship Type="http://schemas.openxmlformats.org/officeDocument/2006/relationships/notesSlide" Target="/ppt/notesSlides/notesSlide4.xml" Id="Rd57a54db479a4b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7805782e5643c3" /><Relationship Type="http://schemas.openxmlformats.org/officeDocument/2006/relationships/notesSlide" Target="/ppt/notesSlides/notesSlide5.xml" Id="R537f1604dbe74e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eb0a6d189443b4" /><Relationship Type="http://schemas.openxmlformats.org/officeDocument/2006/relationships/notesSlide" Target="/ppt/notesSlides/notesSlide6.xml" Id="R6725ff20669a45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ee941e997748b0" /><Relationship Type="http://schemas.openxmlformats.org/officeDocument/2006/relationships/notesSlide" Target="/ppt/notesSlides/notesSlide7.xml" Id="Raca19148bc2340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d76c19c153949a7" /><Relationship Type="http://schemas.openxmlformats.org/officeDocument/2006/relationships/notesSlide" Target="/ppt/notesSlides/notesSlide8.xml" Id="Ra92fc07733354d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0a42fadf2746b6" /><Relationship Type="http://schemas.openxmlformats.org/officeDocument/2006/relationships/notesSlide" Target="/ppt/notesSlides/notesSlide9.xml" Id="Rfd810424aea14f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5659b0253740ca" /><Relationship Type="http://schemas.openxmlformats.org/officeDocument/2006/relationships/notesSlide" Target="/ppt/notesSlides/notesSlide10.xml" Id="Re8e1717c55a945c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6241c183de8496f"/>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C2BE38C-E230-4F40-B8DA-E51BC550E625}"/>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7BF4F69D-5A71-4AFD-BDA0-162357D90BC6}"/>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Diseño de expresiones regulares</a:t>
            </a:r>
          </a:p>
        </p:txBody>
      </p:sp>
      <p:sp>
        <p:nvSpPr>
          <p:cNvPr id="4" name="">
            <a:extLst xmlns:a="http://schemas.openxmlformats.org/drawingml/2006/main">
              <a:ext uri="{FF2B5EF4-FFF2-40B4-BE49-F238E27FC236}">
                <a16:creationId xmlns:a16="http://schemas.microsoft.com/office/drawing/2014/main" id="{0C941B11-35DC-4A43-800F-AA397B899CE5}"/>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66F6D4-6B4E-4062-A69C-B9C79B6CA5C9}"/>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2 · 2.2</a:t>
            </a:r>
          </a:p>
        </p:txBody>
      </p:sp>
      <p:sp>
        <p:nvSpPr>
          <p:cNvPr id="6" name="">
            <a:extLst xmlns:a="http://schemas.openxmlformats.org/drawingml/2006/main">
              <a:ext uri="{FF2B5EF4-FFF2-40B4-BE49-F238E27FC236}">
                <a16:creationId xmlns:a16="http://schemas.microsoft.com/office/drawing/2014/main" id="{D84704B4-C8A6-48C8-AD89-BC16E147E12D}"/>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6408000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3C1572-F8E5-40DA-B76C-D7894FF80E9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2988BA-6907-417A-A532-6EB1D7A4785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1881DE17-05BB-421E-A31A-BF2A323CEB8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B0A760-1728-4B2F-95F6-72C0C88930B2}"/>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2.2</a:t>
            </a:r>
          </a:p>
        </p:txBody>
      </p:sp>
      <p:sp>
        <p:nvSpPr>
          <p:cNvPr id="5" name="">
            <a:extLst xmlns:a="http://schemas.openxmlformats.org/drawingml/2006/main">
              <a:ext uri="{FF2B5EF4-FFF2-40B4-BE49-F238E27FC236}">
                <a16:creationId xmlns:a16="http://schemas.microsoft.com/office/drawing/2014/main" id="{7E976B8E-08E2-4A43-9B51-A0F2A62A4ED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77FE3F26-4B4C-48B3-99CE-5E23A6F2939D}"/>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Las entradas ya tienen identificadores definidos. La siguiente versión de CampusMonitor debe extraer campos de una línea, convertir un valor decimal y registrar errores útiles sin mezclar reconocimiento con persistencia.</a:t>
            </a:r>
          </a:p>
        </p:txBody>
      </p:sp>
    </p:spTree>
    <p:extLst>
      <p:ext uri="{BB962C8B-B14F-4D97-AF65-F5344CB8AC3E}">
        <p14:creationId xmlns:p14="http://schemas.microsoft.com/office/powerpoint/2010/main" val="15475289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81D7C2-DA33-44E8-865F-1431AA2D9D7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3368BF-F051-4373-A91C-D4D2883C980B}"/>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Clases, cuantificadores y agrupación</a:t>
            </a:r>
          </a:p>
        </p:txBody>
      </p:sp>
      <p:sp>
        <p:nvSpPr>
          <p:cNvPr id="3" name="">
            <a:extLst xmlns:a="http://schemas.openxmlformats.org/drawingml/2006/main">
              <a:ext uri="{FF2B5EF4-FFF2-40B4-BE49-F238E27FC236}">
                <a16:creationId xmlns:a16="http://schemas.microsoft.com/office/drawing/2014/main" id="{21E0B3E7-D0B1-4967-97FA-2334B8351B6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5997E6-058B-4CD1-8B66-4BC15BECD81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2.2</a:t>
            </a:r>
          </a:p>
        </p:txBody>
      </p:sp>
      <p:sp>
        <p:nvSpPr>
          <p:cNvPr id="5" name="">
            <a:extLst xmlns:a="http://schemas.openxmlformats.org/drawingml/2006/main">
              <a:ext uri="{FF2B5EF4-FFF2-40B4-BE49-F238E27FC236}">
                <a16:creationId xmlns:a16="http://schemas.microsoft.com/office/drawing/2014/main" id="{B032528B-CBF4-4E79-B0A6-661E9BF64DE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4C33FB4B-A634-49C8-B6E0-E48F48338BDE}"/>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Los grupos con nombre identifican campos.</a:t>
            </a:r>
          </a:p>
        </p:txBody>
      </p:sp>
      <p:sp>
        <p:nvSpPr>
          <p:cNvPr id="7" name="">
            <a:extLst xmlns:a="http://schemas.openxmlformats.org/drawingml/2006/main">
              <a:ext uri="{FF2B5EF4-FFF2-40B4-BE49-F238E27FC236}">
                <a16:creationId xmlns:a16="http://schemas.microsoft.com/office/drawing/2014/main" id="{34A63D76-342B-4A22-BDB9-4257DBBB4869}"/>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Las clases de caracteres delimitan símbolos admitidos. [0-9] acepta un dígito y [A-Z] una letra mayúscula ASCII. Los cuantificadores ?, *, + y {m,n} controlan repetición. Los paréntesis capturan grupos y (?:...) agrupa sin capturar.</a:t>
            </a:r>
          </a:p>
        </p:txBody>
      </p:sp>
      <p:sp>
        <p:nvSpPr>
          <p:cNvPr id="8" name="">
            <a:extLst xmlns:a="http://schemas.openxmlformats.org/drawingml/2006/main">
              <a:ext uri="{FF2B5EF4-FFF2-40B4-BE49-F238E27FC236}">
                <a16:creationId xmlns:a16="http://schemas.microsoft.com/office/drawing/2014/main" id="{58FC2B99-0DAD-4157-B433-358892DF6DA5}"/>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24DA5CB-2616-4DD0-BE48-0B44E174A414}"/>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Diseña desde ejemplos positivos y negativos. Un decimal del protocolo puede admitir un signo menos opcional, una parte entera y una fracción opcional con punto.</a:t>
            </a:r>
          </a:p>
        </p:txBody>
      </p:sp>
    </p:spTree>
    <p:extLst>
      <p:ext uri="{BB962C8B-B14F-4D97-AF65-F5344CB8AC3E}">
        <p14:creationId xmlns:p14="http://schemas.microsoft.com/office/powerpoint/2010/main" val="16778867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E152FAF-A82C-4580-BA43-27BCEEB4364A}"/>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CD09CB-FF3C-4BA8-906A-891EF3A53F65}"/>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Dos niveles de escape</a:t>
            </a:r>
          </a:p>
        </p:txBody>
      </p:sp>
      <p:sp>
        <p:nvSpPr>
          <p:cNvPr id="3" name="">
            <a:extLst xmlns:a="http://schemas.openxmlformats.org/drawingml/2006/main">
              <a:ext uri="{FF2B5EF4-FFF2-40B4-BE49-F238E27FC236}">
                <a16:creationId xmlns:a16="http://schemas.microsoft.com/office/drawing/2014/main" id="{099681DF-216E-4C39-BB87-C90E185520E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12BA05-CA35-436F-B71F-5C67CF1AC49D}"/>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2.2</a:t>
            </a:r>
          </a:p>
        </p:txBody>
      </p:sp>
      <p:sp>
        <p:nvSpPr>
          <p:cNvPr id="5" name="">
            <a:extLst xmlns:a="http://schemas.openxmlformats.org/drawingml/2006/main">
              <a:ext uri="{FF2B5EF4-FFF2-40B4-BE49-F238E27FC236}">
                <a16:creationId xmlns:a16="http://schemas.microsoft.com/office/drawing/2014/main" id="{47056E60-D75A-4F7A-99C5-89A6F2F7B861}"/>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4647CB24-A160-4D95-98C0-0D049D5E79EF}"/>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El literal Java y el patrón tienen escapes distintos.</a:t>
            </a:r>
          </a:p>
        </p:txBody>
      </p:sp>
      <p:sp>
        <p:nvSpPr>
          <p:cNvPr id="7" name="">
            <a:extLst xmlns:a="http://schemas.openxmlformats.org/drawingml/2006/main">
              <a:ext uri="{FF2B5EF4-FFF2-40B4-BE49-F238E27FC236}">
                <a16:creationId xmlns:a16="http://schemas.microsoft.com/office/drawing/2014/main" id="{20155373-05C7-4149-9F23-6E076764A5E1}"/>
              </a:ext>
            </a:extLst>
          </p:cNvPr>
          <p:cNvSpPr>
            <a:spLocks xmlns:a="http://schemas.openxmlformats.org/drawingml/2006/main" noGrp="1"/>
          </p:cNvSpPr>
          <p:nvPr/>
        </p:nvSpPr>
        <p:spPr>
          <a:xfrm xmlns:a="http://schemas.openxmlformats.org/drawingml/2006/main">
            <a:off x="723900" y="2800350"/>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El texto de un literal Java se interpreta antes de que Pattern procese la expresión regular. Para expresar el metacarácter de dígito \d en un literal se escribe "\\d". Para un punto literal puede usarse "\\." o la clase "[.]". La demostración utiliza [.</a:t>
            </a:r>
          </a:p>
        </p:txBody>
      </p:sp>
      <p:sp>
        <p:nvSpPr>
          <p:cNvPr id="8" name="">
            <a:extLst xmlns:a="http://schemas.openxmlformats.org/drawingml/2006/main">
              <a:ext uri="{FF2B5EF4-FFF2-40B4-BE49-F238E27FC236}">
                <a16:creationId xmlns:a16="http://schemas.microsoft.com/office/drawing/2014/main" id="{93130EA1-7565-4973-8384-37717547E6C0}"/>
              </a:ext>
            </a:extLst>
          </p:cNvPr>
          <p:cNvSpPr>
            <a:spLocks xmlns:a="http://schemas.openxmlformats.org/drawingml/2006/main" noGrp="1"/>
          </p:cNvSpPr>
          <p:nvPr/>
        </p:nvSpPr>
        <p:spPr>
          <a:xfrm xmlns:a="http://schemas.openxmlformats.org/drawingml/2006/main">
            <a:off x="6210300" y="2724150"/>
            <a:ext cx="5238750" cy="27432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FF8951D-B96D-405A-A8AF-ADFA2BC3FCC1}"/>
              </a:ext>
            </a:extLst>
          </p:cNvPr>
          <p:cNvSpPr>
            <a:spLocks xmlns:a="http://schemas.openxmlformats.org/drawingml/2006/main" noGrp="1"/>
          </p:cNvSpPr>
          <p:nvPr/>
        </p:nvSpPr>
        <p:spPr>
          <a:xfrm xmlns:a="http://schemas.openxmlformats.org/drawingml/2006/main">
            <a:off x="6419850" y="2924175"/>
            <a:ext cx="48196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Pattern literal = Pattern.compile(Pattern.quote("sensor.a"));</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String seguro = Matcher.quoteReplacement("$5");</a:t>
            </a:r>
          </a:p>
        </p:txBody>
      </p:sp>
    </p:spTree>
    <p:extLst>
      <p:ext uri="{BB962C8B-B14F-4D97-AF65-F5344CB8AC3E}">
        <p14:creationId xmlns:p14="http://schemas.microsoft.com/office/powerpoint/2010/main" val="8843543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3F4AA8F-FF80-434B-BEF0-755311985AE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1ED273-E450-42D7-BFDF-46E18102810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Pattern, Matcher y flags</a:t>
            </a:r>
          </a:p>
        </p:txBody>
      </p:sp>
      <p:sp>
        <p:nvSpPr>
          <p:cNvPr id="3" name="">
            <a:extLst xmlns:a="http://schemas.openxmlformats.org/drawingml/2006/main">
              <a:ext uri="{FF2B5EF4-FFF2-40B4-BE49-F238E27FC236}">
                <a16:creationId xmlns:a16="http://schemas.microsoft.com/office/drawing/2014/main" id="{9AA012ED-17C1-4AE3-A124-9BEC4CD85F5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DC65BA-B36C-4D85-A4B5-3D6F86D81C92}"/>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2.2</a:t>
            </a:r>
          </a:p>
        </p:txBody>
      </p:sp>
      <p:sp>
        <p:nvSpPr>
          <p:cNvPr id="5" name="">
            <a:extLst xmlns:a="http://schemas.openxmlformats.org/drawingml/2006/main">
              <a:ext uri="{FF2B5EF4-FFF2-40B4-BE49-F238E27FC236}">
                <a16:creationId xmlns:a16="http://schemas.microsoft.com/office/drawing/2014/main" id="{71289C89-4569-4639-914D-AA6169470B45}"/>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963F3E92-95DA-4E5A-A78F-82DE49C530C6}"/>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Pattern se reutiliza; Matcher conserva el estado de búsqueda.</a:t>
            </a:r>
          </a:p>
        </p:txBody>
      </p:sp>
      <p:sp>
        <p:nvSpPr>
          <p:cNvPr id="7" name="">
            <a:extLst xmlns:a="http://schemas.openxmlformats.org/drawingml/2006/main">
              <a:ext uri="{FF2B5EF4-FFF2-40B4-BE49-F238E27FC236}">
                <a16:creationId xmlns:a16="http://schemas.microsoft.com/office/drawing/2014/main" id="{86CE02A9-8C53-428D-A48D-E308D2BA5D20}"/>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Pattern representa la expresión compilada y puede reutilizarse. Matcher contiene estado de una búsqueda sobre una entrada. Crea un Matcher por operación y no lo compartas entre hilos. Compilar el mismo patrón dentro de un bucle añade trabajo evitable.</a:t>
            </a:r>
          </a:p>
        </p:txBody>
      </p:sp>
      <p:sp>
        <p:nvSpPr>
          <p:cNvPr id="8" name="">
            <a:extLst xmlns:a="http://schemas.openxmlformats.org/drawingml/2006/main">
              <a:ext uri="{FF2B5EF4-FFF2-40B4-BE49-F238E27FC236}">
                <a16:creationId xmlns:a16="http://schemas.microsoft.com/office/drawing/2014/main" id="{C40C40D6-8DD5-49F9-83B9-8F221EA29CC1}"/>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9A840C6-FFEB-45AC-8B9F-F4347C7032C0}"/>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CASE_INSENSITIVE modifica la comparación de letras, MULTILINE cambia el comportamiento de ^ y $ respecto de las líneas y DOTALL permite que el punto coincida con saltos de línea.</a:t>
            </a:r>
          </a:p>
        </p:txBody>
      </p:sp>
    </p:spTree>
    <p:extLst>
      <p:ext uri="{BB962C8B-B14F-4D97-AF65-F5344CB8AC3E}">
        <p14:creationId xmlns:p14="http://schemas.microsoft.com/office/powerpoint/2010/main" val="16149136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2F81469-6519-4094-AF4C-46AF4547B34A}"/>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9A4867-8CA3-4966-B485-8003D9256A9F}"/>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Conversión y errores del dominio</a:t>
            </a:r>
          </a:p>
        </p:txBody>
      </p:sp>
      <p:sp>
        <p:nvSpPr>
          <p:cNvPr id="3" name="">
            <a:extLst xmlns:a="http://schemas.openxmlformats.org/drawingml/2006/main">
              <a:ext uri="{FF2B5EF4-FFF2-40B4-BE49-F238E27FC236}">
                <a16:creationId xmlns:a16="http://schemas.microsoft.com/office/drawing/2014/main" id="{12B556C3-01D6-42E1-9AA1-EC741B2B409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2481A2-169B-4083-910D-DD404FEF4201}"/>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2.2</a:t>
            </a:r>
          </a:p>
        </p:txBody>
      </p:sp>
      <p:sp>
        <p:nvSpPr>
          <p:cNvPr id="5" name="">
            <a:extLst xmlns:a="http://schemas.openxmlformats.org/drawingml/2006/main">
              <a:ext uri="{FF2B5EF4-FFF2-40B4-BE49-F238E27FC236}">
                <a16:creationId xmlns:a16="http://schemas.microsoft.com/office/drawing/2014/main" id="{F1A8EBFE-A727-4D13-B311-2ED7A54EAAD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8E67D479-7728-460B-B076-BF04F0E7C020}"/>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La conversión numérica requiere validación posterior.</a:t>
            </a:r>
          </a:p>
        </p:txBody>
      </p:sp>
      <p:sp>
        <p:nvSpPr>
          <p:cNvPr id="7" name="">
            <a:extLst xmlns:a="http://schemas.openxmlformats.org/drawingml/2006/main">
              <a:ext uri="{FF2B5EF4-FFF2-40B4-BE49-F238E27FC236}">
                <a16:creationId xmlns:a16="http://schemas.microsoft.com/office/drawing/2014/main" id="{76C59080-6493-441F-9B15-3B50D98B72E2}"/>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Una captura sigue siendo texto. Double.parseDouble transforma el valor y puede lanzar NumberFormatException. Incluso una cadena numérica muy larga puede producir infinito, por lo que se comprueba Double.isFinite. Después se validan rangos físicos y unidades.</a:t>
            </a:r>
          </a:p>
        </p:txBody>
      </p:sp>
      <p:sp>
        <p:nvSpPr>
          <p:cNvPr id="8" name="">
            <a:extLst xmlns:a="http://schemas.openxmlformats.org/drawingml/2006/main">
              <a:ext uri="{FF2B5EF4-FFF2-40B4-BE49-F238E27FC236}">
                <a16:creationId xmlns:a16="http://schemas.microsoft.com/office/drawing/2014/main" id="{1324D526-ADF5-42B2-89C1-354A5B9F097A}"/>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B0E7FCE-B7A2-42C0-A4A1-E629B6F2C8B3}"/>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 demostración devuelve un record y usa IllegalArgumentException para comunicar una trama inválida. En un importador de lotes, estos errores deben registrarse por línea en lugar de abortar todos los datos.</a:t>
            </a:r>
          </a:p>
        </p:txBody>
      </p:sp>
    </p:spTree>
    <p:extLst>
      <p:ext uri="{BB962C8B-B14F-4D97-AF65-F5344CB8AC3E}">
        <p14:creationId xmlns:p14="http://schemas.microsoft.com/office/powerpoint/2010/main" val="6946270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1B5C5A-DD03-4C15-B46D-FBD2365DC55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623063-432E-4925-A000-B63D964E5FCA}"/>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D37FD5DC-1006-4950-AAC2-B814FB37F6E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1A5369-6546-4DBE-B0DC-604E135AE66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2.2</a:t>
            </a:r>
          </a:p>
        </p:txBody>
      </p:sp>
      <p:sp>
        <p:nvSpPr>
          <p:cNvPr id="5" name="">
            <a:extLst xmlns:a="http://schemas.openxmlformats.org/drawingml/2006/main">
              <a:ext uri="{FF2B5EF4-FFF2-40B4-BE49-F238E27FC236}">
                <a16:creationId xmlns:a16="http://schemas.microsoft.com/office/drawing/2014/main" id="{A10F745F-6AD3-49FE-A79D-34733C8E716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F724E8AD-222B-411A-B86C-2E14F5314C13}"/>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5873879-9CF0-4E75-A6C0-E7D216CF9EC8}"/>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static Trama parsear(String linea)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 (linea.length() &gt; 80) throw new IllegalArgumentException("Trama demasiado larga");</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Matcher m = P.matcher(linea);</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 (!m.matches()) throw new IllegalArgumentException("Formato inválido");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double valor = Double.parseDouble(m.group("valor"));</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 (!Double.isFinite(valor)) throw new IllegalArgumentException("Valor no finito");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return new Trama(m.group("sensor"),valor,m.group("unidad"));</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for (String s : new String[]{"S01;23.5;C","S02;-2;C","S1;22;C","S01;NaN;C"})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 System.out.println(parsear(s));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catch (IllegalArgumentException e) { System.out.println(s + ": " + e.getMessage());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p:txBody>
      </p:sp>
      <p:sp>
        <p:nvSpPr>
          <p:cNvPr id="8" name="">
            <a:extLst xmlns:a="http://schemas.openxmlformats.org/drawingml/2006/main">
              <a:ext uri="{FF2B5EF4-FFF2-40B4-BE49-F238E27FC236}">
                <a16:creationId xmlns:a16="http://schemas.microsoft.com/office/drawing/2014/main" id="{EE99F165-F8A0-4C82-AD31-9C353A31DA4F}"/>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RegexDemo.java. Código completo y ejecución en material.md.</a:t>
            </a:r>
          </a:p>
        </p:txBody>
      </p:sp>
    </p:spTree>
    <p:extLst>
      <p:ext uri="{BB962C8B-B14F-4D97-AF65-F5344CB8AC3E}">
        <p14:creationId xmlns:p14="http://schemas.microsoft.com/office/powerpoint/2010/main" val="17121787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C5E0A0-1A91-4AF4-8BD8-B54667AD38B2}"/>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16E0F5-EB6D-48CD-84A6-9F2F3587A3BC}"/>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D2392C29-5960-4FF4-934D-D2DD71B8E88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A23CC4-0CCB-43FD-AD01-0AEA8B8E678D}"/>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2.2</a:t>
            </a:r>
          </a:p>
        </p:txBody>
      </p:sp>
      <p:sp>
        <p:nvSpPr>
          <p:cNvPr id="5" name="">
            <a:extLst xmlns:a="http://schemas.openxmlformats.org/drawingml/2006/main">
              <a:ext uri="{FF2B5EF4-FFF2-40B4-BE49-F238E27FC236}">
                <a16:creationId xmlns:a16="http://schemas.microsoft.com/office/drawing/2014/main" id="{868E9C1E-0C4E-4BBD-B3AD-24B16EA73E85}"/>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T001;23.5;C</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Temperatura válida</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O001;12;PERSONAS</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Ocupación válida</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O001;12.5;PERSONAS</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Formato numérico válido, regla de dominio rechazada</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475F88F8-D382-40EF-9AFB-9F67A4589460}"/>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Trama[sensor=S01, valor=23.5, unidad=C] · Trama[sensor=S02, valor=-2.0, unidad=C] · S1;22;C: Formato inválido · S01;NaN;C: Formato inválido</a:t>
            </a:r>
          </a:p>
        </p:txBody>
      </p:sp>
    </p:spTree>
    <p:extLst>
      <p:ext uri="{BB962C8B-B14F-4D97-AF65-F5344CB8AC3E}">
        <p14:creationId xmlns:p14="http://schemas.microsoft.com/office/powerpoint/2010/main" val="12340053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5674CB1-6E7E-4B5E-9E6D-25BC34206F2A}"/>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A2D2CC-FA4C-4568-B017-708399D6DD3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PC2.2 · Ampliación del proyecto</a:t>
            </a:r>
          </a:p>
        </p:txBody>
      </p:sp>
      <p:sp>
        <p:nvSpPr>
          <p:cNvPr id="3" name="">
            <a:extLst xmlns:a="http://schemas.openxmlformats.org/drawingml/2006/main">
              <a:ext uri="{FF2B5EF4-FFF2-40B4-BE49-F238E27FC236}">
                <a16:creationId xmlns:a16="http://schemas.microsoft.com/office/drawing/2014/main" id="{A8623333-A993-4CDC-BFEE-7864C01AF3E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AC1183-7CC9-46FC-A046-6D7000680D3E}"/>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2.2</a:t>
            </a:r>
          </a:p>
        </p:txBody>
      </p:sp>
      <p:sp>
        <p:nvSpPr>
          <p:cNvPr id="5" name="">
            <a:extLst xmlns:a="http://schemas.openxmlformats.org/drawingml/2006/main">
              <a:ext uri="{FF2B5EF4-FFF2-40B4-BE49-F238E27FC236}">
                <a16:creationId xmlns:a16="http://schemas.microsoft.com/office/drawing/2014/main" id="{8F4E10EB-1E0F-44D5-AD56-96E4C21118F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962AD7CC-1DCD-4518-B4A8-E5A29489DDD6}"/>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0B1294A6-4917-40A8-B9E3-18D67E6725FA}"/>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Adapta el parser a IDs T001 u O001 del catálogo y a una trama id;valor;unidad. Usa grupos con nombre.</a:t>
            </a:r>
          </a:p>
        </p:txBody>
      </p:sp>
      <p:sp>
        <p:nvSpPr>
          <p:cNvPr id="8" name="">
            <a:extLst xmlns:a="http://schemas.openxmlformats.org/drawingml/2006/main">
              <a:ext uri="{FF2B5EF4-FFF2-40B4-BE49-F238E27FC236}">
                <a16:creationId xmlns:a16="http://schemas.microsoft.com/office/drawing/2014/main" id="{2A115D54-56A3-42BA-A155-F85CC449EE49}"/>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216C8848-B59C-4A36-9752-7769FBC29BC6}"/>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Limita la entrada a 80 caracteres y admite únicamente unidades C y PERSONAS. Comprueba que ocupación sea un entero no negativo.</a:t>
            </a:r>
          </a:p>
        </p:txBody>
      </p:sp>
      <p:sp>
        <p:nvSpPr>
          <p:cNvPr id="10" name="">
            <a:extLst xmlns:a="http://schemas.openxmlformats.org/drawingml/2006/main">
              <a:ext uri="{FF2B5EF4-FFF2-40B4-BE49-F238E27FC236}">
                <a16:creationId xmlns:a16="http://schemas.microsoft.com/office/drawing/2014/main" id="{A6CDBEAA-90C7-4AA5-8049-43927F8C179E}"/>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0159B361-5843-419B-AE90-E330475C39F2}"/>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Integra un comando validar-trama que muestre cada campo o un error preciso. Conserva la cadena original en la evidencia de errores.</a:t>
            </a:r>
          </a:p>
        </p:txBody>
      </p:sp>
    </p:spTree>
    <p:extLst>
      <p:ext uri="{BB962C8B-B14F-4D97-AF65-F5344CB8AC3E}">
        <p14:creationId xmlns:p14="http://schemas.microsoft.com/office/powerpoint/2010/main" val="6581338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83BBEE-DD00-48C0-BEDD-50206608B49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154530-820F-46BD-B1A6-F8F8B8891CC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505AFFE5-9847-4655-84F1-E9F58C76DA0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060FE2-196B-4EA7-AFEF-B7C6B7241EE4}"/>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2.2</a:t>
            </a:r>
          </a:p>
        </p:txBody>
      </p:sp>
      <p:sp>
        <p:nvSpPr>
          <p:cNvPr id="5" name="">
            <a:extLst xmlns:a="http://schemas.openxmlformats.org/drawingml/2006/main">
              <a:ext uri="{FF2B5EF4-FFF2-40B4-BE49-F238E27FC236}">
                <a16:creationId xmlns:a16="http://schemas.microsoft.com/office/drawing/2014/main" id="{2A001963-F24E-4271-8A10-A5FAD32A09F0}"/>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CF4CEAAF-181F-4EAB-98E5-5500F615C6E2}"/>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Los grupos con nombre identifican campos.</a:t>
            </a:r>
          </a:p>
        </p:txBody>
      </p:sp>
      <p:sp>
        <p:nvSpPr>
          <p:cNvPr id="7" name="">
            <a:extLst xmlns:a="http://schemas.openxmlformats.org/drawingml/2006/main">
              <a:ext uri="{FF2B5EF4-FFF2-40B4-BE49-F238E27FC236}">
                <a16:creationId xmlns:a16="http://schemas.microsoft.com/office/drawing/2014/main" id="{D0C9B3EC-EF13-46CF-8D27-38CC1904BF5D}"/>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El literal Java y el patrón tienen escapes distintos.</a:t>
            </a:r>
          </a:p>
        </p:txBody>
      </p:sp>
      <p:sp>
        <p:nvSpPr>
          <p:cNvPr id="8" name="">
            <a:extLst xmlns:a="http://schemas.openxmlformats.org/drawingml/2006/main">
              <a:ext uri="{FF2B5EF4-FFF2-40B4-BE49-F238E27FC236}">
                <a16:creationId xmlns:a16="http://schemas.microsoft.com/office/drawing/2014/main" id="{2F762DC6-3665-4A96-ABC3-36C8156CF9F7}"/>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Pattern se reutiliza; Matcher conserva el estado de búsqueda.</a:t>
            </a:r>
          </a:p>
        </p:txBody>
      </p:sp>
      <p:sp>
        <p:nvSpPr>
          <p:cNvPr id="9" name="">
            <a:extLst xmlns:a="http://schemas.openxmlformats.org/drawingml/2006/main">
              <a:ext uri="{FF2B5EF4-FFF2-40B4-BE49-F238E27FC236}">
                <a16:creationId xmlns:a16="http://schemas.microsoft.com/office/drawing/2014/main" id="{1471F1D6-B519-461D-8D89-B6AAEB5EE725}"/>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 conversión numérica requiere validación posterior.</a:t>
            </a:r>
          </a:p>
        </p:txBody>
      </p:sp>
    </p:spTree>
    <p:extLst>
      <p:ext uri="{BB962C8B-B14F-4D97-AF65-F5344CB8AC3E}">
        <p14:creationId xmlns:p14="http://schemas.microsoft.com/office/powerpoint/2010/main" val="13508427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2026-09-10T23:06:08.2500000Z</dcterms:created>
  <dcterms:modified xsi:type="dcterms:W3CDTF">2026-09-10T23:06:08.2500000Z</dcterms:modified>
</coreProperties>
</file>