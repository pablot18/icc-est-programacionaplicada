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aa4926bd3c4033" /><Relationship Type="http://schemas.openxmlformats.org/officeDocument/2006/relationships/extended-properties" Target="/docProps/app.xml" Id="R30d6e0e2436b441b" /><Relationship Type="http://schemas.openxmlformats.org/officeDocument/2006/relationships/officeDocument" Target="/ppt/presentation.xml" Id="R494e187c064f40ae" /></Relationships>
</file>

<file path=ppt/presentation.xml><?xml version="1.0" encoding="utf-8"?>
<p:presentation xmlns:p="http://schemas.openxmlformats.org/presentationml/2006/main">
  <p:sldMasterIdLst>
    <p:sldMasterId xmlns:r="http://schemas.openxmlformats.org/officeDocument/2006/relationships" id="2147483648" r:id="R8959cbbb03934540"/>
  </p:sldMasterIdLst>
  <p:notesMasterIdLst>
    <p:notesMasterId xmlns:r="http://schemas.openxmlformats.org/officeDocument/2006/relationships" r:id="Rfb68fccd85e04090"/>
  </p:notesMasterIdLst>
  <p:sldIdLst>
    <p:sldId xmlns:r="http://schemas.openxmlformats.org/officeDocument/2006/relationships" id="256" r:id="R4d6a8cc4363e4e68"/>
    <p:sldId xmlns:r="http://schemas.openxmlformats.org/officeDocument/2006/relationships" id="257" r:id="R4ae3ad240a5f46fa"/>
    <p:sldId xmlns:r="http://schemas.openxmlformats.org/officeDocument/2006/relationships" id="258" r:id="R95113639847e4262"/>
    <p:sldId xmlns:r="http://schemas.openxmlformats.org/officeDocument/2006/relationships" id="259" r:id="R4b6c6d77b0c34040"/>
    <p:sldId xmlns:r="http://schemas.openxmlformats.org/officeDocument/2006/relationships" id="260" r:id="R5606629f3b234bfa"/>
    <p:sldId xmlns:r="http://schemas.openxmlformats.org/officeDocument/2006/relationships" id="261" r:id="Rc40d70eb73b442d8"/>
    <p:sldId xmlns:r="http://schemas.openxmlformats.org/officeDocument/2006/relationships" id="262" r:id="R86a60b8df801483a"/>
    <p:sldId xmlns:r="http://schemas.openxmlformats.org/officeDocument/2006/relationships" id="263" r:id="R62cf67438ce3486d"/>
    <p:sldId xmlns:r="http://schemas.openxmlformats.org/officeDocument/2006/relationships" id="264" r:id="Rb73879c992a244e3"/>
    <p:sldId xmlns:r="http://schemas.openxmlformats.org/officeDocument/2006/relationships" id="265" r:id="R4e3f2b8cf0224e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d4e70cc5b64100" /><Relationship Type="http://schemas.openxmlformats.org/officeDocument/2006/relationships/slideMaster" Target="/ppt/slideMasters/slideMaster1.xml" Id="R8959cbbb03934540" /><Relationship Type="http://schemas.openxmlformats.org/officeDocument/2006/relationships/notesMaster" Target="/ppt/notesMasters/notesMaster1.xml" Id="Rfb68fccd85e04090" /><Relationship Type="http://schemas.openxmlformats.org/officeDocument/2006/relationships/presProps" Target="/ppt/presProps.xml" Id="Refffcb36ffc544f8" /><Relationship Type="http://schemas.openxmlformats.org/officeDocument/2006/relationships/tableStyles" Target="/ppt/tableStyles.xml" Id="R590f8872ac1549e3" /><Relationship Type="http://schemas.openxmlformats.org/officeDocument/2006/relationships/slide" Target="/ppt/slides/slide1.xml" Id="R4d6a8cc4363e4e68" /><Relationship Type="http://schemas.openxmlformats.org/officeDocument/2006/relationships/slide" Target="/ppt/slides/slide2.xml" Id="R4ae3ad240a5f46fa" /><Relationship Type="http://schemas.openxmlformats.org/officeDocument/2006/relationships/slide" Target="/ppt/slides/slide3.xml" Id="R95113639847e4262" /><Relationship Type="http://schemas.openxmlformats.org/officeDocument/2006/relationships/slide" Target="/ppt/slides/slide4.xml" Id="R4b6c6d77b0c34040" /><Relationship Type="http://schemas.openxmlformats.org/officeDocument/2006/relationships/slide" Target="/ppt/slides/slide5.xml" Id="R5606629f3b234bfa" /><Relationship Type="http://schemas.openxmlformats.org/officeDocument/2006/relationships/slide" Target="/ppt/slides/slide6.xml" Id="Rc40d70eb73b442d8" /><Relationship Type="http://schemas.openxmlformats.org/officeDocument/2006/relationships/slide" Target="/ppt/slides/slide7.xml" Id="R86a60b8df801483a" /><Relationship Type="http://schemas.openxmlformats.org/officeDocument/2006/relationships/slide" Target="/ppt/slides/slide8.xml" Id="R62cf67438ce3486d" /><Relationship Type="http://schemas.openxmlformats.org/officeDocument/2006/relationships/slide" Target="/ppt/slides/slide9.xml" Id="Rb73879c992a244e3" /><Relationship Type="http://schemas.openxmlformats.org/officeDocument/2006/relationships/slide" Target="/ppt/slides/slide10.xml" Id="R4e3f2b8cf0224e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57c0317f034a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7ca4be403a4fd2" /><Relationship Type="http://schemas.openxmlformats.org/officeDocument/2006/relationships/notesMaster" Target="/ppt/notesMasters/notesMaster1.xml" Id="Re3cb2fc6372847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d669c69dff476e" /><Relationship Type="http://schemas.openxmlformats.org/officeDocument/2006/relationships/notesMaster" Target="/ppt/notesMasters/notesMaster1.xml" Id="R88104d567f674f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1af2b487834866" /><Relationship Type="http://schemas.openxmlformats.org/officeDocument/2006/relationships/notesMaster" Target="/ppt/notesMasters/notesMaster1.xml" Id="R955ae2939a3642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4444685c2f4c95" /><Relationship Type="http://schemas.openxmlformats.org/officeDocument/2006/relationships/notesMaster" Target="/ppt/notesMasters/notesMaster1.xml" Id="R59232071b96f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bed3c7ab1b49b9" /><Relationship Type="http://schemas.openxmlformats.org/officeDocument/2006/relationships/notesMaster" Target="/ppt/notesMasters/notesMaster1.xml" Id="R376d6eadce5143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7902f059854ce8" /><Relationship Type="http://schemas.openxmlformats.org/officeDocument/2006/relationships/notesMaster" Target="/ppt/notesMasters/notesMaster1.xml" Id="Ra678d89d1d6f44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1ad9dbd0894a41" /><Relationship Type="http://schemas.openxmlformats.org/officeDocument/2006/relationships/notesMaster" Target="/ppt/notesMasters/notesMaster1.xml" Id="Rd1e65518087b4a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ae6fc4051b4f55" /><Relationship Type="http://schemas.openxmlformats.org/officeDocument/2006/relationships/notesMaster" Target="/ppt/notesMasters/notesMaster1.xml" Id="R2b8a88e4897a40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9610685f5f4a02" /><Relationship Type="http://schemas.openxmlformats.org/officeDocument/2006/relationships/notesMaster" Target="/ppt/notesMasters/notesMaster1.xml" Id="Re09ff67189a949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584da3b12741b5" /><Relationship Type="http://schemas.openxmlformats.org/officeDocument/2006/relationships/notesMaster" Target="/ppt/notesMasters/notesMaster1.xml" Id="R56c7e980394247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2.4. Preprocesamiento y extracción de ficheros.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CampusMonitor recibirá un archivo de tramas. Un error en una línea no debería borrar las lecturas válidas de las demás. Se necesita una importación por flujo, un resumen reproducible y un registro de rechazos con su ubicación.</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Files.newBufferedReader permite procesar un fichero sin cargarlo completo en una lista. Especifica UTF-8 para que el resultado no dependa de la plataforma. El recurso se cierra con try-with-resources incluso cuando una excepción interrumpe el proceso.</a:t>
            </a:r>
          </a:p>
          <a:p xmlns:a="http://schemas.openxmlformats.org/drawingml/2006/main">
            <a:r>
              <a:t/>
            </a:r>
          </a:p>
          <a:p xmlns:a="http://schemas.openxmlformats.org/drawingml/2006/main">
            <a:r>
              <a:t>readLine elimina el terminador de línea, pero no elimina espacios del contenido. Normalizar con strip puede cambiar el protocolo si los espacios son significativos. En este formato las líneas vacías se ignoran y las restantes se procesan exactamente como están. La demostración es local y para archivos controlados. Para ficheros no confiables se necesita además un lector con límite antes de acumular una línea completa, no solo revisar su longitud después.</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proceso se divide en etapas: reconocer campos, convertir números, validar dominio y crear un objeto. La expresión regular debe compilarse una sola vez. Cada línea utiliza su propio Matcher. Un error se representa con número de línea, causa y fragmento de entrada, evitando registrar datos sensibles si el formato los contuviera.</a:t>
            </a:r>
          </a:p>
          <a:p xmlns:a="http://schemas.openxmlformats.org/drawingml/2006/main">
            <a:r>
              <a:t/>
            </a:r>
          </a:p>
          <a:p xmlns:a="http://schemas.openxmlformats.org/drawingml/2006/main">
            <a:r>
              <a:t>Los archivos CSV generales permiten comillas, delimitadores escapados y saltos dentro de campos. Este ejemplo utiliza un protocolo delimitado simple y no pretende ser un parser CSV completo. Cuando el formato lo requiera, debe utilizarse una biblioteca que implemente su gramática.</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resumen útil muestra líneas procesadas, aceptadas, rechazadas y cantidad de registros por sensor. LinkedHashMap conserva el orden de aparición. El número de línea vincula un rechazo con el archivo original y permite repetir el diagnóstico. Las entradas duplicadas necesitan una política explícita: aceptar, rechazar o resolver por una clave.</a:t>
            </a:r>
          </a:p>
          <a:p xmlns:a="http://schemas.openxmlformats.org/drawingml/2006/main">
            <a:r>
              <a:t/>
            </a:r>
          </a:p>
          <a:p xmlns:a="http://schemas.openxmlformats.org/drawingml/2006/main">
            <a:r>
              <a:t>No confundas el número de líneas físicas con el número de registros válidos. Los comentarios y blancos pueden contarse por separado. En una importación persistente, el resumen tampoco garantiza que la base de datos haya confirmado los cambios. Esa confirmación se resolverá mediante transacciones en la unidad 4.</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lectura por flujo limita el consumo de memoria, pero un mapa de todos los sensores puede crecer con la cardinalidad del archivo. Define tamaño máximo de línea y archivo según el caso. Limita las muestras de errores conservadas en memoria y envía el detalle a un fichero si el volumen aumenta.</a:t>
            </a:r>
          </a:p>
          <a:p xmlns:a="http://schemas.openxmlformats.org/drawingml/2006/main">
            <a:r>
              <a:t/>
            </a:r>
          </a:p>
          <a:p xmlns:a="http://schemas.openxmlformats.org/drawingml/2006/main">
            <a:r>
              <a:t>Una regex con cuantificadores ambiguos puede volver lenta una línea cuidadosamente construida. Prefiere gramáticas acotadas y separadores claros. La PC medirá resultados funcionales sobre un conjunto determinista. No afirmará mejoras de rendimiento a partir de una sola ejecución ni mezclará resultados de archivos diferentes.</a:t>
            </a:r>
          </a:p>
          <a:p xmlns:a="http://schemas.openxmlformats.org/drawingml/2006/main">
            <a:r>
              <a:t/>
            </a:r>
          </a:p>
          <a:p xmlns:a="http://schemas.openxmlformats.org/drawingml/2006/main">
            <a:r>
              <a:t>Referencias:</a:t>
            </a:r>
          </a:p>
          <a:p xmlns:a="http://schemas.openxmlformats.org/drawingml/2006/main">
            <a:r>
              <a:t>https://docs.oracle.com/en/java/javase/25/docs/api/java.base/java/util/regex/Pattern.html</a:t>
            </a:r>
          </a:p>
          <a:p xmlns:a="http://schemas.openxmlformats.org/drawingml/2006/main">
            <a:r>
              <a:t>https://docs.oracle.com/en/java/javase/25/docs/api/java.base/java/util/regex/Matcher.html</a:t>
            </a:r>
          </a:p>
          <a:p xmlns:a="http://schemas.openxmlformats.org/drawingml/2006/main">
            <a:r>
              <a:t>https://docs.oracle.com/en/java/javase/25/docs/api/java.base/java/nio/file/Files.html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edu.ups.pap.u02;</a:t>
            </a:r>
          </a:p>
          <a:p xmlns:a="http://schemas.openxmlformats.org/drawingml/2006/main">
            <a:r>
              <a:t>import java.io.*;</a:t>
            </a:r>
          </a:p>
          <a:p xmlns:a="http://schemas.openxmlformats.org/drawingml/2006/main">
            <a:r>
              <a:t>import java.nio.charset.StandardCharsets;</a:t>
            </a:r>
          </a:p>
          <a:p xmlns:a="http://schemas.openxmlformats.org/drawingml/2006/main">
            <a:r>
              <a:t>import java.nio.file.*;</a:t>
            </a:r>
          </a:p>
          <a:p xmlns:a="http://schemas.openxmlformats.org/drawingml/2006/main">
            <a:r>
              <a:t>import java.util.*;</a:t>
            </a:r>
          </a:p>
          <a:p xmlns:a="http://schemas.openxmlformats.org/drawingml/2006/main">
            <a:r>
              <a:t>import java.util.regex.*;</a:t>
            </a:r>
          </a:p>
          <a:p xmlns:a="http://schemas.openxmlformats.org/drawingml/2006/main">
            <a:r>
              <a:t>public class FicherosDemo {</a:t>
            </a:r>
          </a:p>
          <a:p xmlns:a="http://schemas.openxmlformats.org/drawingml/2006/main">
            <a:r>
              <a:t>    static final Pattern P = Pattern.compile("(S[0-9]{2});(-?[0-9]+(?:[.][0-9]+)?);C");</a:t>
            </a:r>
          </a:p>
          <a:p xmlns:a="http://schemas.openxmlformats.org/drawingml/2006/main">
            <a:r>
              <a:t>    public static void main(String[] args) throws IOException {</a:t>
            </a:r>
          </a:p>
          <a:p xmlns:a="http://schemas.openxmlformats.org/drawingml/2006/main">
            <a:r>
              <a:t>        Path archivo = args.length == 0 ? Files.createTempFile("tramas-", ".txt") : Path.of(args[0]);</a:t>
            </a:r>
          </a:p>
          <a:p xmlns:a="http://schemas.openxmlformats.org/drawingml/2006/main">
            <a:r>
              <a:t>        boolean temporal = args.length == 0;</a:t>
            </a:r>
          </a:p>
          <a:p xmlns:a="http://schemas.openxmlformats.org/drawingml/2006/main">
            <a:r>
              <a:t>        if (temporal) Files.writeString(archivo,"S01;23.5;C\nmal\nS01;24.0;C\nS02;-2;C\n");</a:t>
            </a:r>
          </a:p>
          <a:p xmlns:a="http://schemas.openxmlformats.org/drawingml/2006/main">
            <a:r>
              <a:t>        Map&lt;String,Integer&gt; conteo = new LinkedHashMap&lt;&gt;();</a:t>
            </a:r>
          </a:p>
          <a:p xmlns:a="http://schemas.openxmlformats.org/drawingml/2006/main">
            <a:r>
              <a:t>        int linea = 0, validas = 0, invalidas = 0;</a:t>
            </a:r>
          </a:p>
          <a:p xmlns:a="http://schemas.openxmlformats.org/drawingml/2006/main">
            <a:r>
              <a:t>        try (BufferedReader lector = Files.newBufferedReader(archivo, StandardCharsets.UTF_8)) {</a:t>
            </a:r>
          </a:p>
          <a:p xmlns:a="http://schemas.openxmlformats.org/drawingml/2006/main">
            <a:r>
              <a:t>            String texto;</a:t>
            </a:r>
          </a:p>
          <a:p xmlns:a="http://schemas.openxmlformats.org/drawingml/2006/main">
            <a:r>
              <a:t>            while ((texto = lector.readLine()) != null) {</a:t>
            </a:r>
          </a:p>
          <a:p xmlns:a="http://schemas.openxmlformats.org/drawingml/2006/main">
            <a:r>
              <a:t>                linea++;</a:t>
            </a:r>
          </a:p>
          <a:p xmlns:a="http://schemas.openxmlformats.org/drawingml/2006/main">
            <a:r>
              <a:t>                if (texto.isBlank()) continue;</a:t>
            </a:r>
          </a:p>
          <a:p xmlns:a="http://schemas.openxmlformats.org/drawingml/2006/main">
            <a:r>
              <a:t>                Matcher m = P.matcher(texto);</a:t>
            </a:r>
          </a:p>
          <a:p xmlns:a="http://schemas.openxmlformats.org/drawingml/2006/main">
            <a:r>
              <a:t>                if (texto.length() &lt;= 80 &amp;&amp; m.matches() &amp;&amp; Double.isFinite(Double.parseDouble(m.group(2)))) {</a:t>
            </a:r>
          </a:p>
          <a:p xmlns:a="http://schemas.openxmlformats.org/drawingml/2006/main">
            <a:r>
              <a:t>                    conteo.merge(m.group(1),1,Integer::sum); validas++;</a:t>
            </a:r>
          </a:p>
          <a:p xmlns:a="http://schemas.openxmlformats.org/drawingml/2006/main">
            <a:r>
              <a:t>                } else { invalidas++; System.out.println("Rechazada línea " + linea); }</a:t>
            </a:r>
          </a:p>
          <a:p xmlns:a="http://schemas.openxmlformats.org/drawingml/2006/main">
            <a:r>
              <a:t>            }</a:t>
            </a:r>
          </a:p>
          <a:p xmlns:a="http://schemas.openxmlformats.org/drawingml/2006/main">
            <a:r>
              <a:t>        } finally { if (temporal) Files.deleteIfExists(archivo); }</a:t>
            </a:r>
          </a:p>
          <a:p xmlns:a="http://schemas.openxmlformats.org/drawingml/2006/main">
            <a:r>
              <a:t>        System.out.println("Aceptadas=" + validas + ", rechazadas=" + invalidas);</a:t>
            </a:r>
          </a:p>
          <a:p xmlns:a="http://schemas.openxmlformats.org/drawingml/2006/main">
            <a:r>
              <a:t>        System.out.println(conteo);</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Rechazada línea 2</a:t>
            </a:r>
          </a:p>
          <a:p xmlns:a="http://schemas.openxmlformats.org/drawingml/2006/main">
            <a:r>
              <a:t>Aceptadas=3, rechazadas=1</a:t>
            </a:r>
          </a:p>
          <a:p xmlns:a="http://schemas.openxmlformats.org/drawingml/2006/main">
            <a:r>
              <a:t>{S01=2, S02=1}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Rechazada línea 2</a:t>
            </a:r>
          </a:p>
          <a:p xmlns:a="http://schemas.openxmlformats.org/drawingml/2006/main">
            <a:r>
              <a:t>Aceptadas=3, rechazadas=1</a:t>
            </a:r>
          </a:p>
          <a:p xmlns:a="http://schemas.openxmlformats.org/drawingml/2006/main">
            <a:r>
              <a:t>{S01=2, S02=1}</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evidencias/PC2.4.md y enlace al commit final.</a:t>
            </a:r>
          </a:p>
          <a:p xmlns:a="http://schemas.openxmlformats.org/drawingml/2006/main">
            <a:r>
              <a:t>Añade importar &lt;ruta&gt; al proyecto. Reutiliza el parser de 2.2, acepta tramas de sensores registrados y conserva número de línea para rechazos.</a:t>
            </a:r>
          </a:p>
          <a:p xmlns:a="http://schemas.openxmlformats.org/drawingml/2006/main">
            <a:r>
              <a:t>Genera un resumen con registros por sensor y promedio por unidad compatible. Guarda errores en un fichero UTF-8 separado.</a:t>
            </a:r>
          </a:p>
          <a:p xmlns:a="http://schemas.openxmlformats.org/drawingml/2006/main">
            <a:r>
              <a:t>Prueba un archivo con 12 líneas que incluya blancos, formato inválido, sensor inexistente y valores válidos. Justifica cada total y registra el commit.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157ef1840245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d4612000734ccc" /><Relationship Type="http://schemas.openxmlformats.org/officeDocument/2006/relationships/slideLayout" Target="/ppt/slideLayouts/slideLayout1.xml" Id="R034a8665260c4d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4a8665260c4d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3debd68a85489f" /><Relationship Type="http://schemas.openxmlformats.org/officeDocument/2006/relationships/image" Target="/ppt/media/image.png" Id="Rf76c303938e74e76" /><Relationship Type="http://schemas.openxmlformats.org/officeDocument/2006/relationships/notesSlide" Target="/ppt/notesSlides/notesSlide1.xml" Id="R646cdd27176c40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a69a51f2bd443a" /><Relationship Type="http://schemas.openxmlformats.org/officeDocument/2006/relationships/notesSlide" Target="/ppt/notesSlides/notesSlide2.xml" Id="R7f66ef342fe34e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b428aafdc64943" /><Relationship Type="http://schemas.openxmlformats.org/officeDocument/2006/relationships/notesSlide" Target="/ppt/notesSlides/notesSlide3.xml" Id="Re41327053c6e49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8da0a23b9e4c51" /><Relationship Type="http://schemas.openxmlformats.org/officeDocument/2006/relationships/notesSlide" Target="/ppt/notesSlides/notesSlide4.xml" Id="R03fa6351940c41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f3ba68aa3c4d5d" /><Relationship Type="http://schemas.openxmlformats.org/officeDocument/2006/relationships/notesSlide" Target="/ppt/notesSlides/notesSlide5.xml" Id="Rb4fd3a2a1dc140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725ea233174d7d" /><Relationship Type="http://schemas.openxmlformats.org/officeDocument/2006/relationships/notesSlide" Target="/ppt/notesSlides/notesSlide6.xml" Id="Re213a7527de04a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5ba6c586484b65" /><Relationship Type="http://schemas.openxmlformats.org/officeDocument/2006/relationships/notesSlide" Target="/ppt/notesSlides/notesSlide7.xml" Id="R53dbcdbaf78144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dac12184144dcf" /><Relationship Type="http://schemas.openxmlformats.org/officeDocument/2006/relationships/notesSlide" Target="/ppt/notesSlides/notesSlide8.xml" Id="Rdc37606bd04749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9fb9d92e8346ca" /><Relationship Type="http://schemas.openxmlformats.org/officeDocument/2006/relationships/notesSlide" Target="/ppt/notesSlides/notesSlide9.xml" Id="Rb338b5fd53e644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0fba3067e148c4" /><Relationship Type="http://schemas.openxmlformats.org/officeDocument/2006/relationships/notesSlide" Target="/ppt/notesSlides/notesSlide10.xml" Id="Rdbb7d1f5b3264e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6c303938e74e76"/>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B7C9C6-3D9B-42A6-9306-3C5DE10B2012}"/>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7EB25AFA-1BDE-4675-A42B-21B2642B4248}"/>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Preprocesamiento y extracción de ficheros</a:t>
            </a:r>
          </a:p>
        </p:txBody>
      </p:sp>
      <p:sp>
        <p:nvSpPr>
          <p:cNvPr id="4" name="">
            <a:extLst xmlns:a="http://schemas.openxmlformats.org/drawingml/2006/main">
              <a:ext uri="{FF2B5EF4-FFF2-40B4-BE49-F238E27FC236}">
                <a16:creationId xmlns:a16="http://schemas.microsoft.com/office/drawing/2014/main" id="{9F060C0C-052B-43EB-A8C4-4C162F535868}"/>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88D3EF-C124-4543-8F2C-CE65B4334BA4}"/>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2 · 2.4</a:t>
            </a:r>
          </a:p>
        </p:txBody>
      </p:sp>
      <p:sp>
        <p:nvSpPr>
          <p:cNvPr id="6" name="">
            <a:extLst xmlns:a="http://schemas.openxmlformats.org/drawingml/2006/main">
              <a:ext uri="{FF2B5EF4-FFF2-40B4-BE49-F238E27FC236}">
                <a16:creationId xmlns:a16="http://schemas.microsoft.com/office/drawing/2014/main" id="{355E884B-E8F4-4DBE-A28B-F8CDAA31F75E}"/>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5934940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13C36A-5928-47EE-AEF7-E487E5CD930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4DF7AE-66C0-4468-85F0-DF55885C72F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D8870133-CEA2-4D8A-B828-CE075F94065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5C7CF3-F10A-49BE-AED7-0B2B6CD91CE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F40F1012-F0B5-486F-BD94-D19585B147F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84DFB316-F0DB-4166-9E3B-58E0BA272427}"/>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CampusMonitor recibirá un archivo de tramas. Un error en una línea no debería borrar las lecturas válidas de las demás. Se necesita una importación por flujo, un resumen reproducible y un registro de rechazos con su ubicación.</a:t>
            </a:r>
          </a:p>
        </p:txBody>
      </p:sp>
    </p:spTree>
    <p:extLst>
      <p:ext uri="{BB962C8B-B14F-4D97-AF65-F5344CB8AC3E}">
        <p14:creationId xmlns:p14="http://schemas.microsoft.com/office/powerpoint/2010/main" val="8529610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1A8CAB-0579-4758-B419-0D3D98ED04D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2B5EC8-9283-4832-83D5-C56E9241843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Lectura incremental y codificación</a:t>
            </a:r>
          </a:p>
        </p:txBody>
      </p:sp>
      <p:sp>
        <p:nvSpPr>
          <p:cNvPr id="3" name="">
            <a:extLst xmlns:a="http://schemas.openxmlformats.org/drawingml/2006/main">
              <a:ext uri="{FF2B5EF4-FFF2-40B4-BE49-F238E27FC236}">
                <a16:creationId xmlns:a16="http://schemas.microsoft.com/office/drawing/2014/main" id="{D6EAB39D-C742-406A-9C1E-62000492BFC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687C50-D42A-4E8E-A62D-855A9D83E05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685EAEBA-EBC1-4507-99D5-536AAC3FCD8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708882D6-C1AA-437F-9CBD-03BA134DA25F}"/>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lectura por flujo evita cargar todo el archivo.</a:t>
            </a:r>
          </a:p>
        </p:txBody>
      </p:sp>
      <p:sp>
        <p:nvSpPr>
          <p:cNvPr id="7" name="">
            <a:extLst xmlns:a="http://schemas.openxmlformats.org/drawingml/2006/main">
              <a:ext uri="{FF2B5EF4-FFF2-40B4-BE49-F238E27FC236}">
                <a16:creationId xmlns:a16="http://schemas.microsoft.com/office/drawing/2014/main" id="{72C8D330-97C0-4055-8E3A-7E9D59AB33A2}"/>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Files.newBufferedReader permite procesar un fichero sin cargarlo completo en una lista. Especifica UTF-8 para que el resultado no dependa de la plataforma. El recurso se cierra con try-with-resources incluso cuando una excepción interrumpe el proceso.</a:t>
            </a:r>
          </a:p>
        </p:txBody>
      </p:sp>
      <p:sp>
        <p:nvSpPr>
          <p:cNvPr id="8" name="">
            <a:extLst xmlns:a="http://schemas.openxmlformats.org/drawingml/2006/main">
              <a:ext uri="{FF2B5EF4-FFF2-40B4-BE49-F238E27FC236}">
                <a16:creationId xmlns:a16="http://schemas.microsoft.com/office/drawing/2014/main" id="{F019959C-D74A-4FF0-86D7-C2853D734BA7}"/>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20F9DA0-3A2C-40E7-B336-FC89C74A8F5E}"/>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readLine elimina el terminador de línea, pero no elimina espacios del contenido. Normalizar con strip puede cambiar el protocolo si los espacios son significativos.</a:t>
            </a:r>
          </a:p>
        </p:txBody>
      </p:sp>
    </p:spTree>
    <p:extLst>
      <p:ext uri="{BB962C8B-B14F-4D97-AF65-F5344CB8AC3E}">
        <p14:creationId xmlns:p14="http://schemas.microsoft.com/office/powerpoint/2010/main" val="1997660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7A5C03-D225-4B02-BB54-4AD4C4F2A30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4B0085-4D07-4AC4-B4FD-8CD668D5AFC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Reconocimiento, conversión y modelo</a:t>
            </a:r>
          </a:p>
        </p:txBody>
      </p:sp>
      <p:sp>
        <p:nvSpPr>
          <p:cNvPr id="3" name="">
            <a:extLst xmlns:a="http://schemas.openxmlformats.org/drawingml/2006/main">
              <a:ext uri="{FF2B5EF4-FFF2-40B4-BE49-F238E27FC236}">
                <a16:creationId xmlns:a16="http://schemas.microsoft.com/office/drawing/2014/main" id="{D95B6007-87C9-4A14-A662-C7BC2C8F93C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13F8D6-0F6E-4164-8A10-E5AD6727006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9AC5488D-E591-4C01-A3F4-904CB5E3647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384DBD3E-A7ED-44F7-9409-B0F648A8532D}"/>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Reconocer el formato no garantiza un valor válido.</a:t>
            </a:r>
          </a:p>
        </p:txBody>
      </p:sp>
      <p:sp>
        <p:nvSpPr>
          <p:cNvPr id="7" name="">
            <a:extLst xmlns:a="http://schemas.openxmlformats.org/drawingml/2006/main">
              <a:ext uri="{FF2B5EF4-FFF2-40B4-BE49-F238E27FC236}">
                <a16:creationId xmlns:a16="http://schemas.microsoft.com/office/drawing/2014/main" id="{DA98619D-F7CA-4725-94C5-ED46AF1FCC19}"/>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proceso se divide en etapas: reconocer campos, convertir números, validar dominio y crear un objeto. La expresión regular debe compilarse una sola vez. Cada línea utiliza su propio Matcher.</a:t>
            </a:r>
          </a:p>
        </p:txBody>
      </p:sp>
      <p:sp>
        <p:nvSpPr>
          <p:cNvPr id="8" name="">
            <a:extLst xmlns:a="http://schemas.openxmlformats.org/drawingml/2006/main">
              <a:ext uri="{FF2B5EF4-FFF2-40B4-BE49-F238E27FC236}">
                <a16:creationId xmlns:a16="http://schemas.microsoft.com/office/drawing/2014/main" id="{1F9FB3EC-372F-4F1F-8C60-C6B5968E47D6}"/>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249C92-B2A6-4D43-BB5D-55AC2872E06D}"/>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Los archivos CSV generales permiten comillas, delimitadores escapados y saltos dentro de campos. Este ejemplo utiliza un protocolo delimitado simple y no pretende ser un parser CSV completo.</a:t>
            </a:r>
          </a:p>
        </p:txBody>
      </p:sp>
    </p:spTree>
    <p:extLst>
      <p:ext uri="{BB962C8B-B14F-4D97-AF65-F5344CB8AC3E}">
        <p14:creationId xmlns:p14="http://schemas.microsoft.com/office/powerpoint/2010/main" val="6582310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C7FD68-15BB-4358-BE12-6B13FFE1C9B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B8053D-9BD5-48E0-8C06-93FFDAE8C9E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Resumen y trazabilidad</a:t>
            </a:r>
          </a:p>
        </p:txBody>
      </p:sp>
      <p:sp>
        <p:nvSpPr>
          <p:cNvPr id="3" name="">
            <a:extLst xmlns:a="http://schemas.openxmlformats.org/drawingml/2006/main">
              <a:ext uri="{FF2B5EF4-FFF2-40B4-BE49-F238E27FC236}">
                <a16:creationId xmlns:a16="http://schemas.microsoft.com/office/drawing/2014/main" id="{7F293D22-5710-4348-9115-1C7A4035698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82C097-B78A-4A7D-AB7C-E21C2C853BF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22256BB8-EA03-49B4-91D2-719B8E7AD69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E5EDBDD5-F27C-4783-B8E1-1005E168C3A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Cada rechazo conserva su número de línea y motivo.</a:t>
            </a:r>
          </a:p>
        </p:txBody>
      </p:sp>
      <p:sp>
        <p:nvSpPr>
          <p:cNvPr id="7" name="">
            <a:extLst xmlns:a="http://schemas.openxmlformats.org/drawingml/2006/main">
              <a:ext uri="{FF2B5EF4-FFF2-40B4-BE49-F238E27FC236}">
                <a16:creationId xmlns:a16="http://schemas.microsoft.com/office/drawing/2014/main" id="{BB861EA4-404C-44EA-B97C-9EA828AB33A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resumen útil muestra líneas procesadas, aceptadas, rechazadas y cantidad de registros por sensor. LinkedHashMap conserva el orden de aparición. El número de línea vincula un rechazo con el archivo original y permite repetir el diagnóstico. Las entradas duplicadas necesitan una política explícita: aceptar, rechazar o resolver por una clave.</a:t>
            </a:r>
          </a:p>
        </p:txBody>
      </p:sp>
      <p:sp>
        <p:nvSpPr>
          <p:cNvPr id="8" name="">
            <a:extLst xmlns:a="http://schemas.openxmlformats.org/drawingml/2006/main">
              <a:ext uri="{FF2B5EF4-FFF2-40B4-BE49-F238E27FC236}">
                <a16:creationId xmlns:a16="http://schemas.microsoft.com/office/drawing/2014/main" id="{310EB153-A0BD-46E3-BFB7-F9F307203845}"/>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0EC841-9733-467F-892C-E5440F0AD622}"/>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No confundas el número de líneas físicas con el número de registros válidos. Los comentarios y blancos pueden contarse por separado.</a:t>
            </a:r>
          </a:p>
        </p:txBody>
      </p:sp>
    </p:spTree>
    <p:extLst>
      <p:ext uri="{BB962C8B-B14F-4D97-AF65-F5344CB8AC3E}">
        <p14:creationId xmlns:p14="http://schemas.microsoft.com/office/powerpoint/2010/main" val="12053836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CD5AA6-A218-485C-944A-43C7272FCFF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A7498-F2C2-47AB-A282-AFAE534EEA6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Rendimiento y límites</a:t>
            </a:r>
          </a:p>
        </p:txBody>
      </p:sp>
      <p:sp>
        <p:nvSpPr>
          <p:cNvPr id="3" name="">
            <a:extLst xmlns:a="http://schemas.openxmlformats.org/drawingml/2006/main">
              <a:ext uri="{FF2B5EF4-FFF2-40B4-BE49-F238E27FC236}">
                <a16:creationId xmlns:a16="http://schemas.microsoft.com/office/drawing/2014/main" id="{8ECF313B-985D-4E93-A024-4018488EA37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00312B-BACE-4AB0-B2AD-CAC2DC83D6A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96D026FA-9C16-4181-AE85-5CEE7E8D8E7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5D7FA8B9-DABF-4D07-A2FA-064668D929F8}"/>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tamaño de entrada y el costo del patrón necesitan límites.</a:t>
            </a:r>
          </a:p>
        </p:txBody>
      </p:sp>
      <p:sp>
        <p:nvSpPr>
          <p:cNvPr id="7" name="">
            <a:extLst xmlns:a="http://schemas.openxmlformats.org/drawingml/2006/main">
              <a:ext uri="{FF2B5EF4-FFF2-40B4-BE49-F238E27FC236}">
                <a16:creationId xmlns:a16="http://schemas.microsoft.com/office/drawing/2014/main" id="{15D8B2DA-3C08-420C-A648-985CEC703B67}"/>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 lectura por flujo limita el consumo de memoria, pero un mapa de todos los sensores puede crecer con la cardinalidad del archivo. Define tamaño máximo de línea y archivo según el caso.</a:t>
            </a:r>
          </a:p>
        </p:txBody>
      </p:sp>
      <p:sp>
        <p:nvSpPr>
          <p:cNvPr id="8" name="">
            <a:extLst xmlns:a="http://schemas.openxmlformats.org/drawingml/2006/main">
              <a:ext uri="{FF2B5EF4-FFF2-40B4-BE49-F238E27FC236}">
                <a16:creationId xmlns:a16="http://schemas.microsoft.com/office/drawing/2014/main" id="{540B833B-E3DB-4B83-9DA2-B739BEE63A75}"/>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1C4C22-2088-4EEC-9155-CBEDD57777C0}"/>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Una regex con cuantificadores ambiguos puede volver lenta una línea cuidadosamente construida. Prefiere gramáticas acotadas y separadores claros. La PC medirá resultados funcionales sobre un conjunto determinista.</a:t>
            </a:r>
          </a:p>
        </p:txBody>
      </p:sp>
    </p:spTree>
    <p:extLst>
      <p:ext uri="{BB962C8B-B14F-4D97-AF65-F5344CB8AC3E}">
        <p14:creationId xmlns:p14="http://schemas.microsoft.com/office/powerpoint/2010/main" val="18504842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6A7B85-256E-4FFB-82B1-964FAB2ACF0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1C1C5B-F6F0-4A7B-B83C-E45783237AC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06D11B30-4090-4AF2-A15C-3170EA95E22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A79D11-298E-4591-998B-22599BCA1B6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496E083A-B686-4DB8-922B-92A9AF0A866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2931A41E-6E83-4681-862D-0925510DC2CC}"/>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DA1327-ADC8-4AFC-87F2-174646132923}"/>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IOException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Path archivo = args.length == 0 ? Files.createTempFile("tramas-", ".txt") : Path.of(args[0]);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boolean temporal = args.length == 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(temporal) Files.writeString(archivo,"S01;23.5;C\nmal\nS01;24.0;C\nS02;-2;C\n");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Map&lt;String,Integer&gt; conteo = new LinkedHashMap&lt;&gt;();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int linea = 0, validas = 0, invalidas = 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(BufferedReader lector = Files.newBufferedReader(archivo, StandardCharsets.UTF_8))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String texto;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while ((texto = lector.readLine()) != null)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linea++;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(texto.isBlank()) continue;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Matcher m = P.matcher(texto);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(texto.length() &lt;= 80 &amp;&amp; m.matches() &amp;&amp; Double.isFinite(Double.parseDouble(m.group(2)))) {</a:t>
            </a:r>
          </a:p>
        </p:txBody>
      </p:sp>
      <p:sp>
        <p:nvSpPr>
          <p:cNvPr id="8" name="">
            <a:extLst xmlns:a="http://schemas.openxmlformats.org/drawingml/2006/main">
              <a:ext uri="{FF2B5EF4-FFF2-40B4-BE49-F238E27FC236}">
                <a16:creationId xmlns:a16="http://schemas.microsoft.com/office/drawing/2014/main" id="{4B14C4B9-C776-4332-BCD1-08579A14AF9C}"/>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FicherosDemo.java. Código completo y ejecución en material.md.</a:t>
            </a:r>
          </a:p>
        </p:txBody>
      </p:sp>
    </p:spTree>
    <p:extLst>
      <p:ext uri="{BB962C8B-B14F-4D97-AF65-F5344CB8AC3E}">
        <p14:creationId xmlns:p14="http://schemas.microsoft.com/office/powerpoint/2010/main" val="433483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8D59EF-A146-46E0-9121-040997DC0E8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F10FFF-4E45-4A89-8FDD-CDD992EDEF6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A914389C-F540-433F-AF12-0FA747DBB35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C7C169-E14E-41CF-A9A1-01C612B3F0E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5F2910AA-F1CF-4356-B5C5-B4FEED88F93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Archivo con válidas y errores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Continúa y reporta ambas cantidades</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Ruta inexistente</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Error de E/S descriptivo</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Dos importaciones del mismo archivo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Política de duplicados documentada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3135258B-F420-4E71-86A7-9D092E4A5D64}"/>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Rechazada línea 2 · Aceptadas=3, rechazadas=1 · {S01=2, S02=1}</a:t>
            </a:r>
          </a:p>
        </p:txBody>
      </p:sp>
    </p:spTree>
    <p:extLst>
      <p:ext uri="{BB962C8B-B14F-4D97-AF65-F5344CB8AC3E}">
        <p14:creationId xmlns:p14="http://schemas.microsoft.com/office/powerpoint/2010/main" val="18585180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453D57-09C7-42E0-870D-3E5A71289EA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1F3E3E-D13B-4303-8C16-1C35127D7AB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PC2.4 · Ampliación del proyecto</a:t>
            </a:r>
          </a:p>
        </p:txBody>
      </p:sp>
      <p:sp>
        <p:nvSpPr>
          <p:cNvPr id="3" name="">
            <a:extLst xmlns:a="http://schemas.openxmlformats.org/drawingml/2006/main">
              <a:ext uri="{FF2B5EF4-FFF2-40B4-BE49-F238E27FC236}">
                <a16:creationId xmlns:a16="http://schemas.microsoft.com/office/drawing/2014/main" id="{4BB1AEA1-13B8-4C0F-A76B-93DE4FA6C0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0E6FA2-161E-4843-955F-6E98BB1D711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DBB94D8E-90E0-4029-BF12-AD072518854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ECC79526-5DEB-4C64-9566-038D2235C3B6}"/>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5CFE5275-8BE7-4C1D-BC71-90652C7FA333}"/>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Añade importar &lt;ruta&gt; al proyecto. Reutiliza el parser de 2.2, acepta tramas de sensores registrados y conserva número de línea para rechazos.</a:t>
            </a:r>
          </a:p>
        </p:txBody>
      </p:sp>
      <p:sp>
        <p:nvSpPr>
          <p:cNvPr id="8" name="">
            <a:extLst xmlns:a="http://schemas.openxmlformats.org/drawingml/2006/main">
              <a:ext uri="{FF2B5EF4-FFF2-40B4-BE49-F238E27FC236}">
                <a16:creationId xmlns:a16="http://schemas.microsoft.com/office/drawing/2014/main" id="{563D0A64-CA78-4C21-8E3E-17D2ED518ABB}"/>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2F12C5AD-75EF-4A24-884C-398BEF68AFE5}"/>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Genera un resumen con registros por sensor y promedio por unidad compatible. Guarda errores en un fichero UTF-8 separado.</a:t>
            </a:r>
          </a:p>
        </p:txBody>
      </p:sp>
      <p:sp>
        <p:nvSpPr>
          <p:cNvPr id="10" name="">
            <a:extLst xmlns:a="http://schemas.openxmlformats.org/drawingml/2006/main">
              <a:ext uri="{FF2B5EF4-FFF2-40B4-BE49-F238E27FC236}">
                <a16:creationId xmlns:a16="http://schemas.microsoft.com/office/drawing/2014/main" id="{D613E2BA-7FC2-423F-A03A-A6A099DD9D10}"/>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5338B2B0-DC9F-4A6F-89F8-B6DD7A863CB9}"/>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Prueba un archivo con 12 líneas que incluya blancos, formato inválido, sensor inexistente y valores válidos. Justifica cada total y registra el commit.</a:t>
            </a:r>
          </a:p>
        </p:txBody>
      </p:sp>
    </p:spTree>
    <p:extLst>
      <p:ext uri="{BB962C8B-B14F-4D97-AF65-F5344CB8AC3E}">
        <p14:creationId xmlns:p14="http://schemas.microsoft.com/office/powerpoint/2010/main" val="6348624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19AE82-67B9-4675-A2EA-99ED1711871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AE58B3-00B9-4973-B793-95C1E56CB17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73497AD2-71C6-43F3-BF24-BCA4E004E70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6AA671-5A88-4181-95D0-6DEB515DD5D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2.4</a:t>
            </a:r>
          </a:p>
        </p:txBody>
      </p:sp>
      <p:sp>
        <p:nvSpPr>
          <p:cNvPr id="5" name="">
            <a:extLst xmlns:a="http://schemas.openxmlformats.org/drawingml/2006/main">
              <a:ext uri="{FF2B5EF4-FFF2-40B4-BE49-F238E27FC236}">
                <a16:creationId xmlns:a16="http://schemas.microsoft.com/office/drawing/2014/main" id="{EC9A8FBD-EE24-4267-83A9-A5545393052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099DA3CE-CFA6-42B1-8DFA-9A98C60997EA}"/>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La lectura por flujo evita cargar todo el archivo.</a:t>
            </a:r>
          </a:p>
        </p:txBody>
      </p:sp>
      <p:sp>
        <p:nvSpPr>
          <p:cNvPr id="7" name="">
            <a:extLst xmlns:a="http://schemas.openxmlformats.org/drawingml/2006/main">
              <a:ext uri="{FF2B5EF4-FFF2-40B4-BE49-F238E27FC236}">
                <a16:creationId xmlns:a16="http://schemas.microsoft.com/office/drawing/2014/main" id="{16779B13-E255-4D2F-86E1-0B2D040AA6C5}"/>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Reconocer el formato no garantiza un valor válido.</a:t>
            </a:r>
          </a:p>
        </p:txBody>
      </p:sp>
      <p:sp>
        <p:nvSpPr>
          <p:cNvPr id="8" name="">
            <a:extLst xmlns:a="http://schemas.openxmlformats.org/drawingml/2006/main">
              <a:ext uri="{FF2B5EF4-FFF2-40B4-BE49-F238E27FC236}">
                <a16:creationId xmlns:a16="http://schemas.microsoft.com/office/drawing/2014/main" id="{8E601952-E6AF-46D9-BEE2-EA4470961D99}"/>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Cada rechazo conserva su número de línea y motivo.</a:t>
            </a:r>
          </a:p>
        </p:txBody>
      </p:sp>
      <p:sp>
        <p:nvSpPr>
          <p:cNvPr id="9" name="">
            <a:extLst xmlns:a="http://schemas.openxmlformats.org/drawingml/2006/main">
              <a:ext uri="{FF2B5EF4-FFF2-40B4-BE49-F238E27FC236}">
                <a16:creationId xmlns:a16="http://schemas.microsoft.com/office/drawing/2014/main" id="{B7D454AB-6F46-4B1B-87A8-42E013684D47}"/>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tamaño de entrada y el costo del patrón necesitan límites.</a:t>
            </a:r>
          </a:p>
        </p:txBody>
      </p:sp>
    </p:spTree>
    <p:extLst>
      <p:ext uri="{BB962C8B-B14F-4D97-AF65-F5344CB8AC3E}">
        <p14:creationId xmlns:p14="http://schemas.microsoft.com/office/powerpoint/2010/main" val="11272757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2026-09-10T23:06:18.5810000Z</dcterms:created>
  <dcterms:modified xsi:type="dcterms:W3CDTF">2026-09-10T23:06:18.5810000Z</dcterms:modified>
</coreProperties>
</file>