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36a686f7445f2" /><Relationship Type="http://schemas.openxmlformats.org/officeDocument/2006/relationships/extended-properties" Target="/docProps/app.xml" Id="R21a7b3b9b2d24c7a" /><Relationship Type="http://schemas.openxmlformats.org/officeDocument/2006/relationships/officeDocument" Target="/ppt/presentation.xml" Id="R6b9082e9e854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366d1f66c4f6c"/>
  </p:sldMasterIdLst>
  <p:notesMasterIdLst>
    <p:notesMasterId xmlns:r="http://schemas.openxmlformats.org/officeDocument/2006/relationships" r:id="R1dad6470bed44cfc"/>
  </p:notesMasterIdLst>
  <p:sldIdLst>
    <p:sldId xmlns:r="http://schemas.openxmlformats.org/officeDocument/2006/relationships" id="256" r:id="R5d68bbc7175b430d"/>
    <p:sldId xmlns:r="http://schemas.openxmlformats.org/officeDocument/2006/relationships" id="257" r:id="R46e38cd220964d75"/>
    <p:sldId xmlns:r="http://schemas.openxmlformats.org/officeDocument/2006/relationships" id="258" r:id="R232961a1fa164d96"/>
    <p:sldId xmlns:r="http://schemas.openxmlformats.org/officeDocument/2006/relationships" id="259" r:id="R51f3852eb7284353"/>
    <p:sldId xmlns:r="http://schemas.openxmlformats.org/officeDocument/2006/relationships" id="260" r:id="Rd7688e44dacb4606"/>
    <p:sldId xmlns:r="http://schemas.openxmlformats.org/officeDocument/2006/relationships" id="261" r:id="Ra87b1f4600c640b0"/>
    <p:sldId xmlns:r="http://schemas.openxmlformats.org/officeDocument/2006/relationships" id="262" r:id="R238f4262c7ff409d"/>
    <p:sldId xmlns:r="http://schemas.openxmlformats.org/officeDocument/2006/relationships" id="263" r:id="R7290ac261d57460e"/>
    <p:sldId xmlns:r="http://schemas.openxmlformats.org/officeDocument/2006/relationships" id="264" r:id="R41b7cbb52287476c"/>
    <p:sldId xmlns:r="http://schemas.openxmlformats.org/officeDocument/2006/relationships" id="265" r:id="Raa3323431aa146d4"/>
    <p:sldId xmlns:r="http://schemas.openxmlformats.org/officeDocument/2006/relationships" id="266" r:id="R0f685c9145634d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3d7250ac8340b0" /><Relationship Type="http://schemas.openxmlformats.org/officeDocument/2006/relationships/slideMaster" Target="/ppt/slideMasters/slideMaster1.xml" Id="Rb12366d1f66c4f6c" /><Relationship Type="http://schemas.openxmlformats.org/officeDocument/2006/relationships/notesMaster" Target="/ppt/notesMasters/notesMaster1.xml" Id="R1dad6470bed44cfc" /><Relationship Type="http://schemas.openxmlformats.org/officeDocument/2006/relationships/presProps" Target="/ppt/presProps.xml" Id="Rae0dba0d051c47f2" /><Relationship Type="http://schemas.openxmlformats.org/officeDocument/2006/relationships/tableStyles" Target="/ppt/tableStyles.xml" Id="R5e9aa265e2674f78" /><Relationship Type="http://schemas.openxmlformats.org/officeDocument/2006/relationships/slide" Target="/ppt/slides/slide1.xml" Id="R5d68bbc7175b430d" /><Relationship Type="http://schemas.openxmlformats.org/officeDocument/2006/relationships/slide" Target="/ppt/slides/slide2.xml" Id="R46e38cd220964d75" /><Relationship Type="http://schemas.openxmlformats.org/officeDocument/2006/relationships/slide" Target="/ppt/slides/slide3.xml" Id="R232961a1fa164d96" /><Relationship Type="http://schemas.openxmlformats.org/officeDocument/2006/relationships/slide" Target="/ppt/slides/slide4.xml" Id="R51f3852eb7284353" /><Relationship Type="http://schemas.openxmlformats.org/officeDocument/2006/relationships/slide" Target="/ppt/slides/slide5.xml" Id="Rd7688e44dacb4606" /><Relationship Type="http://schemas.openxmlformats.org/officeDocument/2006/relationships/slide" Target="/ppt/slides/slide6.xml" Id="Ra87b1f4600c640b0" /><Relationship Type="http://schemas.openxmlformats.org/officeDocument/2006/relationships/slide" Target="/ppt/slides/slide7.xml" Id="R238f4262c7ff409d" /><Relationship Type="http://schemas.openxmlformats.org/officeDocument/2006/relationships/slide" Target="/ppt/slides/slide8.xml" Id="R7290ac261d57460e" /><Relationship Type="http://schemas.openxmlformats.org/officeDocument/2006/relationships/slide" Target="/ppt/slides/slide9.xml" Id="R41b7cbb52287476c" /><Relationship Type="http://schemas.openxmlformats.org/officeDocument/2006/relationships/slide" Target="/ppt/slides/slide10.xml" Id="Raa3323431aa146d4" /><Relationship Type="http://schemas.openxmlformats.org/officeDocument/2006/relationships/slide" Target="/ppt/slides/slide11.xml" Id="R0f685c914563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89e144e87e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c35ebff074cb7" /><Relationship Type="http://schemas.openxmlformats.org/officeDocument/2006/relationships/notesMaster" Target="/ppt/notesMasters/notesMaster1.xml" Id="R471f0cf0ab014b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4b0c8136647d8" /><Relationship Type="http://schemas.openxmlformats.org/officeDocument/2006/relationships/notesMaster" Target="/ppt/notesMasters/notesMaster1.xml" Id="Rdae552845e08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f9d46f981941a0" /><Relationship Type="http://schemas.openxmlformats.org/officeDocument/2006/relationships/notesMaster" Target="/ppt/notesMasters/notesMaster1.xml" Id="R51c19589492241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5732249464199" /><Relationship Type="http://schemas.openxmlformats.org/officeDocument/2006/relationships/notesMaster" Target="/ppt/notesMasters/notesMaster1.xml" Id="Rac68e5f42ae84b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5a62dc8734e95" /><Relationship Type="http://schemas.openxmlformats.org/officeDocument/2006/relationships/notesMaster" Target="/ppt/notesMasters/notesMaster1.xml" Id="R2591fbe0d3e94f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8d892bd29a4be0" /><Relationship Type="http://schemas.openxmlformats.org/officeDocument/2006/relationships/notesMaster" Target="/ppt/notesMasters/notesMaster1.xml" Id="Ref8bb617f8424e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9b1ccd640f4bcf" /><Relationship Type="http://schemas.openxmlformats.org/officeDocument/2006/relationships/notesMaster" Target="/ppt/notesMasters/notesMaster1.xml" Id="R1a95c0cc4f7d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8c01b9123f49a0" /><Relationship Type="http://schemas.openxmlformats.org/officeDocument/2006/relationships/notesMaster" Target="/ppt/notesMasters/notesMaster1.xml" Id="R37b831621e5842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9e1f32d4bf40b7" /><Relationship Type="http://schemas.openxmlformats.org/officeDocument/2006/relationships/notesMaster" Target="/ppt/notesMasters/notesMaster1.xml" Id="Rda3a443707eb4b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a3d60e9842466e" /><Relationship Type="http://schemas.openxmlformats.org/officeDocument/2006/relationships/notesMaster" Target="/ppt/notesMasters/notesMaster1.xml" Id="R63c80a4ff1f343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803fbb6e464a84" /><Relationship Type="http://schemas.openxmlformats.org/officeDocument/2006/relationships/notesMaster" Target="/ppt/notesMasters/notesMaster1.xml" Id="R344b53bd496a41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3.3a. Sincronización con monitores y locks.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Varias tareas pueden intentar registrar el mismo identificador o actualizar un resumen. Proteger operaciones individuales no basta si la regla requiere comprobar y modificar como una única operación.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Imagen original generada para el material. Prompt y origen en docs/prompts-imagenes.json.</a:t>
            </a:r>
          </a:p>
          <a:p xmlns:a="http://schemas.openxmlformats.org/drawingml/2006/main">
            <a:r>
              <a:t>No constituye un esquema eléctrico ni una especificación técnica.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sección crítica agrupa operaciones que deben observarse de forma indivisible respecto de otros participantes. En una reserva de capacidad, comprobar disponible y descontar deben ejecutarse bajo la misma protección. Sin ello, dos tareas pueden aprobar la misma capacidad restante.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Define primero la invariante, por ejemplo disponibles &gt;= 0 y reservas + disponibles = capacidadInicial. La protección debe cubrir todos los accesos que participan en ella, incluidas lecturas. Si una parte usa un lock y otra modifica el campo directamente, el protocolo queda incompleto. No expongas referencias mutables que permitan saltarse ese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synchronized utiliza el monitor del objeto indicado. Un método de instancia sincronizado usa this y un método static sincronizado usa el objeto Class. Dos instancias distintas poseen monitores distintos, aunque ejecuten el mismo método.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bloque synchronized permite limitar el alcance y emplear un lock privado final. Al salir del monitor se publican escrituras hacia una adquisición posterior del mismo monitor. Los monitores son reentrantes: un hilo puede volver a entrar al monitor que ya posee. No bloquees sobre cadenas internadas u objetos públicos cuyo uso no controlas.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ReentrantLock ofrece operaciones como tryLock, adquisición con plazo o lockInterruptibly. unlock debe ir en finally después de una adquisición exitosa. Una excepción no debe dejar el recurso bloqueado. El lock no protege por su mera existencia: todos los participantes deben utilizarlo para el mismo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equidad puede reducir algunos escenarios de espera desigual, pero no garantiza un rendimiento mayor. No mantengas un lock mientras realizas E/S lenta si puedes separar la preparación y la publicación de resultados. Cuanto más larga la sección crítica, más tareas esperan sin hacer trabajo útil.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deadlock puede aparecer cuando varias tareas esperan recursos retenidos por las demás. Un orden global de adquisición reduce ciclos: por ejemplo, ordenar las cuentas o sensores por ID y bloquear siempre en ese orden. Timeouts permiten detectar una espera prolongada, pero no reparan automáticamente un diseño inconsistente.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demostración protege un registro de IDs con un monitor. Dos tareas intentan insertar el mismo ID y exactamente una tiene éxito. La salida del ganador no es determinista. La invariante relevante es que el catálogo contiene un solo registro y el contador de éxitos vale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edu.ups.pap.u03;</a:t>
            </a:r>
          </a:p>
          <a:p xmlns:a="http://schemas.openxmlformats.org/drawingml/2006/main">
            <a:r>
              <a:t>import java.util.*;</a:t>
            </a:r>
          </a:p>
          <a:p xmlns:a="http://schemas.openxmlformats.org/drawingml/2006/main">
            <a:r>
              <a:t>import java.util.concurrent.atomic.AtomicInteger;</a:t>
            </a:r>
          </a:p>
          <a:p xmlns:a="http://schemas.openxmlformats.org/drawingml/2006/main">
            <a:r>
              <a:t>public class MonitoresDemo {</a:t>
            </a:r>
          </a:p>
          <a:p xmlns:a="http://schemas.openxmlformats.org/drawingml/2006/main">
            <a:r>
              <a:t>    static final class Registro {</a:t>
            </a:r>
          </a:p>
          <a:p xmlns:a="http://schemas.openxmlformats.org/drawingml/2006/main">
            <a:r>
              <a:t>        private final Object lock = new Object();</a:t>
            </a:r>
          </a:p>
          <a:p xmlns:a="http://schemas.openxmlformats.org/drawingml/2006/main">
            <a:r>
              <a:t>        private final Set&lt;String&gt; ids = new HashSet&lt;&gt;();</a:t>
            </a:r>
          </a:p>
          <a:p xmlns:a="http://schemas.openxmlformats.org/drawingml/2006/main">
            <a:r>
              <a:t>        boolean registrar(String id) {</a:t>
            </a:r>
          </a:p>
          <a:p xmlns:a="http://schemas.openxmlformats.org/drawingml/2006/main">
            <a:r>
              <a:t>            synchronized (lock) {</a:t>
            </a:r>
          </a:p>
          <a:p xmlns:a="http://schemas.openxmlformats.org/drawingml/2006/main">
            <a:r>
              <a:t>                if (ids.contains(id)) return false;</a:t>
            </a:r>
          </a:p>
          <a:p xmlns:a="http://schemas.openxmlformats.org/drawingml/2006/main">
            <a:r>
              <a:t>                ids.add(id); return true;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int cantidad() { synchronized(lock) { return ids.size(); }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public static void main(String[] args) throws InterruptedException {</a:t>
            </a:r>
          </a:p>
          <a:p xmlns:a="http://schemas.openxmlformats.org/drawingml/2006/main">
            <a:r>
              <a:t>        Registro registro = new Registro();</a:t>
            </a:r>
          </a:p>
          <a:p xmlns:a="http://schemas.openxmlformats.org/drawingml/2006/main">
            <a:r>
              <a:t>        AtomicInteger exitos = new AtomicInteger();</a:t>
            </a:r>
          </a:p>
          <a:p xmlns:a="http://schemas.openxmlformats.org/drawingml/2006/main">
            <a:r>
              <a:t>        Runnable insertar = () -&gt; { if (registro.registrar("S01")) exitos.incrementAndGet(); };</a:t>
            </a:r>
          </a:p>
          <a:p xmlns:a="http://schemas.openxmlformats.org/drawingml/2006/main">
            <a:r>
              <a:t>        Thread a = new Thread(insertar), b = new Thread(insertar);</a:t>
            </a:r>
          </a:p>
          <a:p xmlns:a="http://schemas.openxmlformats.org/drawingml/2006/main">
            <a:r>
              <a:t>        a.start(); b.start(); a.join(); b.join();</a:t>
            </a:r>
          </a:p>
          <a:p xmlns:a="http://schemas.openxmlformats.org/drawingml/2006/main">
            <a:r>
              <a:t>        System.out.println("Registros: " + registro.cantidad());</a:t>
            </a:r>
          </a:p>
          <a:p xmlns:a="http://schemas.openxmlformats.org/drawingml/2006/main">
            <a:r>
              <a:t>        System.out.println("Inserciones exitosas: " + exitos.get());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Registros: 1</a:t>
            </a:r>
          </a:p>
          <a:p xmlns:a="http://schemas.openxmlformats.org/drawingml/2006/main">
            <a:r>
              <a:t>Inserciones exitosas: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Registros: 1</a:t>
            </a:r>
          </a:p>
          <a:p xmlns:a="http://schemas.openxmlformats.org/drawingml/2006/main">
            <a:r>
              <a:t>Inserciones exitosas: 1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evidencias/PC3.3a.md y enlace al commit final.</a:t>
            </a:r>
          </a:p>
          <a:p xmlns:a="http://schemas.openxmlformats.org/drawingml/2006/main">
            <a:r>
              <a:t>Protege el registro de sensores contra inserciones concurrentes del mismo ID. La comprobación y la inserción deben compartir sección crítica.</a:t>
            </a:r>
          </a:p>
          <a:p xmlns:a="http://schemas.openxmlformats.org/drawingml/2006/main">
            <a:r>
              <a:t>Implementa una segunda versión con ReentrantLock y liberación en finally. Mantén la misma interfaz y casos de prueba.</a:t>
            </a:r>
          </a:p>
          <a:p xmlns:a="http://schemas.openxmlformats.org/drawingml/2006/main">
            <a:r>
              <a:t>Ejecuta cien intentos sobre diez IDs. La cantidad final debe ser diez y ningún método debe exponer la estructura mutable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b8072fd15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cf733053b4026" /><Relationship Type="http://schemas.openxmlformats.org/officeDocument/2006/relationships/slideLayout" Target="/ppt/slideLayouts/slideLayout1.xml" Id="R382a408ea603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a408ea603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a444cb2824c1e" /><Relationship Type="http://schemas.openxmlformats.org/officeDocument/2006/relationships/image" Target="/ppt/media/image.png" Id="R0ab3c0af050346e5" /><Relationship Type="http://schemas.openxmlformats.org/officeDocument/2006/relationships/notesSlide" Target="/ppt/notesSlides/notesSlide1.xml" Id="R7985eceef5884a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e6ce15d324beb" /><Relationship Type="http://schemas.openxmlformats.org/officeDocument/2006/relationships/notesSlide" Target="/ppt/notesSlides/notesSlide2.xml" Id="R44f13d8365c8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9e5aabc84943" /><Relationship Type="http://schemas.openxmlformats.org/officeDocument/2006/relationships/image" Target="/ppt/media/image2.png" Id="R50a091a9779f489e" /><Relationship Type="http://schemas.openxmlformats.org/officeDocument/2006/relationships/notesSlide" Target="/ppt/notesSlides/notesSlide3.xml" Id="Rcae682fa3b6a4c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4b56ea73647ba" /><Relationship Type="http://schemas.openxmlformats.org/officeDocument/2006/relationships/notesSlide" Target="/ppt/notesSlides/notesSlide4.xml" Id="Rc72c698a3c6a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968b030e345d5" /><Relationship Type="http://schemas.openxmlformats.org/officeDocument/2006/relationships/notesSlide" Target="/ppt/notesSlides/notesSlide5.xml" Id="Rd35401599b6248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e72939204bb9" /><Relationship Type="http://schemas.openxmlformats.org/officeDocument/2006/relationships/notesSlide" Target="/ppt/notesSlides/notesSlide6.xml" Id="Rcd18fb24f3de45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5dc349269495e" /><Relationship Type="http://schemas.openxmlformats.org/officeDocument/2006/relationships/notesSlide" Target="/ppt/notesSlides/notesSlide7.xml" Id="R7ee5f2229e9448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2fdf13b94771" /><Relationship Type="http://schemas.openxmlformats.org/officeDocument/2006/relationships/notesSlide" Target="/ppt/notesSlides/notesSlide8.xml" Id="Re64f3067b1e741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1c59a46994eb7" /><Relationship Type="http://schemas.openxmlformats.org/officeDocument/2006/relationships/notesSlide" Target="/ppt/notesSlides/notesSlide9.xml" Id="Rf2b266cf50554c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8f32ab18f43e5" /><Relationship Type="http://schemas.openxmlformats.org/officeDocument/2006/relationships/notesSlide" Target="/ppt/notesSlides/notesSlide10.xml" Id="R1b86e1f2515c4f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55b54fe144684" /><Relationship Type="http://schemas.openxmlformats.org/officeDocument/2006/relationships/notesSlide" Target="/ppt/notesSlides/notesSlide11.xml" Id="Re497bc47c7f043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3c0af050346e5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E3FCA-2173-467C-A4F7-B74EC8AA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2C22-4074-4C97-9918-EBD1111B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Sincronización con monitores y locks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55770-2A43-4AAF-9521-A316DDA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725FE-DD1E-44B2-B0A8-E8BB02B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3 · 3.3a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A373D-954D-4F22-A2AD-4A63AAAF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229774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670E5-AF6D-40CC-8900-6055C80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E287B-556F-4C0B-B33A-88EDD13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D618-888B-4094-B119-55E9886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393C3-72C4-4650-9B43-DA4D333E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EA247-96C3-498B-9CEE-1B6FC6F1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07390-7E05-4E58-9260-598B8A4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Varias tareas pueden intentar registrar el mismo identificador o actualizar un resumen. Proteger operaciones individuales no basta si la regla requiere comprobar y modificar como una única operación.</a:t>
            </a:r>
          </a:p>
        </p:txBody>
      </p:sp>
    </p:spTree>
    <p:extLst>
      <p:ext uri="{BB962C8B-B14F-4D97-AF65-F5344CB8AC3E}">
        <p14:creationId xmlns:p14="http://schemas.microsoft.com/office/powerpoint/2010/main" val="996488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7C8BE-212C-4540-BA24-EAD760F3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1D08E-350F-404E-AB08-7652A02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Una ejecución no demuestra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06E41-5D09-464F-824C-67618DE9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8CCB0-B0B5-4288-925F-7E15A27F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6B8C9-DD8B-43C1-B856-D26FE5F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091a9779f489e"/>
          <a:stretch xmlns:a="http://schemas.openxmlformats.org/drawingml/2006/main"/>
        </p:blipFill>
        <p:spPr>
          <a:xfrm xmlns:a="http://schemas.openxmlformats.org/drawingml/2006/main">
            <a:off x="4862513" y="1504950"/>
            <a:ext cx="67151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F3253-C3E6-4FEA-A08E-67FED38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sección crítica protege una invariante.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3E9F1-C69C-42A1-8219-ED56B426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«En una ejecución funcionó»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comprobación necesita una invariante y un escenario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2073457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4CC3F-6DF2-4AAB-B02D-7EBD6F6B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6E275-ED8B-4AD8-9AFD-FE62A2A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Sección crítica e invariante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E6DD4-37FC-482F-A04A-36CECDA8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8700E-740C-478B-841A-DBC4C18A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C5108-83EB-4A3E-983B-3C2346FB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F3858-300F-495C-A073-32FA59A0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sección crítica protege una invariante.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84682-71B4-4EFC-B390-83A8033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sección crítica agrupa operaciones que deben observarse de forma indivisible respecto de otros participantes. En una reserva de capacidad, comprobar disponible y descontar deben ejecutarse bajo la misma protección. Sin ello, dos tareas pueden aprobar la misma capacidad restante.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596C4-8A75-425C-AE3A-9C2F2C58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1899D-5B7C-4840-8455-DF9A4FBA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Define primero la invariante, por ejemplo disponibles &gt;= 0 y reservas + disponibles = capacidadInicial. La protección debe cubrir todos los accesos que participan en ella, incluidas lecturas.</a:t>
            </a:r>
          </a:p>
        </p:txBody>
      </p:sp>
    </p:spTree>
    <p:extLst>
      <p:ext uri="{BB962C8B-B14F-4D97-AF65-F5344CB8AC3E}">
        <p14:creationId xmlns:p14="http://schemas.microsoft.com/office/powerpoint/2010/main" val="406991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98AD4-8ACB-4202-A2E2-049AD431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1A086-508C-4F8C-894A-41C92103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Métodos y bloques synchronized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EF5B6-B2B3-4C21-B557-6B660B58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18F2-499C-4841-AACA-BBA8A3B1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72C58-76C8-405A-9A0A-D93CCF4A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53B1F-6925-4CC1-9F80-D3D3D97E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synchronized usa un monitor concreto.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A0D3A-AE33-4041-A227-9000C6E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synchronized utiliza el monitor del objeto indicado. Un método de instancia sincronizado usa this y un método static sincronizado usa el objeto Class. Dos instancias distintas poseen monitores distintos, aunque ejecuten el mismo método.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3D2F2-23AD-48C2-93E3-6C921AB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DD6D0-AE3D-4851-AFE6-34A09268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synchronized (lock) {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if (disponibles == 0) return false;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disponibles--;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return true;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7490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6A5E3-D04E-47CB-AC10-3B53672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04B71-3894-44AA-92F7-D634027E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ReentrantLock y liberación garantizada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EF886-AD43-4BA9-A054-49C5E05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E6966-7785-4673-8068-4420896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5C8C9-5831-49E0-B045-CCB6F0C7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63CCC-F3CE-47AB-BB7C-9FE8461E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unlock debe ejecutarse en finally.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F481C-44B0-4C3B-86BB-E104FC86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ReentrantLock ofrece operaciones como tryLock, adquisición con plazo o lockInterruptibly. unlock debe ir en finally después de una adquisición exitosa. Una excepción no debe dejar el recurso bloqueado. El lock no protege por su mera existencia: todos los participantes deben utilizarlo para el mismo estado.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52D08-788C-4816-9C5F-61A2FC7B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EEAA6-6583-4A12-945B-66AF66C5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equidad puede reducir algunos escenarios de espera desigual, pero no garantiza un rendimiento mayor.</a:t>
            </a:r>
          </a:p>
        </p:txBody>
      </p:sp>
    </p:spTree>
    <p:extLst>
      <p:ext uri="{BB962C8B-B14F-4D97-AF65-F5344CB8AC3E}">
        <p14:creationId xmlns:p14="http://schemas.microsoft.com/office/powerpoint/2010/main" val="164494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DD393-E21D-4AE5-A647-847B79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D4314-CDD2-44CC-A7BC-20BC55D1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Deadlock y orden de adquisición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6C313-1423-46CB-8A1C-E40CC59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6745A-CBF3-4A15-AD56-598B1007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DBD2F-F08F-4802-B93F-D2219EDD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04FD4-FC3F-40C6-B2F1-3182339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 orden de locks ayuda a prevenir deadlocks.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CBC54-7DEF-48D8-8B56-C4C370D9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deadlock puede aparecer cuando varias tareas esperan recursos retenidos por las demás. Un orden global de adquisición reduce ciclos: por ejemplo, ordenar las cuentas o sensores por ID y bloquear siempre en ese orden. Timeouts permiten detectar una espera prolongada, pero no reparan automáticamente un diseño inconsistente.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84BF5-FB2C-4AB1-BCC9-6CECAA6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6695A-D1DB-42CD-9F6A-7339301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demostración protege un registro de IDs con un monitor. Dos tareas intentan insertar el mismo ID y exactamente una tiene éxito. La salida del ganador no es determinista.</a:t>
            </a:r>
          </a:p>
        </p:txBody>
      </p:sp>
    </p:spTree>
    <p:extLst>
      <p:ext uri="{BB962C8B-B14F-4D97-AF65-F5344CB8AC3E}">
        <p14:creationId xmlns:p14="http://schemas.microsoft.com/office/powerpoint/2010/main" val="931374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DEE73-1243-42B9-9760-2618AC4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D088C-DF8F-4639-B7A1-1685AA6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8A308-3529-44A2-B882-5FC1A49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FE80E-592A-4A92-9415-AB61F1EA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A4E87-BA0D-4097-B238-4B5F324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48C4A-4E2C-40EB-8EA0-FAB14227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D2E31-CD8A-4C91-BC74-C66939A7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throws InterruptedException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Registro registro = new Registro();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AtomicInteger exitos = new AtomicInteger();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Runnable insertar = () -&gt; { if (registro.registrar("S01")) exitos.incrementAndGet(); };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Thread a = new Thread(insertar), b = new Thread(insertar);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a.start(); b.start(); a.join(); b.join();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System.out.println("Registros: " + registro.cantidad());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System.out.println("Inserciones exitosas: " + exitos.get());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D08BB-A203-4AEA-A690-F913C29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MonitoresDemo.java.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428488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79D18-2480-419F-8216-CF7C5FB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49B24-76DE-494E-9B0C-746FDAEE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601B5-31A1-420B-B580-6638E46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CFA88-0461-4B50-BC3A-3CF3AC0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770E9-2E63-41C9-9DCF-8B66F76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intentos sobre 10 IDs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registros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Excepción dentro de operación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Lock liberado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durante inserciones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consistente según contrato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FF437-B6F5-4FD3-ACA2-1C1C93C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Registros: 1 · Inserciones exitosas: 1</a:t>
            </a:r>
          </a:p>
        </p:txBody>
      </p:sp>
    </p:spTree>
    <p:extLst>
      <p:ext uri="{BB962C8B-B14F-4D97-AF65-F5344CB8AC3E}">
        <p14:creationId xmlns:p14="http://schemas.microsoft.com/office/powerpoint/2010/main" val="2008558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AEB7E-1EA5-4DD4-97A4-B1A1D751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057C3-DD9C-485C-ACEA-A9BED6FF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PC3.3a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44C7D-54DB-4B2E-87FA-0585A77A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225CF-C49B-4100-BB38-E6245908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2337F-BC14-4874-9AB6-BC3CE03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14BC-89C5-4F9E-9FC6-BBD40CF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83210-122D-4E80-B4C0-7245F0A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Protege el registro de sensores contra inserciones concurrentes del mismo ID. La comprobación y la inserción deben compartir sección crítica.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54879-1848-4487-811D-A9D7355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A4979-F943-43DB-95A5-982C0826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segunda versión con ReentrantLock y liberación en finally. Mantén la misma interfaz y casos de prueba.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E95CC-5A88-40BD-874D-593A1433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FE40B-2FED-4B1D-BA1E-77B97DC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 cien intentos sobre diez IDs. La cantidad final debe ser diez y ningún método debe exponer la estructura mutable interna.</a:t>
            </a:r>
          </a:p>
        </p:txBody>
      </p:sp>
    </p:spTree>
    <p:extLst>
      <p:ext uri="{BB962C8B-B14F-4D97-AF65-F5344CB8AC3E}">
        <p14:creationId xmlns:p14="http://schemas.microsoft.com/office/powerpoint/2010/main" val="299748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6ACA9-A27D-44A3-892D-EF1AD43E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5DB7-49B3-4F88-8E64-F0C27B5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56951-D09E-467C-996F-9774BC0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CEEF1-BA4B-41B0-8A4D-AA6047F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C8B93-F415-4290-97A1-C6C95BF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49AFE-9257-4B56-A38A-3246624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sección crítica protege una invariante.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491EA-7768-437B-B6A7-9DCC73E4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synchronized usa un monitor concreto.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F8378-C5D7-4C2C-A1F6-70F234F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unlock debe ejecutarse en finally.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BFFC4-B26A-4153-B40E-99D178E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orden de locks ayuda a prevenir deadlocks.</a:t>
            </a:r>
          </a:p>
        </p:txBody>
      </p:sp>
    </p:spTree>
    <p:extLst>
      <p:ext uri="{BB962C8B-B14F-4D97-AF65-F5344CB8AC3E}">
        <p14:creationId xmlns:p14="http://schemas.microsoft.com/office/powerpoint/2010/main" val="1059317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2026-09-10T23:06:38.4600000Z</dcterms:created>
  <dcterms:modified xsi:type="dcterms:W3CDTF">2026-09-10T23:06:38.4600000Z</dcterms:modified>
</coreProperties>
</file>