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39780cb8e147d2" /><Relationship Type="http://schemas.openxmlformats.org/officeDocument/2006/relationships/extended-properties" Target="/docProps/app.xml" Id="R3744070c738e4379" /><Relationship Type="http://schemas.openxmlformats.org/officeDocument/2006/relationships/officeDocument" Target="/ppt/presentation.xml" Id="Re65114a7289f4e14" /></Relationships>
</file>

<file path=ppt/presentation.xml><?xml version="1.0" encoding="utf-8"?>
<p:presentation xmlns:p="http://schemas.openxmlformats.org/presentationml/2006/main">
  <p:sldMasterIdLst>
    <p:sldMasterId xmlns:r="http://schemas.openxmlformats.org/officeDocument/2006/relationships" id="2147483648" r:id="R58673e8260474e42"/>
  </p:sldMasterIdLst>
  <p:notesMasterIdLst>
    <p:notesMasterId xmlns:r="http://schemas.openxmlformats.org/officeDocument/2006/relationships" r:id="Refe72f3326f24600"/>
  </p:notesMasterIdLst>
  <p:sldIdLst>
    <p:sldId xmlns:r="http://schemas.openxmlformats.org/officeDocument/2006/relationships" id="256" r:id="Rbde2a8892b8f4f6a"/>
    <p:sldId xmlns:r="http://schemas.openxmlformats.org/officeDocument/2006/relationships" id="257" r:id="R6836a349211b4c61"/>
    <p:sldId xmlns:r="http://schemas.openxmlformats.org/officeDocument/2006/relationships" id="258" r:id="R546c2c72405c4ab4"/>
    <p:sldId xmlns:r="http://schemas.openxmlformats.org/officeDocument/2006/relationships" id="259" r:id="Rea0cec6661f24146"/>
    <p:sldId xmlns:r="http://schemas.openxmlformats.org/officeDocument/2006/relationships" id="260" r:id="Rc6b4f537647d47e2"/>
    <p:sldId xmlns:r="http://schemas.openxmlformats.org/officeDocument/2006/relationships" id="261" r:id="R201fb6659b054046"/>
    <p:sldId xmlns:r="http://schemas.openxmlformats.org/officeDocument/2006/relationships" id="262" r:id="Rddbd311cd6d3454c"/>
    <p:sldId xmlns:r="http://schemas.openxmlformats.org/officeDocument/2006/relationships" id="263" r:id="Re4fd438e219b491d"/>
    <p:sldId xmlns:r="http://schemas.openxmlformats.org/officeDocument/2006/relationships" id="264" r:id="R7d66e2d9d5b240a1"/>
    <p:sldId xmlns:r="http://schemas.openxmlformats.org/officeDocument/2006/relationships" id="265" r:id="Rbb0ed6c3e2eb4b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1d0ec5cce44e69" /><Relationship Type="http://schemas.openxmlformats.org/officeDocument/2006/relationships/slideMaster" Target="/ppt/slideMasters/slideMaster1.xml" Id="R58673e8260474e42" /><Relationship Type="http://schemas.openxmlformats.org/officeDocument/2006/relationships/notesMaster" Target="/ppt/notesMasters/notesMaster1.xml" Id="Refe72f3326f24600" /><Relationship Type="http://schemas.openxmlformats.org/officeDocument/2006/relationships/presProps" Target="/ppt/presProps.xml" Id="R098253125c9c4bd7" /><Relationship Type="http://schemas.openxmlformats.org/officeDocument/2006/relationships/tableStyles" Target="/ppt/tableStyles.xml" Id="R28cba3d4b6ec49a6" /><Relationship Type="http://schemas.openxmlformats.org/officeDocument/2006/relationships/slide" Target="/ppt/slides/slide1.xml" Id="Rbde2a8892b8f4f6a" /><Relationship Type="http://schemas.openxmlformats.org/officeDocument/2006/relationships/slide" Target="/ppt/slides/slide2.xml" Id="R6836a349211b4c61" /><Relationship Type="http://schemas.openxmlformats.org/officeDocument/2006/relationships/slide" Target="/ppt/slides/slide3.xml" Id="R546c2c72405c4ab4" /><Relationship Type="http://schemas.openxmlformats.org/officeDocument/2006/relationships/slide" Target="/ppt/slides/slide4.xml" Id="Rea0cec6661f24146" /><Relationship Type="http://schemas.openxmlformats.org/officeDocument/2006/relationships/slide" Target="/ppt/slides/slide5.xml" Id="Rc6b4f537647d47e2" /><Relationship Type="http://schemas.openxmlformats.org/officeDocument/2006/relationships/slide" Target="/ppt/slides/slide6.xml" Id="R201fb6659b054046" /><Relationship Type="http://schemas.openxmlformats.org/officeDocument/2006/relationships/slide" Target="/ppt/slides/slide7.xml" Id="Rddbd311cd6d3454c" /><Relationship Type="http://schemas.openxmlformats.org/officeDocument/2006/relationships/slide" Target="/ppt/slides/slide8.xml" Id="Re4fd438e219b491d" /><Relationship Type="http://schemas.openxmlformats.org/officeDocument/2006/relationships/slide" Target="/ppt/slides/slide9.xml" Id="R7d66e2d9d5b240a1" /><Relationship Type="http://schemas.openxmlformats.org/officeDocument/2006/relationships/slide" Target="/ppt/slides/slide10.xml" Id="Rbb0ed6c3e2eb4b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c23061950540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8c794b25604753" /><Relationship Type="http://schemas.openxmlformats.org/officeDocument/2006/relationships/notesMaster" Target="/ppt/notesMasters/notesMaster1.xml" Id="R8134ab92d90b42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3b0a64ca464a01" /><Relationship Type="http://schemas.openxmlformats.org/officeDocument/2006/relationships/notesMaster" Target="/ppt/notesMasters/notesMaster1.xml" Id="R10bde43221db43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51a36d0cd74718" /><Relationship Type="http://schemas.openxmlformats.org/officeDocument/2006/relationships/notesMaster" Target="/ppt/notesMasters/notesMaster1.xml" Id="Raa0ef30b004246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3dba2924e241e3" /><Relationship Type="http://schemas.openxmlformats.org/officeDocument/2006/relationships/notesMaster" Target="/ppt/notesMasters/notesMaster1.xml" Id="Rddc6d7afc8da4c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78f212fcd648be" /><Relationship Type="http://schemas.openxmlformats.org/officeDocument/2006/relationships/notesMaster" Target="/ppt/notesMasters/notesMaster1.xml" Id="R6c6ff8f09c4d4f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c457071c204bc9" /><Relationship Type="http://schemas.openxmlformats.org/officeDocument/2006/relationships/notesMaster" Target="/ppt/notesMasters/notesMaster1.xml" Id="R526ebafe9c0f46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9f5aa90da3421f" /><Relationship Type="http://schemas.openxmlformats.org/officeDocument/2006/relationships/notesMaster" Target="/ppt/notesMasters/notesMaster1.xml" Id="Rc0c2c73a51374d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5f00e994914044" /><Relationship Type="http://schemas.openxmlformats.org/officeDocument/2006/relationships/notesMaster" Target="/ppt/notesMasters/notesMaster1.xml" Id="Rf70bcb277af846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d5e52caf204e5d" /><Relationship Type="http://schemas.openxmlformats.org/officeDocument/2006/relationships/notesMaster" Target="/ppt/notesMasters/notesMaster1.xml" Id="R895e4f357a1e45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21caf88c0d4830" /><Relationship Type="http://schemas.openxmlformats.org/officeDocument/2006/relationships/notesMaster" Target="/ppt/notesMasters/notesMaster1.xml" Id="R3a8ac97b4e0447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3.3b. Barreras, semáforos y variables atómicas.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todas las coordinaciones consisten en bloquear un objeto. CampusMonitor puede limitar conexiones simultáneas, esperar una fase de calibración y contar lecturas completadas con mecanismos distintos.</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Semaphore administra permisos. acquire espera un permiso y release lo devuelve. Con dos permisos, hasta dos operaciones pueden entrar simultáneamente a la región controlada. Un semáforo limita capacidad, pero no identifica por sí mismo qué recurso concreto corresponde a cada permiso.</a:t>
            </a:r>
          </a:p>
          <a:p xmlns:a="http://schemas.openxmlformats.org/drawingml/2006/main">
            <a:r>
              <a:t/>
            </a:r>
          </a:p>
          <a:p xmlns:a="http://schemas.openxmlformats.org/drawingml/2006/main">
            <a:r>
              <a:t>Libera únicamente permisos realmente adquiridos. Si acquire lanza InterruptedException antes de adquirir, no debes ejecutar un release incondicional que aumente la capacidad. Mantén la liberación en finally dentro del bloque posterior a la adquisición exitosa. Para conexiones reales, un pool suele gestionar tanto capacidad como objetos disponibles.</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CyclicBarrier reúne un número fijo de participantes al final de una fase. Cuando todos llegan, pueden continuar y la barrera se reutiliza. CountDownLatch comienza con un contador que solo disminuye y permite a otros esperar que llegue a cero. No se reinicia.</a:t>
            </a:r>
          </a:p>
          <a:p xmlns:a="http://schemas.openxmlformats.org/drawingml/2006/main">
            <a:r>
              <a:t/>
            </a:r>
          </a:p>
          <a:p xmlns:a="http://schemas.openxmlformats.org/drawingml/2006/main">
            <a:r>
              <a:t>Una barrera puede romperse si un participante falla o se interrumpe. Los demás reciben BrokenBarrierException. No programes una barrera para cuatro tareas en un pool de dos hilos si las dos primeras esperan antes de que las otras puedan arrancar: no habrá suficientes participantes activos. El diseño debe relacionar número de participantes, capacidad del ejecutor y política de fallos.</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AtomicInteger ofrece incrementos, comparaciones e intercambios atómicos sobre una variable. compareAndSet actualiza únicamente si el valor actual coincide con el esperado. Las funciones usadas en updateAndGet pueden evaluarse más de una vez, así que no deben tener efectos externos como enviar mensajes.</a:t>
            </a:r>
          </a:p>
          <a:p xmlns:a="http://schemas.openxmlformats.org/drawingml/2006/main">
            <a:r>
              <a:t/>
            </a:r>
          </a:p>
          <a:p xmlns:a="http://schemas.openxmlformats.org/drawingml/2006/main">
            <a:r>
              <a:t>Dos campos atómicos no crean una transacción entre ambos. Si una regla requiere actualizar saldo y contador juntos, hace falta otro diseño. LongAdder puede reducir contención en estadísticas, pero su suma no es una instantánea atómica para decisiones de control durante actualizaciones concurrentes. Elige según el contrato que necesitas preservar.</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demostración espera que cuatro tareas estén listas mediante una barrera y luego limita a dos el procesamiento con un semáforo. Un contador atómico registra terminaciones. La barrera se encuentra antes de adquirir el permiso, evitando que tareas retengan los únicos permisos mientras esperan participantes que no pueden entrar.</a:t>
            </a:r>
          </a:p>
          <a:p xmlns:a="http://schemas.openxmlformats.org/drawingml/2006/main">
            <a:r>
              <a:t/>
            </a:r>
          </a:p>
          <a:p xmlns:a="http://schemas.openxmlformats.org/drawingml/2006/main">
            <a:r>
              <a:t>Combinar herramientas exige analizar el orden de las esperas. Cada mecanismo debe tener una sola responsabilidad legible. Registra errores y finalización por tarea. Una métrica de completadas no debe incluir tareas canceladas ni fallidas.</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edu.ups.pap.u03;</a:t>
            </a:r>
          </a:p>
          <a:p xmlns:a="http://schemas.openxmlformats.org/drawingml/2006/main">
            <a:r>
              <a:t>import java.util.concurrent.*;</a:t>
            </a:r>
          </a:p>
          <a:p xmlns:a="http://schemas.openxmlformats.org/drawingml/2006/main">
            <a:r>
              <a:t>import java.util.concurrent.atomic.AtomicInteger;</a:t>
            </a:r>
          </a:p>
          <a:p xmlns:a="http://schemas.openxmlformats.org/drawingml/2006/main">
            <a:r>
              <a:t>public class CoordinacionDemo {</a:t>
            </a:r>
          </a:p>
          <a:p xmlns:a="http://schemas.openxmlformats.org/drawingml/2006/main">
            <a:r>
              <a:t>    public static void main(String[] args) throws InterruptedException {</a:t>
            </a:r>
          </a:p>
          <a:p xmlns:a="http://schemas.openxmlformats.org/drawingml/2006/main">
            <a:r>
              <a:t>        CyclicBarrier listas = new CyclicBarrier(4);</a:t>
            </a:r>
          </a:p>
          <a:p xmlns:a="http://schemas.openxmlformats.org/drawingml/2006/main">
            <a:r>
              <a:t>        Semaphore capacidad = new Semaphore(2);</a:t>
            </a:r>
          </a:p>
          <a:p xmlns:a="http://schemas.openxmlformats.org/drawingml/2006/main">
            <a:r>
              <a:t>        AtomicInteger completas = new AtomicInteger();</a:t>
            </a:r>
          </a:p>
          <a:p xmlns:a="http://schemas.openxmlformats.org/drawingml/2006/main">
            <a:r>
              <a:t>        Thread[] tareas = new Thread[4];</a:t>
            </a:r>
          </a:p>
          <a:p xmlns:a="http://schemas.openxmlformats.org/drawingml/2006/main">
            <a:r>
              <a:t>        for (int i=0;i&lt;tareas.length;i++) {</a:t>
            </a:r>
          </a:p>
          <a:p xmlns:a="http://schemas.openxmlformats.org/drawingml/2006/main">
            <a:r>
              <a:t>            tareas[i] = new Thread(() -&gt; {</a:t>
            </a:r>
          </a:p>
          <a:p xmlns:a="http://schemas.openxmlformats.org/drawingml/2006/main">
            <a:r>
              <a:t>                try {</a:t>
            </a:r>
          </a:p>
          <a:p xmlns:a="http://schemas.openxmlformats.org/drawingml/2006/main">
            <a:r>
              <a:t>                    listas.await();</a:t>
            </a:r>
          </a:p>
          <a:p xmlns:a="http://schemas.openxmlformats.org/drawingml/2006/main">
            <a:r>
              <a:t>                    capacidad.acquire();</a:t>
            </a:r>
          </a:p>
          <a:p xmlns:a="http://schemas.openxmlformats.org/drawingml/2006/main">
            <a:r>
              <a:t>                    try { Thread.sleep(20); completas.incrementAndGet(); }</a:t>
            </a:r>
          </a:p>
          <a:p xmlns:a="http://schemas.openxmlformats.org/drawingml/2006/main">
            <a:r>
              <a:t>                    finally { capacidad.release(); }</a:t>
            </a:r>
          </a:p>
          <a:p xmlns:a="http://schemas.openxmlformats.org/drawingml/2006/main">
            <a:r>
              <a:t>                } catch (InterruptedException e) { Thread.currentThread().interrupt(); }</a:t>
            </a:r>
          </a:p>
          <a:p xmlns:a="http://schemas.openxmlformats.org/drawingml/2006/main">
            <a:r>
              <a:t>                catch (BrokenBarrierException e) { System.err.println("Fase cancelada"); }</a:t>
            </a:r>
          </a:p>
          <a:p xmlns:a="http://schemas.openxmlformats.org/drawingml/2006/main">
            <a:r>
              <a:t>            });</a:t>
            </a:r>
          </a:p>
          <a:p xmlns:a="http://schemas.openxmlformats.org/drawingml/2006/main">
            <a:r>
              <a:t>            tareas[i].start();</a:t>
            </a:r>
          </a:p>
          <a:p xmlns:a="http://schemas.openxmlformats.org/drawingml/2006/main">
            <a:r>
              <a:t>        }</a:t>
            </a:r>
          </a:p>
          <a:p xmlns:a="http://schemas.openxmlformats.org/drawingml/2006/main">
            <a:r>
              <a:t>        for (Thread t : tareas) t.join();</a:t>
            </a:r>
          </a:p>
          <a:p xmlns:a="http://schemas.openxmlformats.org/drawingml/2006/main">
            <a:r>
              <a:t>        System.out.println("Completas: " + completas.get());</a:t>
            </a:r>
          </a:p>
          <a:p xmlns:a="http://schemas.openxmlformats.org/drawingml/2006/main">
            <a:r>
              <a:t>        System.out.println("Permisos: " + capacidad.availablePermits());</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Completas: 4</a:t>
            </a:r>
          </a:p>
          <a:p xmlns:a="http://schemas.openxmlformats.org/drawingml/2006/main">
            <a:r>
              <a:t>Permisos: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Completas: 4</a:t>
            </a:r>
          </a:p>
          <a:p xmlns:a="http://schemas.openxmlformats.org/drawingml/2006/main">
            <a:r>
              <a:t>Permisos: 2</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evidencias/PC3.3b.md y enlace al commit final.</a:t>
            </a:r>
          </a:p>
          <a:p xmlns:a="http://schemas.openxmlformats.org/drawingml/2006/main">
            <a:r>
              <a:t>Limita a dos las validaciones externas simuladas simultáneas de CampusMonitor utilizando Semaphore.</a:t>
            </a:r>
          </a:p>
          <a:p xmlns:a="http://schemas.openxmlformats.org/drawingml/2006/main">
            <a:r>
              <a:t>Usa CountDownLatch para esperar la finalización de un lote de seis tareas, incluyendo las que fallan. Lleva contadores separados de completadas y fallidas.</a:t>
            </a:r>
          </a:p>
          <a:p xmlns:a="http://schemas.openxmlformats.org/drawingml/2006/main">
            <a:r>
              <a:t>Documenta por qué una barrera requiere suficientes participantes activos y prueba cancelación antes de adquirir un permiso.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e10a584fbc42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ebb8b56fae412a" /><Relationship Type="http://schemas.openxmlformats.org/officeDocument/2006/relationships/slideLayout" Target="/ppt/slideLayouts/slideLayout1.xml" Id="R1180b00bbee74f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80b00bbee74f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658edbfd084c42" /><Relationship Type="http://schemas.openxmlformats.org/officeDocument/2006/relationships/image" Target="/ppt/media/image.png" Id="R08aed0b9d27f4f54" /><Relationship Type="http://schemas.openxmlformats.org/officeDocument/2006/relationships/notesSlide" Target="/ppt/notesSlides/notesSlide1.xml" Id="Re6700e997f7043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1d54465cf54dde" /><Relationship Type="http://schemas.openxmlformats.org/officeDocument/2006/relationships/notesSlide" Target="/ppt/notesSlides/notesSlide2.xml" Id="Rbf716fad56ee4a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2769a0e14e4844" /><Relationship Type="http://schemas.openxmlformats.org/officeDocument/2006/relationships/notesSlide" Target="/ppt/notesSlides/notesSlide3.xml" Id="R3d9857e84b1e42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e37862b58e4cba" /><Relationship Type="http://schemas.openxmlformats.org/officeDocument/2006/relationships/notesSlide" Target="/ppt/notesSlides/notesSlide4.xml" Id="R96755aaea1794c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e964768a2c4844" /><Relationship Type="http://schemas.openxmlformats.org/officeDocument/2006/relationships/notesSlide" Target="/ppt/notesSlides/notesSlide5.xml" Id="R07d5555fab5748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b4e65f53524416" /><Relationship Type="http://schemas.openxmlformats.org/officeDocument/2006/relationships/notesSlide" Target="/ppt/notesSlides/notesSlide6.xml" Id="Re0c188d6b1d640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f2798cd5684b17" /><Relationship Type="http://schemas.openxmlformats.org/officeDocument/2006/relationships/notesSlide" Target="/ppt/notesSlides/notesSlide7.xml" Id="R21182659fc7241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153a6c4bfb43d8" /><Relationship Type="http://schemas.openxmlformats.org/officeDocument/2006/relationships/notesSlide" Target="/ppt/notesSlides/notesSlide8.xml" Id="R4e645970b12f41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ee26c0c9014a78" /><Relationship Type="http://schemas.openxmlformats.org/officeDocument/2006/relationships/notesSlide" Target="/ppt/notesSlides/notesSlide9.xml" Id="Rb68519395f764a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2aff86e9a641e4" /><Relationship Type="http://schemas.openxmlformats.org/officeDocument/2006/relationships/notesSlide" Target="/ppt/notesSlides/notesSlide10.xml" Id="R895dc63081414a1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8aed0b9d27f4f54"/>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5C458E-7262-4A88-940B-01D87C04BB9A}"/>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3A60E00E-694F-43EB-8AB1-04AA76F2C1F9}"/>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Barreras, semáforos y variables atómicas</a:t>
            </a:r>
          </a:p>
        </p:txBody>
      </p:sp>
      <p:sp>
        <p:nvSpPr>
          <p:cNvPr id="4" name="">
            <a:extLst xmlns:a="http://schemas.openxmlformats.org/drawingml/2006/main">
              <a:ext uri="{FF2B5EF4-FFF2-40B4-BE49-F238E27FC236}">
                <a16:creationId xmlns:a16="http://schemas.microsoft.com/office/drawing/2014/main" id="{2323F733-04BC-4225-9A33-8E295E9F41A1}"/>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F46738-6C78-456A-82C4-7E8CC0AE7933}"/>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3 · 3.3b</a:t>
            </a:r>
          </a:p>
        </p:txBody>
      </p:sp>
      <p:sp>
        <p:nvSpPr>
          <p:cNvPr id="6" name="">
            <a:extLst xmlns:a="http://schemas.openxmlformats.org/drawingml/2006/main">
              <a:ext uri="{FF2B5EF4-FFF2-40B4-BE49-F238E27FC236}">
                <a16:creationId xmlns:a16="http://schemas.microsoft.com/office/drawing/2014/main" id="{F5EB4DDE-78A3-42CE-AC65-0894F2C640D6}"/>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0867693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1B53F5-1D1E-45D2-B4BB-1FA8E956908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6A1ACB-D27A-4D40-BDC9-CE4AD3D2CA6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82709DB4-C9AE-4895-BD69-51A1F85F528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117434-FCD6-4C8C-93C8-CBBF6DB40CB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AE0C1F4D-A5AD-4487-AA1B-CB62101180B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E4824347-AC5A-4438-A614-7709576BD237}"/>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No todas las coordinaciones consisten en bloquear un objeto. CampusMonitor puede limitar conexiones simultáneas, esperar una fase de calibración y contar lecturas completadas con mecanismos distintos.</a:t>
            </a:r>
          </a:p>
        </p:txBody>
      </p:sp>
    </p:spTree>
    <p:extLst>
      <p:ext uri="{BB962C8B-B14F-4D97-AF65-F5344CB8AC3E}">
        <p14:creationId xmlns:p14="http://schemas.microsoft.com/office/powerpoint/2010/main" val="9239085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149ACF-A2C5-48C7-B1EF-28B1514EB562}"/>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9336BD-7388-438F-8544-A332AD2163F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Semáforo y capacidad</a:t>
            </a:r>
          </a:p>
        </p:txBody>
      </p:sp>
      <p:sp>
        <p:nvSpPr>
          <p:cNvPr id="3" name="">
            <a:extLst xmlns:a="http://schemas.openxmlformats.org/drawingml/2006/main">
              <a:ext uri="{FF2B5EF4-FFF2-40B4-BE49-F238E27FC236}">
                <a16:creationId xmlns:a16="http://schemas.microsoft.com/office/drawing/2014/main" id="{0C6BEF57-C7BE-4879-BEB2-3E65CF76AF6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30F0A1-5B8D-4FFC-A357-60243F5FB01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5632EC0A-3F4D-4004-BEC9-A3A1CF83D136}"/>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C9C86814-7EFD-47B4-BA45-4F669938F409}"/>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Semaphore limita la capacidad concurrente.</a:t>
            </a:r>
          </a:p>
        </p:txBody>
      </p:sp>
      <p:sp>
        <p:nvSpPr>
          <p:cNvPr id="7" name="">
            <a:extLst xmlns:a="http://schemas.openxmlformats.org/drawingml/2006/main">
              <a:ext uri="{FF2B5EF4-FFF2-40B4-BE49-F238E27FC236}">
                <a16:creationId xmlns:a16="http://schemas.microsoft.com/office/drawing/2014/main" id="{DCE80861-8832-4F09-A019-22C7F3C60DB1}"/>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Semaphore administra permisos. acquire espera un permiso y release lo devuelve. Con dos permisos, hasta dos operaciones pueden entrar simultáneamente a la región controlada. Un semáforo limita capacidad, pero no identifica por sí mismo qué recurso concreto corresponde a cada permiso.</a:t>
            </a:r>
          </a:p>
        </p:txBody>
      </p:sp>
      <p:sp>
        <p:nvSpPr>
          <p:cNvPr id="8" name="">
            <a:extLst xmlns:a="http://schemas.openxmlformats.org/drawingml/2006/main">
              <a:ext uri="{FF2B5EF4-FFF2-40B4-BE49-F238E27FC236}">
                <a16:creationId xmlns:a16="http://schemas.microsoft.com/office/drawing/2014/main" id="{CAD15238-4422-4B76-8DE9-74CF693F7E63}"/>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4FF8CC-2606-49F8-A2C4-409C8F6CEB3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Libera únicamente permisos realmente adquiridos. Si acquire lanza InterruptedException antes de adquirir, no debes ejecutar un release incondicional que aumente la capacidad.</a:t>
            </a:r>
          </a:p>
        </p:txBody>
      </p:sp>
    </p:spTree>
    <p:extLst>
      <p:ext uri="{BB962C8B-B14F-4D97-AF65-F5344CB8AC3E}">
        <p14:creationId xmlns:p14="http://schemas.microsoft.com/office/powerpoint/2010/main" val="4805382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C7131D-5191-4C4C-91E9-AA04DAD3FB2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3CF284-A42B-4C36-9DB6-E478F52CD90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Barrera reutilizable y señal de finalización</a:t>
            </a:r>
          </a:p>
        </p:txBody>
      </p:sp>
      <p:sp>
        <p:nvSpPr>
          <p:cNvPr id="3" name="">
            <a:extLst xmlns:a="http://schemas.openxmlformats.org/drawingml/2006/main">
              <a:ext uri="{FF2B5EF4-FFF2-40B4-BE49-F238E27FC236}">
                <a16:creationId xmlns:a16="http://schemas.microsoft.com/office/drawing/2014/main" id="{F7F3EAC9-6225-4A9B-9309-FC252DAAA19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542E61-6B28-4ECB-82FF-5F5C99232E7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5622A335-3D91-48B5-9E76-87392D987EB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3E71F8D5-3715-42C4-880B-9DCE270B6E3C}"/>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CyclicBarrier coordina fases; CountDownLatch señala finalización.</a:t>
            </a:r>
          </a:p>
        </p:txBody>
      </p:sp>
      <p:sp>
        <p:nvSpPr>
          <p:cNvPr id="7" name="">
            <a:extLst xmlns:a="http://schemas.openxmlformats.org/drawingml/2006/main">
              <a:ext uri="{FF2B5EF4-FFF2-40B4-BE49-F238E27FC236}">
                <a16:creationId xmlns:a16="http://schemas.microsoft.com/office/drawing/2014/main" id="{DCFEBA4B-63CA-4800-9D33-CE13734CAE39}"/>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CyclicBarrier reúne un número fijo de participantes al final de una fase. Cuando todos llegan, pueden continuar y la barrera se reutiliza. CountDownLatch comienza con un contador que solo disminuye y permite a otros esperar que llegue a cero. No se reinicia.</a:t>
            </a:r>
          </a:p>
        </p:txBody>
      </p:sp>
      <p:sp>
        <p:nvSpPr>
          <p:cNvPr id="8" name="">
            <a:extLst xmlns:a="http://schemas.openxmlformats.org/drawingml/2006/main">
              <a:ext uri="{FF2B5EF4-FFF2-40B4-BE49-F238E27FC236}">
                <a16:creationId xmlns:a16="http://schemas.microsoft.com/office/drawing/2014/main" id="{42A73335-4BD2-44DC-A7C9-FFEA0315AE5C}"/>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C420150-26EC-4426-A9CD-01C71871AB5E}"/>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Una barrera puede romperse si un participante falla o se interrumpe. Los demás reciben BrokenBarrierException.</a:t>
            </a:r>
          </a:p>
        </p:txBody>
      </p:sp>
    </p:spTree>
    <p:extLst>
      <p:ext uri="{BB962C8B-B14F-4D97-AF65-F5344CB8AC3E}">
        <p14:creationId xmlns:p14="http://schemas.microsoft.com/office/powerpoint/2010/main" val="10090670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50A195-BFD0-467F-98CB-018DF2FB118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E52BF0-043F-4F16-B9F3-6AA8DACBED0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Variables atómicas y operaciones compuestas</a:t>
            </a:r>
          </a:p>
        </p:txBody>
      </p:sp>
      <p:sp>
        <p:nvSpPr>
          <p:cNvPr id="3" name="">
            <a:extLst xmlns:a="http://schemas.openxmlformats.org/drawingml/2006/main">
              <a:ext uri="{FF2B5EF4-FFF2-40B4-BE49-F238E27FC236}">
                <a16:creationId xmlns:a16="http://schemas.microsoft.com/office/drawing/2014/main" id="{D8337E3C-6708-4370-9ECA-51F03B57FE2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444536-C17B-45E8-8CFC-476F6355FFC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EE88B65E-F315-4928-BBA3-87C121962C7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8BAA5659-A320-40F8-96B9-1A91F07B19D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AtomicInteger no crea transacciones entre campos.</a:t>
            </a:r>
          </a:p>
        </p:txBody>
      </p:sp>
      <p:sp>
        <p:nvSpPr>
          <p:cNvPr id="7" name="">
            <a:extLst xmlns:a="http://schemas.openxmlformats.org/drawingml/2006/main">
              <a:ext uri="{FF2B5EF4-FFF2-40B4-BE49-F238E27FC236}">
                <a16:creationId xmlns:a16="http://schemas.microsoft.com/office/drawing/2014/main" id="{CF77F5DD-0917-43A1-8DE9-BCDE8CFA2E18}"/>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AtomicInteger ofrece incrementos, comparaciones e intercambios atómicos sobre una variable. compareAndSet actualiza únicamente si el valor actual coincide con el esperado. Las funciones usadas en updateAndGet pueden evaluarse más de una vez, así que no deben tener efectos externos como enviar mensajes.</a:t>
            </a:r>
          </a:p>
        </p:txBody>
      </p:sp>
      <p:sp>
        <p:nvSpPr>
          <p:cNvPr id="8" name="">
            <a:extLst xmlns:a="http://schemas.openxmlformats.org/drawingml/2006/main">
              <a:ext uri="{FF2B5EF4-FFF2-40B4-BE49-F238E27FC236}">
                <a16:creationId xmlns:a16="http://schemas.microsoft.com/office/drawing/2014/main" id="{80F0B9FA-2159-4A2A-8ACC-E4CCCBC188AD}"/>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76BB04A-D744-4CF3-8959-D39FC4EEEA1A}"/>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Dos campos atómicos no crean una transacción entre ambos. Si una regla requiere actualizar saldo y contador juntos, hace falta otro diseño.</a:t>
            </a:r>
          </a:p>
        </p:txBody>
      </p:sp>
    </p:spTree>
    <p:extLst>
      <p:ext uri="{BB962C8B-B14F-4D97-AF65-F5344CB8AC3E}">
        <p14:creationId xmlns:p14="http://schemas.microsoft.com/office/powerpoint/2010/main" val="6127562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9094AE-B59E-4D2E-A6D7-350C1AB5760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1E930D-D1DA-4B4E-A387-046CDDF4277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Coordinación combinada</a:t>
            </a:r>
          </a:p>
        </p:txBody>
      </p:sp>
      <p:sp>
        <p:nvSpPr>
          <p:cNvPr id="3" name="">
            <a:extLst xmlns:a="http://schemas.openxmlformats.org/drawingml/2006/main">
              <a:ext uri="{FF2B5EF4-FFF2-40B4-BE49-F238E27FC236}">
                <a16:creationId xmlns:a16="http://schemas.microsoft.com/office/drawing/2014/main" id="{66C8BBFB-FC4C-41B4-B37E-2705C2AE152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78E422-FE84-4D1E-BE1B-DC1117770EF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7B430BA3-C7A9-46F3-A35B-73DF1D05354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38CC922B-BEEE-4B15-B978-EA7CD4D80E3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Cada mecanismo protege una condición concreta del sistema.</a:t>
            </a:r>
          </a:p>
        </p:txBody>
      </p:sp>
      <p:sp>
        <p:nvSpPr>
          <p:cNvPr id="7" name="">
            <a:extLst xmlns:a="http://schemas.openxmlformats.org/drawingml/2006/main">
              <a:ext uri="{FF2B5EF4-FFF2-40B4-BE49-F238E27FC236}">
                <a16:creationId xmlns:a16="http://schemas.microsoft.com/office/drawing/2014/main" id="{1AF684A6-0E07-4F12-9668-E82CAF90B92B}"/>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 demostración espera que cuatro tareas estén listas mediante una barrera y luego limita a dos el procesamiento con un semáforo. Un contador atómico registra terminaciones. La barrera se encuentra antes de adquirir el permiso, evitando que tareas retengan los únicos permisos mientras esperan participantes que no pueden entrar.</a:t>
            </a:r>
          </a:p>
        </p:txBody>
      </p:sp>
      <p:sp>
        <p:nvSpPr>
          <p:cNvPr id="8" name="">
            <a:extLst xmlns:a="http://schemas.openxmlformats.org/drawingml/2006/main">
              <a:ext uri="{FF2B5EF4-FFF2-40B4-BE49-F238E27FC236}">
                <a16:creationId xmlns:a16="http://schemas.microsoft.com/office/drawing/2014/main" id="{74A791F3-5ECA-4297-8EE3-65BDD8DF982E}"/>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106989-8AA0-4F91-A6FF-B7193D1114B1}"/>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Combinar herramientas exige analizar el orden de las esperas. Cada mecanismo debe tener una sola responsabilidad legible. Registra errores y finalización por tarea.</a:t>
            </a:r>
          </a:p>
        </p:txBody>
      </p:sp>
    </p:spTree>
    <p:extLst>
      <p:ext uri="{BB962C8B-B14F-4D97-AF65-F5344CB8AC3E}">
        <p14:creationId xmlns:p14="http://schemas.microsoft.com/office/powerpoint/2010/main" val="16688391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1F0506-8418-431F-8BF9-A6F5D0DC825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82F3B4-BE0F-44D4-8D33-6E665D058D5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F6659F1B-FB6D-4C17-98C0-8C35DE99E27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6E5759-DD0E-43C0-9C37-44C8D1F38D2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73B548BD-C0A8-4D99-89D7-D0A330E4767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13245284-3DBD-483E-873C-4CAE4A66AE5F}"/>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E9F24E-2518-44CA-8B2C-9C03DAC91ABF}"/>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InterruptedException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CyclicBarrier listas = new CyclicBarrier(4);</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Semaphore capacidad = new Semaphore(2);</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AtomicInteger completas = new AtomicInteger();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Thread[] tareas = new Thread[4];</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for (int i=0;i&lt;tareas.length;i++)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tareas[i] = new Thread(() -&gt;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listas.await();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capacidad.acquire();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 Thread.sleep(20); completas.incrementAndGet();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finally { capacidad.release();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 catch (InterruptedException e) { Thread.currentThread().interrupt(); }</a:t>
            </a:r>
          </a:p>
        </p:txBody>
      </p:sp>
      <p:sp>
        <p:nvSpPr>
          <p:cNvPr id="8" name="">
            <a:extLst xmlns:a="http://schemas.openxmlformats.org/drawingml/2006/main">
              <a:ext uri="{FF2B5EF4-FFF2-40B4-BE49-F238E27FC236}">
                <a16:creationId xmlns:a16="http://schemas.microsoft.com/office/drawing/2014/main" id="{68B5EA6E-374B-4139-96F4-81D967A43B87}"/>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CoordinacionDemo.java. Código completo y ejecución en material.md.</a:t>
            </a:r>
          </a:p>
        </p:txBody>
      </p:sp>
    </p:spTree>
    <p:extLst>
      <p:ext uri="{BB962C8B-B14F-4D97-AF65-F5344CB8AC3E}">
        <p14:creationId xmlns:p14="http://schemas.microsoft.com/office/powerpoint/2010/main" val="8729197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F6B109-8337-4D10-8200-BCA55233B04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AFDC8C-04DC-4FB1-BA2C-626B13CCEBD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41E82632-A759-4C14-AF77-0F25B8233F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32EB4B-927D-4CFD-918D-532310D203F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32244164-DF96-48A5-80BB-A82708055F2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6 tareas, capacidad 2</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Nunca más de 2 dentro de la región</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Fallo de una tarea</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Latch liberado en finally</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Interrupción durante acquire</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No aumenta el total de permisos</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75C65D15-BB99-48AB-BE42-4E29B48EBF5A}"/>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Completas: 4 · Permisos: 2</a:t>
            </a:r>
          </a:p>
        </p:txBody>
      </p:sp>
    </p:spTree>
    <p:extLst>
      <p:ext uri="{BB962C8B-B14F-4D97-AF65-F5344CB8AC3E}">
        <p14:creationId xmlns:p14="http://schemas.microsoft.com/office/powerpoint/2010/main" val="11740713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D58FCD-430D-45F3-A245-3C2FF368621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697638-5FD9-4703-9B3C-F7CDA7913CE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PC3.3b · Ampliación del proyecto</a:t>
            </a:r>
          </a:p>
        </p:txBody>
      </p:sp>
      <p:sp>
        <p:nvSpPr>
          <p:cNvPr id="3" name="">
            <a:extLst xmlns:a="http://schemas.openxmlformats.org/drawingml/2006/main">
              <a:ext uri="{FF2B5EF4-FFF2-40B4-BE49-F238E27FC236}">
                <a16:creationId xmlns:a16="http://schemas.microsoft.com/office/drawing/2014/main" id="{44D37784-5F5D-4DB5-8D72-CFE8415D6AC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B28419-93CA-4AB8-858E-200C4462185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A4A96221-8109-4615-8AE5-6648AE3FDDB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EC5EBA51-45FD-4358-ACCC-527888C25B2E}"/>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C8DCEB48-DCB9-4BC4-B095-2F39CE7DB0B6}"/>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Limita a dos las validaciones externas simuladas simultáneas de CampusMonitor utilizando Semaphore.</a:t>
            </a:r>
          </a:p>
        </p:txBody>
      </p:sp>
      <p:sp>
        <p:nvSpPr>
          <p:cNvPr id="8" name="">
            <a:extLst xmlns:a="http://schemas.openxmlformats.org/drawingml/2006/main">
              <a:ext uri="{FF2B5EF4-FFF2-40B4-BE49-F238E27FC236}">
                <a16:creationId xmlns:a16="http://schemas.microsoft.com/office/drawing/2014/main" id="{BCF9A0CD-8B55-4046-BACD-57875A44549F}"/>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01BED5BF-A955-4644-8E7A-62FC77789AFE}"/>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Usa CountDownLatch para esperar la finalización de un lote de seis tareas, incluyendo las que fallan. Lleva contadores separados de completadas y fallidas.</a:t>
            </a:r>
          </a:p>
        </p:txBody>
      </p:sp>
      <p:sp>
        <p:nvSpPr>
          <p:cNvPr id="10" name="">
            <a:extLst xmlns:a="http://schemas.openxmlformats.org/drawingml/2006/main">
              <a:ext uri="{FF2B5EF4-FFF2-40B4-BE49-F238E27FC236}">
                <a16:creationId xmlns:a16="http://schemas.microsoft.com/office/drawing/2014/main" id="{4C59CFC4-9003-4B39-89B6-5E32849DAFA1}"/>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67922238-6B15-41AE-B408-8DAD67E9DF45}"/>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Documenta por qué una barrera requiere suficientes participantes activos y prueba cancelación antes de adquirir un permiso.</a:t>
            </a:r>
          </a:p>
        </p:txBody>
      </p:sp>
    </p:spTree>
    <p:extLst>
      <p:ext uri="{BB962C8B-B14F-4D97-AF65-F5344CB8AC3E}">
        <p14:creationId xmlns:p14="http://schemas.microsoft.com/office/powerpoint/2010/main" val="21469918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F467AB-9800-4E2C-81D7-CDE042DC54C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AE8AE7-D67D-48D5-9C4A-01116678FD5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77BB7375-69F9-4A80-9DF7-11C2911D7F5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D94432-D8FF-484B-9339-62C2D3E1176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3.3b</a:t>
            </a:r>
          </a:p>
        </p:txBody>
      </p:sp>
      <p:sp>
        <p:nvSpPr>
          <p:cNvPr id="5" name="">
            <a:extLst xmlns:a="http://schemas.openxmlformats.org/drawingml/2006/main">
              <a:ext uri="{FF2B5EF4-FFF2-40B4-BE49-F238E27FC236}">
                <a16:creationId xmlns:a16="http://schemas.microsoft.com/office/drawing/2014/main" id="{913D12C2-DE04-4DD5-8F03-16725EEDC50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A81B6C31-5161-47F2-B85D-439B810BB69F}"/>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Semaphore limita la capacidad concurrente.</a:t>
            </a:r>
          </a:p>
        </p:txBody>
      </p:sp>
      <p:sp>
        <p:nvSpPr>
          <p:cNvPr id="7" name="">
            <a:extLst xmlns:a="http://schemas.openxmlformats.org/drawingml/2006/main">
              <a:ext uri="{FF2B5EF4-FFF2-40B4-BE49-F238E27FC236}">
                <a16:creationId xmlns:a16="http://schemas.microsoft.com/office/drawing/2014/main" id="{7CC3677A-80A9-41DF-8AD3-28B52CB0FF58}"/>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CyclicBarrier coordina fases; CountDownLatch señala finalización.</a:t>
            </a:r>
          </a:p>
        </p:txBody>
      </p:sp>
      <p:sp>
        <p:nvSpPr>
          <p:cNvPr id="8" name="">
            <a:extLst xmlns:a="http://schemas.openxmlformats.org/drawingml/2006/main">
              <a:ext uri="{FF2B5EF4-FFF2-40B4-BE49-F238E27FC236}">
                <a16:creationId xmlns:a16="http://schemas.microsoft.com/office/drawing/2014/main" id="{DDAF61E4-C2A7-4499-B0DB-49DFEF5F0540}"/>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AtomicInteger no crea transacciones entre campos.</a:t>
            </a:r>
          </a:p>
        </p:txBody>
      </p:sp>
      <p:sp>
        <p:nvSpPr>
          <p:cNvPr id="9" name="">
            <a:extLst xmlns:a="http://schemas.openxmlformats.org/drawingml/2006/main">
              <a:ext uri="{FF2B5EF4-FFF2-40B4-BE49-F238E27FC236}">
                <a16:creationId xmlns:a16="http://schemas.microsoft.com/office/drawing/2014/main" id="{F9593A52-2524-444C-B753-E76767D36A06}"/>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Cada mecanismo protege una condición concreta del sistema.</a:t>
            </a:r>
          </a:p>
        </p:txBody>
      </p:sp>
    </p:spTree>
    <p:extLst>
      <p:ext uri="{BB962C8B-B14F-4D97-AF65-F5344CB8AC3E}">
        <p14:creationId xmlns:p14="http://schemas.microsoft.com/office/powerpoint/2010/main" val="19499557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2026-09-10T23:06:43.8300000Z</dcterms:created>
  <dcterms:modified xsi:type="dcterms:W3CDTF">2026-09-10T23:06:43.8300000Z</dcterms:modified>
</coreProperties>
</file>