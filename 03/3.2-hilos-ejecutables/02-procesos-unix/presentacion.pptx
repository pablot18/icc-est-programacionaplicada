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c2ca378e4347a9" /><Relationship Type="http://schemas.openxmlformats.org/officeDocument/2006/relationships/extended-properties" Target="/docProps/app.xml" Id="R5c4e815ff3464d9e" /><Relationship Type="http://schemas.openxmlformats.org/officeDocument/2006/relationships/officeDocument" Target="/ppt/presentation.xml" Id="R7011d5777ab74a89" /></Relationships>
</file>

<file path=ppt/presentation.xml><?xml version="1.0" encoding="utf-8"?>
<p:presentation xmlns:p="http://schemas.openxmlformats.org/presentationml/2006/main">
  <p:sldMasterIdLst>
    <p:sldMasterId xmlns:r="http://schemas.openxmlformats.org/officeDocument/2006/relationships" id="2147483648" r:id="Rc80fe81c51af412b"/>
  </p:sldMasterIdLst>
  <p:notesMasterIdLst>
    <p:notesMasterId xmlns:r="http://schemas.openxmlformats.org/officeDocument/2006/relationships" r:id="Rfa730d5fbfbc46ba"/>
  </p:notesMasterIdLst>
  <p:sldIdLst>
    <p:sldId xmlns:r="http://schemas.openxmlformats.org/officeDocument/2006/relationships" id="256" r:id="R93a3d12df1ee464f"/>
    <p:sldId xmlns:r="http://schemas.openxmlformats.org/officeDocument/2006/relationships" id="257" r:id="R1c3b76a4d7844ec9"/>
    <p:sldId xmlns:r="http://schemas.openxmlformats.org/officeDocument/2006/relationships" id="258" r:id="R640b64ba1ef9400a"/>
    <p:sldId xmlns:r="http://schemas.openxmlformats.org/officeDocument/2006/relationships" id="259" r:id="Raa0b4d7f3e704702"/>
    <p:sldId xmlns:r="http://schemas.openxmlformats.org/officeDocument/2006/relationships" id="260" r:id="R593e0b312482400d"/>
    <p:sldId xmlns:r="http://schemas.openxmlformats.org/officeDocument/2006/relationships" id="261" r:id="R17fd45fc54734820"/>
    <p:sldId xmlns:r="http://schemas.openxmlformats.org/officeDocument/2006/relationships" id="262" r:id="R5d1d257275264731"/>
    <p:sldId xmlns:r="http://schemas.openxmlformats.org/officeDocument/2006/relationships" id="263" r:id="R16dc2940685f40c9"/>
    <p:sldId xmlns:r="http://schemas.openxmlformats.org/officeDocument/2006/relationships" id="264" r:id="R7cb3eef58e0c4ad7"/>
    <p:sldId xmlns:r="http://schemas.openxmlformats.org/officeDocument/2006/relationships" id="265" r:id="Rf05e7ccc73694b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32ae230504400f" /><Relationship Type="http://schemas.openxmlformats.org/officeDocument/2006/relationships/slideMaster" Target="/ppt/slideMasters/slideMaster1.xml" Id="Rc80fe81c51af412b" /><Relationship Type="http://schemas.openxmlformats.org/officeDocument/2006/relationships/notesMaster" Target="/ppt/notesMasters/notesMaster1.xml" Id="Rfa730d5fbfbc46ba" /><Relationship Type="http://schemas.openxmlformats.org/officeDocument/2006/relationships/presProps" Target="/ppt/presProps.xml" Id="Rdfc74c6d97c043c8" /><Relationship Type="http://schemas.openxmlformats.org/officeDocument/2006/relationships/tableStyles" Target="/ppt/tableStyles.xml" Id="R25da4f36dd354148" /><Relationship Type="http://schemas.openxmlformats.org/officeDocument/2006/relationships/slide" Target="/ppt/slides/slide1.xml" Id="R93a3d12df1ee464f" /><Relationship Type="http://schemas.openxmlformats.org/officeDocument/2006/relationships/slide" Target="/ppt/slides/slide2.xml" Id="R1c3b76a4d7844ec9" /><Relationship Type="http://schemas.openxmlformats.org/officeDocument/2006/relationships/slide" Target="/ppt/slides/slide3.xml" Id="R640b64ba1ef9400a" /><Relationship Type="http://schemas.openxmlformats.org/officeDocument/2006/relationships/slide" Target="/ppt/slides/slide4.xml" Id="Raa0b4d7f3e704702" /><Relationship Type="http://schemas.openxmlformats.org/officeDocument/2006/relationships/slide" Target="/ppt/slides/slide5.xml" Id="R593e0b312482400d" /><Relationship Type="http://schemas.openxmlformats.org/officeDocument/2006/relationships/slide" Target="/ppt/slides/slide6.xml" Id="R17fd45fc54734820" /><Relationship Type="http://schemas.openxmlformats.org/officeDocument/2006/relationships/slide" Target="/ppt/slides/slide7.xml" Id="R5d1d257275264731" /><Relationship Type="http://schemas.openxmlformats.org/officeDocument/2006/relationships/slide" Target="/ppt/slides/slide8.xml" Id="R16dc2940685f40c9" /><Relationship Type="http://schemas.openxmlformats.org/officeDocument/2006/relationships/slide" Target="/ppt/slides/slide9.xml" Id="R7cb3eef58e0c4ad7" /><Relationship Type="http://schemas.openxmlformats.org/officeDocument/2006/relationships/slide" Target="/ppt/slides/slide10.xml" Id="Rf05e7ccc7369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1f310c74d54f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dcc453c20e43c1" /><Relationship Type="http://schemas.openxmlformats.org/officeDocument/2006/relationships/notesMaster" Target="/ppt/notesMasters/notesMaster1.xml" Id="R1c50911c5aee4d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3411897fb840ed" /><Relationship Type="http://schemas.openxmlformats.org/officeDocument/2006/relationships/notesMaster" Target="/ppt/notesMasters/notesMaster1.xml" Id="Rd7bfba4cf19f4c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071907cdef415e" /><Relationship Type="http://schemas.openxmlformats.org/officeDocument/2006/relationships/notesMaster" Target="/ppt/notesMasters/notesMaster1.xml" Id="Rabcd6c062a8441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61432c61214f85" /><Relationship Type="http://schemas.openxmlformats.org/officeDocument/2006/relationships/notesMaster" Target="/ppt/notesMasters/notesMaster1.xml" Id="R897259a3a3c748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40e7d7c1244dba" /><Relationship Type="http://schemas.openxmlformats.org/officeDocument/2006/relationships/notesMaster" Target="/ppt/notesMasters/notesMaster1.xml" Id="R5880b8b896f84e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b9397d527c4a31" /><Relationship Type="http://schemas.openxmlformats.org/officeDocument/2006/relationships/notesMaster" Target="/ppt/notesMasters/notesMaster1.xml" Id="R474b44b7e8824b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43c5f857fd4747" /><Relationship Type="http://schemas.openxmlformats.org/officeDocument/2006/relationships/notesMaster" Target="/ppt/notesMasters/notesMaster1.xml" Id="R3c23527536634b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bc1758aa4040f7" /><Relationship Type="http://schemas.openxmlformats.org/officeDocument/2006/relationships/notesMaster" Target="/ppt/notesMasters/notesMaster1.xml" Id="R97640b1706bb4a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e6c419ae45454e" /><Relationship Type="http://schemas.openxmlformats.org/officeDocument/2006/relationships/notesMaster" Target="/ppt/notesMasters/notesMaster1.xml" Id="R30c3521286124e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5cc2f0a07449a4" /><Relationship Type="http://schemas.openxmlformats.org/officeDocument/2006/relationships/notesMaster" Target="/ppt/notesMasters/notesMaster1.xml" Id="Raf174cfb1ebe4d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3.2b. Procesos y ejecutables Unix.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término ejecutable puede referirse a una tarea Runnable o a un programa del sistema operativo. Son conceptos distintos. Este complemento permite lanzar una herramienta de diagnóstico externa desde Java y controlar su salida y duración.</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proceso dispone de recursos y espacio de direcciones gestionados por el sistema operativo. Un hilo pertenece a un proceso y comparte parte de su memoria con otros hilos del mismo proceso. Un ejecutable externo produce otro proceso; no se convierte en un Runnable por haber sido iniciado desde Java.</a:t>
            </a:r>
          </a:p>
          <a:p xmlns:a="http://schemas.openxmlformats.org/drawingml/2006/main">
            <a:r>
              <a:t/>
            </a:r>
          </a:p>
          <a:p xmlns:a="http://schemas.openxmlformats.org/drawingml/2006/main">
            <a:r>
              <a:t>ProcessBuilder construye una invocación con argumentos separados. Process permite observar terminación, código de salida y flujos. Runnable sigue siendo una interfaz Java para describir trabajo. En el programa analítico, hilos y ejecutables se trabaja principalmente como Thread y Runnable; esta extensión de procesos aclara el vocabulario y muestra una integración útil.</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ProcessBuilder("uname", "-s") pasa dos argumentos al sistema. No interpreta tuberías, comodines ni redirecciones como una shell. Esto reduce problemas de escape. Una cadena única "uname -s" intenta encontrar un programa con ese nombre y normalmente falla.</a:t>
            </a:r>
          </a:p>
          <a:p xmlns:a="http://schemas.openxmlformats.org/drawingml/2006/main">
            <a:r>
              <a:t/>
            </a:r>
          </a:p>
          <a:p xmlns:a="http://schemas.openxmlformats.org/drawingml/2006/main">
            <a:r>
              <a:t>No construyas sh -c con texto de usuarios. Si necesitas funciones de shell, utiliza un script controlado, revisa sus argumentos y limita las herramientas disponibles. La demostración usa únicamente el ejecutable uname y una opción fija. En Windows invoca el propio Java con --version para mantener una alternativa disponible.</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proceso tiene stdout, stderr y un código de salida. Si no se consumen sus flujos, puede bloquearse cuando se llenan los buffers. redirectErrorStream(true) combina stderr con stdout, pero pierde la distinción entre ambos canales. La demostración redirige a un archivo temporal para evitar el bloqueo de tuberías sin crear lectores adicionales.</a:t>
            </a:r>
          </a:p>
          <a:p xmlns:a="http://schemas.openxmlformats.org/drawingml/2006/main">
            <a:r>
              <a:t/>
            </a:r>
          </a:p>
          <a:p xmlns:a="http://schemas.openxmlformats.org/drawingml/2006/main">
            <a:r>
              <a:t>El código cero suele indicar éxito, según el contrato de la herramienta. Cualquier otro código debe tratarse explícitamente. No interpretes una salida parcial como un resultado válido cuando el proceso no terminó. Al finalizar, cierra flujos o elimina los ficheros temporales que hayas creado.</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waitFor con timeout limita la espera, no garantiza que el proceso termine al cumplirse el plazo. La aplicación debe solicitar destroy y, si no basta, destroyForcibly, esperando la terminación posterior. Los procesos hijos requieren una política adicional si una herramienta crea un árbol de procesos.</a:t>
            </a:r>
          </a:p>
          <a:p xmlns:a="http://schemas.openxmlformats.org/drawingml/2006/main">
            <a:r>
              <a:t/>
            </a:r>
          </a:p>
          <a:p xmlns:a="http://schemas.openxmlformats.org/drawingml/2006/main">
            <a:r>
              <a:t>Los comandos, rutas y permisos cambian entre plataformas. Para un diagnóstico reproducible registra el sistema operativo y la herramienta. No asumas que /dev/ttyUSB0 o uname existen en todos los equipos. La integración serial de la unidad 5 utilizará una biblioteca y selección explícita del puerto, en lugar de comandos de shell.</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java.io.*;</a:t>
            </a:r>
          </a:p>
          <a:p xmlns:a="http://schemas.openxmlformats.org/drawingml/2006/main">
            <a:r>
              <a:t>import java.nio.file.*;</a:t>
            </a:r>
          </a:p>
          <a:p xmlns:a="http://schemas.openxmlformats.org/drawingml/2006/main">
            <a:r>
              <a:t>import java.util.concurrent.TimeUnit;</a:t>
            </a:r>
          </a:p>
          <a:p xmlns:a="http://schemas.openxmlformats.org/drawingml/2006/main">
            <a:r>
              <a:t>public class ProcesosDemo {</a:t>
            </a:r>
          </a:p>
          <a:p xmlns:a="http://schemas.openxmlformats.org/drawingml/2006/main">
            <a:r>
              <a:t>    public static void main(String[] args) throws IOException, InterruptedException {</a:t>
            </a:r>
          </a:p>
          <a:p xmlns:a="http://schemas.openxmlformats.org/drawingml/2006/main">
            <a:r>
              <a:t>        boolean windows = System.getProperty("os.name").toLowerCase().contains("win");</a:t>
            </a:r>
          </a:p>
          <a:p xmlns:a="http://schemas.openxmlformats.org/drawingml/2006/main">
            <a:r>
              <a:t>        String java = Path.of(System.getProperty("java.home"),"bin",windows?"java.exe":"java").toString();</a:t>
            </a:r>
          </a:p>
          <a:p xmlns:a="http://schemas.openxmlformats.org/drawingml/2006/main">
            <a:r>
              <a:t>        ProcessBuilder pb = windows ? new ProcessBuilder(java,"--version") : new ProcessBuilder("uname","-s");</a:t>
            </a:r>
          </a:p>
          <a:p xmlns:a="http://schemas.openxmlformats.org/drawingml/2006/main">
            <a:r>
              <a:t>        Path salida = Files.createTempFile("diagnostico-", ".txt");</a:t>
            </a:r>
          </a:p>
          <a:p xmlns:a="http://schemas.openxmlformats.org/drawingml/2006/main">
            <a:r>
              <a:t>        Process proceso = null;</a:t>
            </a:r>
          </a:p>
          <a:p xmlns:a="http://schemas.openxmlformats.org/drawingml/2006/main">
            <a:r>
              <a:t>        try {</a:t>
            </a:r>
          </a:p>
          <a:p xmlns:a="http://schemas.openxmlformats.org/drawingml/2006/main">
            <a:r>
              <a:t>            proceso = pb.redirectErrorStream(true).redirectOutput(salida.toFile()).start();</a:t>
            </a:r>
          </a:p>
          <a:p xmlns:a="http://schemas.openxmlformats.org/drawingml/2006/main">
            <a:r>
              <a:t>            if (!proceso.waitFor(3,TimeUnit.SECONDS)) {</a:t>
            </a:r>
          </a:p>
          <a:p xmlns:a="http://schemas.openxmlformats.org/drawingml/2006/main">
            <a:r>
              <a:t>                proceso.destroy();</a:t>
            </a:r>
          </a:p>
          <a:p xmlns:a="http://schemas.openxmlformats.org/drawingml/2006/main">
            <a:r>
              <a:t>                if (!proceso.waitFor(1,TimeUnit.SECONDS)) { proceso.destroyForcibly(); proceso.waitFor(); }</a:t>
            </a:r>
          </a:p>
          <a:p xmlns:a="http://schemas.openxmlformats.org/drawingml/2006/main">
            <a:r>
              <a:t>                throw new IOException("Tiempo de diagnóstico agotado");</a:t>
            </a:r>
          </a:p>
          <a:p xmlns:a="http://schemas.openxmlformats.org/drawingml/2006/main">
            <a:r>
              <a:t>            }</a:t>
            </a:r>
          </a:p>
          <a:p xmlns:a="http://schemas.openxmlformats.org/drawingml/2006/main">
            <a:r>
              <a:t>            if (proceso.exitValue()!=0) throw new IOException("Código de salida: "+proceso.exitValue());</a:t>
            </a:r>
          </a:p>
          <a:p xmlns:a="http://schemas.openxmlformats.org/drawingml/2006/main">
            <a:r>
              <a:t>            System.out.print(Files.readString(salida));</a:t>
            </a:r>
          </a:p>
          <a:p xmlns:a="http://schemas.openxmlformats.org/drawingml/2006/main">
            <a:r>
              <a:t>        } finally {</a:t>
            </a:r>
          </a:p>
          <a:p xmlns:a="http://schemas.openxmlformats.org/drawingml/2006/main">
            <a:r>
              <a:t>            if (proceso!=null &amp;&amp; proceso.isAlive()) proceso.destroyForcibly();</a:t>
            </a:r>
          </a:p>
          <a:p xmlns:a="http://schemas.openxmlformats.org/drawingml/2006/main">
            <a:r>
              <a:t>            Files.deleteIfExists(salida);</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Linux o Darwin en Unix/macOS. En Windows muestra la versión del JDK. La salida concreta depende del sistema operativo.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Linux o Darwin en Unix/macOS. En Windows muestra la versión del JDK. La salida concreta depende del sistema operativo.</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evidencias/PC3.2b.md y enlace al commit final.</a:t>
            </a:r>
          </a:p>
          <a:p xmlns:a="http://schemas.openxmlformats.org/drawingml/2006/main">
            <a:r>
              <a:t>Agrega un diagnóstico opcional a CampusMonitor que ejecute una herramienta fija del sistema con argumentos separados.</a:t>
            </a:r>
          </a:p>
          <a:p xmlns:a="http://schemas.openxmlformats.org/drawingml/2006/main">
            <a:r>
              <a:t>Aplica un plazo de tres segundos, captura código de salida y evita bloqueos por stdout y stderr.</a:t>
            </a:r>
          </a:p>
          <a:p xmlns:a="http://schemas.openxmlformats.org/drawingml/2006/main">
            <a:r>
              <a:t>Documenta una alternativa portable y explica por qué ProcessBuilder no sustituye a Thread ni a ExecutorService.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c97e94be8e4c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474d4ebf5841a0" /><Relationship Type="http://schemas.openxmlformats.org/officeDocument/2006/relationships/slideLayout" Target="/ppt/slideLayouts/slideLayout1.xml" Id="R7169caad186d40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69caad186d40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29f5fa228143e0" /><Relationship Type="http://schemas.openxmlformats.org/officeDocument/2006/relationships/image" Target="/ppt/media/image.png" Id="R6ac804abbb6845b4" /><Relationship Type="http://schemas.openxmlformats.org/officeDocument/2006/relationships/notesSlide" Target="/ppt/notesSlides/notesSlide1.xml" Id="R6352baa767fa4e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77162468124d69" /><Relationship Type="http://schemas.openxmlformats.org/officeDocument/2006/relationships/notesSlide" Target="/ppt/notesSlides/notesSlide2.xml" Id="Rda0a702f540345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a84a77ad3d499a" /><Relationship Type="http://schemas.openxmlformats.org/officeDocument/2006/relationships/notesSlide" Target="/ppt/notesSlides/notesSlide3.xml" Id="Ra993100e435940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76fc81bd394beb" /><Relationship Type="http://schemas.openxmlformats.org/officeDocument/2006/relationships/notesSlide" Target="/ppt/notesSlides/notesSlide4.xml" Id="R25a17403c9ac4d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fa6ea7d7204895" /><Relationship Type="http://schemas.openxmlformats.org/officeDocument/2006/relationships/notesSlide" Target="/ppt/notesSlides/notesSlide5.xml" Id="R91ea2a919a2d4c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08e365b3fb4407" /><Relationship Type="http://schemas.openxmlformats.org/officeDocument/2006/relationships/notesSlide" Target="/ppt/notesSlides/notesSlide6.xml" Id="R7c14a84446bc4b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a9a17c3ec74f9d" /><Relationship Type="http://schemas.openxmlformats.org/officeDocument/2006/relationships/notesSlide" Target="/ppt/notesSlides/notesSlide7.xml" Id="R511b70a3f47446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0fcc4d97074b26" /><Relationship Type="http://schemas.openxmlformats.org/officeDocument/2006/relationships/notesSlide" Target="/ppt/notesSlides/notesSlide8.xml" Id="Re12cf6d3249846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db968f7a0947af" /><Relationship Type="http://schemas.openxmlformats.org/officeDocument/2006/relationships/notesSlide" Target="/ppt/notesSlides/notesSlide9.xml" Id="Ra7d57c302048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89803f310f4f9e" /><Relationship Type="http://schemas.openxmlformats.org/officeDocument/2006/relationships/notesSlide" Target="/ppt/notesSlides/notesSlide10.xml" Id="Ra01ff4734e214e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c804abbb6845b4"/>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538E18-70D4-4F54-8CFC-A877092B72D4}"/>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89C56269-4ADC-42A5-9793-C00E11C1150B}"/>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Procesos y ejecutables Unix</a:t>
            </a:r>
          </a:p>
        </p:txBody>
      </p:sp>
      <p:sp>
        <p:nvSpPr>
          <p:cNvPr id="4" name="">
            <a:extLst xmlns:a="http://schemas.openxmlformats.org/drawingml/2006/main">
              <a:ext uri="{FF2B5EF4-FFF2-40B4-BE49-F238E27FC236}">
                <a16:creationId xmlns:a16="http://schemas.microsoft.com/office/drawing/2014/main" id="{63E15D52-CED1-4311-8765-35FAE76B8E5D}"/>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C4B2D6-44CC-482A-91BF-384FA2660C83}"/>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3.2b</a:t>
            </a:r>
          </a:p>
        </p:txBody>
      </p:sp>
      <p:sp>
        <p:nvSpPr>
          <p:cNvPr id="6" name="">
            <a:extLst xmlns:a="http://schemas.openxmlformats.org/drawingml/2006/main">
              <a:ext uri="{FF2B5EF4-FFF2-40B4-BE49-F238E27FC236}">
                <a16:creationId xmlns:a16="http://schemas.microsoft.com/office/drawing/2014/main" id="{1F663BFD-B499-4CE2-952D-0BF0079B45BE}"/>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1064790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828E86-C8D9-48C7-BFF1-04C4DFD6D28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C0640A-6F6A-466E-A1F4-7F1D98547F4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E2325A51-16F3-41B2-B915-697D5F25698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F9FA58-1F42-474B-A16A-BEAF4649606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B476E4AE-68DB-42D8-ACA0-08E55DF7DCA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EB6B4CC0-02E7-44BD-BD93-CAAB51D72B3F}"/>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término ejecutable puede referirse a una tarea Runnable o a un programa del sistema operativo. Son conceptos distintos. Este complemento permite lanzar una herramienta de diagnóstico externa desde Java y controlar su salida y duración.</a:t>
            </a:r>
          </a:p>
        </p:txBody>
      </p:sp>
    </p:spTree>
    <p:extLst>
      <p:ext uri="{BB962C8B-B14F-4D97-AF65-F5344CB8AC3E}">
        <p14:creationId xmlns:p14="http://schemas.microsoft.com/office/powerpoint/2010/main" val="3130132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187ECD-3E1A-41E4-BA4A-91F41DBE949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EAC908-F3A8-424A-A329-60EC35814FE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Proceso, hilo y ejecutable</a:t>
            </a:r>
          </a:p>
        </p:txBody>
      </p:sp>
      <p:sp>
        <p:nvSpPr>
          <p:cNvPr id="3" name="">
            <a:extLst xmlns:a="http://schemas.openxmlformats.org/drawingml/2006/main">
              <a:ext uri="{FF2B5EF4-FFF2-40B4-BE49-F238E27FC236}">
                <a16:creationId xmlns:a16="http://schemas.microsoft.com/office/drawing/2014/main" id="{466E2970-5A8D-4472-9999-5CB73F9F814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997D5B-ECEE-4A5A-99AC-4E5F1F573F9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395E128D-A0DD-4D94-AAE0-53E40EEB096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C5DEBBC1-738B-4EE0-ABAA-50037D350089}"/>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 proceso tiene recursos del sistema operativo.</a:t>
            </a:r>
          </a:p>
        </p:txBody>
      </p:sp>
      <p:sp>
        <p:nvSpPr>
          <p:cNvPr id="7" name="">
            <a:extLst xmlns:a="http://schemas.openxmlformats.org/drawingml/2006/main">
              <a:ext uri="{FF2B5EF4-FFF2-40B4-BE49-F238E27FC236}">
                <a16:creationId xmlns:a16="http://schemas.microsoft.com/office/drawing/2014/main" id="{7122EFFC-49DD-4C5D-B469-BFCDE05A87C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proceso dispone de recursos y espacio de direcciones gestionados por el sistema operativo. Un hilo pertenece a un proceso y comparte parte de su memoria con otros hilos del mismo proceso. Un ejecutable externo produce otro proceso; no se convierte en un Runnable por haber sido iniciado desde Java.</a:t>
            </a:r>
          </a:p>
        </p:txBody>
      </p:sp>
      <p:sp>
        <p:nvSpPr>
          <p:cNvPr id="8" name="">
            <a:extLst xmlns:a="http://schemas.openxmlformats.org/drawingml/2006/main">
              <a:ext uri="{FF2B5EF4-FFF2-40B4-BE49-F238E27FC236}">
                <a16:creationId xmlns:a16="http://schemas.microsoft.com/office/drawing/2014/main" id="{5121CF20-A7FC-4688-859B-FAFF949F7426}"/>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C3FDF8-7384-4BA0-B243-089386C2CE82}"/>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ProcessBuilder construye una invocación con argumentos separados. Process permite observar terminación, código de salida y flujos. Runnable sigue siendo una interfaz Java para describir trabajo.</a:t>
            </a:r>
          </a:p>
        </p:txBody>
      </p:sp>
    </p:spTree>
    <p:extLst>
      <p:ext uri="{BB962C8B-B14F-4D97-AF65-F5344CB8AC3E}">
        <p14:creationId xmlns:p14="http://schemas.microsoft.com/office/powerpoint/2010/main" val="13087224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14CC01-FA07-4C56-A066-55FC3A9C0F9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5BD90F-0D5D-46CA-A142-49E10A9C384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Argumentos y ausencia de shell implícito</a:t>
            </a:r>
          </a:p>
        </p:txBody>
      </p:sp>
      <p:sp>
        <p:nvSpPr>
          <p:cNvPr id="3" name="">
            <a:extLst xmlns:a="http://schemas.openxmlformats.org/drawingml/2006/main">
              <a:ext uri="{FF2B5EF4-FFF2-40B4-BE49-F238E27FC236}">
                <a16:creationId xmlns:a16="http://schemas.microsoft.com/office/drawing/2014/main" id="{DB08EEDD-1A40-4A53-99F2-5CB4A9FA35F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1B0BF6-60E5-4F5F-A8F3-FE1D4599418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CEFB17BA-2ED3-4AB3-A9D4-9B7926C09C2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22C0442A-C8E8-4D3F-AD0D-DA532681A3E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ProcessBuilder recibe argumentos separados.</a:t>
            </a:r>
          </a:p>
        </p:txBody>
      </p:sp>
      <p:sp>
        <p:nvSpPr>
          <p:cNvPr id="7" name="">
            <a:extLst xmlns:a="http://schemas.openxmlformats.org/drawingml/2006/main">
              <a:ext uri="{FF2B5EF4-FFF2-40B4-BE49-F238E27FC236}">
                <a16:creationId xmlns:a16="http://schemas.microsoft.com/office/drawing/2014/main" id="{7480E71D-C7DC-441D-ABC7-39A5E053176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new ProcessBuilder("uname", "-s") pasa dos argumentos al sistema. No interpreta tuberías, comodines ni redirecciones como una shell. Esto reduce problemas de escape. Una cadena única "uname -s" intenta encontrar un programa con ese nombre y normalmente falla.</a:t>
            </a:r>
          </a:p>
        </p:txBody>
      </p:sp>
      <p:sp>
        <p:nvSpPr>
          <p:cNvPr id="8" name="">
            <a:extLst xmlns:a="http://schemas.openxmlformats.org/drawingml/2006/main">
              <a:ext uri="{FF2B5EF4-FFF2-40B4-BE49-F238E27FC236}">
                <a16:creationId xmlns:a16="http://schemas.microsoft.com/office/drawing/2014/main" id="{26F9CA17-7F0E-4B6A-8858-AB452A06C506}"/>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DF83EEE-8FE2-4E67-B63A-173EC4B3B37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No construyas sh -c con texto de usuarios. Si necesitas funciones de shell, utiliza un script controlado, revisa sus argumentos y limita las herramientas disponibles.</a:t>
            </a:r>
          </a:p>
        </p:txBody>
      </p:sp>
    </p:spTree>
    <p:extLst>
      <p:ext uri="{BB962C8B-B14F-4D97-AF65-F5344CB8AC3E}">
        <p14:creationId xmlns:p14="http://schemas.microsoft.com/office/powerpoint/2010/main" val="17767514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BF4CE1-1E5C-49A5-A29C-5D76E0521AF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B8DC51-5027-4317-99FB-446AA45E536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Salida, errores y cierre</a:t>
            </a:r>
          </a:p>
        </p:txBody>
      </p:sp>
      <p:sp>
        <p:nvSpPr>
          <p:cNvPr id="3" name="">
            <a:extLst xmlns:a="http://schemas.openxmlformats.org/drawingml/2006/main">
              <a:ext uri="{FF2B5EF4-FFF2-40B4-BE49-F238E27FC236}">
                <a16:creationId xmlns:a16="http://schemas.microsoft.com/office/drawing/2014/main" id="{03220AA1-49D1-49CD-9502-6F0F3999D4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1A8441-CBCC-48B9-B99A-48E3B258A32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25716898-D70F-42B8-BDF5-961AF085DA2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19237C1F-9685-4CC8-96EE-59319720A551}"/>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salidas sin consumir pueden bloquear.</a:t>
            </a:r>
          </a:p>
        </p:txBody>
      </p:sp>
      <p:sp>
        <p:nvSpPr>
          <p:cNvPr id="7" name="">
            <a:extLst xmlns:a="http://schemas.openxmlformats.org/drawingml/2006/main">
              <a:ext uri="{FF2B5EF4-FFF2-40B4-BE49-F238E27FC236}">
                <a16:creationId xmlns:a16="http://schemas.microsoft.com/office/drawing/2014/main" id="{66F59804-78C5-458F-8A3C-9A2DB4790D96}"/>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proceso tiene stdout, stderr y un código de salida. Si no se consumen sus flujos, puede bloquearse cuando se llenan los buffers. redirectErrorStream(true) combina stderr con stdout, pero pierde la distinción entre ambos canales.</a:t>
            </a:r>
          </a:p>
        </p:txBody>
      </p:sp>
      <p:sp>
        <p:nvSpPr>
          <p:cNvPr id="8" name="">
            <a:extLst xmlns:a="http://schemas.openxmlformats.org/drawingml/2006/main">
              <a:ext uri="{FF2B5EF4-FFF2-40B4-BE49-F238E27FC236}">
                <a16:creationId xmlns:a16="http://schemas.microsoft.com/office/drawing/2014/main" id="{B3E41407-AB78-412A-826E-74BC99BE874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8CC4F6-4A33-46D5-9B13-8BE3B4760F5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código cero suele indicar éxito, según el contrato de la herramienta. Cualquier otro código debe tratarse explícitamente. No interpretes una salida parcial como un resultado válido cuando el proceso no terminó.</a:t>
            </a:r>
          </a:p>
        </p:txBody>
      </p:sp>
    </p:spTree>
    <p:extLst>
      <p:ext uri="{BB962C8B-B14F-4D97-AF65-F5344CB8AC3E}">
        <p14:creationId xmlns:p14="http://schemas.microsoft.com/office/powerpoint/2010/main" val="18985483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C521FF-6B9E-42AA-A825-2F9F3F80114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30F123-FC3D-4066-A6E1-6F296F684C3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Plazos y portabilidad</a:t>
            </a:r>
          </a:p>
        </p:txBody>
      </p:sp>
      <p:sp>
        <p:nvSpPr>
          <p:cNvPr id="3" name="">
            <a:extLst xmlns:a="http://schemas.openxmlformats.org/drawingml/2006/main">
              <a:ext uri="{FF2B5EF4-FFF2-40B4-BE49-F238E27FC236}">
                <a16:creationId xmlns:a16="http://schemas.microsoft.com/office/drawing/2014/main" id="{6E44EB5A-7097-47D1-9A16-26843672E64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A079B7-CF13-4B53-80BE-22CBF8FFF2E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E6FEDE45-25C8-4E37-8109-00666BA33EC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8182268-8789-417B-B25F-B021FCF5227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 timeout requiere una política de terminación.</a:t>
            </a:r>
          </a:p>
        </p:txBody>
      </p:sp>
      <p:sp>
        <p:nvSpPr>
          <p:cNvPr id="7" name="">
            <a:extLst xmlns:a="http://schemas.openxmlformats.org/drawingml/2006/main">
              <a:ext uri="{FF2B5EF4-FFF2-40B4-BE49-F238E27FC236}">
                <a16:creationId xmlns:a16="http://schemas.microsoft.com/office/drawing/2014/main" id="{644241C4-7102-47BE-B6A8-5508C76A08A7}"/>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waitFor con timeout limita la espera, no garantiza que el proceso termine al cumplirse el plazo. La aplicación debe solicitar destroy y, si no basta, destroyForcibly, esperando la terminación posterior. Los procesos hijos requieren una política adicional si una herramienta crea un árbol de procesos.</a:t>
            </a:r>
          </a:p>
        </p:txBody>
      </p:sp>
      <p:sp>
        <p:nvSpPr>
          <p:cNvPr id="8" name="">
            <a:extLst xmlns:a="http://schemas.openxmlformats.org/drawingml/2006/main">
              <a:ext uri="{FF2B5EF4-FFF2-40B4-BE49-F238E27FC236}">
                <a16:creationId xmlns:a16="http://schemas.microsoft.com/office/drawing/2014/main" id="{C47C50DC-0CEF-4270-9E07-BF1F75DEB620}"/>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0F098A-6F7F-4A0D-988A-0E3A439EE706}"/>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Los comandos, rutas y permisos cambian entre plataformas. Para un diagnóstico reproducible registra el sistema operativo y la herramienta. No asumas que /dev/ttyUSB0 o uname existen en todos los equipos.</a:t>
            </a:r>
          </a:p>
        </p:txBody>
      </p:sp>
    </p:spTree>
    <p:extLst>
      <p:ext uri="{BB962C8B-B14F-4D97-AF65-F5344CB8AC3E}">
        <p14:creationId xmlns:p14="http://schemas.microsoft.com/office/powerpoint/2010/main" val="266700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735D6E-CE6A-496F-9E90-70C111802B0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439915-EF2C-4F3F-93E4-B7E4B6BC08E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BD7B858F-D34D-4777-97A4-1189AD19844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B81342-42B0-419B-A93D-ADCD0B5939C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BB46700E-3C0B-4890-A150-1BE5F490E2B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CD6D1AA1-B7A3-4FD7-BA47-C6FFC476D49D}"/>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53026A-8D1F-4517-80FF-6AB149B9073D}"/>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IOException, InterruptedException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boolean windows = System.getProperty("os.name").toLowerCase().contains("win");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String java = Path.of(System.getProperty("java.home"),"bin",windows?"java.exe":"java").toString();</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ProcessBuilder pb = windows ? new ProcessBuilder(java,"--version") : new ProcessBuilder("uname","-s");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Path salida = Files.createTempFile("diagnostico-", ".txt");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Process proceso = null;</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proceso = pb.redirectErrorStream(true).redirectOutput(salida.toFile()).start();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(!proceso.waitFor(3,TimeUnit.SECONDS))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proceso.destroy();</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(!proceso.waitFor(1,TimeUnit.SECONDS)) { proceso.destroyForcibly(); proceso.waitFor();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throw new IOException("Tiempo de diagnóstico agotado");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p:txBody>
      </p:sp>
      <p:sp>
        <p:nvSpPr>
          <p:cNvPr id="8" name="">
            <a:extLst xmlns:a="http://schemas.openxmlformats.org/drawingml/2006/main">
              <a:ext uri="{FF2B5EF4-FFF2-40B4-BE49-F238E27FC236}">
                <a16:creationId xmlns:a16="http://schemas.microsoft.com/office/drawing/2014/main" id="{07E1993A-8C92-4363-8733-4C9B3271E9E5}"/>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ProcesosDemo.java. Código completo y ejecución en material.md.</a:t>
            </a:r>
          </a:p>
        </p:txBody>
      </p:sp>
    </p:spTree>
    <p:extLst>
      <p:ext uri="{BB962C8B-B14F-4D97-AF65-F5344CB8AC3E}">
        <p14:creationId xmlns:p14="http://schemas.microsoft.com/office/powerpoint/2010/main" val="9013170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CBE1FA-3210-4A48-AFB0-50CE8C56001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F06A22-23C8-4C82-96EC-962068F93CF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37421565-64F2-4D6B-A5CA-66559658887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0E5ABC-E09C-4100-8048-85397363F9E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B5AE439A-64BB-49C0-BA29-BF4F7F4E1D1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Herramienta disponible</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Salida y código correctos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Ejecutable inexistente</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IOException controlada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Proceso que excede plazo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Cancelación y limpieza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3D5B8D3E-6AA6-44EF-9913-D3C10614258F}"/>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Linux o Darwin en Unix/macOS. En Windows muestra la versión del JDK. La salida concreta depende del sistema operativo.</a:t>
            </a:r>
          </a:p>
        </p:txBody>
      </p:sp>
    </p:spTree>
    <p:extLst>
      <p:ext uri="{BB962C8B-B14F-4D97-AF65-F5344CB8AC3E}">
        <p14:creationId xmlns:p14="http://schemas.microsoft.com/office/powerpoint/2010/main" val="1824519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970A27-E2C7-4CC7-AFB4-F35319B5DF2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7FC4A-75D5-4969-BD25-3242F2A9F57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PC3.2b · Ampliación del proyecto</a:t>
            </a:r>
          </a:p>
        </p:txBody>
      </p:sp>
      <p:sp>
        <p:nvSpPr>
          <p:cNvPr id="3" name="">
            <a:extLst xmlns:a="http://schemas.openxmlformats.org/drawingml/2006/main">
              <a:ext uri="{FF2B5EF4-FFF2-40B4-BE49-F238E27FC236}">
                <a16:creationId xmlns:a16="http://schemas.microsoft.com/office/drawing/2014/main" id="{7EC1DA9C-9857-4A34-86E8-9ABB8A826C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693ABD-F1D2-43DF-944D-63139803A39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37528D29-7BDC-4438-B37A-14A83A31FF2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31D0F7F3-0470-491B-A59B-AB6FF104B00A}"/>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C16D7E77-5CF9-426A-9C94-353418129164}"/>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un diagnóstico opcional a CampusMonitor que ejecute una herramienta fija del sistema con argumentos separados.</a:t>
            </a:r>
          </a:p>
        </p:txBody>
      </p:sp>
      <p:sp>
        <p:nvSpPr>
          <p:cNvPr id="8" name="">
            <a:extLst xmlns:a="http://schemas.openxmlformats.org/drawingml/2006/main">
              <a:ext uri="{FF2B5EF4-FFF2-40B4-BE49-F238E27FC236}">
                <a16:creationId xmlns:a16="http://schemas.microsoft.com/office/drawing/2014/main" id="{AB61C012-08E4-42D5-B69D-0D9DB81A350C}"/>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65248AD9-C190-4E7D-8D4B-A800DC1D2E04}"/>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Aplica un plazo de tres segundos, captura código de salida y evita bloqueos por stdout y stderr.</a:t>
            </a:r>
          </a:p>
        </p:txBody>
      </p:sp>
      <p:sp>
        <p:nvSpPr>
          <p:cNvPr id="10" name="">
            <a:extLst xmlns:a="http://schemas.openxmlformats.org/drawingml/2006/main">
              <a:ext uri="{FF2B5EF4-FFF2-40B4-BE49-F238E27FC236}">
                <a16:creationId xmlns:a16="http://schemas.microsoft.com/office/drawing/2014/main" id="{EB5C8B8B-F499-4C73-AB09-7E6064CBED2E}"/>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EAFC9C2A-7E6B-4711-98F0-C13397CD83FC}"/>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Documenta una alternativa portable y explica por qué ProcessBuilder no sustituye a Thread ni a ExecutorService.</a:t>
            </a:r>
          </a:p>
        </p:txBody>
      </p:sp>
    </p:spTree>
    <p:extLst>
      <p:ext uri="{BB962C8B-B14F-4D97-AF65-F5344CB8AC3E}">
        <p14:creationId xmlns:p14="http://schemas.microsoft.com/office/powerpoint/2010/main" val="20910216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3F3ECF-2030-42B3-A860-4CE4EE8AF4C3}"/>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27C5BD-5CB9-46F3-9C6D-DC9997E42CD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3061DC3F-0144-43FA-BEB3-13C5CAA2C16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91AAF3-BF41-463D-A18D-3B581D099C5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3.2b</a:t>
            </a:r>
          </a:p>
        </p:txBody>
      </p:sp>
      <p:sp>
        <p:nvSpPr>
          <p:cNvPr id="5" name="">
            <a:extLst xmlns:a="http://schemas.openxmlformats.org/drawingml/2006/main">
              <a:ext uri="{FF2B5EF4-FFF2-40B4-BE49-F238E27FC236}">
                <a16:creationId xmlns:a16="http://schemas.microsoft.com/office/drawing/2014/main" id="{C6B8AD47-5EB2-4E95-80F0-7022EC7C9F5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0645C0E9-C54C-4646-AF66-85EAA0AAA4D8}"/>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Un proceso tiene recursos del sistema operativo.</a:t>
            </a:r>
          </a:p>
        </p:txBody>
      </p:sp>
      <p:sp>
        <p:nvSpPr>
          <p:cNvPr id="7" name="">
            <a:extLst xmlns:a="http://schemas.openxmlformats.org/drawingml/2006/main">
              <a:ext uri="{FF2B5EF4-FFF2-40B4-BE49-F238E27FC236}">
                <a16:creationId xmlns:a16="http://schemas.microsoft.com/office/drawing/2014/main" id="{801DB23A-73EF-4E83-9774-C5404EA82594}"/>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ProcessBuilder recibe argumentos separados.</a:t>
            </a:r>
          </a:p>
        </p:txBody>
      </p:sp>
      <p:sp>
        <p:nvSpPr>
          <p:cNvPr id="8" name="">
            <a:extLst xmlns:a="http://schemas.openxmlformats.org/drawingml/2006/main">
              <a:ext uri="{FF2B5EF4-FFF2-40B4-BE49-F238E27FC236}">
                <a16:creationId xmlns:a16="http://schemas.microsoft.com/office/drawing/2014/main" id="{D9B4F640-0629-423C-80FA-D0BB8F373EC5}"/>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Las salidas sin consumir pueden bloquear.</a:t>
            </a:r>
          </a:p>
        </p:txBody>
      </p:sp>
      <p:sp>
        <p:nvSpPr>
          <p:cNvPr id="9" name="">
            <a:extLst xmlns:a="http://schemas.openxmlformats.org/drawingml/2006/main">
              <a:ext uri="{FF2B5EF4-FFF2-40B4-BE49-F238E27FC236}">
                <a16:creationId xmlns:a16="http://schemas.microsoft.com/office/drawing/2014/main" id="{309C163B-21AB-4EFC-958E-753F9269B62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timeout requiere una política de terminación.</a:t>
            </a:r>
          </a:p>
        </p:txBody>
      </p:sp>
    </p:spTree>
    <p:extLst>
      <p:ext uri="{BB962C8B-B14F-4D97-AF65-F5344CB8AC3E}">
        <p14:creationId xmlns:p14="http://schemas.microsoft.com/office/powerpoint/2010/main" val="1009463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2026-09-10T23:06:33.6410000Z</dcterms:created>
  <dcterms:modified xsi:type="dcterms:W3CDTF">2026-09-10T23:06:33.6410000Z</dcterms:modified>
</coreProperties>
</file>