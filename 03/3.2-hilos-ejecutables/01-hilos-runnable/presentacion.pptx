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57a4faa7d6472d" /><Relationship Type="http://schemas.openxmlformats.org/officeDocument/2006/relationships/extended-properties" Target="/docProps/app.xml" Id="Re9fe3bf21fae422d" /><Relationship Type="http://schemas.openxmlformats.org/officeDocument/2006/relationships/officeDocument" Target="/ppt/presentation.xml" Id="R484c5479c6ac4c7a" /></Relationships>
</file>

<file path=ppt/presentation.xml><?xml version="1.0" encoding="utf-8"?>
<p:presentation xmlns:p="http://schemas.openxmlformats.org/presentationml/2006/main">
  <p:sldMasterIdLst>
    <p:sldMasterId xmlns:r="http://schemas.openxmlformats.org/officeDocument/2006/relationships" id="2147483648" r:id="R23124d30768b41c8"/>
  </p:sldMasterIdLst>
  <p:notesMasterIdLst>
    <p:notesMasterId xmlns:r="http://schemas.openxmlformats.org/officeDocument/2006/relationships" r:id="Radc85e70f2ef44ab"/>
  </p:notesMasterIdLst>
  <p:sldIdLst>
    <p:sldId xmlns:r="http://schemas.openxmlformats.org/officeDocument/2006/relationships" id="256" r:id="Raa7fe5ac600b4467"/>
    <p:sldId xmlns:r="http://schemas.openxmlformats.org/officeDocument/2006/relationships" id="257" r:id="R132db683be7243ed"/>
    <p:sldId xmlns:r="http://schemas.openxmlformats.org/officeDocument/2006/relationships" id="258" r:id="R59150320db8249c5"/>
    <p:sldId xmlns:r="http://schemas.openxmlformats.org/officeDocument/2006/relationships" id="259" r:id="Rf75d70ad8175400f"/>
    <p:sldId xmlns:r="http://schemas.openxmlformats.org/officeDocument/2006/relationships" id="260" r:id="R97f4834e5fec493f"/>
    <p:sldId xmlns:r="http://schemas.openxmlformats.org/officeDocument/2006/relationships" id="261" r:id="Radf76bf026164e8b"/>
    <p:sldId xmlns:r="http://schemas.openxmlformats.org/officeDocument/2006/relationships" id="262" r:id="R1d6b7a8d36fe4f0a"/>
    <p:sldId xmlns:r="http://schemas.openxmlformats.org/officeDocument/2006/relationships" id="263" r:id="R4f8691e471194a7a"/>
    <p:sldId xmlns:r="http://schemas.openxmlformats.org/officeDocument/2006/relationships" id="264" r:id="R57b4f2bd4c234d2c"/>
    <p:sldId xmlns:r="http://schemas.openxmlformats.org/officeDocument/2006/relationships" id="265" r:id="R425c28f415ed41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920fab9b9d4f72" /><Relationship Type="http://schemas.openxmlformats.org/officeDocument/2006/relationships/slideMaster" Target="/ppt/slideMasters/slideMaster1.xml" Id="R23124d30768b41c8" /><Relationship Type="http://schemas.openxmlformats.org/officeDocument/2006/relationships/notesMaster" Target="/ppt/notesMasters/notesMaster1.xml" Id="Radc85e70f2ef44ab" /><Relationship Type="http://schemas.openxmlformats.org/officeDocument/2006/relationships/presProps" Target="/ppt/presProps.xml" Id="R38f8fba1cbcc4d86" /><Relationship Type="http://schemas.openxmlformats.org/officeDocument/2006/relationships/tableStyles" Target="/ppt/tableStyles.xml" Id="R3f012b5460da48c7" /><Relationship Type="http://schemas.openxmlformats.org/officeDocument/2006/relationships/slide" Target="/ppt/slides/slide1.xml" Id="Raa7fe5ac600b4467" /><Relationship Type="http://schemas.openxmlformats.org/officeDocument/2006/relationships/slide" Target="/ppt/slides/slide2.xml" Id="R132db683be7243ed" /><Relationship Type="http://schemas.openxmlformats.org/officeDocument/2006/relationships/slide" Target="/ppt/slides/slide3.xml" Id="R59150320db8249c5" /><Relationship Type="http://schemas.openxmlformats.org/officeDocument/2006/relationships/slide" Target="/ppt/slides/slide4.xml" Id="Rf75d70ad8175400f" /><Relationship Type="http://schemas.openxmlformats.org/officeDocument/2006/relationships/slide" Target="/ppt/slides/slide5.xml" Id="R97f4834e5fec493f" /><Relationship Type="http://schemas.openxmlformats.org/officeDocument/2006/relationships/slide" Target="/ppt/slides/slide6.xml" Id="Radf76bf026164e8b" /><Relationship Type="http://schemas.openxmlformats.org/officeDocument/2006/relationships/slide" Target="/ppt/slides/slide7.xml" Id="R1d6b7a8d36fe4f0a" /><Relationship Type="http://schemas.openxmlformats.org/officeDocument/2006/relationships/slide" Target="/ppt/slides/slide8.xml" Id="R4f8691e471194a7a" /><Relationship Type="http://schemas.openxmlformats.org/officeDocument/2006/relationships/slide" Target="/ppt/slides/slide9.xml" Id="R57b4f2bd4c234d2c" /><Relationship Type="http://schemas.openxmlformats.org/officeDocument/2006/relationships/slide" Target="/ppt/slides/slide10.xml" Id="R425c28f415ed41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1f5ead2e4f43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fef11553cf4441" /><Relationship Type="http://schemas.openxmlformats.org/officeDocument/2006/relationships/notesMaster" Target="/ppt/notesMasters/notesMaster1.xml" Id="Rcff1c14df1644a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b0b674254a4e4c" /><Relationship Type="http://schemas.openxmlformats.org/officeDocument/2006/relationships/notesMaster" Target="/ppt/notesMasters/notesMaster1.xml" Id="R782b2e50846642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ea81a3bdcc4c34" /><Relationship Type="http://schemas.openxmlformats.org/officeDocument/2006/relationships/notesMaster" Target="/ppt/notesMasters/notesMaster1.xml" Id="R8977989535544b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905a63bccc491b" /><Relationship Type="http://schemas.openxmlformats.org/officeDocument/2006/relationships/notesMaster" Target="/ppt/notesMasters/notesMaster1.xml" Id="Re22a81fc01c144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d265e4553449e5" /><Relationship Type="http://schemas.openxmlformats.org/officeDocument/2006/relationships/notesMaster" Target="/ppt/notesMasters/notesMaster1.xml" Id="R1e0d23ef16a649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ee08c9d6db4012" /><Relationship Type="http://schemas.openxmlformats.org/officeDocument/2006/relationships/notesMaster" Target="/ppt/notesMasters/notesMaster1.xml" Id="R5fd1a40389ab41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119524fb1f4d98" /><Relationship Type="http://schemas.openxmlformats.org/officeDocument/2006/relationships/notesMaster" Target="/ppt/notesMasters/notesMaster1.xml" Id="R97d84de1ab614a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7a5fd3143e45bd" /><Relationship Type="http://schemas.openxmlformats.org/officeDocument/2006/relationships/notesMaster" Target="/ppt/notesMasters/notesMaster1.xml" Id="R35764276b92b42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2dd6e335d340fe" /><Relationship Type="http://schemas.openxmlformats.org/officeDocument/2006/relationships/notesMaster" Target="/ppt/notesMasters/notesMaster1.xml" Id="R2e6d7e9cac714b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ed1efd6e4945e1" /><Relationship Type="http://schemas.openxmlformats.org/officeDocument/2006/relationships/notesMaster" Target="/ppt/notesMasters/notesMaster1.xml" Id="Ra4dc95b44c0a48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3.2a. Hilos, Runnable, estados e interrupción.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recepción simulada debe comenzar, producir lecturas y detenerse cuando el usuario lo solicite. Runnable define el trabajo y Thread controla una ejecución concreta de ese trabajo.</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Runnable declara run() y no devuelve un resultado. Thread asocia una ejecución a una tarea. Llamar start inicia un nuevo hilo y provoca la ejecución de run en ese hilo. Llamar run directamente es una llamada ordinaria en el hilo actual. Un objeto Thread solo puede iniciarse una vez.</a:t>
            </a:r>
          </a:p>
          <a:p xmlns:a="http://schemas.openxmlformats.org/drawingml/2006/main">
            <a:r>
              <a:t/>
            </a:r>
          </a:p>
          <a:p xmlns:a="http://schemas.openxmlformats.org/drawingml/2006/main">
            <a:r>
              <a:t>Los estados de Thread.State son NEW, RUNNABLE, BLOCKED, WAITING, TIMED_WAITING y TERMINATED. RUNNABLE abarca ejecución o disponibilidad para ejecutarse, no garantiza uso de CPU en ese instante. BLOCKED se refiere a espera para entrar a un monitor synchronized. No todas las esperas de E/S o de locks se reflejan como BLOCKED.</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join permite esperar a que otro hilo termine. Si retorna normalmente tras la terminación, las acciones del hilo terminado ocurren antes de las posteriores del hilo que hizo join. Esto permite leer sus resultados publicados siguiendo el contrato. Una unión con plazo puede retornar sin que el hilo haya terminado, por lo que se comprueba isAlive.</a:t>
            </a:r>
          </a:p>
          <a:p xmlns:a="http://schemas.openxmlformats.org/drawingml/2006/main">
            <a:r>
              <a:t/>
            </a:r>
          </a:p>
          <a:p xmlns:a="http://schemas.openxmlformats.org/drawingml/2006/main">
            <a:r>
              <a:t>No hagas join sobre una tarea larga dentro del hilo de interfaz. Esa espera bloquearía los eventos y repintados. La dependencia entre tareas debe estar clara: si A espera a B y B espera a A, ninguna terminará. Evita dependencias circulares de terminación.</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interrupt solicita interrupción. No detiene arbitrariamente el código ni deshace operaciones. Una tarea debe consultar su estado de interrupción o usar operaciones que respondan a ella. sleep, wait y join pueden lanzar InterruptedException. Al lanzarla, normalmente se limpia el estado de interrupción.</a:t>
            </a:r>
          </a:p>
          <a:p xmlns:a="http://schemas.openxmlformats.org/drawingml/2006/main">
            <a:r>
              <a:t/>
            </a:r>
          </a:p>
          <a:p xmlns:a="http://schemas.openxmlformats.org/drawingml/2006/main">
            <a:r>
              <a:t>Si un método no puede propagar la excepción, una respuesta habitual es restaurar el estado con Thread.currentThread().interrupt() y salir. No captures la excepción para continuar indefinidamente. No uses stop, suspend ni resume. Para E/S que no responde a interrupción, la cancelación puede requerir cerrar el recurso y diseñar un tiempo máximo de espera.</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CountDownLatch permite señalar que una fase comenzó. En la demostración evita interrumpir antes de que la tarea haya comunicado su arranque. El orden de impresión de otros mensajes podría variar, pero se garantiza que el hilo termina antes del mensaje final.</a:t>
            </a:r>
          </a:p>
          <a:p xmlns:a="http://schemas.openxmlformats.org/drawingml/2006/main">
            <a:r>
              <a:t/>
            </a:r>
          </a:p>
          <a:p xmlns:a="http://schemas.openxmlformats.org/drawingml/2006/main">
            <a:r>
              <a:t>La cancelación debe liberar recursos en finally o try-with-resources. Piensa qué ocurre con una lectura a medio procesar: se descarta, se reintenta o se guarda como pendiente. El contador de lecturas no debería incrementarse antes de que la operación correspondiente concluya correctamente.</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edu.ups.pap.u03;</a:t>
            </a:r>
          </a:p>
          <a:p xmlns:a="http://schemas.openxmlformats.org/drawingml/2006/main">
            <a:r>
              <a:t>import java.util.concurrent.CountDownLatch;</a:t>
            </a:r>
          </a:p>
          <a:p xmlns:a="http://schemas.openxmlformats.org/drawingml/2006/main">
            <a:r>
              <a:t>public class HilosDemo {</a:t>
            </a:r>
          </a:p>
          <a:p xmlns:a="http://schemas.openxmlformats.org/drawingml/2006/main">
            <a:r>
              <a:t>    public static void main(String[] args) throws InterruptedException {</a:t>
            </a:r>
          </a:p>
          <a:p xmlns:a="http://schemas.openxmlformats.org/drawingml/2006/main">
            <a:r>
              <a:t>        CountDownLatch iniciado = new CountDownLatch(1);</a:t>
            </a:r>
          </a:p>
          <a:p xmlns:a="http://schemas.openxmlformats.org/drawingml/2006/main">
            <a:r>
              <a:t>        Runnable recibir = () -&gt; {</a:t>
            </a:r>
          </a:p>
          <a:p xmlns:a="http://schemas.openxmlformats.org/drawingml/2006/main">
            <a:r>
              <a:t>            try {</a:t>
            </a:r>
          </a:p>
          <a:p xmlns:a="http://schemas.openxmlformats.org/drawingml/2006/main">
            <a:r>
              <a:t>                System.out.println("Receptor iniciado");</a:t>
            </a:r>
          </a:p>
          <a:p xmlns:a="http://schemas.openxmlformats.org/drawingml/2006/main">
            <a:r>
              <a:t>                iniciado.countDown();</a:t>
            </a:r>
          </a:p>
          <a:p xmlns:a="http://schemas.openxmlformats.org/drawingml/2006/main">
            <a:r>
              <a:t>                while (!Thread.currentThread().isInterrupted()) Thread.sleep(1000);</a:t>
            </a:r>
          </a:p>
          <a:p xmlns:a="http://schemas.openxmlformats.org/drawingml/2006/main">
            <a:r>
              <a:t>            } catch (InterruptedException e) {</a:t>
            </a:r>
          </a:p>
          <a:p xmlns:a="http://schemas.openxmlformats.org/drawingml/2006/main">
            <a:r>
              <a:t>                Thread.currentThread().interrupt();</a:t>
            </a:r>
          </a:p>
          <a:p xmlns:a="http://schemas.openxmlformats.org/drawingml/2006/main">
            <a:r>
              <a:t>            } finally { System.out.println("Receptor cerrado"); }</a:t>
            </a:r>
          </a:p>
          <a:p xmlns:a="http://schemas.openxmlformats.org/drawingml/2006/main">
            <a:r>
              <a:t>        };</a:t>
            </a:r>
          </a:p>
          <a:p xmlns:a="http://schemas.openxmlformats.org/drawingml/2006/main">
            <a:r>
              <a:t>        Thread hilo = Thread.ofPlatform().name("receptor").unstarted(recibir);</a:t>
            </a:r>
          </a:p>
          <a:p xmlns:a="http://schemas.openxmlformats.org/drawingml/2006/main">
            <a:r>
              <a:t>        System.out.println(hilo.getState());</a:t>
            </a:r>
          </a:p>
          <a:p xmlns:a="http://schemas.openxmlformats.org/drawingml/2006/main">
            <a:r>
              <a:t>        hilo.start();</a:t>
            </a:r>
          </a:p>
          <a:p xmlns:a="http://schemas.openxmlformats.org/drawingml/2006/main">
            <a:r>
              <a:t>        iniciado.await();</a:t>
            </a:r>
          </a:p>
          <a:p xmlns:a="http://schemas.openxmlformats.org/drawingml/2006/main">
            <a:r>
              <a:t>        hilo.interrupt();</a:t>
            </a:r>
          </a:p>
          <a:p xmlns:a="http://schemas.openxmlformats.org/drawingml/2006/main">
            <a:r>
              <a:t>        hilo.join(2000);</a:t>
            </a:r>
          </a:p>
          <a:p xmlns:a="http://schemas.openxmlformats.org/drawingml/2006/main">
            <a:r>
              <a:t>        if (hilo.isAlive()) throw new IllegalStateException("No terminó a tiempo");</a:t>
            </a:r>
          </a:p>
          <a:p xmlns:a="http://schemas.openxmlformats.org/drawingml/2006/main">
            <a:r>
              <a:t>        System.out.println(hilo.getState());</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NEW</a:t>
            </a:r>
          </a:p>
          <a:p xmlns:a="http://schemas.openxmlformats.org/drawingml/2006/main">
            <a:r>
              <a:t>Receptor iniciado</a:t>
            </a:r>
          </a:p>
          <a:p xmlns:a="http://schemas.openxmlformats.org/drawingml/2006/main">
            <a:r>
              <a:t>Receptor cerrado</a:t>
            </a:r>
          </a:p>
          <a:p xmlns:a="http://schemas.openxmlformats.org/drawingml/2006/main">
            <a:r>
              <a:t>TERMINATED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NEW</a:t>
            </a:r>
          </a:p>
          <a:p xmlns:a="http://schemas.openxmlformats.org/drawingml/2006/main">
            <a:r>
              <a:t>Receptor iniciado</a:t>
            </a:r>
          </a:p>
          <a:p xmlns:a="http://schemas.openxmlformats.org/drawingml/2006/main">
            <a:r>
              <a:t>Receptor cerrado</a:t>
            </a:r>
          </a:p>
          <a:p xmlns:a="http://schemas.openxmlformats.org/drawingml/2006/main">
            <a:r>
              <a:t>TERMINATED</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evidencias/PC3.2a.md y enlace al commit final.</a:t>
            </a:r>
          </a:p>
          <a:p xmlns:a="http://schemas.openxmlformats.org/drawingml/2006/main">
            <a:r>
              <a:t>Agrega un receptor simulado que produzca una lectura periódica hasta recibir una solicitud de cancelación. Separa Runnable del código de consola.</a:t>
            </a:r>
          </a:p>
          <a:p xmlns:a="http://schemas.openxmlformats.org/drawingml/2006/main">
            <a:r>
              <a:t>Usa una señal de arranque y cancelación cooperativa. Espera su terminación con un plazo y comprueba que realmente finalizó.</a:t>
            </a:r>
          </a:p>
          <a:p xmlns:a="http://schemas.openxmlformats.org/drawingml/2006/main">
            <a:r>
              <a:t>Conserva un conteo de lecturas completadas y documenta el comportamiento de una cancelación mientras la tarea espera.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ebff9d9e7747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a66cac2bee466d" /><Relationship Type="http://schemas.openxmlformats.org/officeDocument/2006/relationships/slideLayout" Target="/ppt/slideLayouts/slideLayout1.xml" Id="Rcce6902f692649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e6902f692649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ad16edc1024417" /><Relationship Type="http://schemas.openxmlformats.org/officeDocument/2006/relationships/image" Target="/ppt/media/image.png" Id="Rb86fcc30347d4f22" /><Relationship Type="http://schemas.openxmlformats.org/officeDocument/2006/relationships/notesSlide" Target="/ppt/notesSlides/notesSlide1.xml" Id="R1d771dab700c49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3ae9aa5070494c" /><Relationship Type="http://schemas.openxmlformats.org/officeDocument/2006/relationships/notesSlide" Target="/ppt/notesSlides/notesSlide2.xml" Id="R651f9d78e3674c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3457988f2447e4" /><Relationship Type="http://schemas.openxmlformats.org/officeDocument/2006/relationships/notesSlide" Target="/ppt/notesSlides/notesSlide3.xml" Id="R0240107068b64d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2278acbe25483a" /><Relationship Type="http://schemas.openxmlformats.org/officeDocument/2006/relationships/notesSlide" Target="/ppt/notesSlides/notesSlide4.xml" Id="R444ad9a305ec42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b2810a65fb4cd3" /><Relationship Type="http://schemas.openxmlformats.org/officeDocument/2006/relationships/notesSlide" Target="/ppt/notesSlides/notesSlide5.xml" Id="R8b316152937542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6238ab7485410f" /><Relationship Type="http://schemas.openxmlformats.org/officeDocument/2006/relationships/notesSlide" Target="/ppt/notesSlides/notesSlide6.xml" Id="R290e764394224d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2ca4400d8c47ed" /><Relationship Type="http://schemas.openxmlformats.org/officeDocument/2006/relationships/notesSlide" Target="/ppt/notesSlides/notesSlide7.xml" Id="R32827fb7390446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f7278524e9248cc" /><Relationship Type="http://schemas.openxmlformats.org/officeDocument/2006/relationships/notesSlide" Target="/ppt/notesSlides/notesSlide8.xml" Id="Rfb0ebeb6cded49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d2a83644f8e42a1" /><Relationship Type="http://schemas.openxmlformats.org/officeDocument/2006/relationships/notesSlide" Target="/ppt/notesSlides/notesSlide9.xml" Id="R61a21a2b928e4a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189d8ceaa6f467b" /><Relationship Type="http://schemas.openxmlformats.org/officeDocument/2006/relationships/notesSlide" Target="/ppt/notesSlides/notesSlide10.xml" Id="R26de34c6406f4a0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86fcc30347d4f22"/>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CAD784-55CD-4978-A10A-A1741DE53586}"/>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2C228D09-0583-429D-BDC1-D50D0F963F7D}"/>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Hilos, Runnable, estados e interrupción</a:t>
            </a:r>
          </a:p>
        </p:txBody>
      </p:sp>
      <p:sp>
        <p:nvSpPr>
          <p:cNvPr id="4" name="">
            <a:extLst xmlns:a="http://schemas.openxmlformats.org/drawingml/2006/main">
              <a:ext uri="{FF2B5EF4-FFF2-40B4-BE49-F238E27FC236}">
                <a16:creationId xmlns:a16="http://schemas.microsoft.com/office/drawing/2014/main" id="{50C813DB-E16A-4B6A-9B83-5ED4A572F3F7}"/>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ACF390-CBA3-492B-9164-C34BD12C099A}"/>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3 · 3.2a</a:t>
            </a:r>
          </a:p>
        </p:txBody>
      </p:sp>
      <p:sp>
        <p:nvSpPr>
          <p:cNvPr id="6" name="">
            <a:extLst xmlns:a="http://schemas.openxmlformats.org/drawingml/2006/main">
              <a:ext uri="{FF2B5EF4-FFF2-40B4-BE49-F238E27FC236}">
                <a16:creationId xmlns:a16="http://schemas.microsoft.com/office/drawing/2014/main" id="{88B9EEF7-B4B6-43BE-B162-CBAC495850C9}"/>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7643994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F7D6B7-8930-4482-B2E9-F622FA412031}"/>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83051C-2FE7-4AAC-85AD-74E9D5052B4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B3A4F915-E671-4158-9E27-0E88A9101CB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7E6268-206B-4923-AD28-291CC64951C2}"/>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3.2a</a:t>
            </a:r>
          </a:p>
        </p:txBody>
      </p:sp>
      <p:sp>
        <p:nvSpPr>
          <p:cNvPr id="5" name="">
            <a:extLst xmlns:a="http://schemas.openxmlformats.org/drawingml/2006/main">
              <a:ext uri="{FF2B5EF4-FFF2-40B4-BE49-F238E27FC236}">
                <a16:creationId xmlns:a16="http://schemas.microsoft.com/office/drawing/2014/main" id="{1B99B254-0B5D-44A3-89E9-2BB76B1A724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5149EADC-B10B-4166-A9A2-21AD9F022542}"/>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recepción simulada debe comenzar, producir lecturas y detenerse cuando el usuario lo solicite. Runnable define el trabajo y Thread controla una ejecución concreta de ese trabajo.</a:t>
            </a:r>
          </a:p>
        </p:txBody>
      </p:sp>
    </p:spTree>
    <p:extLst>
      <p:ext uri="{BB962C8B-B14F-4D97-AF65-F5344CB8AC3E}">
        <p14:creationId xmlns:p14="http://schemas.microsoft.com/office/powerpoint/2010/main" val="3517425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28C7058-0427-4B6D-90EF-22F37EBD789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B96C10-E25F-4546-871B-303009E3520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Runnable y ciclo de vida</a:t>
            </a:r>
          </a:p>
        </p:txBody>
      </p:sp>
      <p:sp>
        <p:nvSpPr>
          <p:cNvPr id="3" name="">
            <a:extLst xmlns:a="http://schemas.openxmlformats.org/drawingml/2006/main">
              <a:ext uri="{FF2B5EF4-FFF2-40B4-BE49-F238E27FC236}">
                <a16:creationId xmlns:a16="http://schemas.microsoft.com/office/drawing/2014/main" id="{65C1D9B1-DECE-474C-83F0-CD79DDA1B28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BC49A4-BA78-45CE-BB15-EB6406AF2A4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3.2a</a:t>
            </a:r>
          </a:p>
        </p:txBody>
      </p:sp>
      <p:sp>
        <p:nvSpPr>
          <p:cNvPr id="5" name="">
            <a:extLst xmlns:a="http://schemas.openxmlformats.org/drawingml/2006/main">
              <a:ext uri="{FF2B5EF4-FFF2-40B4-BE49-F238E27FC236}">
                <a16:creationId xmlns:a16="http://schemas.microsoft.com/office/drawing/2014/main" id="{7F9E2E1D-E27C-4060-AA61-FCB9BA3735E6}"/>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FA5460E8-32BA-428B-BEF6-E016E0752DD1}"/>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Runnable describe la tarea; start inicia otro hilo.</a:t>
            </a:r>
          </a:p>
        </p:txBody>
      </p:sp>
      <p:sp>
        <p:nvSpPr>
          <p:cNvPr id="7" name="">
            <a:extLst xmlns:a="http://schemas.openxmlformats.org/drawingml/2006/main">
              <a:ext uri="{FF2B5EF4-FFF2-40B4-BE49-F238E27FC236}">
                <a16:creationId xmlns:a16="http://schemas.microsoft.com/office/drawing/2014/main" id="{9BD1AAA9-D049-417C-85C9-EBC3E7F2AA06}"/>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Runnable declara run() y no devuelve un resultado. Thread asocia una ejecución a una tarea. Llamar start inicia un nuevo hilo y provoca la ejecución de run en ese hilo. Llamar run directamente es una llamada ordinaria en el hilo actual. Un objeto Thread solo puede iniciarse una vez.</a:t>
            </a:r>
          </a:p>
        </p:txBody>
      </p:sp>
      <p:sp>
        <p:nvSpPr>
          <p:cNvPr id="8" name="">
            <a:extLst xmlns:a="http://schemas.openxmlformats.org/drawingml/2006/main">
              <a:ext uri="{FF2B5EF4-FFF2-40B4-BE49-F238E27FC236}">
                <a16:creationId xmlns:a16="http://schemas.microsoft.com/office/drawing/2014/main" id="{3B58D4FE-3C5C-470D-9DE5-1DC06F210B18}"/>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7765AF9-BFE8-4AD4-95E2-9A2C0E4EC91B}"/>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Los estados de Thread.State son NEW, RUNNABLE, BLOCKED, WAITING, TIMED_WAITING y TERMINATED. RUNNABLE abarca ejecución o disponibilidad para ejecutarse, no garantiza uso de CPU en ese instante.</a:t>
            </a:r>
          </a:p>
        </p:txBody>
      </p:sp>
    </p:spTree>
    <p:extLst>
      <p:ext uri="{BB962C8B-B14F-4D97-AF65-F5344CB8AC3E}">
        <p14:creationId xmlns:p14="http://schemas.microsoft.com/office/powerpoint/2010/main" val="18044205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3FAC8F-FED0-4702-B0A1-671148776D7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7F7818-5318-44D3-8747-DB20341C2069}"/>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Unión con join</a:t>
            </a:r>
          </a:p>
        </p:txBody>
      </p:sp>
      <p:sp>
        <p:nvSpPr>
          <p:cNvPr id="3" name="">
            <a:extLst xmlns:a="http://schemas.openxmlformats.org/drawingml/2006/main">
              <a:ext uri="{FF2B5EF4-FFF2-40B4-BE49-F238E27FC236}">
                <a16:creationId xmlns:a16="http://schemas.microsoft.com/office/drawing/2014/main" id="{549C3083-F9C7-416E-8EE9-7023B78E70C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297C1D-2B41-406B-9C88-57D37F3A8C7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3.2a</a:t>
            </a:r>
          </a:p>
        </p:txBody>
      </p:sp>
      <p:sp>
        <p:nvSpPr>
          <p:cNvPr id="5" name="">
            <a:extLst xmlns:a="http://schemas.openxmlformats.org/drawingml/2006/main">
              <a:ext uri="{FF2B5EF4-FFF2-40B4-BE49-F238E27FC236}">
                <a16:creationId xmlns:a16="http://schemas.microsoft.com/office/drawing/2014/main" id="{B6CCF6DF-4224-4DB6-AC6B-4D51297C2985}"/>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3AE7A82C-27AC-4B3D-A13E-4FE1394E849E}"/>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join espera la terminación y hace visibles sus resultados.</a:t>
            </a:r>
          </a:p>
        </p:txBody>
      </p:sp>
      <p:sp>
        <p:nvSpPr>
          <p:cNvPr id="7" name="">
            <a:extLst xmlns:a="http://schemas.openxmlformats.org/drawingml/2006/main">
              <a:ext uri="{FF2B5EF4-FFF2-40B4-BE49-F238E27FC236}">
                <a16:creationId xmlns:a16="http://schemas.microsoft.com/office/drawing/2014/main" id="{0D9B1D6C-B98B-4523-A560-BCBAC5BFC847}"/>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join permite esperar a que otro hilo termine. Si retorna normalmente tras la terminación, las acciones del hilo terminado ocurren antes de las posteriores del hilo que hizo join. Esto permite leer sus resultados publicados siguiendo el contrato.</a:t>
            </a:r>
          </a:p>
        </p:txBody>
      </p:sp>
      <p:sp>
        <p:nvSpPr>
          <p:cNvPr id="8" name="">
            <a:extLst xmlns:a="http://schemas.openxmlformats.org/drawingml/2006/main">
              <a:ext uri="{FF2B5EF4-FFF2-40B4-BE49-F238E27FC236}">
                <a16:creationId xmlns:a16="http://schemas.microsoft.com/office/drawing/2014/main" id="{A7E0C89D-3765-4DCE-99D2-07729DC62C72}"/>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DBFD68B-22ED-43C8-AB72-884B8F701FE1}"/>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No hagas join sobre una tarea larga dentro del hilo de interfaz. Esa espera bloquearía los eventos y repintados.</a:t>
            </a:r>
          </a:p>
        </p:txBody>
      </p:sp>
    </p:spTree>
    <p:extLst>
      <p:ext uri="{BB962C8B-B14F-4D97-AF65-F5344CB8AC3E}">
        <p14:creationId xmlns:p14="http://schemas.microsoft.com/office/powerpoint/2010/main" val="2631096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4792F57-03A0-498B-BD8E-7459E677415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BF5BAC-1FC8-4DAB-A31A-4F839C1DD55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Interrupción cooperativa</a:t>
            </a:r>
          </a:p>
        </p:txBody>
      </p:sp>
      <p:sp>
        <p:nvSpPr>
          <p:cNvPr id="3" name="">
            <a:extLst xmlns:a="http://schemas.openxmlformats.org/drawingml/2006/main">
              <a:ext uri="{FF2B5EF4-FFF2-40B4-BE49-F238E27FC236}">
                <a16:creationId xmlns:a16="http://schemas.microsoft.com/office/drawing/2014/main" id="{E6D76D41-EA14-4087-B477-EB11503FACA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0B1EC1-077A-49F7-ACDC-3C92EB89160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3.2a</a:t>
            </a:r>
          </a:p>
        </p:txBody>
      </p:sp>
      <p:sp>
        <p:nvSpPr>
          <p:cNvPr id="5" name="">
            <a:extLst xmlns:a="http://schemas.openxmlformats.org/drawingml/2006/main">
              <a:ext uri="{FF2B5EF4-FFF2-40B4-BE49-F238E27FC236}">
                <a16:creationId xmlns:a16="http://schemas.microsoft.com/office/drawing/2014/main" id="{928982C2-4609-4A98-A6EF-BA195A322A9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A8621DF9-3643-45B2-992D-90AEE994C5F2}"/>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interrupt solicita una cancelación cooperativa.</a:t>
            </a:r>
          </a:p>
        </p:txBody>
      </p:sp>
      <p:sp>
        <p:nvSpPr>
          <p:cNvPr id="7" name="">
            <a:extLst xmlns:a="http://schemas.openxmlformats.org/drawingml/2006/main">
              <a:ext uri="{FF2B5EF4-FFF2-40B4-BE49-F238E27FC236}">
                <a16:creationId xmlns:a16="http://schemas.microsoft.com/office/drawing/2014/main" id="{4309BF12-FF98-4938-BABD-B1142CB3ED9B}"/>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interrupt solicita interrupción. No detiene arbitrariamente el código ni deshace operaciones. Una tarea debe consultar su estado de interrupción o usar operaciones que respondan a ella. sleep, wait y join pueden lanzar InterruptedException. Al lanzarla, normalmente se limpia el estado de interrupción.</a:t>
            </a:r>
          </a:p>
        </p:txBody>
      </p:sp>
      <p:sp>
        <p:nvSpPr>
          <p:cNvPr id="8" name="">
            <a:extLst xmlns:a="http://schemas.openxmlformats.org/drawingml/2006/main">
              <a:ext uri="{FF2B5EF4-FFF2-40B4-BE49-F238E27FC236}">
                <a16:creationId xmlns:a16="http://schemas.microsoft.com/office/drawing/2014/main" id="{DC500DAA-ADFC-4B88-A95A-9DFA71077AB5}"/>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3DBE9B-FD07-4FCF-B6C8-E7C052E021B0}"/>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Si un método no puede propagar la excepción, una respuesta habitual es restaurar el estado con Thread.currentThread().interrupt() y salir. No captures la excepción para continuar indefinidamente. No uses stop, suspend ni resume.</a:t>
            </a:r>
          </a:p>
        </p:txBody>
      </p:sp>
    </p:spTree>
    <p:extLst>
      <p:ext uri="{BB962C8B-B14F-4D97-AF65-F5344CB8AC3E}">
        <p14:creationId xmlns:p14="http://schemas.microsoft.com/office/powerpoint/2010/main" val="943620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2A3688B-5918-452D-905F-83D141DDA85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6B206C-5AA5-46AD-84AC-5DD8E2E8470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Coordinación sin esperar por azar</a:t>
            </a:r>
          </a:p>
        </p:txBody>
      </p:sp>
      <p:sp>
        <p:nvSpPr>
          <p:cNvPr id="3" name="">
            <a:extLst xmlns:a="http://schemas.openxmlformats.org/drawingml/2006/main">
              <a:ext uri="{FF2B5EF4-FFF2-40B4-BE49-F238E27FC236}">
                <a16:creationId xmlns:a16="http://schemas.microsoft.com/office/drawing/2014/main" id="{400F0A64-245E-4605-936E-622A2153EF2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616087-503A-43EC-A171-8E9BA69B6FF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3.2a</a:t>
            </a:r>
          </a:p>
        </p:txBody>
      </p:sp>
      <p:sp>
        <p:nvSpPr>
          <p:cNvPr id="5" name="">
            <a:extLst xmlns:a="http://schemas.openxmlformats.org/drawingml/2006/main">
              <a:ext uri="{FF2B5EF4-FFF2-40B4-BE49-F238E27FC236}">
                <a16:creationId xmlns:a16="http://schemas.microsoft.com/office/drawing/2014/main" id="{163A64D6-BB77-4990-805A-82799B30263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686F2896-AA71-41D6-8355-E0CE7F676C76}"/>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Una señal explícita coordina mejor que un sleep arbitrario.</a:t>
            </a:r>
          </a:p>
        </p:txBody>
      </p:sp>
      <p:sp>
        <p:nvSpPr>
          <p:cNvPr id="7" name="">
            <a:extLst xmlns:a="http://schemas.openxmlformats.org/drawingml/2006/main">
              <a:ext uri="{FF2B5EF4-FFF2-40B4-BE49-F238E27FC236}">
                <a16:creationId xmlns:a16="http://schemas.microsoft.com/office/drawing/2014/main" id="{DD68397C-B03B-4F76-B230-42CAB9CF448D}"/>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CountDownLatch permite señalar que una fase comenzó. En la demostración evita interrumpir antes de que la tarea haya comunicado su arranque. El orden de impresión de otros mensajes podría variar, pero se garantiza que el hilo termina antes del mensaje final.</a:t>
            </a:r>
          </a:p>
        </p:txBody>
      </p:sp>
      <p:sp>
        <p:nvSpPr>
          <p:cNvPr id="8" name="">
            <a:extLst xmlns:a="http://schemas.openxmlformats.org/drawingml/2006/main">
              <a:ext uri="{FF2B5EF4-FFF2-40B4-BE49-F238E27FC236}">
                <a16:creationId xmlns:a16="http://schemas.microsoft.com/office/drawing/2014/main" id="{DB6FB185-9620-48FC-BC4D-09767855407F}"/>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C20EC6D-F5AF-4627-A511-733BA2AFBA3C}"/>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cancelación debe liberar recursos en finally o try-with-resources. Piensa qué ocurre con una lectura a medio procesar: se descarta, se reintenta o se guarda como pendiente.</a:t>
            </a:r>
          </a:p>
        </p:txBody>
      </p:sp>
    </p:spTree>
    <p:extLst>
      <p:ext uri="{BB962C8B-B14F-4D97-AF65-F5344CB8AC3E}">
        <p14:creationId xmlns:p14="http://schemas.microsoft.com/office/powerpoint/2010/main" val="16237068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E3098B-EDD6-46EF-B1D7-6E3E7987FCFB}"/>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9029A6-A9A4-4BF1-B6C8-9F78C12ACF8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4DCFFD72-7699-4D82-AA7E-3D85B7F3E2F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A0C834-F7D1-4EFE-B99B-DD0D95BF1E76}"/>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3.2a</a:t>
            </a:r>
          </a:p>
        </p:txBody>
      </p:sp>
      <p:sp>
        <p:nvSpPr>
          <p:cNvPr id="5" name="">
            <a:extLst xmlns:a="http://schemas.openxmlformats.org/drawingml/2006/main">
              <a:ext uri="{FF2B5EF4-FFF2-40B4-BE49-F238E27FC236}">
                <a16:creationId xmlns:a16="http://schemas.microsoft.com/office/drawing/2014/main" id="{BD37B728-869C-4953-A83B-FD252F184DB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D4813C80-32C2-4554-BCD8-1F4A4520318A}"/>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D278622-802F-4EF9-9989-C5E51F8CBB82}"/>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InterruptedException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CountDownLatch iniciado = new CountDownLatch(1);</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Runnable recibir = () -&gt;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System.out.println("Receptor iniciado");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iniciado.countDown();</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while (!Thread.currentThread().isInterrupted()) Thread.sleep(1000);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 catch (InterruptedException e)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Thread.currentThread().interrupt();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 finally { System.out.println("Receptor cerrado");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Thread hilo = Thread.ofPlatform().name("receptor").unstarted(recibir);</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System.out.println(hilo.getState());</a:t>
            </a:r>
          </a:p>
        </p:txBody>
      </p:sp>
      <p:sp>
        <p:nvSpPr>
          <p:cNvPr id="8" name="">
            <a:extLst xmlns:a="http://schemas.openxmlformats.org/drawingml/2006/main">
              <a:ext uri="{FF2B5EF4-FFF2-40B4-BE49-F238E27FC236}">
                <a16:creationId xmlns:a16="http://schemas.microsoft.com/office/drawing/2014/main" id="{249AC112-74A7-49AC-89DA-CA047608DB5A}"/>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HilosDemo.java. Código completo y ejecución en material.md.</a:t>
            </a:r>
          </a:p>
        </p:txBody>
      </p:sp>
    </p:spTree>
    <p:extLst>
      <p:ext uri="{BB962C8B-B14F-4D97-AF65-F5344CB8AC3E}">
        <p14:creationId xmlns:p14="http://schemas.microsoft.com/office/powerpoint/2010/main" val="3078494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7F9281-51BA-4950-B442-8440CC61B9E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C9886C-D162-47C2-A6D8-6BF7DB1EF31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BE785523-E4C3-4295-94D0-C36CAAA2F31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E98F05-2447-405A-B125-2B718ED1240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3.2a</a:t>
            </a:r>
          </a:p>
        </p:txBody>
      </p:sp>
      <p:sp>
        <p:nvSpPr>
          <p:cNvPr id="5" name="">
            <a:extLst xmlns:a="http://schemas.openxmlformats.org/drawingml/2006/main">
              <a:ext uri="{FF2B5EF4-FFF2-40B4-BE49-F238E27FC236}">
                <a16:creationId xmlns:a16="http://schemas.microsoft.com/office/drawing/2014/main" id="{8363779C-C039-480E-9FE9-BC355BE5507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Inicio y cancelación</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Termina y libera recursos</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Llamar run directamente</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Se ejecuta en el hilo llamador</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Segundo start en el mismo Thread</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Uso inválido del ciclo de vida</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53D01E62-8896-461C-82EE-E95DFC56FFE5}"/>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NEW · Receptor iniciado · Receptor cerrado · TERMINATED</a:t>
            </a:r>
          </a:p>
        </p:txBody>
      </p:sp>
    </p:spTree>
    <p:extLst>
      <p:ext uri="{BB962C8B-B14F-4D97-AF65-F5344CB8AC3E}">
        <p14:creationId xmlns:p14="http://schemas.microsoft.com/office/powerpoint/2010/main" val="3302217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A66C8F4-3A26-4FE2-B6ED-F2351AC58D44}"/>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A75FF8-CCC9-491A-8EC3-912C46E8CDB8}"/>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PC3.2a · Ampliación del proyecto</a:t>
            </a:r>
          </a:p>
        </p:txBody>
      </p:sp>
      <p:sp>
        <p:nvSpPr>
          <p:cNvPr id="3" name="">
            <a:extLst xmlns:a="http://schemas.openxmlformats.org/drawingml/2006/main">
              <a:ext uri="{FF2B5EF4-FFF2-40B4-BE49-F238E27FC236}">
                <a16:creationId xmlns:a16="http://schemas.microsoft.com/office/drawing/2014/main" id="{2257635D-3319-4E51-BC90-251EF728F50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51373E-FFCD-450C-AEC1-FFA6D1E3D68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3.2a</a:t>
            </a:r>
          </a:p>
        </p:txBody>
      </p:sp>
      <p:sp>
        <p:nvSpPr>
          <p:cNvPr id="5" name="">
            <a:extLst xmlns:a="http://schemas.openxmlformats.org/drawingml/2006/main">
              <a:ext uri="{FF2B5EF4-FFF2-40B4-BE49-F238E27FC236}">
                <a16:creationId xmlns:a16="http://schemas.microsoft.com/office/drawing/2014/main" id="{C577D7F9-0948-48CD-931E-81719CC308E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5BED41E6-97BE-4650-850B-B464209A6BB3}"/>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7BCE61D9-7B2B-4D22-AE1A-611C64B60F7F}"/>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Agrega un receptor simulado que produzca una lectura periódica hasta recibir una solicitud de cancelación. Separa Runnable del código de consola.</a:t>
            </a:r>
          </a:p>
        </p:txBody>
      </p:sp>
      <p:sp>
        <p:nvSpPr>
          <p:cNvPr id="8" name="">
            <a:extLst xmlns:a="http://schemas.openxmlformats.org/drawingml/2006/main">
              <a:ext uri="{FF2B5EF4-FFF2-40B4-BE49-F238E27FC236}">
                <a16:creationId xmlns:a16="http://schemas.microsoft.com/office/drawing/2014/main" id="{5064DB87-D094-4C2F-B3BD-7FED9184E5B6}"/>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F5B03E61-A356-4F18-B907-CECCC82BD881}"/>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Usa una señal de arranque y cancelación cooperativa. Espera su terminación con un plazo y comprueba que realmente finalizó.</a:t>
            </a:r>
          </a:p>
        </p:txBody>
      </p:sp>
      <p:sp>
        <p:nvSpPr>
          <p:cNvPr id="10" name="">
            <a:extLst xmlns:a="http://schemas.openxmlformats.org/drawingml/2006/main">
              <a:ext uri="{FF2B5EF4-FFF2-40B4-BE49-F238E27FC236}">
                <a16:creationId xmlns:a16="http://schemas.microsoft.com/office/drawing/2014/main" id="{C008F767-9A73-4E61-B98A-64EB4E2A52A2}"/>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CFDBF83E-D171-41EE-A28C-A12C82C99462}"/>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Conserva un conteo de lecturas completadas y documenta el comportamiento de una cancelación mientras la tarea espera.</a:t>
            </a:r>
          </a:p>
        </p:txBody>
      </p:sp>
    </p:spTree>
    <p:extLst>
      <p:ext uri="{BB962C8B-B14F-4D97-AF65-F5344CB8AC3E}">
        <p14:creationId xmlns:p14="http://schemas.microsoft.com/office/powerpoint/2010/main" val="18823065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1F7C57-3EB1-4B0C-85EF-86D25F17D98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3F24FB-8642-4E58-AE5A-BBE17AD0EFE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AA0A33FF-A158-43D5-BA32-B6C34A14D7E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8BBED0-070B-418B-AD68-F9B4CCF1B56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3.2a</a:t>
            </a:r>
          </a:p>
        </p:txBody>
      </p:sp>
      <p:sp>
        <p:nvSpPr>
          <p:cNvPr id="5" name="">
            <a:extLst xmlns:a="http://schemas.openxmlformats.org/drawingml/2006/main">
              <a:ext uri="{FF2B5EF4-FFF2-40B4-BE49-F238E27FC236}">
                <a16:creationId xmlns:a16="http://schemas.microsoft.com/office/drawing/2014/main" id="{A92F9E6F-5F46-44E7-8F75-0CF32184572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CA78A231-33BB-4E4B-BBCA-785174566443}"/>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Runnable describe la tarea; start inicia otro hilo.</a:t>
            </a:r>
          </a:p>
        </p:txBody>
      </p:sp>
      <p:sp>
        <p:nvSpPr>
          <p:cNvPr id="7" name="">
            <a:extLst xmlns:a="http://schemas.openxmlformats.org/drawingml/2006/main">
              <a:ext uri="{FF2B5EF4-FFF2-40B4-BE49-F238E27FC236}">
                <a16:creationId xmlns:a16="http://schemas.microsoft.com/office/drawing/2014/main" id="{83CF696E-A57F-47E7-B77D-F1506792313E}"/>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join espera la terminación y hace visibles sus resultados.</a:t>
            </a:r>
          </a:p>
        </p:txBody>
      </p:sp>
      <p:sp>
        <p:nvSpPr>
          <p:cNvPr id="8" name="">
            <a:extLst xmlns:a="http://schemas.openxmlformats.org/drawingml/2006/main">
              <a:ext uri="{FF2B5EF4-FFF2-40B4-BE49-F238E27FC236}">
                <a16:creationId xmlns:a16="http://schemas.microsoft.com/office/drawing/2014/main" id="{07740370-1FB1-49CB-A29B-EF130C68E316}"/>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interrupt solicita una cancelación cooperativa.</a:t>
            </a:r>
          </a:p>
        </p:txBody>
      </p:sp>
      <p:sp>
        <p:nvSpPr>
          <p:cNvPr id="9" name="">
            <a:extLst xmlns:a="http://schemas.openxmlformats.org/drawingml/2006/main">
              <a:ext uri="{FF2B5EF4-FFF2-40B4-BE49-F238E27FC236}">
                <a16:creationId xmlns:a16="http://schemas.microsoft.com/office/drawing/2014/main" id="{A89149F3-5849-47D6-98E7-B3E7AC73E661}"/>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señal explícita coordina mejor que un sleep arbitrario.</a:t>
            </a:r>
          </a:p>
        </p:txBody>
      </p:sp>
    </p:spTree>
    <p:extLst>
      <p:ext uri="{BB962C8B-B14F-4D97-AF65-F5344CB8AC3E}">
        <p14:creationId xmlns:p14="http://schemas.microsoft.com/office/powerpoint/2010/main" val="18323389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2026-09-10T23:06:28.9890000Z</dcterms:created>
  <dcterms:modified xsi:type="dcterms:W3CDTF">2026-09-10T23:06:28.9890000Z</dcterms:modified>
</coreProperties>
</file>