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b43de398c741d5" /><Relationship Type="http://schemas.openxmlformats.org/officeDocument/2006/relationships/extended-properties" Target="/docProps/app.xml" Id="R2321af34034a4cdf" /><Relationship Type="http://schemas.openxmlformats.org/officeDocument/2006/relationships/officeDocument" Target="/ppt/presentation.xml" Id="R15e6cbd236804715" /></Relationships>
</file>

<file path=ppt/presentation.xml><?xml version="1.0" encoding="utf-8"?>
<p:presentation xmlns:p="http://schemas.openxmlformats.org/presentationml/2006/main">
  <p:sldMasterIdLst>
    <p:sldMasterId xmlns:r="http://schemas.openxmlformats.org/officeDocument/2006/relationships" id="2147483648" r:id="R066979afa664458f"/>
  </p:sldMasterIdLst>
  <p:notesMasterIdLst>
    <p:notesMasterId xmlns:r="http://schemas.openxmlformats.org/officeDocument/2006/relationships" r:id="Rea95e1098fd6426a"/>
  </p:notesMasterIdLst>
  <p:sldIdLst>
    <p:sldId xmlns:r="http://schemas.openxmlformats.org/officeDocument/2006/relationships" id="256" r:id="Rb2d3a98d9f4f483d"/>
    <p:sldId xmlns:r="http://schemas.openxmlformats.org/officeDocument/2006/relationships" id="257" r:id="R1cf09df500684a45"/>
    <p:sldId xmlns:r="http://schemas.openxmlformats.org/officeDocument/2006/relationships" id="258" r:id="Rc10530c8d2154681"/>
    <p:sldId xmlns:r="http://schemas.openxmlformats.org/officeDocument/2006/relationships" id="259" r:id="R79f89dd9e7104d04"/>
    <p:sldId xmlns:r="http://schemas.openxmlformats.org/officeDocument/2006/relationships" id="260" r:id="Recef71440f744cb8"/>
    <p:sldId xmlns:r="http://schemas.openxmlformats.org/officeDocument/2006/relationships" id="261" r:id="R6f3f5a7452354585"/>
    <p:sldId xmlns:r="http://schemas.openxmlformats.org/officeDocument/2006/relationships" id="262" r:id="Re16ca7bfb3a84f61"/>
    <p:sldId xmlns:r="http://schemas.openxmlformats.org/officeDocument/2006/relationships" id="263" r:id="R2ae46cb3bf4d41da"/>
    <p:sldId xmlns:r="http://schemas.openxmlformats.org/officeDocument/2006/relationships" id="264" r:id="R1d4a0c19719c4ee5"/>
    <p:sldId xmlns:r="http://schemas.openxmlformats.org/officeDocument/2006/relationships" id="265" r:id="R1075039aa4ca43b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bd476b3ed14de2" /><Relationship Type="http://schemas.openxmlformats.org/officeDocument/2006/relationships/slideMaster" Target="/ppt/slideMasters/slideMaster1.xml" Id="R066979afa664458f" /><Relationship Type="http://schemas.openxmlformats.org/officeDocument/2006/relationships/notesMaster" Target="/ppt/notesMasters/notesMaster1.xml" Id="Rea95e1098fd6426a" /><Relationship Type="http://schemas.openxmlformats.org/officeDocument/2006/relationships/presProps" Target="/ppt/presProps.xml" Id="R3fc0c82f281a4522" /><Relationship Type="http://schemas.openxmlformats.org/officeDocument/2006/relationships/tableStyles" Target="/ppt/tableStyles.xml" Id="Rb4712d59858c42c5" /><Relationship Type="http://schemas.openxmlformats.org/officeDocument/2006/relationships/slide" Target="/ppt/slides/slide1.xml" Id="Rb2d3a98d9f4f483d" /><Relationship Type="http://schemas.openxmlformats.org/officeDocument/2006/relationships/slide" Target="/ppt/slides/slide2.xml" Id="R1cf09df500684a45" /><Relationship Type="http://schemas.openxmlformats.org/officeDocument/2006/relationships/slide" Target="/ppt/slides/slide3.xml" Id="Rc10530c8d2154681" /><Relationship Type="http://schemas.openxmlformats.org/officeDocument/2006/relationships/slide" Target="/ppt/slides/slide4.xml" Id="R79f89dd9e7104d04" /><Relationship Type="http://schemas.openxmlformats.org/officeDocument/2006/relationships/slide" Target="/ppt/slides/slide5.xml" Id="Recef71440f744cb8" /><Relationship Type="http://schemas.openxmlformats.org/officeDocument/2006/relationships/slide" Target="/ppt/slides/slide6.xml" Id="R6f3f5a7452354585" /><Relationship Type="http://schemas.openxmlformats.org/officeDocument/2006/relationships/slide" Target="/ppt/slides/slide7.xml" Id="Re16ca7bfb3a84f61" /><Relationship Type="http://schemas.openxmlformats.org/officeDocument/2006/relationships/slide" Target="/ppt/slides/slide8.xml" Id="R2ae46cb3bf4d41da" /><Relationship Type="http://schemas.openxmlformats.org/officeDocument/2006/relationships/slide" Target="/ppt/slides/slide9.xml" Id="R1d4a0c19719c4ee5" /><Relationship Type="http://schemas.openxmlformats.org/officeDocument/2006/relationships/slide" Target="/ppt/slides/slide10.xml" Id="R1075039aa4ca43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20537cb81f49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1d48ade4ae4d7d" /><Relationship Type="http://schemas.openxmlformats.org/officeDocument/2006/relationships/notesMaster" Target="/ppt/notesMasters/notesMaster1.xml" Id="R86c2aeccc8ac4c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7d5977739f4b46" /><Relationship Type="http://schemas.openxmlformats.org/officeDocument/2006/relationships/notesMaster" Target="/ppt/notesMasters/notesMaster1.xml" Id="Ra57122301b9d4a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c97f1d4cc6443d" /><Relationship Type="http://schemas.openxmlformats.org/officeDocument/2006/relationships/notesMaster" Target="/ppt/notesMasters/notesMaster1.xml" Id="R5fda9219651d45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d22e309c18947da" /><Relationship Type="http://schemas.openxmlformats.org/officeDocument/2006/relationships/notesMaster" Target="/ppt/notesMasters/notesMaster1.xml" Id="R7399379fe07e4e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c53ee05f2a48d1" /><Relationship Type="http://schemas.openxmlformats.org/officeDocument/2006/relationships/notesMaster" Target="/ppt/notesMasters/notesMaster1.xml" Id="R7d558c95922845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6c67653c734b77" /><Relationship Type="http://schemas.openxmlformats.org/officeDocument/2006/relationships/notesMaster" Target="/ppt/notesMasters/notesMaster1.xml" Id="R7ac6966f7cdf44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0b8cb48a4749eb" /><Relationship Type="http://schemas.openxmlformats.org/officeDocument/2006/relationships/notesMaster" Target="/ppt/notesMasters/notesMaster1.xml" Id="R943fcb9163ef49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7f6708029842c6" /><Relationship Type="http://schemas.openxmlformats.org/officeDocument/2006/relationships/notesMaster" Target="/ppt/notesMasters/notesMaster1.xml" Id="R8497f654552042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f411353cbc4b75" /><Relationship Type="http://schemas.openxmlformats.org/officeDocument/2006/relationships/notesMaster" Target="/ppt/notesMasters/notesMaster1.xml" Id="R29053bda01ff441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143795797b4937" /><Relationship Type="http://schemas.openxmlformats.org/officeDocument/2006/relationships/notesMaster" Target="/ppt/notesMasters/notesMaster1.xml" Id="R52b635d4641244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3.4. Productores y consumidores.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lector de archivos o un puerto serial produce lecturas a su propia velocidad. El procesamiento y almacenamiento consumen esas lecturas. Una cola separa ambos ritmos y obliga a decidir qué sucede cuando la producción supera la capacidad.</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BlockingQueue ofrece operaciones de espera coordinadas. put espera espacio y take espera un elemento. ArrayBlockingQueue tiene capacidad fija. Si la cola está llena, el productor se frena: esta contrapresión limita memoria y comunica indirectamente que el consumidor está saturado.</a:t>
            </a:r>
          </a:p>
          <a:p xmlns:a="http://schemas.openxmlformats.org/drawingml/2006/main">
            <a:r>
              <a:t/>
            </a:r>
          </a:p>
          <a:p xmlns:a="http://schemas.openxmlformats.org/drawingml/2006/main">
            <a:r>
              <a:t>Una cola ilimitada no elimina la saturación, solo la convierte en acumulación de memoria y latencia. Para un dispositivo que no pueda detener su emisión, necesitas una política de descarte o una señal de control. Debes medir cuántas lecturas se descartaron y distinguirlas de las procesadas. La capacidad se elige según volumen, tamaño de mensaje y tolerancia a demora.</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implementación manual con monitores comprueba la condición dentro de un while, llama wait y vuelve a comprobar al despertar. El bucle es necesario porque pueden existir despertares espurios y porque otro hilo puede cambiar la condición antes de recuperar el monitor. notifyAll despierta candidatos, pero no garantiza qué hilo continúa primero.</a:t>
            </a:r>
          </a:p>
          <a:p xmlns:a="http://schemas.openxmlformats.org/drawingml/2006/main">
            <a:r>
              <a:t/>
            </a:r>
          </a:p>
          <a:p xmlns:a="http://schemas.openxmlformats.org/drawingml/2006/main">
            <a:r>
              <a:t>wait libera el monitor mientras espera y lo recupera antes de retornar. sleep no libera el monitor. Estas diferencias explican muchos bloqueos. Para código de aplicación, BlockingQueue evita reimplementar estas reglas y comunica el patrón de forma directa.</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señal de fin es un mensaje que los consumidores reconocen para salir. Si hay dos consumidores, una única señal puede dejar al otro esperando. La demostración envía una señal por consumidor después de los datos, con un solo productor y orden FIFO.</a:t>
            </a:r>
          </a:p>
          <a:p xmlns:a="http://schemas.openxmlformats.org/drawingml/2006/main">
            <a:r>
              <a:t/>
            </a:r>
          </a:p>
          <a:p xmlns:a="http://schemas.openxmlformats.org/drawingml/2006/main">
            <a:r>
              <a:t>Con varios productores, no debe emitirse fin hasta que todos hayan terminado. Puede utilizarse un coordinador o un contador de productores activos. La cancelación por error requiere una vía diferente del fin normal, porque un productor bloqueado en put podría no llegar a emitir las señales. Un ejecutor y cancelación coordinada simplifican ese escenario.</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cola FIFO conserva el orden de extracción, pero varios consumidores pueden finalizar en distinto orden. Si cada lectura tiene un número de secuencia, el sistema puede detectar faltantes y ordenar la presentación sin exigir ejecución secuencial de todo el proceso.</a:t>
            </a:r>
          </a:p>
          <a:p xmlns:a="http://schemas.openxmlformats.org/drawingml/2006/main">
            <a:r>
              <a:t/>
            </a:r>
          </a:p>
          <a:p xmlns:a="http://schemas.openxmlformats.org/drawingml/2006/main">
            <a:r>
              <a:t>La demostración comprueba cantidad y suma final, dos invariantes independientes del reparto de trabajo. No utiliza null como señal porque BlockingQueue no admite elementos nulos. El record Mensaje distingue un dato de una señal de fin de forma explícita.</a:t>
            </a:r>
          </a:p>
          <a:p xmlns:a="http://schemas.openxmlformats.org/drawingml/2006/main">
            <a:r>
              <a:t/>
            </a:r>
          </a:p>
          <a:p xmlns:a="http://schemas.openxmlformats.org/drawingml/2006/main">
            <a:r>
              <a:t>Referencias:</a:t>
            </a:r>
          </a:p>
          <a:p xmlns:a="http://schemas.openxmlformats.org/drawingml/2006/main">
            <a:r>
              <a:t>https://docs.oracle.com/en/java/javase/25/docs/api/java.base/java/util/concurrent/package-summary.html</a:t>
            </a:r>
          </a:p>
          <a:p xmlns:a="http://schemas.openxmlformats.org/drawingml/2006/main">
            <a:r>
              <a:t>https://docs.oracle.com/en/java/javase/25/docs/api/java.base/java/lang/Thread.html</a:t>
            </a:r>
          </a:p>
          <a:p xmlns:a="http://schemas.openxmlformats.org/drawingml/2006/main">
            <a:r>
              <a:t>https://docs.oracle.com/en/java/javase/25/docs/api/java.desktop/javax/swing/SwingWorker.html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edu.ups.pap.u03;</a:t>
            </a:r>
          </a:p>
          <a:p xmlns:a="http://schemas.openxmlformats.org/drawingml/2006/main">
            <a:r>
              <a:t>import java.util.concurrent.*;</a:t>
            </a:r>
          </a:p>
          <a:p xmlns:a="http://schemas.openxmlformats.org/drawingml/2006/main">
            <a:r>
              <a:t>import java.util.concurrent.atomic.AtomicInteger;</a:t>
            </a:r>
          </a:p>
          <a:p xmlns:a="http://schemas.openxmlformats.org/drawingml/2006/main">
            <a:r>
              <a:t>public class ColaDemo {</a:t>
            </a:r>
          </a:p>
          <a:p xmlns:a="http://schemas.openxmlformats.org/drawingml/2006/main">
            <a:r>
              <a:t>    record Mensaje(int valor, boolean fin) {}</a:t>
            </a:r>
          </a:p>
          <a:p xmlns:a="http://schemas.openxmlformats.org/drawingml/2006/main">
            <a:r>
              <a:t>    public static void main(String[] args) throws InterruptedException {</a:t>
            </a:r>
          </a:p>
          <a:p xmlns:a="http://schemas.openxmlformats.org/drawingml/2006/main">
            <a:r>
              <a:t>        BlockingQueue&lt;Mensaje&gt; cola = new ArrayBlockingQueue&lt;&gt;(4);</a:t>
            </a:r>
          </a:p>
          <a:p xmlns:a="http://schemas.openxmlformats.org/drawingml/2006/main">
            <a:r>
              <a:t>        AtomicInteger suma = new AtomicInteger(), cantidad = new AtomicInteger();</a:t>
            </a:r>
          </a:p>
          <a:p xmlns:a="http://schemas.openxmlformats.org/drawingml/2006/main">
            <a:r>
              <a:t>        Runnable consumir = () -&gt; {</a:t>
            </a:r>
          </a:p>
          <a:p xmlns:a="http://schemas.openxmlformats.org/drawingml/2006/main">
            <a:r>
              <a:t>            try {</a:t>
            </a:r>
          </a:p>
          <a:p xmlns:a="http://schemas.openxmlformats.org/drawingml/2006/main">
            <a:r>
              <a:t>                while (true) {</a:t>
            </a:r>
          </a:p>
          <a:p xmlns:a="http://schemas.openxmlformats.org/drawingml/2006/main">
            <a:r>
              <a:t>                    Mensaje m = cola.take();</a:t>
            </a:r>
          </a:p>
          <a:p xmlns:a="http://schemas.openxmlformats.org/drawingml/2006/main">
            <a:r>
              <a:t>                    if (m.fin()) return;</a:t>
            </a:r>
          </a:p>
          <a:p xmlns:a="http://schemas.openxmlformats.org/drawingml/2006/main">
            <a:r>
              <a:t>                    suma.addAndGet(m.valor()); cantidad.incrementAndGet();</a:t>
            </a:r>
          </a:p>
          <a:p xmlns:a="http://schemas.openxmlformats.org/drawingml/2006/main">
            <a:r>
              <a:t>                }</a:t>
            </a:r>
          </a:p>
          <a:p xmlns:a="http://schemas.openxmlformats.org/drawingml/2006/main">
            <a:r>
              <a:t>            } catch (InterruptedException e) { Thread.currentThread().interrupt(); }</a:t>
            </a:r>
          </a:p>
          <a:p xmlns:a="http://schemas.openxmlformats.org/drawingml/2006/main">
            <a:r>
              <a:t>        };</a:t>
            </a:r>
          </a:p>
          <a:p xmlns:a="http://schemas.openxmlformats.org/drawingml/2006/main">
            <a:r>
              <a:t>        Thread a = new Thread(consumir), b = new Thread(consumir);</a:t>
            </a:r>
          </a:p>
          <a:p xmlns:a="http://schemas.openxmlformats.org/drawingml/2006/main">
            <a:r>
              <a:t>        a.start(); b.start();</a:t>
            </a:r>
          </a:p>
          <a:p xmlns:a="http://schemas.openxmlformats.org/drawingml/2006/main">
            <a:r>
              <a:t>        for (int i=1;i&lt;=10;i++) cola.put(new Mensaje(i,false));</a:t>
            </a:r>
          </a:p>
          <a:p xmlns:a="http://schemas.openxmlformats.org/drawingml/2006/main">
            <a:r>
              <a:t>        cola.put(new Mensaje(0,true)); cola.put(new Mensaje(0,true));</a:t>
            </a:r>
          </a:p>
          <a:p xmlns:a="http://schemas.openxmlformats.org/drawingml/2006/main">
            <a:r>
              <a:t>        a.join(); b.join();</a:t>
            </a:r>
          </a:p>
          <a:p xmlns:a="http://schemas.openxmlformats.org/drawingml/2006/main">
            <a:r>
              <a:t>        System.out.println("Cantidad: " + cantidad.get());</a:t>
            </a:r>
          </a:p>
          <a:p xmlns:a="http://schemas.openxmlformats.org/drawingml/2006/main">
            <a:r>
              <a:t>        System.out.println("Suma: " + suma.get());</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Cantidad: 10</a:t>
            </a:r>
          </a:p>
          <a:p xmlns:a="http://schemas.openxmlformats.org/drawingml/2006/main">
            <a:r>
              <a:t>Suma: 55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Cantidad: 10</a:t>
            </a:r>
          </a:p>
          <a:p xmlns:a="http://schemas.openxmlformats.org/drawingml/2006/main">
            <a:r>
              <a:t>Suma: 55</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evidencias/PC3.4.md y enlace al commit final.</a:t>
            </a:r>
          </a:p>
          <a:p xmlns:a="http://schemas.openxmlformats.org/drawingml/2006/main">
            <a:r>
              <a:t>Conecta el importador de CampusMonitor a una ArrayBlockingQueue de capacidad 20. Dos consumidores validan y procesan mensajes con secuencia.</a:t>
            </a:r>
          </a:p>
          <a:p xmlns:a="http://schemas.openxmlformats.org/drawingml/2006/main">
            <a:r>
              <a:t>Define terminación normal y cancelación por error. La aplicación debe terminar sin consumidores esperando indefinidamente.</a:t>
            </a:r>
          </a:p>
          <a:p xmlns:a="http://schemas.openxmlformats.org/drawingml/2006/main">
            <a:r>
              <a:t>Genera cien entradas deterministas, registra aceptadas, rechazadas y descartadas, y comprueba que la suma de categorías corresponde al total producido.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ba9caee2de4b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2aba66f4504511" /><Relationship Type="http://schemas.openxmlformats.org/officeDocument/2006/relationships/slideLayout" Target="/ppt/slideLayouts/slideLayout1.xml" Id="R30812139f24a4d5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812139f24a4d5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f2c84bc53b4f82" /><Relationship Type="http://schemas.openxmlformats.org/officeDocument/2006/relationships/image" Target="/ppt/media/image.png" Id="Rf926b8e08e2047ac" /><Relationship Type="http://schemas.openxmlformats.org/officeDocument/2006/relationships/notesSlide" Target="/ppt/notesSlides/notesSlide1.xml" Id="Ra2574a0077e742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33a833d9094f3a" /><Relationship Type="http://schemas.openxmlformats.org/officeDocument/2006/relationships/notesSlide" Target="/ppt/notesSlides/notesSlide2.xml" Id="R47f93b2530a2498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c0771c06474d8d" /><Relationship Type="http://schemas.openxmlformats.org/officeDocument/2006/relationships/notesSlide" Target="/ppt/notesSlides/notesSlide3.xml" Id="R1cd63175d62548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058cfa5b924472" /><Relationship Type="http://schemas.openxmlformats.org/officeDocument/2006/relationships/notesSlide" Target="/ppt/notesSlides/notesSlide4.xml" Id="R5ea8ee26238a4b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190e2ac2e140b8" /><Relationship Type="http://schemas.openxmlformats.org/officeDocument/2006/relationships/notesSlide" Target="/ppt/notesSlides/notesSlide5.xml" Id="Rb2a04eceb66244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d6a7f2ac19c49da" /><Relationship Type="http://schemas.openxmlformats.org/officeDocument/2006/relationships/notesSlide" Target="/ppt/notesSlides/notesSlide6.xml" Id="R9b44778328bb46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674c1e0190d4163" /><Relationship Type="http://schemas.openxmlformats.org/officeDocument/2006/relationships/notesSlide" Target="/ppt/notesSlides/notesSlide7.xml" Id="Rb4bb1187d41f4e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cb89e955084421a" /><Relationship Type="http://schemas.openxmlformats.org/officeDocument/2006/relationships/notesSlide" Target="/ppt/notesSlides/notesSlide8.xml" Id="R1030647ac52c4b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de6da572654379" /><Relationship Type="http://schemas.openxmlformats.org/officeDocument/2006/relationships/notesSlide" Target="/ppt/notesSlides/notesSlide9.xml" Id="R329962376c66482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28b0010bea4f93" /><Relationship Type="http://schemas.openxmlformats.org/officeDocument/2006/relationships/notesSlide" Target="/ppt/notesSlides/notesSlide10.xml" Id="R146fd737a42b40c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f926b8e08e2047ac"/>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413F210-E99B-429C-810E-E537AE227493}"/>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A554BE3F-0261-46EC-A15A-BF82A91E6F74}"/>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Productores y consumidores</a:t>
            </a:r>
          </a:p>
        </p:txBody>
      </p:sp>
      <p:sp>
        <p:nvSpPr>
          <p:cNvPr id="4" name="">
            <a:extLst xmlns:a="http://schemas.openxmlformats.org/drawingml/2006/main">
              <a:ext uri="{FF2B5EF4-FFF2-40B4-BE49-F238E27FC236}">
                <a16:creationId xmlns:a16="http://schemas.microsoft.com/office/drawing/2014/main" id="{6A7D43ED-DE30-4333-A6DB-D84DDADF622A}"/>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EA9525F-00F2-4140-80D6-6BC829D36493}"/>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3 · 3.4</a:t>
            </a:r>
          </a:p>
        </p:txBody>
      </p:sp>
      <p:sp>
        <p:nvSpPr>
          <p:cNvPr id="6" name="">
            <a:extLst xmlns:a="http://schemas.openxmlformats.org/drawingml/2006/main">
              <a:ext uri="{FF2B5EF4-FFF2-40B4-BE49-F238E27FC236}">
                <a16:creationId xmlns:a16="http://schemas.microsoft.com/office/drawing/2014/main" id="{A39EB8F6-8401-4136-BFDB-60FC81C949EC}"/>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7921695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1BD4BF-C585-4953-928C-973BBDC13CA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988AD9-4EAE-4049-AD44-31AB2D56C49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054D93A5-2431-438D-9651-D1CF6B5DD85D}"/>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58952F4-1DA0-4DD4-A26F-903CAD50FE77}"/>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3.4</a:t>
            </a:r>
          </a:p>
        </p:txBody>
      </p:sp>
      <p:sp>
        <p:nvSpPr>
          <p:cNvPr id="5" name="">
            <a:extLst xmlns:a="http://schemas.openxmlformats.org/drawingml/2006/main">
              <a:ext uri="{FF2B5EF4-FFF2-40B4-BE49-F238E27FC236}">
                <a16:creationId xmlns:a16="http://schemas.microsoft.com/office/drawing/2014/main" id="{E88263E0-6D03-4636-8B05-2F8D4C29395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3092FD27-121C-437D-9B9B-0392CA432EA1}"/>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Un lector de archivos o un puerto serial produce lecturas a su propia velocidad. El procesamiento y almacenamiento consumen esas lecturas. Una cola separa ambos ritmos y obliga a decidir qué sucede cuando la producción supera la capacidad.</a:t>
            </a:r>
          </a:p>
        </p:txBody>
      </p:sp>
    </p:spTree>
    <p:extLst>
      <p:ext uri="{BB962C8B-B14F-4D97-AF65-F5344CB8AC3E}">
        <p14:creationId xmlns:p14="http://schemas.microsoft.com/office/powerpoint/2010/main" val="15342417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0F6F30-6677-4BA5-A87E-F49783DCF46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E8010B6-39AD-4DD9-891E-F9C7ACDDA57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Cola acotada y contrapresión</a:t>
            </a:r>
          </a:p>
        </p:txBody>
      </p:sp>
      <p:sp>
        <p:nvSpPr>
          <p:cNvPr id="3" name="">
            <a:extLst xmlns:a="http://schemas.openxmlformats.org/drawingml/2006/main">
              <a:ext uri="{FF2B5EF4-FFF2-40B4-BE49-F238E27FC236}">
                <a16:creationId xmlns:a16="http://schemas.microsoft.com/office/drawing/2014/main" id="{D1B6F5A4-264B-47AC-B3E8-446A6ADC718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886DC88-CE27-454C-B605-4C439C06C4F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3.4</a:t>
            </a:r>
          </a:p>
        </p:txBody>
      </p:sp>
      <p:sp>
        <p:nvSpPr>
          <p:cNvPr id="5" name="">
            <a:extLst xmlns:a="http://schemas.openxmlformats.org/drawingml/2006/main">
              <a:ext uri="{FF2B5EF4-FFF2-40B4-BE49-F238E27FC236}">
                <a16:creationId xmlns:a16="http://schemas.microsoft.com/office/drawing/2014/main" id="{4866A56B-367C-489E-9ACC-8A900C7692E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9355AB6C-0251-460F-9E0E-D8959B4BE192}"/>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Una cola acotada limita la acumulación.</a:t>
            </a:r>
          </a:p>
        </p:txBody>
      </p:sp>
      <p:sp>
        <p:nvSpPr>
          <p:cNvPr id="7" name="">
            <a:extLst xmlns:a="http://schemas.openxmlformats.org/drawingml/2006/main">
              <a:ext uri="{FF2B5EF4-FFF2-40B4-BE49-F238E27FC236}">
                <a16:creationId xmlns:a16="http://schemas.microsoft.com/office/drawing/2014/main" id="{E826C830-18BD-40CB-A37C-956D4D66850A}"/>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BlockingQueue ofrece operaciones de espera coordinadas. put espera espacio y take espera un elemento. ArrayBlockingQueue tiene capacidad fija. Si la cola está llena, el productor se frena: esta contrapresión limita memoria y comunica indirectamente que el consumidor está saturado.</a:t>
            </a:r>
          </a:p>
        </p:txBody>
      </p:sp>
      <p:sp>
        <p:nvSpPr>
          <p:cNvPr id="8" name="">
            <a:extLst xmlns:a="http://schemas.openxmlformats.org/drawingml/2006/main">
              <a:ext uri="{FF2B5EF4-FFF2-40B4-BE49-F238E27FC236}">
                <a16:creationId xmlns:a16="http://schemas.microsoft.com/office/drawing/2014/main" id="{EE990279-837F-4984-80C9-15859C86CE23}"/>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18D82F-06EF-447B-BDB9-2C35D692AE8D}"/>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Una cola ilimitada no elimina la saturación, solo la convierte en acumulación de memoria y latencia.</a:t>
            </a:r>
          </a:p>
        </p:txBody>
      </p:sp>
    </p:spTree>
    <p:extLst>
      <p:ext uri="{BB962C8B-B14F-4D97-AF65-F5344CB8AC3E}">
        <p14:creationId xmlns:p14="http://schemas.microsoft.com/office/powerpoint/2010/main" val="3445994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6BDF7B-BA4A-4845-9130-DB00A570947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DFC342-4DFE-47DA-B07C-E8C9610555A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wait y notify como fundamento</a:t>
            </a:r>
          </a:p>
        </p:txBody>
      </p:sp>
      <p:sp>
        <p:nvSpPr>
          <p:cNvPr id="3" name="">
            <a:extLst xmlns:a="http://schemas.openxmlformats.org/drawingml/2006/main">
              <a:ext uri="{FF2B5EF4-FFF2-40B4-BE49-F238E27FC236}">
                <a16:creationId xmlns:a16="http://schemas.microsoft.com/office/drawing/2014/main" id="{CB8CD350-A71E-4955-99E5-2CE46B626E3A}"/>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A23762-4678-44BA-B3DD-429E71CDCE0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3.4</a:t>
            </a:r>
          </a:p>
        </p:txBody>
      </p:sp>
      <p:sp>
        <p:nvSpPr>
          <p:cNvPr id="5" name="">
            <a:extLst xmlns:a="http://schemas.openxmlformats.org/drawingml/2006/main">
              <a:ext uri="{FF2B5EF4-FFF2-40B4-BE49-F238E27FC236}">
                <a16:creationId xmlns:a16="http://schemas.microsoft.com/office/drawing/2014/main" id="{038E695A-E1CA-41DA-BC08-61E93EDA0416}"/>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4387ED4D-0A54-4E01-B0A7-7BDDD775DF40}"/>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wait libera el monitor y debe comprobarse dentro de un while.</a:t>
            </a:r>
          </a:p>
        </p:txBody>
      </p:sp>
      <p:sp>
        <p:nvSpPr>
          <p:cNvPr id="7" name="">
            <a:extLst xmlns:a="http://schemas.openxmlformats.org/drawingml/2006/main">
              <a:ext uri="{FF2B5EF4-FFF2-40B4-BE49-F238E27FC236}">
                <a16:creationId xmlns:a16="http://schemas.microsoft.com/office/drawing/2014/main" id="{E838007F-C4D1-4E72-B61A-E1FF3C6B2AD6}"/>
              </a:ext>
            </a:extLst>
          </p:cNvPr>
          <p:cNvSpPr>
            <a:spLocks xmlns:a="http://schemas.openxmlformats.org/drawingml/2006/main" noGrp="1"/>
          </p:cNvSpPr>
          <p:nvPr/>
        </p:nvSpPr>
        <p:spPr>
          <a:xfrm xmlns:a="http://schemas.openxmlformats.org/drawingml/2006/main">
            <a:off x="723900" y="2800350"/>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403F3B"/>
                </a:solidFill>
                <a:latin typeface="DejaVu Sans"/>
                <a:ea typeface="DejaVu Sans"/>
                <a:cs typeface="DejaVu Sans"/>
              </a:defRPr>
            </a:pPr>
            <a:r>
              <a:rPr sz="1875" b="0">
                <a:solidFill>
                  <a:srgbClr val="403F3B"/>
                </a:solidFill>
                <a:latin typeface="DejaVu Sans"/>
                <a:ea typeface="DejaVu Sans"/>
                <a:cs typeface="DejaVu Sans"/>
              </a:rPr>
              <a:t>Una implementación manual con monitores comprueba la condición dentro de un while, llama wait y vuelve a comprobar al despertar. El bucle es necesario porque pueden existir despertares espurios y porque otro hilo puede cambiar la condición antes de recuperar el monitor.</a:t>
            </a:r>
          </a:p>
        </p:txBody>
      </p:sp>
      <p:sp>
        <p:nvSpPr>
          <p:cNvPr id="8" name="">
            <a:extLst xmlns:a="http://schemas.openxmlformats.org/drawingml/2006/main">
              <a:ext uri="{FF2B5EF4-FFF2-40B4-BE49-F238E27FC236}">
                <a16:creationId xmlns:a16="http://schemas.microsoft.com/office/drawing/2014/main" id="{E214A5A8-EF19-4549-8751-726E6C452B8A}"/>
              </a:ext>
            </a:extLst>
          </p:cNvPr>
          <p:cNvSpPr>
            <a:spLocks xmlns:a="http://schemas.openxmlformats.org/drawingml/2006/main" noGrp="1"/>
          </p:cNvSpPr>
          <p:nvPr/>
        </p:nvSpPr>
        <p:spPr>
          <a:xfrm xmlns:a="http://schemas.openxmlformats.org/drawingml/2006/main">
            <a:off x="6210300" y="2724150"/>
            <a:ext cx="5238750" cy="274320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B761EE3-D126-4C78-A50F-B71FA5B97B39}"/>
              </a:ext>
            </a:extLst>
          </p:cNvPr>
          <p:cNvSpPr>
            <a:spLocks xmlns:a="http://schemas.openxmlformats.org/drawingml/2006/main" noGrp="1"/>
          </p:cNvSpPr>
          <p:nvPr/>
        </p:nvSpPr>
        <p:spPr>
          <a:xfrm xmlns:a="http://schemas.openxmlformats.org/drawingml/2006/main">
            <a:off x="6419850" y="2924175"/>
            <a:ext cx="48196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synchronized (lock) {</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  while (cola.isEmpty()) lock.wait();</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  // Extraer bajo el mismo monitor y notificar cambios de condición.</a:t>
            </a:r>
          </a:p>
          <a:p xmlns:a="http://schemas.openxmlformats.org/drawingml/2006/main">
            <a:pPr>
              <a:defRPr sz="1425" b="0">
                <a:solidFill>
                  <a:srgbClr val="403F3B"/>
                </a:solidFill>
                <a:latin typeface="DejaVu Sans"/>
                <a:ea typeface="DejaVu Sans"/>
                <a:cs typeface="DejaVu Sans"/>
              </a:defRPr>
            </a:pPr>
            <a:r>
              <a:rPr sz="1425" b="0">
                <a:solidFill>
                  <a:srgbClr val="403F3B"/>
                </a:solidFill>
                <a:latin typeface="DejaVu Sans"/>
                <a:ea typeface="DejaVu Sans"/>
                <a:cs typeface="DejaVu Sans"/>
              </a:rPr>
              <a:t>}</a:t>
            </a:r>
          </a:p>
        </p:txBody>
      </p:sp>
    </p:spTree>
    <p:extLst>
      <p:ext uri="{BB962C8B-B14F-4D97-AF65-F5344CB8AC3E}">
        <p14:creationId xmlns:p14="http://schemas.microsoft.com/office/powerpoint/2010/main" val="53503631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40EA1C3-0F26-447B-9D57-E1851801631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908E492-60A6-4AB2-9DE6-E0480842E3D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Señal de terminación y número de consumidores</a:t>
            </a:r>
          </a:p>
        </p:txBody>
      </p:sp>
      <p:sp>
        <p:nvSpPr>
          <p:cNvPr id="3" name="">
            <a:extLst xmlns:a="http://schemas.openxmlformats.org/drawingml/2006/main">
              <a:ext uri="{FF2B5EF4-FFF2-40B4-BE49-F238E27FC236}">
                <a16:creationId xmlns:a16="http://schemas.microsoft.com/office/drawing/2014/main" id="{3619E824-2F2C-4C8C-89DF-A469B3892BA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5938A47-A83D-4A40-8451-375266535EE8}"/>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3.4</a:t>
            </a:r>
          </a:p>
        </p:txBody>
      </p:sp>
      <p:sp>
        <p:nvSpPr>
          <p:cNvPr id="5" name="">
            <a:extLst xmlns:a="http://schemas.openxmlformats.org/drawingml/2006/main">
              <a:ext uri="{FF2B5EF4-FFF2-40B4-BE49-F238E27FC236}">
                <a16:creationId xmlns:a16="http://schemas.microsoft.com/office/drawing/2014/main" id="{84F0849A-5F83-42D3-8D2B-5A15643FECF4}"/>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BE72750C-E709-47B9-BC39-EE18633D79AA}"/>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Se requiere una señal de fin por consumidor.</a:t>
            </a:r>
          </a:p>
        </p:txBody>
      </p:sp>
      <p:sp>
        <p:nvSpPr>
          <p:cNvPr id="7" name="">
            <a:extLst xmlns:a="http://schemas.openxmlformats.org/drawingml/2006/main">
              <a:ext uri="{FF2B5EF4-FFF2-40B4-BE49-F238E27FC236}">
                <a16:creationId xmlns:a16="http://schemas.microsoft.com/office/drawing/2014/main" id="{AE90462F-C063-49D5-858A-21C031A2A5E5}"/>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Una señal de fin es un mensaje que los consumidores reconocen para salir. Si hay dos consumidores, una única señal puede dejar al otro esperando. La demostración envía una señal por consumidor después de los datos, con un solo productor y orden FIFO.</a:t>
            </a:r>
          </a:p>
        </p:txBody>
      </p:sp>
      <p:sp>
        <p:nvSpPr>
          <p:cNvPr id="8" name="">
            <a:extLst xmlns:a="http://schemas.openxmlformats.org/drawingml/2006/main">
              <a:ext uri="{FF2B5EF4-FFF2-40B4-BE49-F238E27FC236}">
                <a16:creationId xmlns:a16="http://schemas.microsoft.com/office/drawing/2014/main" id="{30F59499-79D8-4EE8-B58D-F9F5685B49B7}"/>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B65894-BF3E-4CC7-A7C8-A6DF0D138138}"/>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Con varios productores, no debe emitirse fin hasta que todos hayan terminado. Puede utilizarse un coordinador o un contador de productores activos.</a:t>
            </a:r>
          </a:p>
        </p:txBody>
      </p:sp>
    </p:spTree>
    <p:extLst>
      <p:ext uri="{BB962C8B-B14F-4D97-AF65-F5344CB8AC3E}">
        <p14:creationId xmlns:p14="http://schemas.microsoft.com/office/powerpoint/2010/main" val="11164332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6F51F7-5F02-4265-A82D-6C8685D678A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A206BC-1761-46F2-AC11-5FB0DB8451FB}"/>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Orden y consistencia de resultados</a:t>
            </a:r>
          </a:p>
        </p:txBody>
      </p:sp>
      <p:sp>
        <p:nvSpPr>
          <p:cNvPr id="3" name="">
            <a:extLst xmlns:a="http://schemas.openxmlformats.org/drawingml/2006/main">
              <a:ext uri="{FF2B5EF4-FFF2-40B4-BE49-F238E27FC236}">
                <a16:creationId xmlns:a16="http://schemas.microsoft.com/office/drawing/2014/main" id="{4B269DA3-761D-4E51-A950-D9F034C1A272}"/>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46548EF-FBE3-4D96-BCED-71FBE99EC8F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3.4</a:t>
            </a:r>
          </a:p>
        </p:txBody>
      </p:sp>
      <p:sp>
        <p:nvSpPr>
          <p:cNvPr id="5" name="">
            <a:extLst xmlns:a="http://schemas.openxmlformats.org/drawingml/2006/main">
              <a:ext uri="{FF2B5EF4-FFF2-40B4-BE49-F238E27FC236}">
                <a16:creationId xmlns:a16="http://schemas.microsoft.com/office/drawing/2014/main" id="{566E12B5-CB5B-41EA-BFBE-6A35E0101B1D}"/>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8D117DFA-904C-4ACC-A254-43320414BA03}"/>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FIFO no garantiza el orden de finalización.</a:t>
            </a:r>
          </a:p>
        </p:txBody>
      </p:sp>
      <p:sp>
        <p:nvSpPr>
          <p:cNvPr id="7" name="">
            <a:extLst xmlns:a="http://schemas.openxmlformats.org/drawingml/2006/main">
              <a:ext uri="{FF2B5EF4-FFF2-40B4-BE49-F238E27FC236}">
                <a16:creationId xmlns:a16="http://schemas.microsoft.com/office/drawing/2014/main" id="{3BBF5D30-0300-4CD6-BB90-92CD5D5D9280}"/>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Una cola FIFO conserva el orden de extracción, pero varios consumidores pueden finalizar en distinto orden. Si cada lectura tiene un número de secuencia, el sistema puede detectar faltantes y ordenar la presentación sin exigir ejecución secuencial de todo el proceso.</a:t>
            </a:r>
          </a:p>
        </p:txBody>
      </p:sp>
      <p:sp>
        <p:nvSpPr>
          <p:cNvPr id="8" name="">
            <a:extLst xmlns:a="http://schemas.openxmlformats.org/drawingml/2006/main">
              <a:ext uri="{FF2B5EF4-FFF2-40B4-BE49-F238E27FC236}">
                <a16:creationId xmlns:a16="http://schemas.microsoft.com/office/drawing/2014/main" id="{C3F38822-20FB-419A-B341-82BC41CADD2B}"/>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4F9344D-AEB8-4C02-ABA9-B56E47EC7929}"/>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demostración comprueba cantidad y suma final, dos invariantes independientes del reparto de trabajo. No utiliza null como señal porque BlockingQueue no admite elementos nulos.</a:t>
            </a:r>
          </a:p>
        </p:txBody>
      </p:sp>
    </p:spTree>
    <p:extLst>
      <p:ext uri="{BB962C8B-B14F-4D97-AF65-F5344CB8AC3E}">
        <p14:creationId xmlns:p14="http://schemas.microsoft.com/office/powerpoint/2010/main" val="156176614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AD3066-3D4F-4D9A-B169-D8DAC21A4CD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4CDF05-C684-43FF-BF23-DD52C76F736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FB67AC49-80E8-45F3-B8AA-639F0215F4A5}"/>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C8B793-8F6F-443D-A4EE-8CF2D8B0CCF1}"/>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3.4</a:t>
            </a:r>
          </a:p>
        </p:txBody>
      </p:sp>
      <p:sp>
        <p:nvSpPr>
          <p:cNvPr id="5" name="">
            <a:extLst xmlns:a="http://schemas.openxmlformats.org/drawingml/2006/main">
              <a:ext uri="{FF2B5EF4-FFF2-40B4-BE49-F238E27FC236}">
                <a16:creationId xmlns:a16="http://schemas.microsoft.com/office/drawing/2014/main" id="{8BAA803D-912C-414A-A0CD-D858D28521A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B1CD14CA-CB4C-4ADC-8FF5-FACBC808CBAC}"/>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7E0533A-15B3-44D8-8D8C-8232EF3C5A5B}"/>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InterruptedException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BlockingQueue&lt;Mensaje&gt; cola = new ArrayBlockingQueue&lt;&gt;(4);</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AtomicInteger suma = new AtomicInteger(), cantidad = new AtomicInteger();</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Runnable consumir = () -&gt;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while (true)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Mensaje m = cola.take();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(m.fin()) return;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suma.addAndGet(m.valor()); cantidad.incrementAndGet();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 catch (InterruptedException e) { Thread.currentThread().interrupt();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Thread a = new Thread(consumir), b = new Thread(consumir);</a:t>
            </a:r>
          </a:p>
        </p:txBody>
      </p:sp>
      <p:sp>
        <p:nvSpPr>
          <p:cNvPr id="8" name="">
            <a:extLst xmlns:a="http://schemas.openxmlformats.org/drawingml/2006/main">
              <a:ext uri="{FF2B5EF4-FFF2-40B4-BE49-F238E27FC236}">
                <a16:creationId xmlns:a16="http://schemas.microsoft.com/office/drawing/2014/main" id="{53E1CBFA-7123-4C74-93DF-A99FD4FD1449}"/>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ColaDemo.java. Código completo y ejecución en material.md.</a:t>
            </a:r>
          </a:p>
        </p:txBody>
      </p:sp>
    </p:spTree>
    <p:extLst>
      <p:ext uri="{BB962C8B-B14F-4D97-AF65-F5344CB8AC3E}">
        <p14:creationId xmlns:p14="http://schemas.microsoft.com/office/powerpoint/2010/main" val="3159908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37B894-0126-4FA7-A297-6916EE11274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E8E752C-AF45-4782-8348-65AA6A98FF41}"/>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97FB17F3-7E77-4254-B787-80339C941F3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8D95887-3138-4E78-90B6-EA9EF98E236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3.4</a:t>
            </a:r>
          </a:p>
        </p:txBody>
      </p:sp>
      <p:sp>
        <p:nvSpPr>
          <p:cNvPr id="5" name="">
            <a:extLst xmlns:a="http://schemas.openxmlformats.org/drawingml/2006/main">
              <a:ext uri="{FF2B5EF4-FFF2-40B4-BE49-F238E27FC236}">
                <a16:creationId xmlns:a16="http://schemas.microsoft.com/office/drawing/2014/main" id="{43A82111-11C0-4444-9AF9-EB59A8867F7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100 entradas y 2 consumidores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Cada entrada clasificada una vez</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Cola llena</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Se aplica la política de contrapresión</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Cancelación durante espera</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Todos los participantes terminan</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AC8B316E-E2F7-4082-AD66-B058B2154F77}"/>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Cantidad: 10 · Suma: 55</a:t>
            </a:r>
          </a:p>
        </p:txBody>
      </p:sp>
    </p:spTree>
    <p:extLst>
      <p:ext uri="{BB962C8B-B14F-4D97-AF65-F5344CB8AC3E}">
        <p14:creationId xmlns:p14="http://schemas.microsoft.com/office/powerpoint/2010/main" val="1990588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4AE6497-F618-4C05-9B36-CD06F6D5BF9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44C732-69D9-496E-929E-35335FC954F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PC3.4 · Ampliación del proyecto</a:t>
            </a:r>
          </a:p>
        </p:txBody>
      </p:sp>
      <p:sp>
        <p:nvSpPr>
          <p:cNvPr id="3" name="">
            <a:extLst xmlns:a="http://schemas.openxmlformats.org/drawingml/2006/main">
              <a:ext uri="{FF2B5EF4-FFF2-40B4-BE49-F238E27FC236}">
                <a16:creationId xmlns:a16="http://schemas.microsoft.com/office/drawing/2014/main" id="{C38CEFB3-76AF-471F-AAFD-0999D12D4A0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DC7E875-FC9A-4101-BDDE-2EFAC98DAD0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3.4</a:t>
            </a:r>
          </a:p>
        </p:txBody>
      </p:sp>
      <p:sp>
        <p:nvSpPr>
          <p:cNvPr id="5" name="">
            <a:extLst xmlns:a="http://schemas.openxmlformats.org/drawingml/2006/main">
              <a:ext uri="{FF2B5EF4-FFF2-40B4-BE49-F238E27FC236}">
                <a16:creationId xmlns:a16="http://schemas.microsoft.com/office/drawing/2014/main" id="{6FC870EE-881C-4A5B-9AB6-74D2CB869FB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E7632D55-55FD-4B59-A65D-1D8FAB60F347}"/>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4C4C63B9-5227-4B02-900C-B607F1EF660E}"/>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Conecta el importador de CampusMonitor a una ArrayBlockingQueue de capacidad 20. Dos consumidores validan y procesan mensajes con secuencia.</a:t>
            </a:r>
          </a:p>
        </p:txBody>
      </p:sp>
      <p:sp>
        <p:nvSpPr>
          <p:cNvPr id="8" name="">
            <a:extLst xmlns:a="http://schemas.openxmlformats.org/drawingml/2006/main">
              <a:ext uri="{FF2B5EF4-FFF2-40B4-BE49-F238E27FC236}">
                <a16:creationId xmlns:a16="http://schemas.microsoft.com/office/drawing/2014/main" id="{82F40736-670E-4C2F-8D3C-6E3BB9DA58B8}"/>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3CD26BCE-46B8-403C-95AF-B8DEF1B01A75}"/>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Define terminación normal y cancelación por error. La aplicación debe terminar sin consumidores esperando indefinidamente.</a:t>
            </a:r>
          </a:p>
        </p:txBody>
      </p:sp>
      <p:sp>
        <p:nvSpPr>
          <p:cNvPr id="10" name="">
            <a:extLst xmlns:a="http://schemas.openxmlformats.org/drawingml/2006/main">
              <a:ext uri="{FF2B5EF4-FFF2-40B4-BE49-F238E27FC236}">
                <a16:creationId xmlns:a16="http://schemas.microsoft.com/office/drawing/2014/main" id="{1787DACE-5162-41AD-99AF-6E031C5B4D4B}"/>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02B7D725-0BD4-4CE4-A830-AF3E520103C3}"/>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Genera cien entradas deterministas, registra aceptadas, rechazadas y descartadas, y comprueba que la suma de categorías corresponde al total producido.</a:t>
            </a:r>
          </a:p>
        </p:txBody>
      </p:sp>
    </p:spTree>
    <p:extLst>
      <p:ext uri="{BB962C8B-B14F-4D97-AF65-F5344CB8AC3E}">
        <p14:creationId xmlns:p14="http://schemas.microsoft.com/office/powerpoint/2010/main" val="16093443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D0ED61-F10E-4936-8996-D3FF57721BB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61499EE-1071-4E3D-994F-805BF0D3E7F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C1CCA439-4186-4B95-B641-9A0FA132D02C}"/>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3B5D51-E005-4516-9F7B-35D37BD13B8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3.4</a:t>
            </a:r>
          </a:p>
        </p:txBody>
      </p:sp>
      <p:sp>
        <p:nvSpPr>
          <p:cNvPr id="5" name="">
            <a:extLst xmlns:a="http://schemas.openxmlformats.org/drawingml/2006/main">
              <a:ext uri="{FF2B5EF4-FFF2-40B4-BE49-F238E27FC236}">
                <a16:creationId xmlns:a16="http://schemas.microsoft.com/office/drawing/2014/main" id="{225F24CF-1C51-4999-A26E-CB024A5436E4}"/>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79A989CF-60B1-4C66-969E-57C4BD441D1E}"/>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Una cola acotada limita la acumulación.</a:t>
            </a:r>
          </a:p>
        </p:txBody>
      </p:sp>
      <p:sp>
        <p:nvSpPr>
          <p:cNvPr id="7" name="">
            <a:extLst xmlns:a="http://schemas.openxmlformats.org/drawingml/2006/main">
              <a:ext uri="{FF2B5EF4-FFF2-40B4-BE49-F238E27FC236}">
                <a16:creationId xmlns:a16="http://schemas.microsoft.com/office/drawing/2014/main" id="{616D73A4-C8AC-45A6-A387-A52B638010CB}"/>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wait libera el monitor y debe comprobarse dentro de un while.</a:t>
            </a:r>
          </a:p>
        </p:txBody>
      </p:sp>
      <p:sp>
        <p:nvSpPr>
          <p:cNvPr id="8" name="">
            <a:extLst xmlns:a="http://schemas.openxmlformats.org/drawingml/2006/main">
              <a:ext uri="{FF2B5EF4-FFF2-40B4-BE49-F238E27FC236}">
                <a16:creationId xmlns:a16="http://schemas.microsoft.com/office/drawing/2014/main" id="{E07AEB3F-1603-4BEA-A18F-6FABA70E68CA}"/>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Se requiere una señal de fin por consumidor.</a:t>
            </a:r>
          </a:p>
        </p:txBody>
      </p:sp>
      <p:sp>
        <p:nvSpPr>
          <p:cNvPr id="9" name="">
            <a:extLst xmlns:a="http://schemas.openxmlformats.org/drawingml/2006/main">
              <a:ext uri="{FF2B5EF4-FFF2-40B4-BE49-F238E27FC236}">
                <a16:creationId xmlns:a16="http://schemas.microsoft.com/office/drawing/2014/main" id="{343E4651-F6B5-4396-96A1-F0898F415403}"/>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FIFO no garantiza el orden de finalización.</a:t>
            </a:r>
          </a:p>
        </p:txBody>
      </p:sp>
    </p:spTree>
    <p:extLst>
      <p:ext uri="{BB962C8B-B14F-4D97-AF65-F5344CB8AC3E}">
        <p14:creationId xmlns:p14="http://schemas.microsoft.com/office/powerpoint/2010/main" val="563698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2026-09-10T23:06:48.7020000Z</dcterms:created>
  <dcterms:modified xsi:type="dcterms:W3CDTF">2026-09-10T23:06:48.7020000Z</dcterms:modified>
</coreProperties>
</file>