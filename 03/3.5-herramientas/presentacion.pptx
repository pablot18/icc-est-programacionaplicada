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d20ec6887f4e99" /><Relationship Type="http://schemas.openxmlformats.org/officeDocument/2006/relationships/extended-properties" Target="/docProps/app.xml" Id="R4cbfff68e0324d2f" /><Relationship Type="http://schemas.openxmlformats.org/officeDocument/2006/relationships/officeDocument" Target="/ppt/presentation.xml" Id="R94b44e1709244b70" /></Relationships>
</file>

<file path=ppt/presentation.xml><?xml version="1.0" encoding="utf-8"?>
<p:presentation xmlns:p="http://schemas.openxmlformats.org/presentationml/2006/main">
  <p:sldMasterIdLst>
    <p:sldMasterId xmlns:r="http://schemas.openxmlformats.org/officeDocument/2006/relationships" id="2147483648" r:id="Rd02493289a184713"/>
  </p:sldMasterIdLst>
  <p:notesMasterIdLst>
    <p:notesMasterId xmlns:r="http://schemas.openxmlformats.org/officeDocument/2006/relationships" r:id="Rda3cc2850afa4f23"/>
  </p:notesMasterIdLst>
  <p:sldIdLst>
    <p:sldId xmlns:r="http://schemas.openxmlformats.org/officeDocument/2006/relationships" id="256" r:id="R609b3a32cf1f4acd"/>
    <p:sldId xmlns:r="http://schemas.openxmlformats.org/officeDocument/2006/relationships" id="257" r:id="Rb7e5196215294da3"/>
    <p:sldId xmlns:r="http://schemas.openxmlformats.org/officeDocument/2006/relationships" id="258" r:id="Rd74c21eaf19e48f5"/>
    <p:sldId xmlns:r="http://schemas.openxmlformats.org/officeDocument/2006/relationships" id="259" r:id="Ra971b70509e4447e"/>
    <p:sldId xmlns:r="http://schemas.openxmlformats.org/officeDocument/2006/relationships" id="260" r:id="Ref868fd8aef545ea"/>
    <p:sldId xmlns:r="http://schemas.openxmlformats.org/officeDocument/2006/relationships" id="261" r:id="R2a6a1676373d414a"/>
    <p:sldId xmlns:r="http://schemas.openxmlformats.org/officeDocument/2006/relationships" id="262" r:id="Rf0ac27dd842c49bc"/>
    <p:sldId xmlns:r="http://schemas.openxmlformats.org/officeDocument/2006/relationships" id="263" r:id="Rb6a8e3bb3ec343c2"/>
    <p:sldId xmlns:r="http://schemas.openxmlformats.org/officeDocument/2006/relationships" id="264" r:id="Rb71ae3c1a3224316"/>
    <p:sldId xmlns:r="http://schemas.openxmlformats.org/officeDocument/2006/relationships" id="265" r:id="R6660c3ce0e1e4d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ba4255c7fa448a" /><Relationship Type="http://schemas.openxmlformats.org/officeDocument/2006/relationships/slideMaster" Target="/ppt/slideMasters/slideMaster1.xml" Id="Rd02493289a184713" /><Relationship Type="http://schemas.openxmlformats.org/officeDocument/2006/relationships/notesMaster" Target="/ppt/notesMasters/notesMaster1.xml" Id="Rda3cc2850afa4f23" /><Relationship Type="http://schemas.openxmlformats.org/officeDocument/2006/relationships/presProps" Target="/ppt/presProps.xml" Id="R0ab53555efa843b3" /><Relationship Type="http://schemas.openxmlformats.org/officeDocument/2006/relationships/tableStyles" Target="/ppt/tableStyles.xml" Id="R2f63fb743a3c447f" /><Relationship Type="http://schemas.openxmlformats.org/officeDocument/2006/relationships/slide" Target="/ppt/slides/slide1.xml" Id="R609b3a32cf1f4acd" /><Relationship Type="http://schemas.openxmlformats.org/officeDocument/2006/relationships/slide" Target="/ppt/slides/slide2.xml" Id="Rb7e5196215294da3" /><Relationship Type="http://schemas.openxmlformats.org/officeDocument/2006/relationships/slide" Target="/ppt/slides/slide3.xml" Id="Rd74c21eaf19e48f5" /><Relationship Type="http://schemas.openxmlformats.org/officeDocument/2006/relationships/slide" Target="/ppt/slides/slide4.xml" Id="Ra971b70509e4447e" /><Relationship Type="http://schemas.openxmlformats.org/officeDocument/2006/relationships/slide" Target="/ppt/slides/slide5.xml" Id="Ref868fd8aef545ea" /><Relationship Type="http://schemas.openxmlformats.org/officeDocument/2006/relationships/slide" Target="/ppt/slides/slide6.xml" Id="R2a6a1676373d414a" /><Relationship Type="http://schemas.openxmlformats.org/officeDocument/2006/relationships/slide" Target="/ppt/slides/slide7.xml" Id="Rf0ac27dd842c49bc" /><Relationship Type="http://schemas.openxmlformats.org/officeDocument/2006/relationships/slide" Target="/ppt/slides/slide8.xml" Id="Rb6a8e3bb3ec343c2" /><Relationship Type="http://schemas.openxmlformats.org/officeDocument/2006/relationships/slide" Target="/ppt/slides/slide9.xml" Id="Rb71ae3c1a3224316" /><Relationship Type="http://schemas.openxmlformats.org/officeDocument/2006/relationships/slide" Target="/ppt/slides/slide10.xml" Id="R6660c3ce0e1e4d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253351bbfc48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4eda7c8e1047e3" /><Relationship Type="http://schemas.openxmlformats.org/officeDocument/2006/relationships/notesMaster" Target="/ppt/notesMasters/notesMaster1.xml" Id="R18912750d99444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64db485df5422a" /><Relationship Type="http://schemas.openxmlformats.org/officeDocument/2006/relationships/notesMaster" Target="/ppt/notesMasters/notesMaster1.xml" Id="R1b9862796c1b4a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4863a3b89a48f1" /><Relationship Type="http://schemas.openxmlformats.org/officeDocument/2006/relationships/notesMaster" Target="/ppt/notesMasters/notesMaster1.xml" Id="R00ebf9b54ff647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88201d8f724879" /><Relationship Type="http://schemas.openxmlformats.org/officeDocument/2006/relationships/notesMaster" Target="/ppt/notesMasters/notesMaster1.xml" Id="R97ed5e750ab24b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140d1880f24494" /><Relationship Type="http://schemas.openxmlformats.org/officeDocument/2006/relationships/notesMaster" Target="/ppt/notesMasters/notesMaster1.xml" Id="R0fdca05a492046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25eb639f854997" /><Relationship Type="http://schemas.openxmlformats.org/officeDocument/2006/relationships/notesMaster" Target="/ppt/notesMasters/notesMaster1.xml" Id="R1b50b20c60ad45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2fbbd8d4fe40b1" /><Relationship Type="http://schemas.openxmlformats.org/officeDocument/2006/relationships/notesMaster" Target="/ppt/notesMasters/notesMaster1.xml" Id="R4fde498f49b543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9d322979e847b3" /><Relationship Type="http://schemas.openxmlformats.org/officeDocument/2006/relationships/notesMaster" Target="/ppt/notesMasters/notesMaster1.xml" Id="Rc2ea0e5ff5b843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e136486e5f4195" /><Relationship Type="http://schemas.openxmlformats.org/officeDocument/2006/relationships/notesMaster" Target="/ppt/notesMasters/notesMaster1.xml" Id="Re03d1222586347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984acd3e544343" /><Relationship Type="http://schemas.openxmlformats.org/officeDocument/2006/relationships/notesMaster" Target="/ppt/notesMasters/notesMaster1.xml" Id="R6ff09a76165c44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3.5. Ejecutores, futuros e hilos virtuales.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Crear un Thread para cada trabajo dispersa el control del ciclo de vida. CampusMonitor necesita enviar tareas, recuperar resultados, manejar fallos y cerrar los recursos de ejecución de forma coordinada.</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ExecutorService separa envío y ejecución. Runnable representa trabajo sin resultado, mientras Callable&lt;T&gt; devuelve T y puede lanzar excepciones comprobadas. submit devuelve un Future&lt;T&gt; que permite esperar el resultado, cancelar o consultar finalización.</a:t>
            </a:r>
          </a:p>
          <a:p xmlns:a="http://schemas.openxmlformats.org/drawingml/2006/main">
            <a:r>
              <a:t/>
            </a:r>
          </a:p>
          <a:p xmlns:a="http://schemas.openxmlformats.org/drawingml/2006/main">
            <a:r>
              <a:t>Un pool fijo limita hilos, pero su cola de tareas puede crecer si el productor envía más rápido de lo que se procesa. Limitar hilos no equivale a limitar trabajo pendiente. Para cargas sostenidas usa colas acotadas y una política de rechazo o contrapresión. El programa que crea el ejecutor debe definir quién lo cierra.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Future.get espera y puede lanzar ExecutionException si falló la tarea. La causa contiene el error original. get con timeout limita la espera del consumidor, no cancela automáticamente el trabajo. Si decides abandonar la tarea, llama cancel(true) y verifica que su implementación responda a interrupción.</a:t>
            </a:r>
          </a:p>
          <a:p xmlns:a="http://schemas.openxmlformats.org/drawingml/2006/main">
            <a:r>
              <a:t/>
            </a:r>
          </a:p>
          <a:p xmlns:a="http://schemas.openxmlformats.org/drawingml/2006/main">
            <a:r>
              <a:t>Shutdown deja de aceptar nuevas tareas y permite terminar las enviadas. ShutdownNow intenta interrumpir las activas y devuelve las pendientes que no comenzaron. No garantiza terminación inmediata. En Java moderno, ExecutorService es AutoCloseable y close espera terminación. Una tarea que ignora cancelación puede prolongar ese cierre.</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hilos virtuales son una funcionalidad estable desde Java 21. Reducen el costo de muchas tareas que pasan tiempo esperando E/S. No hacen más rápida una operación intensiva en CPU ni amplían la capacidad de la base de datos o del dispositivo serial. No se recomienda agruparlos en un pool para reutilizarlos: un ejecutor por tarea crea uno por cada trabajo.</a:t>
            </a:r>
          </a:p>
          <a:p xmlns:a="http://schemas.openxmlformats.org/drawingml/2006/main">
            <a:r>
              <a:t/>
            </a:r>
          </a:p>
          <a:p xmlns:a="http://schemas.openxmlformats.org/drawingml/2006/main">
            <a:r>
              <a:t>Usa un semáforo o un pool de conexiones para limitar recursos externos. En Java 25 existen mejoras respecto de versiones anteriores en la interacción entre monitores y virtual threads, pero sigue siendo necesario analizar el comportamiento de librerías y operaciones nativas. El curso evita APIs preview para mantener una base estable.</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CompletableFuture permite combinar resultados sin escribir esperas intermedias explícitas. thenApply transforma un resultado y thenCombine une dos resultados independientes. Los métodos async sin ejecutor explícito suelen usar el common pool, que puede compartirse con otras operaciones de la aplicación.</a:t>
            </a:r>
          </a:p>
          <a:p xmlns:a="http://schemas.openxmlformats.org/drawingml/2006/main">
            <a:r>
              <a:t/>
            </a:r>
          </a:p>
          <a:p xmlns:a="http://schemas.openxmlformats.org/drawingml/2006/main">
            <a:r>
              <a:t>La demostración proporciona su propio ejecutor y combina dos lecturas simuladas. La composición no vuelve thread-safe a los objetos capturados por las lambdas. Maneja excepciones con una política clara: propagar, recuperar con un valor justificado o registrar el fallo. Nunca conviertas silenciosamente un error de sensor en una medición cero.</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java.util.concurrent.*;</a:t>
            </a:r>
          </a:p>
          <a:p xmlns:a="http://schemas.openxmlformats.org/drawingml/2006/main">
            <a:r>
              <a:t>public class EjecutoresDemo {</a:t>
            </a:r>
          </a:p>
          <a:p xmlns:a="http://schemas.openxmlformats.org/drawingml/2006/main">
            <a:r>
              <a:t>    static double leer(double valor) {</a:t>
            </a:r>
          </a:p>
          <a:p xmlns:a="http://schemas.openxmlformats.org/drawingml/2006/main">
            <a:r>
              <a:t>        try { Thread.sleep(30); return valor; }</a:t>
            </a:r>
          </a:p>
          <a:p xmlns:a="http://schemas.openxmlformats.org/drawingml/2006/main">
            <a:r>
              <a:t>        catch (InterruptedException e) {</a:t>
            </a:r>
          </a:p>
          <a:p xmlns:a="http://schemas.openxmlformats.org/drawingml/2006/main">
            <a:r>
              <a:t>            Thread.currentThread().interrupt();</a:t>
            </a:r>
          </a:p>
          <a:p xmlns:a="http://schemas.openxmlformats.org/drawingml/2006/main">
            <a:r>
              <a:t>            throw new CompletionException(e);</a:t>
            </a:r>
          </a:p>
          <a:p xmlns:a="http://schemas.openxmlformats.org/drawingml/2006/main">
            <a:r>
              <a:t>        }</a:t>
            </a:r>
          </a:p>
          <a:p xmlns:a="http://schemas.openxmlformats.org/drawingml/2006/main">
            <a:r>
              <a:t>    }</a:t>
            </a:r>
          </a:p>
          <a:p xmlns:a="http://schemas.openxmlformats.org/drawingml/2006/main">
            <a:r>
              <a:t>    public static void main(String[] args) throws Exception {</a:t>
            </a:r>
          </a:p>
          <a:p xmlns:a="http://schemas.openxmlformats.org/drawingml/2006/main">
            <a:r>
              <a:t>        try (ExecutorService executor = Executors.newVirtualThreadPerTaskExecutor()) {</a:t>
            </a:r>
          </a:p>
          <a:p xmlns:a="http://schemas.openxmlformats.org/drawingml/2006/main">
            <a:r>
              <a:t>            CompletableFuture&lt;Double&gt; a = CompletableFuture.supplyAsync(() -&gt; leer(22),executor);</a:t>
            </a:r>
          </a:p>
          <a:p xmlns:a="http://schemas.openxmlformats.org/drawingml/2006/main">
            <a:r>
              <a:t>            CompletableFuture&lt;Double&gt; b = CompletableFuture.supplyAsync(() -&gt; leer(26),executor);</a:t>
            </a:r>
          </a:p>
          <a:p xmlns:a="http://schemas.openxmlformats.org/drawingml/2006/main">
            <a:r>
              <a:t>            CompletableFuture&lt;Double&gt; media = a.thenCombine(b,(x,y)-&gt;(x+y)/2);</a:t>
            </a:r>
          </a:p>
          <a:p xmlns:a="http://schemas.openxmlformats.org/drawingml/2006/main">
            <a:r>
              <a:t>            try { System.out.println("Media: " + media.get(2,TimeUnit.SECONDS)); }</a:t>
            </a:r>
          </a:p>
          <a:p xmlns:a="http://schemas.openxmlformats.org/drawingml/2006/main">
            <a:r>
              <a:t>            catch (TimeoutException e) {</a:t>
            </a:r>
          </a:p>
          <a:p xmlns:a="http://schemas.openxmlformats.org/drawingml/2006/main">
            <a:r>
              <a:t>                a.cancel(true); b.cancel(true);</a:t>
            </a:r>
          </a:p>
          <a:p xmlns:a="http://schemas.openxmlformats.org/drawingml/2006/main">
            <a:r>
              <a:t>                executor.shutdownNow();</a:t>
            </a:r>
          </a:p>
          <a:p xmlns:a="http://schemas.openxmlformats.org/drawingml/2006/main">
            <a:r>
              <a:t>                throw e;</a:t>
            </a:r>
          </a:p>
          <a:p xmlns:a="http://schemas.openxmlformats.org/drawingml/2006/main">
            <a:r>
              <a:t>            }</a:t>
            </a:r>
          </a:p>
          <a:p xmlns:a="http://schemas.openxmlformats.org/drawingml/2006/main">
            <a:r>
              <a:t>            Future&lt;String&gt; id = executor.submit(() -&gt; "S01");</a:t>
            </a:r>
          </a:p>
          <a:p xmlns:a="http://schemas.openxmlformats.org/drawingml/2006/main">
            <a:r>
              <a:t>            System.out.println("Sensor: " + id.get());</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Media: 24.0</a:t>
            </a:r>
          </a:p>
          <a:p xmlns:a="http://schemas.openxmlformats.org/drawingml/2006/main">
            <a:r>
              <a:t>Sensor: 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Media: 24.0</a:t>
            </a:r>
          </a:p>
          <a:p xmlns:a="http://schemas.openxmlformats.org/drawingml/2006/main">
            <a:r>
              <a:t>Sensor: S01</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evidencias/PC3.5.md y enlace al commit final.</a:t>
            </a:r>
          </a:p>
          <a:p xmlns:a="http://schemas.openxmlformats.org/drawingml/2006/main">
            <a:r>
              <a:t>Migra el procesamiento por lotes a ExecutorService y Callable&lt;ResultadoImportacion&gt;. Mantén la clasificación de errores de 3.4.</a:t>
            </a:r>
          </a:p>
          <a:p xmlns:a="http://schemas.openxmlformats.org/drawingml/2006/main">
            <a:r>
              <a:t>Establece un máximo de tareas pendientes, un plazo por operación y cierre del ejecutor. Explica que cancelar CompletableFuture no necesariamente interrumpe su cálculo subyacente.</a:t>
            </a:r>
          </a:p>
          <a:p xmlns:a="http://schemas.openxmlformats.org/drawingml/2006/main">
            <a:r>
              <a:t>Compara un pool fijo y virtual threads para esperas simuladas. Registra entorno y volumen sin afirmar que virtual threads mejoran tareas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b1121bda348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5bacf7497e4fd7" /><Relationship Type="http://schemas.openxmlformats.org/officeDocument/2006/relationships/slideLayout" Target="/ppt/slideLayouts/slideLayout1.xml" Id="Rba6385786a134e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6385786a134e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277e8f98b64586" /><Relationship Type="http://schemas.openxmlformats.org/officeDocument/2006/relationships/image" Target="/ppt/media/image.png" Id="R124238be39824622" /><Relationship Type="http://schemas.openxmlformats.org/officeDocument/2006/relationships/notesSlide" Target="/ppt/notesSlides/notesSlide1.xml" Id="R527d36827e0e4a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26fe52e2614a93" /><Relationship Type="http://schemas.openxmlformats.org/officeDocument/2006/relationships/notesSlide" Target="/ppt/notesSlides/notesSlide2.xml" Id="Rd9b5afc97368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152639ab2b4a72" /><Relationship Type="http://schemas.openxmlformats.org/officeDocument/2006/relationships/notesSlide" Target="/ppt/notesSlides/notesSlide3.xml" Id="R39357360b5ee4e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f81e47c5b14705" /><Relationship Type="http://schemas.openxmlformats.org/officeDocument/2006/relationships/notesSlide" Target="/ppt/notesSlides/notesSlide4.xml" Id="Re8803f1287b44e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46d64b7d994afe" /><Relationship Type="http://schemas.openxmlformats.org/officeDocument/2006/relationships/notesSlide" Target="/ppt/notesSlides/notesSlide5.xml" Id="R86ed5241d7334a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793af9c3a54765" /><Relationship Type="http://schemas.openxmlformats.org/officeDocument/2006/relationships/notesSlide" Target="/ppt/notesSlides/notesSlide6.xml" Id="R3739c66a78df46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bf3f556a534155" /><Relationship Type="http://schemas.openxmlformats.org/officeDocument/2006/relationships/notesSlide" Target="/ppt/notesSlides/notesSlide7.xml" Id="Rfea92bbee7f547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f529285bab4c1c" /><Relationship Type="http://schemas.openxmlformats.org/officeDocument/2006/relationships/notesSlide" Target="/ppt/notesSlides/notesSlide8.xml" Id="R842f39ccd7b346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75a6456bba4119" /><Relationship Type="http://schemas.openxmlformats.org/officeDocument/2006/relationships/notesSlide" Target="/ppt/notesSlides/notesSlide9.xml" Id="R0a71cf6d9e5248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837598003f462b" /><Relationship Type="http://schemas.openxmlformats.org/officeDocument/2006/relationships/notesSlide" Target="/ppt/notesSlides/notesSlide10.xml" Id="Rf28096eb3ac640a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24238be39824622"/>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480CFC-148E-4A35-B839-98D1181D3111}"/>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F52233A7-C53F-4EBB-8743-F0C40901DF46}"/>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Ejecutores, futuros e hilos virtuales</a:t>
            </a:r>
          </a:p>
        </p:txBody>
      </p:sp>
      <p:sp>
        <p:nvSpPr>
          <p:cNvPr id="4" name="">
            <a:extLst xmlns:a="http://schemas.openxmlformats.org/drawingml/2006/main">
              <a:ext uri="{FF2B5EF4-FFF2-40B4-BE49-F238E27FC236}">
                <a16:creationId xmlns:a16="http://schemas.microsoft.com/office/drawing/2014/main" id="{7F611EAB-B904-46C3-9DF5-A23838EC0C4E}"/>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E0119F-5E98-4580-A85B-163DB957CF85}"/>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3.5</a:t>
            </a:r>
          </a:p>
        </p:txBody>
      </p:sp>
      <p:sp>
        <p:nvSpPr>
          <p:cNvPr id="6" name="">
            <a:extLst xmlns:a="http://schemas.openxmlformats.org/drawingml/2006/main">
              <a:ext uri="{FF2B5EF4-FFF2-40B4-BE49-F238E27FC236}">
                <a16:creationId xmlns:a16="http://schemas.microsoft.com/office/drawing/2014/main" id="{E8981860-ADCB-4DEB-89D8-E0417561CB2D}"/>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4266862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AB6231-12EE-4333-8A18-416B6BDE562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7DD102-BA0F-4544-B6B1-A611BDD0969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33A13DFE-C51F-4A7C-9319-BBA4973F822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ACEA1E-73B1-42CF-866D-F6B923FBC59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40DC7FA6-FD51-432F-B710-0C48E0AAF84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4E51BC39-9502-45F0-A11D-A05DA4B4B422}"/>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Crear un Thread para cada trabajo dispersa el control del ciclo de vida. CampusMonitor necesita enviar tareas, recuperar resultados, manejar fallos y cerrar los recursos de ejecución de forma coordinada.</a:t>
            </a:r>
          </a:p>
        </p:txBody>
      </p:sp>
    </p:spTree>
    <p:extLst>
      <p:ext uri="{BB962C8B-B14F-4D97-AF65-F5344CB8AC3E}">
        <p14:creationId xmlns:p14="http://schemas.microsoft.com/office/powerpoint/2010/main" val="19363658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7464E6-206B-4D16-9D16-29E30C2B730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2F1A24-6467-4100-BAF4-00247FFA81F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ExecutorService, Runnable y Callable</a:t>
            </a:r>
          </a:p>
        </p:txBody>
      </p:sp>
      <p:sp>
        <p:nvSpPr>
          <p:cNvPr id="3" name="">
            <a:extLst xmlns:a="http://schemas.openxmlformats.org/drawingml/2006/main">
              <a:ext uri="{FF2B5EF4-FFF2-40B4-BE49-F238E27FC236}">
                <a16:creationId xmlns:a16="http://schemas.microsoft.com/office/drawing/2014/main" id="{64188B06-1CBF-40E3-849C-C65E103019A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407538-0717-45C2-8497-2FE7190F0D5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CA82FDAE-8179-4F72-82AC-544251CB43A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1ED5B9A6-0CC3-40C5-B163-90AD40A9775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ExecutorService separa la tarea de su ejecución.</a:t>
            </a:r>
          </a:p>
        </p:txBody>
      </p:sp>
      <p:sp>
        <p:nvSpPr>
          <p:cNvPr id="7" name="">
            <a:extLst xmlns:a="http://schemas.openxmlformats.org/drawingml/2006/main">
              <a:ext uri="{FF2B5EF4-FFF2-40B4-BE49-F238E27FC236}">
                <a16:creationId xmlns:a16="http://schemas.microsoft.com/office/drawing/2014/main" id="{B8157041-B7D0-42FC-96D2-30373A79BF5A}"/>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ExecutorService separa envío y ejecución. Runnable representa trabajo sin resultado, mientras Callable&lt;T&gt; devuelve T y puede lanzar excepciones comprobadas. submit devuelve un Future&lt;T&gt; que permite esperar el resultado, cancelar o consultar finalización.</a:t>
            </a:r>
          </a:p>
        </p:txBody>
      </p:sp>
      <p:sp>
        <p:nvSpPr>
          <p:cNvPr id="8" name="">
            <a:extLst xmlns:a="http://schemas.openxmlformats.org/drawingml/2006/main">
              <a:ext uri="{FF2B5EF4-FFF2-40B4-BE49-F238E27FC236}">
                <a16:creationId xmlns:a16="http://schemas.microsoft.com/office/drawing/2014/main" id="{2DB2ED2D-1420-4B90-B59C-EDC5315F9E1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C0F6CC6-894E-4A29-8F2E-3809236309E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 pool fijo limita hilos, pero su cola de tareas puede crecer si el productor envía más rápido de lo que se procesa. Limitar hilos no equivale a limitar trabajo pendiente.</a:t>
            </a:r>
          </a:p>
        </p:txBody>
      </p:sp>
    </p:spTree>
    <p:extLst>
      <p:ext uri="{BB962C8B-B14F-4D97-AF65-F5344CB8AC3E}">
        <p14:creationId xmlns:p14="http://schemas.microsoft.com/office/powerpoint/2010/main" val="18809151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DD860F-A35F-4DE5-B025-B8A5C5C45C5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1A580E-2049-4503-8E48-DF91BF77ABC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Future, timeout y cancelación</a:t>
            </a:r>
          </a:p>
        </p:txBody>
      </p:sp>
      <p:sp>
        <p:nvSpPr>
          <p:cNvPr id="3" name="">
            <a:extLst xmlns:a="http://schemas.openxmlformats.org/drawingml/2006/main">
              <a:ext uri="{FF2B5EF4-FFF2-40B4-BE49-F238E27FC236}">
                <a16:creationId xmlns:a16="http://schemas.microsoft.com/office/drawing/2014/main" id="{DD601FDA-B4CD-4489-9B09-26CD26102A3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F04F96-1AA1-4D0B-B226-ADEF51804E9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1092C2DA-1152-4534-A8AE-C52A588E213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01EFF62B-6889-492A-83AC-CA28BE8DF509}"/>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Future representa un resultado; el timeout no lo cancela.</a:t>
            </a:r>
          </a:p>
        </p:txBody>
      </p:sp>
      <p:sp>
        <p:nvSpPr>
          <p:cNvPr id="7" name="">
            <a:extLst xmlns:a="http://schemas.openxmlformats.org/drawingml/2006/main">
              <a:ext uri="{FF2B5EF4-FFF2-40B4-BE49-F238E27FC236}">
                <a16:creationId xmlns:a16="http://schemas.microsoft.com/office/drawing/2014/main" id="{64207CAC-0F7E-45E1-88AC-242665729E7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Future.get espera y puede lanzar ExecutionException si falló la tarea. La causa contiene el error original. get con timeout limita la espera del consumidor, no cancela automáticamente el trabajo. Si decides abandonar la tarea, llama cancel(true) y verifica que su implementación responda a interrupción.</a:t>
            </a:r>
          </a:p>
        </p:txBody>
      </p:sp>
      <p:sp>
        <p:nvSpPr>
          <p:cNvPr id="8" name="">
            <a:extLst xmlns:a="http://schemas.openxmlformats.org/drawingml/2006/main">
              <a:ext uri="{FF2B5EF4-FFF2-40B4-BE49-F238E27FC236}">
                <a16:creationId xmlns:a16="http://schemas.microsoft.com/office/drawing/2014/main" id="{784906CC-1D1B-4DF0-B73C-9B1687AF4099}"/>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66D399C-D145-4013-A2A2-7C4E78314CE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Shutdown deja de aceptar nuevas tareas y permite terminar las enviadas. ShutdownNow intenta interrumpir las activas y devuelve las pendientes que no comenzaron. No garantiza terminación inmediata.</a:t>
            </a:r>
          </a:p>
        </p:txBody>
      </p:sp>
    </p:spTree>
    <p:extLst>
      <p:ext uri="{BB962C8B-B14F-4D97-AF65-F5344CB8AC3E}">
        <p14:creationId xmlns:p14="http://schemas.microsoft.com/office/powerpoint/2010/main" val="16027414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4B6F20-ACA6-4576-B8C0-EE48501635B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F4F177-BC9E-4DCD-9AF7-3D3718945AC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Hilos virtuales y límites externos</a:t>
            </a:r>
          </a:p>
        </p:txBody>
      </p:sp>
      <p:sp>
        <p:nvSpPr>
          <p:cNvPr id="3" name="">
            <a:extLst xmlns:a="http://schemas.openxmlformats.org/drawingml/2006/main">
              <a:ext uri="{FF2B5EF4-FFF2-40B4-BE49-F238E27FC236}">
                <a16:creationId xmlns:a16="http://schemas.microsoft.com/office/drawing/2014/main" id="{CB41AF4A-E9FC-49A3-9170-92DF5F39C7F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8B3D3F-052A-4DE8-AF2C-46F3091D9BD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3A5E38C5-086E-4660-A5A2-AFE6AD26022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567D0F79-6AD1-4823-8DC3-1C9ED5E6899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hilos virtuales favorecen cargas de espera.</a:t>
            </a:r>
          </a:p>
        </p:txBody>
      </p:sp>
      <p:sp>
        <p:nvSpPr>
          <p:cNvPr id="7" name="">
            <a:extLst xmlns:a="http://schemas.openxmlformats.org/drawingml/2006/main">
              <a:ext uri="{FF2B5EF4-FFF2-40B4-BE49-F238E27FC236}">
                <a16:creationId xmlns:a16="http://schemas.microsoft.com/office/drawing/2014/main" id="{8185D1ED-2C26-427B-B82D-9FB2090D5D1D}"/>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Los hilos virtuales son una funcionalidad estable desde Java 21. Reducen el costo de muchas tareas que pasan tiempo esperando E/S. No hacen más rápida una operación intensiva en CPU ni amplían la capacidad de la base de datos o del dispositivo serial.</a:t>
            </a:r>
          </a:p>
        </p:txBody>
      </p:sp>
      <p:sp>
        <p:nvSpPr>
          <p:cNvPr id="8" name="">
            <a:extLst xmlns:a="http://schemas.openxmlformats.org/drawingml/2006/main">
              <a:ext uri="{FF2B5EF4-FFF2-40B4-BE49-F238E27FC236}">
                <a16:creationId xmlns:a16="http://schemas.microsoft.com/office/drawing/2014/main" id="{449209EE-3C35-4F6F-B3EB-F0721BAF46B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A5A8D3-3EB2-4F0F-84EC-28C528905BD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Usa un semáforo o un pool de conexiones para limitar recursos externos. En Java 25 existen mejoras respecto de versiones anteriores en la interacción entre monitores y virtual threads, pero sigue siendo…</a:t>
            </a:r>
          </a:p>
        </p:txBody>
      </p:sp>
    </p:spTree>
    <p:extLst>
      <p:ext uri="{BB962C8B-B14F-4D97-AF65-F5344CB8AC3E}">
        <p14:creationId xmlns:p14="http://schemas.microsoft.com/office/powerpoint/2010/main" val="14490398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CB29A1-4927-4EBB-A7FE-68FCC5AB4AE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00A9EE-0570-4DCA-9884-28B669D209B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CompletableFuture y composición</a:t>
            </a:r>
          </a:p>
        </p:txBody>
      </p:sp>
      <p:sp>
        <p:nvSpPr>
          <p:cNvPr id="3" name="">
            <a:extLst xmlns:a="http://schemas.openxmlformats.org/drawingml/2006/main">
              <a:ext uri="{FF2B5EF4-FFF2-40B4-BE49-F238E27FC236}">
                <a16:creationId xmlns:a16="http://schemas.microsoft.com/office/drawing/2014/main" id="{BF745AF2-7D5A-4BD0-8196-7B4BA4B579D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F0C6C7-6DBD-4ACD-B435-46E9BDB4877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57346127-E631-4070-BB76-098486A47AB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F0FA178-E334-454B-BF06-FA776CC5FD7D}"/>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CompletableFuture permite componer resultados dependientes.</a:t>
            </a:r>
          </a:p>
        </p:txBody>
      </p:sp>
      <p:sp>
        <p:nvSpPr>
          <p:cNvPr id="7" name="">
            <a:extLst xmlns:a="http://schemas.openxmlformats.org/drawingml/2006/main">
              <a:ext uri="{FF2B5EF4-FFF2-40B4-BE49-F238E27FC236}">
                <a16:creationId xmlns:a16="http://schemas.microsoft.com/office/drawing/2014/main" id="{EC0985CA-18BD-42FD-B16C-D3DD7DB4C1E3}"/>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CompletableFuture permite combinar resultados sin escribir esperas intermedias explícitas. thenApply transforma un resultado y thenCombine une dos resultados independientes. Los métodos async sin ejecutor explícito suelen usar el common pool, que puede compartirse con otras operaciones de la aplicación.</a:t>
            </a:r>
          </a:p>
        </p:txBody>
      </p:sp>
      <p:sp>
        <p:nvSpPr>
          <p:cNvPr id="8" name="">
            <a:extLst xmlns:a="http://schemas.openxmlformats.org/drawingml/2006/main">
              <a:ext uri="{FF2B5EF4-FFF2-40B4-BE49-F238E27FC236}">
                <a16:creationId xmlns:a16="http://schemas.microsoft.com/office/drawing/2014/main" id="{0169321D-29F5-4ACF-9581-2039E04EA8C9}"/>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576631-F22C-498E-BD41-A2C943C726A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proporciona su propio ejecutor y combina dos lecturas simuladas. La composición no vuelve thread-safe a los objetos capturados por las lambdas.</a:t>
            </a:r>
          </a:p>
        </p:txBody>
      </p:sp>
    </p:spTree>
    <p:extLst>
      <p:ext uri="{BB962C8B-B14F-4D97-AF65-F5344CB8AC3E}">
        <p14:creationId xmlns:p14="http://schemas.microsoft.com/office/powerpoint/2010/main" val="1235151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9020BC-6B43-49C2-A7F2-5AD67E3DD7A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3A0FB1-6333-450F-94E2-FD8DCA84C17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4F72705D-4F8F-4879-BA66-2F5C1FA14F5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16D813-B15E-41E9-B6D9-1B242ADCAFB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782B01BB-733C-48B1-BAF6-74B02ACE142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8D40216E-1713-4D23-95B9-038BCD097FB4}"/>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1E67C0-F564-4C0F-BD05-4BC3A6379AC9}"/>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(ExecutorService executor = Executors.newVirtualThreadPerTaskExecutor())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CompletableFuture&lt;Double&gt; a = CompletableFuture.supplyAsync(() -&gt; leer(22),executor);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CompletableFuture&lt;Double&gt; b = CompletableFuture.supplyAsync(() -&gt; leer(26),executor);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CompletableFuture&lt;Double&gt; media = a.thenCombine(b,(x,y)-&gt;(x+y)/2);</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System.out.println("Media: " + media.get(2,TimeUnit.SECONDS));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(TimeoutException 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a.cancel(true); b.cancel(true);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executor.shutdownNow();</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throw 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Future&lt;String&gt; id = executor.submit(() -&gt; "S01");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System.out.println("Sensor: " + id.get());</a:t>
            </a:r>
          </a:p>
        </p:txBody>
      </p:sp>
      <p:sp>
        <p:nvSpPr>
          <p:cNvPr id="8" name="">
            <a:extLst xmlns:a="http://schemas.openxmlformats.org/drawingml/2006/main">
              <a:ext uri="{FF2B5EF4-FFF2-40B4-BE49-F238E27FC236}">
                <a16:creationId xmlns:a16="http://schemas.microsoft.com/office/drawing/2014/main" id="{B5E4AAB1-820F-4946-BF05-47478424AC07}"/>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EjecutoresDemo.java. Código completo y ejecución en material.md.</a:t>
            </a:r>
          </a:p>
        </p:txBody>
      </p:sp>
    </p:spTree>
    <p:extLst>
      <p:ext uri="{BB962C8B-B14F-4D97-AF65-F5344CB8AC3E}">
        <p14:creationId xmlns:p14="http://schemas.microsoft.com/office/powerpoint/2010/main" val="19577726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8FB548-A049-41FC-A220-E260375110D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E64B56-C711-40F0-8A54-B0E8DE21960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6E450FF3-91CD-4CA4-8D6C-8DA79BD3DC6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8742B6-4A18-4AD9-8317-B85614E4541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A431A5EA-3204-4970-A683-B8D6B906BB5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Lote completo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Resultados y ejecutor cerrado</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Tarea con excepción</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Causa original visible</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Plazo agotado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Política de cancelación y cierre aplicada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BA5C45DA-33E5-4210-8E6B-B34276952A75}"/>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Media: 24.0 · Sensor: S01</a:t>
            </a:r>
          </a:p>
        </p:txBody>
      </p:sp>
    </p:spTree>
    <p:extLst>
      <p:ext uri="{BB962C8B-B14F-4D97-AF65-F5344CB8AC3E}">
        <p14:creationId xmlns:p14="http://schemas.microsoft.com/office/powerpoint/2010/main" val="2561907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1C2E63-1773-45F4-A557-281C563F64D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4A5C48-3B59-4D8C-9A66-0EA9F4D466D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PC3.5 · Ampliación del proyecto</a:t>
            </a:r>
          </a:p>
        </p:txBody>
      </p:sp>
      <p:sp>
        <p:nvSpPr>
          <p:cNvPr id="3" name="">
            <a:extLst xmlns:a="http://schemas.openxmlformats.org/drawingml/2006/main">
              <a:ext uri="{FF2B5EF4-FFF2-40B4-BE49-F238E27FC236}">
                <a16:creationId xmlns:a16="http://schemas.microsoft.com/office/drawing/2014/main" id="{4922F3C4-582D-4996-BA80-95D086FF0B7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FA0F6B-67AE-4198-94D3-944AE43C4F7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76FDB624-EB65-4A36-BB8D-6E0138B3142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26B6E98E-82A3-4B0F-8496-91461BADD78F}"/>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A5B8E89D-F267-40B4-B52E-2A862FC4C464}"/>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Migra el procesamiento por lotes a ExecutorService y Callable&lt;ResultadoImportacion&gt;. Mantén la clasificación de errores de 3.4.</a:t>
            </a:r>
          </a:p>
        </p:txBody>
      </p:sp>
      <p:sp>
        <p:nvSpPr>
          <p:cNvPr id="8" name="">
            <a:extLst xmlns:a="http://schemas.openxmlformats.org/drawingml/2006/main">
              <a:ext uri="{FF2B5EF4-FFF2-40B4-BE49-F238E27FC236}">
                <a16:creationId xmlns:a16="http://schemas.microsoft.com/office/drawing/2014/main" id="{5510000F-90B6-4826-9144-F9133283F048}"/>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87A08D53-F4A2-47A7-ADB4-F0953130217D}"/>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Establece un máximo de tareas pendientes, un plazo por operación y cierre del ejecutor. Explica que cancelar CompletableFuture no necesariamente interrumpe su cálculo subyacente.</a:t>
            </a:r>
          </a:p>
        </p:txBody>
      </p:sp>
      <p:sp>
        <p:nvSpPr>
          <p:cNvPr id="10" name="">
            <a:extLst xmlns:a="http://schemas.openxmlformats.org/drawingml/2006/main">
              <a:ext uri="{FF2B5EF4-FFF2-40B4-BE49-F238E27FC236}">
                <a16:creationId xmlns:a16="http://schemas.microsoft.com/office/drawing/2014/main" id="{0C65D645-35B9-49E1-B163-055DD7B0E6E7}"/>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FA5655D2-6140-486E-B85D-7E3E71E385E3}"/>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Compara un pool fijo y virtual threads para esperas simuladas. Registra entorno y volumen sin afirmar que virtual threads mejoran tareas CPU.</a:t>
            </a:r>
          </a:p>
        </p:txBody>
      </p:sp>
    </p:spTree>
    <p:extLst>
      <p:ext uri="{BB962C8B-B14F-4D97-AF65-F5344CB8AC3E}">
        <p14:creationId xmlns:p14="http://schemas.microsoft.com/office/powerpoint/2010/main" val="5222281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A614D7-46B4-4187-BE98-607B1276DC6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BE39B1-AC61-449B-979E-693BED5382C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42A0ED9F-86E6-46E9-BB28-A4561DECF1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BEE1B7-C4E5-4D6F-9F44-D79398CEFD8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3.5</a:t>
            </a:r>
          </a:p>
        </p:txBody>
      </p:sp>
      <p:sp>
        <p:nvSpPr>
          <p:cNvPr id="5" name="">
            <a:extLst xmlns:a="http://schemas.openxmlformats.org/drawingml/2006/main">
              <a:ext uri="{FF2B5EF4-FFF2-40B4-BE49-F238E27FC236}">
                <a16:creationId xmlns:a16="http://schemas.microsoft.com/office/drawing/2014/main" id="{AAB8B77E-2012-4635-A029-95B721F7193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7B99E5D1-0C14-450C-9D0D-4154BF1C5A4E}"/>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ExecutorService separa la tarea de su ejecución.</a:t>
            </a:r>
          </a:p>
        </p:txBody>
      </p:sp>
      <p:sp>
        <p:nvSpPr>
          <p:cNvPr id="7" name="">
            <a:extLst xmlns:a="http://schemas.openxmlformats.org/drawingml/2006/main">
              <a:ext uri="{FF2B5EF4-FFF2-40B4-BE49-F238E27FC236}">
                <a16:creationId xmlns:a16="http://schemas.microsoft.com/office/drawing/2014/main" id="{D89BBF1F-86A9-4ACC-BDE9-1FA42F8FD617}"/>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Future representa un resultado; el timeout no lo cancela.</a:t>
            </a:r>
          </a:p>
        </p:txBody>
      </p:sp>
      <p:sp>
        <p:nvSpPr>
          <p:cNvPr id="8" name="">
            <a:extLst xmlns:a="http://schemas.openxmlformats.org/drawingml/2006/main">
              <a:ext uri="{FF2B5EF4-FFF2-40B4-BE49-F238E27FC236}">
                <a16:creationId xmlns:a16="http://schemas.microsoft.com/office/drawing/2014/main" id="{ACE3330C-C9D6-4AE1-BF1E-7376D5A1A8C3}"/>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Los hilos virtuales favorecen cargas de espera.</a:t>
            </a:r>
          </a:p>
        </p:txBody>
      </p:sp>
      <p:sp>
        <p:nvSpPr>
          <p:cNvPr id="9" name="">
            <a:extLst xmlns:a="http://schemas.openxmlformats.org/drawingml/2006/main">
              <a:ext uri="{FF2B5EF4-FFF2-40B4-BE49-F238E27FC236}">
                <a16:creationId xmlns:a16="http://schemas.microsoft.com/office/drawing/2014/main" id="{F19CB389-CC28-4E37-8FB7-DD4B0CDA1915}"/>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CompletableFuture permite componer resultados dependientes.</a:t>
            </a:r>
          </a:p>
        </p:txBody>
      </p:sp>
    </p:spTree>
    <p:extLst>
      <p:ext uri="{BB962C8B-B14F-4D97-AF65-F5344CB8AC3E}">
        <p14:creationId xmlns:p14="http://schemas.microsoft.com/office/powerpoint/2010/main" val="13483475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2026-09-10T23:06:53.4110000Z</dcterms:created>
  <dcterms:modified xsi:type="dcterms:W3CDTF">2026-09-10T23:06:53.4110000Z</dcterms:modified>
</coreProperties>
</file>