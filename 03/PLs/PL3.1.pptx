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c02c3f0ca764c61" /><Relationship Type="http://schemas.openxmlformats.org/officeDocument/2006/relationships/extended-properties" Target="/docProps/app.xml" Id="Rcbf5ac1cba0c4d63" /><Relationship Type="http://schemas.openxmlformats.org/officeDocument/2006/relationships/officeDocument" Target="/ppt/presentation.xml" Id="Rdf43c42002a54f78" /></Relationships>
</file>

<file path=ppt/presentation.xml><?xml version="1.0" encoding="utf-8"?>
<p:presentation xmlns:p="http://schemas.openxmlformats.org/presentationml/2006/main">
  <p:sldMasterIdLst>
    <p:sldMasterId xmlns:r="http://schemas.openxmlformats.org/officeDocument/2006/relationships" id="2147483648" r:id="Rac22391e6bcb477b"/>
  </p:sldMasterIdLst>
  <p:notesMasterIdLst>
    <p:notesMasterId xmlns:r="http://schemas.openxmlformats.org/officeDocument/2006/relationships" r:id="Rf1c75a280e9442be"/>
  </p:notesMasterIdLst>
  <p:sldIdLst>
    <p:sldId xmlns:r="http://schemas.openxmlformats.org/officeDocument/2006/relationships" id="256" r:id="R0f2834c3ad5d4589"/>
    <p:sldId xmlns:r="http://schemas.openxmlformats.org/officeDocument/2006/relationships" id="257" r:id="R526a19d4ec8e49f9"/>
    <p:sldId xmlns:r="http://schemas.openxmlformats.org/officeDocument/2006/relationships" id="258" r:id="R5b56fd77ddcf41e1"/>
    <p:sldId xmlns:r="http://schemas.openxmlformats.org/officeDocument/2006/relationships" id="259" r:id="R6c0fbf493246479a"/>
    <p:sldId xmlns:r="http://schemas.openxmlformats.org/officeDocument/2006/relationships" id="260" r:id="R378bb01f4f784b02"/>
    <p:sldId xmlns:r="http://schemas.openxmlformats.org/officeDocument/2006/relationships" id="261" r:id="R23b0a776ab8c4714"/>
    <p:sldId xmlns:r="http://schemas.openxmlformats.org/officeDocument/2006/relationships" id="262" r:id="R807e62e8329b482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fc6124ce69b4495" /><Relationship Type="http://schemas.openxmlformats.org/officeDocument/2006/relationships/slideMaster" Target="/ppt/slideMasters/slideMaster1.xml" Id="Rac22391e6bcb477b" /><Relationship Type="http://schemas.openxmlformats.org/officeDocument/2006/relationships/notesMaster" Target="/ppt/notesMasters/notesMaster1.xml" Id="Rf1c75a280e9442be" /><Relationship Type="http://schemas.openxmlformats.org/officeDocument/2006/relationships/presProps" Target="/ppt/presProps.xml" Id="R0e0d038bddec435d" /><Relationship Type="http://schemas.openxmlformats.org/officeDocument/2006/relationships/tableStyles" Target="/ppt/tableStyles.xml" Id="Rf5e1558924374e55" /><Relationship Type="http://schemas.openxmlformats.org/officeDocument/2006/relationships/slide" Target="/ppt/slides/slide1.xml" Id="R0f2834c3ad5d4589" /><Relationship Type="http://schemas.openxmlformats.org/officeDocument/2006/relationships/slide" Target="/ppt/slides/slide2.xml" Id="R526a19d4ec8e49f9" /><Relationship Type="http://schemas.openxmlformats.org/officeDocument/2006/relationships/slide" Target="/ppt/slides/slide3.xml" Id="R5b56fd77ddcf41e1" /><Relationship Type="http://schemas.openxmlformats.org/officeDocument/2006/relationships/slide" Target="/ppt/slides/slide4.xml" Id="R6c0fbf493246479a" /><Relationship Type="http://schemas.openxmlformats.org/officeDocument/2006/relationships/slide" Target="/ppt/slides/slide5.xml" Id="R378bb01f4f784b02" /><Relationship Type="http://schemas.openxmlformats.org/officeDocument/2006/relationships/slide" Target="/ppt/slides/slide6.xml" Id="R23b0a776ab8c4714" /><Relationship Type="http://schemas.openxmlformats.org/officeDocument/2006/relationships/slide" Target="/ppt/slides/slide7.xml" Id="R807e62e8329b482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c9df0905d77422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ef728ec47a94bc7" /><Relationship Type="http://schemas.openxmlformats.org/officeDocument/2006/relationships/notesMaster" Target="/ppt/notesMasters/notesMaster1.xml" Id="R3033aba3e5f049c7" /></Relationships>
</file>

<file path=ppt/notesSlides/_rels/notesSlide2.xml.rels>&#65279;<?xml version="1.0" encoding="utf-8"?><Relationships xmlns="http://schemas.openxmlformats.org/package/2006/relationships"><Relationship Type="http://schemas.openxmlformats.org/officeDocument/2006/relationships/slide" Target="/ppt/slides/slide2.xml" Id="R103d3abeee90402a" /><Relationship Type="http://schemas.openxmlformats.org/officeDocument/2006/relationships/notesMaster" Target="/ppt/notesMasters/notesMaster1.xml" Id="Rc39ed2fbc9c046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0dd32eae7a7f4ae1" /><Relationship Type="http://schemas.openxmlformats.org/officeDocument/2006/relationships/notesMaster" Target="/ppt/notesMasters/notesMaster1.xml" Id="Re3159b8cf3064ab1" /></Relationships>
</file>

<file path=ppt/notesSlides/_rels/notesSlide4.xml.rels>&#65279;<?xml version="1.0" encoding="utf-8"?><Relationships xmlns="http://schemas.openxmlformats.org/package/2006/relationships"><Relationship Type="http://schemas.openxmlformats.org/officeDocument/2006/relationships/slide" Target="/ppt/slides/slide4.xml" Id="R0284ceb958fa4b8c" /><Relationship Type="http://schemas.openxmlformats.org/officeDocument/2006/relationships/notesMaster" Target="/ppt/notesMasters/notesMaster1.xml" Id="R0369889947014c26" /></Relationships>
</file>

<file path=ppt/notesSlides/_rels/notesSlide5.xml.rels>&#65279;<?xml version="1.0" encoding="utf-8"?><Relationships xmlns="http://schemas.openxmlformats.org/package/2006/relationships"><Relationship Type="http://schemas.openxmlformats.org/officeDocument/2006/relationships/slide" Target="/ppt/slides/slide5.xml" Id="R681fa9dbac2d4f5f" /><Relationship Type="http://schemas.openxmlformats.org/officeDocument/2006/relationships/notesMaster" Target="/ppt/notesMasters/notesMaster1.xml" Id="Rc72cdd84cfef411e" /></Relationships>
</file>

<file path=ppt/notesSlides/_rels/notesSlide6.xml.rels>&#65279;<?xml version="1.0" encoding="utf-8"?><Relationships xmlns="http://schemas.openxmlformats.org/package/2006/relationships"><Relationship Type="http://schemas.openxmlformats.org/officeDocument/2006/relationships/slide" Target="/ppt/slides/slide6.xml" Id="R3eb5cf3eef0742de" /><Relationship Type="http://schemas.openxmlformats.org/officeDocument/2006/relationships/notesMaster" Target="/ppt/notesMasters/notesMaster1.xml" Id="Rff2c1ed4a57948f6" /></Relationships>
</file>

<file path=ppt/notesSlides/_rels/notesSlide7.xml.rels>&#65279;<?xml version="1.0" encoding="utf-8"?><Relationships xmlns="http://schemas.openxmlformats.org/package/2006/relationships"><Relationship Type="http://schemas.openxmlformats.org/officeDocument/2006/relationships/slide" Target="/ppt/slides/slide7.xml" Id="R51336f0698ed433d" /><Relationship Type="http://schemas.openxmlformats.org/officeDocument/2006/relationships/notesMaster" Target="/ppt/notesMasters/notesMaster1.xml" Id="R6bae9317b20445d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PL3.1. Monitor concurrente con interfaz y cancelación. Autor: Ing. Pablo Torres, Mgtr.</a:t>
            </a:r>
          </a:p>
          <a:p xmlns:a="http://schemas.openxmlformats.org/drawingml/2006/main">
            <a:r>
              <a:t>Logo original proporcionado por el docente.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Dos fuentes simuladas generan lecturas mientras el usuario consulta el avance. La recepción no debe congelar la interfaz ni provocar crecimiento ilimitado de memoria. Al cancelar, la aplicación debe informar qué se completó y terminar sus tareas.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Usa CampusMonitor con dos productores simulados y dos consumidores. Genera un total determinista de 200 mensajes, con secuencia y sensor, incluyendo 20 inválidos identificables.</a:t>
            </a:r>
          </a:p>
          <a:p xmlns:a="http://schemas.openxmlformats.org/drawingml/2006/main">
            <a:r>
              <a:t>La cola tiene capacidad 20 y la política de saturación se documenta. Limita a dos una operación externa simulada mediante un semáforo.</a:t>
            </a:r>
          </a:p>
          <a:p xmlns:a="http://schemas.openxmlformats.org/drawingml/2006/main">
            <a:r>
              <a:t>Cada mensaje válido se procesa una sola vez. Mantén recibidos, aceptados, rechazados, cancelados y pendientes con invariantes que se puedan comprobar.</a:t>
            </a:r>
          </a:p>
          <a:p xmlns:a="http://schemas.openxmlformats.org/drawingml/2006/main">
            <a:r>
              <a:t>Controla tareas mediante ExecutorService. Implementa terminación normal y cancelación durante put, take y espera externa. No uses Thread.stop ni espera activa.</a:t>
            </a:r>
          </a:p>
          <a:p xmlns:a="http://schemas.openxmlformats.org/drawingml/2006/main">
            <a:r>
              <a:t>La vista Swing ofrece iniciar, cancelar y resumen. Todo acceso a componentes ocurre en el EDT y las operaciones lentas fuera de él. Evita iniciar dos capturas simultáneas.</a:t>
            </a:r>
          </a:p>
          <a:p xmlns:a="http://schemas.openxmlformats.org/drawingml/2006/main">
            <a:r>
              <a:t>Incluye un escenario de error de consumidor. El coordinador debe detener el resto sin dejar productores bloqueados ni hilos no terminados. Muestra el estado final del ciclo de vida.</a:t>
            </a:r>
          </a:p>
          <a:p xmlns:a="http://schemas.openxmlformats.org/drawingml/2006/main">
            <a:r>
              <a:t/>
            </a:r>
          </a:p>
          <a:p xmlns:a="http://schemas.openxmlformats.org/drawingml/2006/main">
            <a:r>
              <a:t>Guía completa: PL3.1.html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Usa CampusMonitor con dos productores simulados y dos consumidores. Genera un total determinista de 200 mensajes, con secuencia y sensor, incluyendo 20 inválidos identificables.</a:t>
            </a:r>
          </a:p>
          <a:p xmlns:a="http://schemas.openxmlformats.org/drawingml/2006/main">
            <a:r>
              <a:t>La cola tiene capacidad 20 y la política de saturación se documenta. Limita a dos una operación externa simulada mediante un semáforo.</a:t>
            </a:r>
          </a:p>
          <a:p xmlns:a="http://schemas.openxmlformats.org/drawingml/2006/main">
            <a:r>
              <a:t>Cada mensaje válido se procesa una sola vez. Mantén recibidos, aceptados, rechazados, cancelados y pendientes con invariantes que se puedan comprobar.</a:t>
            </a:r>
          </a:p>
          <a:p xmlns:a="http://schemas.openxmlformats.org/drawingml/2006/main">
            <a:r>
              <a:t>Controla tareas mediante ExecutorService. Implementa terminación normal y cancelación durante put, take y espera externa. No uses Thread.stop ni espera activa.</a:t>
            </a:r>
          </a:p>
          <a:p xmlns:a="http://schemas.openxmlformats.org/drawingml/2006/main">
            <a:r>
              <a:t>La vista Swing ofrece iniciar, cancelar y resumen. Todo acceso a componentes ocurre en el EDT y las operaciones lentas fuera de él. Evita iniciar dos capturas simultáneas.</a:t>
            </a:r>
          </a:p>
          <a:p xmlns:a="http://schemas.openxmlformats.org/drawingml/2006/main">
            <a:r>
              <a:t>Incluye un escenario de error de consumidor. El coordinador debe detener el resto sin dejar productores bloqueados ni hilos no terminados. Muestra el estado final del ciclo de vida.</a:t>
            </a:r>
          </a:p>
          <a:p xmlns:a="http://schemas.openxmlformats.org/drawingml/2006/main">
            <a:r>
              <a:t/>
            </a:r>
          </a:p>
          <a:p xmlns:a="http://schemas.openxmlformats.org/drawingml/2006/main">
            <a:r>
              <a:t>Guía completa: PL3.1.html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Usa CampusMonitor con dos productores simulados y dos consumidores. Genera un total determinista de 200 mensajes, con secuencia y sensor, incluyendo 20 inválidos identificables.</a:t>
            </a:r>
          </a:p>
          <a:p xmlns:a="http://schemas.openxmlformats.org/drawingml/2006/main">
            <a:r>
              <a:t>La cola tiene capacidad 20 y la política de saturación se documenta. Limita a dos una operación externa simulada mediante un semáforo.</a:t>
            </a:r>
          </a:p>
          <a:p xmlns:a="http://schemas.openxmlformats.org/drawingml/2006/main">
            <a:r>
              <a:t>Cada mensaje válido se procesa una sola vez. Mantén recibidos, aceptados, rechazados, cancelados y pendientes con invariantes que se puedan comprobar.</a:t>
            </a:r>
          </a:p>
          <a:p xmlns:a="http://schemas.openxmlformats.org/drawingml/2006/main">
            <a:r>
              <a:t>Controla tareas mediante ExecutorService. Implementa terminación normal y cancelación durante put, take y espera externa. No uses Thread.stop ni espera activa.</a:t>
            </a:r>
          </a:p>
          <a:p xmlns:a="http://schemas.openxmlformats.org/drawingml/2006/main">
            <a:r>
              <a:t>La vista Swing ofrece iniciar, cancelar y resumen. Todo acceso a componentes ocurre en el EDT y las operaciones lentas fuera de él. Evita iniciar dos capturas simultáneas.</a:t>
            </a:r>
          </a:p>
          <a:p xmlns:a="http://schemas.openxmlformats.org/drawingml/2006/main">
            <a:r>
              <a:t>Incluye un escenario de error de consumidor. El coordinador debe detener el resto sin dejar productores bloqueados ni hilos no terminados. Muestra el estado final del ciclo de vida.</a:t>
            </a:r>
          </a:p>
          <a:p xmlns:a="http://schemas.openxmlformats.org/drawingml/2006/main">
            <a:r>
              <a:t/>
            </a:r>
          </a:p>
          <a:p xmlns:a="http://schemas.openxmlformats.org/drawingml/2006/main">
            <a:r>
              <a:t>Guía completa: PL3.1.html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Proyecto ejecutable con modo consola y vista Swing.</a:t>
            </a:r>
          </a:p>
          <a:p xmlns:a="http://schemas.openxmlformats.org/drawingml/2006/main">
            <a:r>
              <a:t>evidencias/PL3.1.md con invariantes, escenarios de cancelación y commits.</a:t>
            </a:r>
          </a:p>
          <a:p xmlns:a="http://schemas.openxmlformats.org/drawingml/2006/main">
            <a:r>
              <a:t>Presentación del estudiante de 6 a 8 diapositivas con arquitectura, coordinación, fallo reproducido y corrección.</a:t>
            </a:r>
          </a:p>
          <a:p xmlns:a="http://schemas.openxmlformats.org/drawingml/2006/main">
            <a:r>
              <a:t>Defensa: Reduce la capacidad de la cola y cancela cuando esté llena. Explica qué desbloquea a cada participante y qué lecturas quedan pendientes.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Cola y coordinación · 2 · Capacidad acotada, reparto correcto y ausencia de pérdidas silenciosas. · Una política de saturación o cierre queda incompleta. · Acumula sin límite o pierde mensajes sin registrar.</a:t>
            </a:r>
          </a:p>
          <a:p xmlns:a="http://schemas.openxmlformats.org/drawingml/2006/main">
            <a:r>
              <a:t>Sincronización · 2 · Invariantes correctas y mecanismos justificados. · Una lectura o actualización queda sin protección. · Hay carreras que alteran resultados.</a:t>
            </a:r>
          </a:p>
          <a:p xmlns:a="http://schemas.openxmlformats.org/drawingml/2006/main">
            <a:r>
              <a:t>Cancelación y fallos · 2 · Termina tareas en escenarios normales, cancelados y fallidos. · Un escenario excede plazo o no libera un recurso. · Deja participantes bloqueados.</a:t>
            </a:r>
          </a:p>
          <a:p xmlns:a="http://schemas.openxmlformats.org/drawingml/2006/main">
            <a:r>
              <a:t>Interfaz · 2 · EDT respetado, progreso útil y controles consistentes. · Una transición de estado resulta confusa o incompleta. · La interfaz se congela o se modifica desde hilos incorrectos.</a:t>
            </a:r>
          </a:p>
          <a:p xmlns:a="http://schemas.openxmlformats.org/drawingml/2006/main">
            <a:r>
              <a:t>Pruebas, Git y defensa · 2 · Casos reproducibles, commits y explicación de una invariante en vivo. · Evidencias o explicación parcial. · No demuestra las garantías exigidas.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3afe21623074b8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48137ea0c9f431c" /><Relationship Type="http://schemas.openxmlformats.org/officeDocument/2006/relationships/slideLayout" Target="/ppt/slideLayouts/slideLayout1.xml" Id="R6297d4f23f0244a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297d4f23f0244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d738309324145b7" /><Relationship Type="http://schemas.openxmlformats.org/officeDocument/2006/relationships/image" Target="/ppt/media/image.png" Id="R131cbae41f4b48f9" /><Relationship Type="http://schemas.openxmlformats.org/officeDocument/2006/relationships/notesSlide" Target="/ppt/notesSlides/notesSlide1.xml" Id="Rb47f0943dd104cb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3aea4a540384087" /><Relationship Type="http://schemas.openxmlformats.org/officeDocument/2006/relationships/notesSlide" Target="/ppt/notesSlides/notesSlide2.xml" Id="R6c02cc57c7b54bc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b14851b3f92496a" /><Relationship Type="http://schemas.openxmlformats.org/officeDocument/2006/relationships/notesSlide" Target="/ppt/notesSlides/notesSlide3.xml" Id="R6179fdbe433b49e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1b2d19c41454fe7" /><Relationship Type="http://schemas.openxmlformats.org/officeDocument/2006/relationships/notesSlide" Target="/ppt/notesSlides/notesSlide4.xml" Id="Rc4d5d82692444e6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64a65e7bad14773" /><Relationship Type="http://schemas.openxmlformats.org/officeDocument/2006/relationships/notesSlide" Target="/ppt/notesSlides/notesSlide5.xml" Id="R07ac195595b24d7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41e1bdf23284ba1" /><Relationship Type="http://schemas.openxmlformats.org/officeDocument/2006/relationships/notesSlide" Target="/ppt/notesSlides/notesSlide6.xml" Id="Rcd5b5032054a4a2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0df3b39f2e04617" /><Relationship Type="http://schemas.openxmlformats.org/officeDocument/2006/relationships/notesSlide" Target="/ppt/notesSlides/notesSlide7.xml" Id="Rf4857df406b74fa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31cbae41f4b48f9"/>
          <a:stretch xmlns:a="http://schemas.openxmlformats.org/drawingml/2006/main"/>
        </p:blipFill>
        <p:spPr>
          <a:xfrm xmlns:a="http://schemas.openxmlformats.org/drawingml/2006/main">
            <a:off x="609600" y="545418"/>
            <a:ext cx="6858000" cy="112848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79DEDF8-DDE9-4A08-B587-0EB7DBBC3187}"/>
              </a:ext>
            </a:extLst>
          </p:cNvPr>
          <p:cNvSpPr>
            <a:spLocks xmlns:a="http://schemas.openxmlformats.org/drawingml/2006/main" noGrp="1"/>
          </p:cNvSpPr>
          <p:nvPr/>
        </p:nvSpPr>
        <p:spPr>
          <a:xfrm xmlns:a="http://schemas.openxmlformats.org/drawingml/2006/main">
            <a:off x="609600" y="223837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003772"/>
                </a:solidFill>
                <a:latin typeface="DejaVu Sans"/>
                <a:ea typeface="DejaVu Sans"/>
                <a:cs typeface="DejaVu Sans"/>
              </a:defRPr>
            </a:pPr>
            <a:r>
              <a:rPr sz="3150" b="1">
                <a:solidFill>
                  <a:srgbClr val="003772"/>
                </a:solidFill>
                <a:latin typeface="DejaVu Sans"/>
                <a:ea typeface="DejaVu Sans"/>
                <a:cs typeface="DejaVu Sans"/>
              </a:rPr>
              <a:t>Programación Aplicada</a:t>
            </a:r>
          </a:p>
        </p:txBody>
      </p:sp>
      <p:sp>
        <p:nvSpPr>
          <p:cNvPr id="3" name="">
            <a:extLst xmlns:a="http://schemas.openxmlformats.org/drawingml/2006/main">
              <a:ext uri="{FF2B5EF4-FFF2-40B4-BE49-F238E27FC236}">
                <a16:creationId xmlns:a16="http://schemas.microsoft.com/office/drawing/2014/main" id="{1342F4F7-C9E6-4946-81F4-93A4D8B86DCC}"/>
              </a:ext>
            </a:extLst>
          </p:cNvPr>
          <p:cNvSpPr>
            <a:spLocks xmlns:a="http://schemas.openxmlformats.org/drawingml/2006/main" noGrp="1"/>
          </p:cNvSpPr>
          <p:nvPr/>
        </p:nvSpPr>
        <p:spPr>
          <a:xfrm xmlns:a="http://schemas.openxmlformats.org/drawingml/2006/main">
            <a:off x="609600" y="31623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75" b="1">
                <a:solidFill>
                  <a:srgbClr val="003772"/>
                </a:solidFill>
                <a:latin typeface="DejaVu Sans"/>
                <a:ea typeface="DejaVu Sans"/>
                <a:cs typeface="DejaVu Sans"/>
              </a:defRPr>
            </a:pPr>
            <a:r>
              <a:rPr sz="2775" b="1">
                <a:solidFill>
                  <a:srgbClr val="003772"/>
                </a:solidFill>
                <a:latin typeface="DejaVu Sans"/>
                <a:ea typeface="DejaVu Sans"/>
                <a:cs typeface="DejaVu Sans"/>
              </a:rPr>
              <a:t>Monitor concurrente con interfaz y cancelación</a:t>
            </a:r>
          </a:p>
        </p:txBody>
      </p:sp>
      <p:sp>
        <p:nvSpPr>
          <p:cNvPr id="4" name="">
            <a:extLst xmlns:a="http://schemas.openxmlformats.org/drawingml/2006/main">
              <a:ext uri="{FF2B5EF4-FFF2-40B4-BE49-F238E27FC236}">
                <a16:creationId xmlns:a16="http://schemas.microsoft.com/office/drawing/2014/main" id="{5F29FA34-EC83-4FE7-96D2-9136C2CC9DD6}"/>
              </a:ext>
            </a:extLst>
          </p:cNvPr>
          <p:cNvSpPr>
            <a:spLocks xmlns:a="http://schemas.openxmlformats.org/drawingml/2006/main" noGrp="1"/>
          </p:cNvSpPr>
          <p:nvPr/>
        </p:nvSpPr>
        <p:spPr>
          <a:xfrm xmlns:a="http://schemas.openxmlformats.org/drawingml/2006/main">
            <a:off x="609600" y="4705350"/>
            <a:ext cx="1381125" cy="47625"/>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D89F010-3134-4CB0-8E69-9478F98A1381}"/>
              </a:ext>
            </a:extLst>
          </p:cNvPr>
          <p:cNvSpPr>
            <a:spLocks xmlns:a="http://schemas.openxmlformats.org/drawingml/2006/main" noGrp="1"/>
          </p:cNvSpPr>
          <p:nvPr/>
        </p:nvSpPr>
        <p:spPr>
          <a:xfrm xmlns:a="http://schemas.openxmlformats.org/drawingml/2006/main">
            <a:off x="609600" y="50673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07508E"/>
                </a:solidFill>
                <a:latin typeface="DejaVu Sans"/>
                <a:ea typeface="DejaVu Sans"/>
                <a:cs typeface="DejaVu Sans"/>
              </a:defRPr>
            </a:pPr>
            <a:r>
              <a:rPr sz="1575" b="0">
                <a:solidFill>
                  <a:srgbClr val="07508E"/>
                </a:solidFill>
                <a:latin typeface="DejaVu Sans"/>
                <a:ea typeface="DejaVu Sans"/>
                <a:cs typeface="DejaVu Sans"/>
              </a:rPr>
              <a:t>Unidad 3 · PL3.1</a:t>
            </a:r>
          </a:p>
        </p:txBody>
      </p:sp>
      <p:sp>
        <p:nvSpPr>
          <p:cNvPr id="6" name="">
            <a:extLst xmlns:a="http://schemas.openxmlformats.org/drawingml/2006/main">
              <a:ext uri="{FF2B5EF4-FFF2-40B4-BE49-F238E27FC236}">
                <a16:creationId xmlns:a16="http://schemas.microsoft.com/office/drawing/2014/main" id="{896D9A1A-9869-473B-AA9F-717593E84C8F}"/>
              </a:ext>
            </a:extLst>
          </p:cNvPr>
          <p:cNvSpPr>
            <a:spLocks xmlns:a="http://schemas.openxmlformats.org/drawingml/2006/main" noGrp="1"/>
          </p:cNvSpPr>
          <p:nvPr/>
        </p:nvSpPr>
        <p:spPr>
          <a:xfrm xmlns:a="http://schemas.openxmlformats.org/drawingml/2006/main">
            <a:off x="609600" y="5676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C5B5F"/>
                </a:solidFill>
                <a:latin typeface="DejaVu Sans"/>
                <a:ea typeface="DejaVu Sans"/>
                <a:cs typeface="DejaVu Sans"/>
              </a:defRPr>
            </a:pPr>
            <a:r>
              <a:rPr sz="1425" b="0">
                <a:solidFill>
                  <a:srgbClr val="5C5B5F"/>
                </a:solidFill>
                <a:latin typeface="DejaVu Sans"/>
                <a:ea typeface="DejaVu Sans"/>
                <a:cs typeface="DejaVu Sans"/>
              </a:rPr>
              <a:t>Ing. Pablo Torres, Mgtr.</a:t>
            </a:r>
          </a:p>
        </p:txBody>
      </p:sp>
    </p:spTree>
    <p:extLst>
      <p:ext uri="{BB962C8B-B14F-4D97-AF65-F5344CB8AC3E}">
        <p14:creationId xmlns:p14="http://schemas.microsoft.com/office/powerpoint/2010/main" val="213118933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14E16C6-C795-4C49-B98B-8B53553A8EAE}"/>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35A1576-56E0-4951-B385-277F3B01D2BA}"/>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El problema de la práctica</a:t>
            </a:r>
          </a:p>
        </p:txBody>
      </p:sp>
      <p:sp>
        <p:nvSpPr>
          <p:cNvPr id="3" name="">
            <a:extLst xmlns:a="http://schemas.openxmlformats.org/drawingml/2006/main">
              <a:ext uri="{FF2B5EF4-FFF2-40B4-BE49-F238E27FC236}">
                <a16:creationId xmlns:a16="http://schemas.microsoft.com/office/drawing/2014/main" id="{464E9FCF-F805-4C71-97CA-C705E9812EB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80D76E3-DEE7-4AA8-9720-3420215A70AF}"/>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PL3.1</a:t>
            </a:r>
          </a:p>
        </p:txBody>
      </p:sp>
      <p:sp>
        <p:nvSpPr>
          <p:cNvPr id="5" name="">
            <a:extLst xmlns:a="http://schemas.openxmlformats.org/drawingml/2006/main">
              <a:ext uri="{FF2B5EF4-FFF2-40B4-BE49-F238E27FC236}">
                <a16:creationId xmlns:a16="http://schemas.microsoft.com/office/drawing/2014/main" id="{8D0F15BD-7102-4865-8760-A6D09C902CF5}"/>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2</a:t>
            </a:r>
          </a:p>
        </p:txBody>
      </p:sp>
      <p:sp>
        <p:nvSpPr>
          <p:cNvPr id="6" name="">
            <a:extLst xmlns:a="http://schemas.openxmlformats.org/drawingml/2006/main">
              <a:ext uri="{FF2B5EF4-FFF2-40B4-BE49-F238E27FC236}">
                <a16:creationId xmlns:a16="http://schemas.microsoft.com/office/drawing/2014/main" id="{D572B7A6-BC45-4C23-8DBC-42442DFB1F8B}"/>
              </a:ext>
            </a:extLst>
          </p:cNvPr>
          <p:cNvSpPr>
            <a:spLocks xmlns:a="http://schemas.openxmlformats.org/drawingml/2006/main" noGrp="1"/>
          </p:cNvSpPr>
          <p:nvPr/>
        </p:nvSpPr>
        <p:spPr>
          <a:xfrm xmlns:a="http://schemas.openxmlformats.org/drawingml/2006/main">
            <a:off x="762000" y="1790700"/>
            <a:ext cx="104775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403F3B"/>
                </a:solidFill>
                <a:latin typeface="DejaVu Sans"/>
                <a:ea typeface="DejaVu Sans"/>
                <a:cs typeface="DejaVu Sans"/>
              </a:defRPr>
            </a:pPr>
            <a:r>
              <a:rPr sz="2250" b="0">
                <a:solidFill>
                  <a:srgbClr val="403F3B"/>
                </a:solidFill>
                <a:latin typeface="DejaVu Sans"/>
                <a:ea typeface="DejaVu Sans"/>
                <a:cs typeface="DejaVu Sans"/>
              </a:rPr>
              <a:t>Dos fuentes simuladas generan lecturas mientras el usuario consulta el avance. La recepción no debe congelar la interfaz ni provocar crecimiento ilimitado de memoria. Al cancelar, la aplicación debe informar qué se completó y terminar sus tareas.</a:t>
            </a:r>
          </a:p>
        </p:txBody>
      </p:sp>
      <p:sp>
        <p:nvSpPr>
          <p:cNvPr id="7" name="">
            <a:extLst xmlns:a="http://schemas.openxmlformats.org/drawingml/2006/main">
              <a:ext uri="{FF2B5EF4-FFF2-40B4-BE49-F238E27FC236}">
                <a16:creationId xmlns:a16="http://schemas.microsoft.com/office/drawing/2014/main" id="{1E7583ED-8096-40E8-811E-0D8E684131DF}"/>
              </a:ext>
            </a:extLst>
          </p:cNvPr>
          <p:cNvSpPr>
            <a:spLocks xmlns:a="http://schemas.openxmlformats.org/drawingml/2006/main" noGrp="1"/>
          </p:cNvSpPr>
          <p:nvPr/>
        </p:nvSpPr>
        <p:spPr>
          <a:xfrm xmlns:a="http://schemas.openxmlformats.org/drawingml/2006/main">
            <a:off x="762000" y="50006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7508E"/>
                </a:solidFill>
                <a:latin typeface="DejaVu Sans"/>
                <a:ea typeface="DejaVu Sans"/>
                <a:cs typeface="DejaVu Sans"/>
              </a:defRPr>
            </a:pPr>
            <a:r>
              <a:rPr sz="1800" b="1">
                <a:solidFill>
                  <a:srgbClr val="07508E"/>
                </a:solidFill>
                <a:latin typeface="DejaVu Sans"/>
                <a:ea typeface="DejaVu Sans"/>
                <a:cs typeface="DejaVu Sans"/>
              </a:rPr>
              <a:t>Proyecto personal: CampusMonitor</a:t>
            </a:r>
          </a:p>
        </p:txBody>
      </p:sp>
    </p:spTree>
    <p:extLst>
      <p:ext uri="{BB962C8B-B14F-4D97-AF65-F5344CB8AC3E}">
        <p14:creationId xmlns:p14="http://schemas.microsoft.com/office/powerpoint/2010/main" val="29795771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F69673B-C024-4E05-88EC-89FBB6B6C58D}"/>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AFA24AF-73D7-4FC8-B557-3970505A6C5A}"/>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Fase 1 · Invariantes y protocolo</a:t>
            </a:r>
          </a:p>
        </p:txBody>
      </p:sp>
      <p:sp>
        <p:nvSpPr>
          <p:cNvPr id="3" name="">
            <a:extLst xmlns:a="http://schemas.openxmlformats.org/drawingml/2006/main">
              <a:ext uri="{FF2B5EF4-FFF2-40B4-BE49-F238E27FC236}">
                <a16:creationId xmlns:a16="http://schemas.microsoft.com/office/drawing/2014/main" id="{DFD5CC9F-6A90-4D5D-8742-BEFB3DD3479D}"/>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2EEE68D-8B74-4598-ACA6-E9F80F418ADD}"/>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PL3.1</a:t>
            </a:r>
          </a:p>
        </p:txBody>
      </p:sp>
      <p:sp>
        <p:nvSpPr>
          <p:cNvPr id="5" name="">
            <a:extLst xmlns:a="http://schemas.openxmlformats.org/drawingml/2006/main">
              <a:ext uri="{FF2B5EF4-FFF2-40B4-BE49-F238E27FC236}">
                <a16:creationId xmlns:a16="http://schemas.microsoft.com/office/drawing/2014/main" id="{6C0293AC-C4F1-4375-B0E1-E92BD7E66C11}"/>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3</a:t>
            </a:r>
          </a:p>
        </p:txBody>
      </p:sp>
      <p:sp>
        <p:nvSpPr>
          <p:cNvPr id="6" name="">
            <a:extLst xmlns:a="http://schemas.openxmlformats.org/drawingml/2006/main">
              <a:ext uri="{FF2B5EF4-FFF2-40B4-BE49-F238E27FC236}">
                <a16:creationId xmlns:a16="http://schemas.microsoft.com/office/drawing/2014/main" id="{CC4F5132-4E63-40E3-B86A-6AE2D9986682}"/>
              </a:ext>
            </a:extLst>
          </p:cNvPr>
          <p:cNvSpPr>
            <a:spLocks xmlns:a="http://schemas.openxmlformats.org/drawingml/2006/main" noGrp="1"/>
          </p:cNvSpPr>
          <p:nvPr/>
        </p:nvSpPr>
        <p:spPr>
          <a:xfrm xmlns:a="http://schemas.openxmlformats.org/drawingml/2006/main">
            <a:off x="762000" y="1704975"/>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003772"/>
                </a:solidFill>
                <a:latin typeface="DejaVu Sans"/>
                <a:ea typeface="DejaVu Sans"/>
                <a:cs typeface="DejaVu Sans"/>
              </a:defRPr>
            </a:pPr>
            <a:r>
              <a:rPr sz="2325" b="1">
                <a:solidFill>
                  <a:srgbClr val="003772"/>
                </a:solidFill>
                <a:latin typeface="DejaVu Sans"/>
                <a:ea typeface="DejaVu Sans"/>
                <a:cs typeface="DejaVu Sans"/>
              </a:rPr>
              <a:t>Define categorías de mensajes, propiedad del estado y reglas de cierre.</a:t>
            </a:r>
          </a:p>
        </p:txBody>
      </p:sp>
      <p:sp>
        <p:nvSpPr>
          <p:cNvPr id="7" name="">
            <a:extLst xmlns:a="http://schemas.openxmlformats.org/drawingml/2006/main">
              <a:ext uri="{FF2B5EF4-FFF2-40B4-BE49-F238E27FC236}">
                <a16:creationId xmlns:a16="http://schemas.microsoft.com/office/drawing/2014/main" id="{B47F9627-FEFB-4264-BD1F-946806DAC418}"/>
              </a:ext>
            </a:extLst>
          </p:cNvPr>
          <p:cNvSpPr>
            <a:spLocks xmlns:a="http://schemas.openxmlformats.org/drawingml/2006/main" noGrp="1"/>
          </p:cNvSpPr>
          <p:nvPr/>
        </p:nvSpPr>
        <p:spPr>
          <a:xfrm xmlns:a="http://schemas.openxmlformats.org/drawingml/2006/main">
            <a:off x="762000" y="3371850"/>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403F3B"/>
                </a:solidFill>
                <a:latin typeface="DejaVu Sans"/>
                <a:ea typeface="DejaVu Sans"/>
                <a:cs typeface="DejaVu Sans"/>
              </a:defRPr>
            </a:pPr>
            <a:r>
              <a:rPr sz="1800" b="0">
                <a:solidFill>
                  <a:srgbClr val="403F3B"/>
                </a:solidFill>
                <a:latin typeface="DejaVu Sans"/>
                <a:ea typeface="DejaVu Sans"/>
                <a:cs typeface="DejaVu Sans"/>
              </a:rPr>
              <a:t>Usa CampusMonitor con dos productores simulados y dos consumidores. Genera un total determinista de 200 mensajes, con secuencia y sensor, incluyendo 20 inválidos identificables.</a:t>
            </a:r>
          </a:p>
        </p:txBody>
      </p:sp>
      <p:sp>
        <p:nvSpPr>
          <p:cNvPr id="8" name="">
            <a:extLst xmlns:a="http://schemas.openxmlformats.org/drawingml/2006/main">
              <a:ext uri="{FF2B5EF4-FFF2-40B4-BE49-F238E27FC236}">
                <a16:creationId xmlns:a16="http://schemas.microsoft.com/office/drawing/2014/main" id="{7480C349-91BC-440A-9C87-889C3B51F296}"/>
              </a:ext>
            </a:extLst>
          </p:cNvPr>
          <p:cNvSpPr>
            <a:spLocks xmlns:a="http://schemas.openxmlformats.org/drawingml/2006/main" noGrp="1"/>
          </p:cNvSpPr>
          <p:nvPr/>
        </p:nvSpPr>
        <p:spPr>
          <a:xfrm xmlns:a="http://schemas.openxmlformats.org/drawingml/2006/main">
            <a:off x="762000" y="45434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403F3B"/>
                </a:solidFill>
                <a:latin typeface="DejaVu Sans"/>
                <a:ea typeface="DejaVu Sans"/>
                <a:cs typeface="DejaVu Sans"/>
              </a:defRPr>
            </a:pPr>
            <a:r>
              <a:rPr sz="1800" b="0">
                <a:solidFill>
                  <a:srgbClr val="403F3B"/>
                </a:solidFill>
                <a:latin typeface="DejaVu Sans"/>
                <a:ea typeface="DejaVu Sans"/>
                <a:cs typeface="DejaVu Sans"/>
              </a:rPr>
              <a:t>La cola tiene capacidad 20 y la política de saturación se documenta. Limita a dos una operación externa simulada mediante un semáforo.</a:t>
            </a:r>
          </a:p>
        </p:txBody>
      </p:sp>
    </p:spTree>
    <p:extLst>
      <p:ext uri="{BB962C8B-B14F-4D97-AF65-F5344CB8AC3E}">
        <p14:creationId xmlns:p14="http://schemas.microsoft.com/office/powerpoint/2010/main" val="211554358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692468E-5FB2-4F3B-A9DB-661971D5E7D5}"/>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E40D3CA-BFCC-40F0-BD98-CB71D30211FB}"/>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Fase 2 · Procesamiento concurrente</a:t>
            </a:r>
          </a:p>
        </p:txBody>
      </p:sp>
      <p:sp>
        <p:nvSpPr>
          <p:cNvPr id="3" name="">
            <a:extLst xmlns:a="http://schemas.openxmlformats.org/drawingml/2006/main">
              <a:ext uri="{FF2B5EF4-FFF2-40B4-BE49-F238E27FC236}">
                <a16:creationId xmlns:a16="http://schemas.microsoft.com/office/drawing/2014/main" id="{6C0C8EAE-2811-492B-AE4C-33CB1B118A6D}"/>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47981F4-2E5D-4970-AF59-CE1F5D92792F}"/>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PL3.1</a:t>
            </a:r>
          </a:p>
        </p:txBody>
      </p:sp>
      <p:sp>
        <p:nvSpPr>
          <p:cNvPr id="5" name="">
            <a:extLst xmlns:a="http://schemas.openxmlformats.org/drawingml/2006/main">
              <a:ext uri="{FF2B5EF4-FFF2-40B4-BE49-F238E27FC236}">
                <a16:creationId xmlns:a16="http://schemas.microsoft.com/office/drawing/2014/main" id="{05653741-E49A-405E-9D9B-1A9412476BFA}"/>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4</a:t>
            </a:r>
          </a:p>
        </p:txBody>
      </p:sp>
      <p:sp>
        <p:nvSpPr>
          <p:cNvPr id="6" name="">
            <a:extLst xmlns:a="http://schemas.openxmlformats.org/drawingml/2006/main">
              <a:ext uri="{FF2B5EF4-FFF2-40B4-BE49-F238E27FC236}">
                <a16:creationId xmlns:a16="http://schemas.microsoft.com/office/drawing/2014/main" id="{D37C7247-8F45-499F-926B-3D72B141F721}"/>
              </a:ext>
            </a:extLst>
          </p:cNvPr>
          <p:cNvSpPr>
            <a:spLocks xmlns:a="http://schemas.openxmlformats.org/drawingml/2006/main" noGrp="1"/>
          </p:cNvSpPr>
          <p:nvPr/>
        </p:nvSpPr>
        <p:spPr>
          <a:xfrm xmlns:a="http://schemas.openxmlformats.org/drawingml/2006/main">
            <a:off x="762000" y="1704975"/>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003772"/>
                </a:solidFill>
                <a:latin typeface="DejaVu Sans"/>
                <a:ea typeface="DejaVu Sans"/>
                <a:cs typeface="DejaVu Sans"/>
              </a:defRPr>
            </a:pPr>
            <a:r>
              <a:rPr sz="2325" b="1">
                <a:solidFill>
                  <a:srgbClr val="003772"/>
                </a:solidFill>
                <a:latin typeface="DejaVu Sans"/>
                <a:ea typeface="DejaVu Sans"/>
                <a:cs typeface="DejaVu Sans"/>
              </a:rPr>
              <a:t>Implementa cola, tareas, coordinación y cancelación antes de agregar Swing.</a:t>
            </a:r>
          </a:p>
        </p:txBody>
      </p:sp>
      <p:sp>
        <p:nvSpPr>
          <p:cNvPr id="7" name="">
            <a:extLst xmlns:a="http://schemas.openxmlformats.org/drawingml/2006/main">
              <a:ext uri="{FF2B5EF4-FFF2-40B4-BE49-F238E27FC236}">
                <a16:creationId xmlns:a16="http://schemas.microsoft.com/office/drawing/2014/main" id="{CE5249D6-C8C9-42C9-BAE7-3B7732B804D3}"/>
              </a:ext>
            </a:extLst>
          </p:cNvPr>
          <p:cNvSpPr>
            <a:spLocks xmlns:a="http://schemas.openxmlformats.org/drawingml/2006/main" noGrp="1"/>
          </p:cNvSpPr>
          <p:nvPr/>
        </p:nvSpPr>
        <p:spPr>
          <a:xfrm xmlns:a="http://schemas.openxmlformats.org/drawingml/2006/main">
            <a:off x="762000" y="3371850"/>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403F3B"/>
                </a:solidFill>
                <a:latin typeface="DejaVu Sans"/>
                <a:ea typeface="DejaVu Sans"/>
                <a:cs typeface="DejaVu Sans"/>
              </a:defRPr>
            </a:pPr>
            <a:r>
              <a:rPr sz="1800" b="0">
                <a:solidFill>
                  <a:srgbClr val="403F3B"/>
                </a:solidFill>
                <a:latin typeface="DejaVu Sans"/>
                <a:ea typeface="DejaVu Sans"/>
                <a:cs typeface="DejaVu Sans"/>
              </a:rPr>
              <a:t>Cada mensaje válido se procesa una sola vez. Mantén recibidos, aceptados, rechazados, cancelados y pendientes con invariantes que se puedan comprobar.</a:t>
            </a:r>
          </a:p>
        </p:txBody>
      </p:sp>
      <p:sp>
        <p:nvSpPr>
          <p:cNvPr id="8" name="">
            <a:extLst xmlns:a="http://schemas.openxmlformats.org/drawingml/2006/main">
              <a:ext uri="{FF2B5EF4-FFF2-40B4-BE49-F238E27FC236}">
                <a16:creationId xmlns:a16="http://schemas.microsoft.com/office/drawing/2014/main" id="{EE4E04F5-FB53-45AC-832E-A4DAF6E9790E}"/>
              </a:ext>
            </a:extLst>
          </p:cNvPr>
          <p:cNvSpPr>
            <a:spLocks xmlns:a="http://schemas.openxmlformats.org/drawingml/2006/main" noGrp="1"/>
          </p:cNvSpPr>
          <p:nvPr/>
        </p:nvSpPr>
        <p:spPr>
          <a:xfrm xmlns:a="http://schemas.openxmlformats.org/drawingml/2006/main">
            <a:off x="762000" y="45434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403F3B"/>
                </a:solidFill>
                <a:latin typeface="DejaVu Sans"/>
                <a:ea typeface="DejaVu Sans"/>
                <a:cs typeface="DejaVu Sans"/>
              </a:defRPr>
            </a:pPr>
            <a:r>
              <a:rPr sz="1800" b="0">
                <a:solidFill>
                  <a:srgbClr val="403F3B"/>
                </a:solidFill>
                <a:latin typeface="DejaVu Sans"/>
                <a:ea typeface="DejaVu Sans"/>
                <a:cs typeface="DejaVu Sans"/>
              </a:rPr>
              <a:t>Controla tareas mediante ExecutorService. Implementa terminación normal y cancelación durante put, take y espera externa. No uses Thread.stop ni espera activa.</a:t>
            </a:r>
          </a:p>
        </p:txBody>
      </p:sp>
    </p:spTree>
    <p:extLst>
      <p:ext uri="{BB962C8B-B14F-4D97-AF65-F5344CB8AC3E}">
        <p14:creationId xmlns:p14="http://schemas.microsoft.com/office/powerpoint/2010/main" val="135524569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97FEB7F-CE63-4DE9-85CF-0264252FB12F}"/>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0460405-E6B5-40FB-8C29-562C3D3E8513}"/>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Fase 3 · Interfaz y fallos</a:t>
            </a:r>
          </a:p>
        </p:txBody>
      </p:sp>
      <p:sp>
        <p:nvSpPr>
          <p:cNvPr id="3" name="">
            <a:extLst xmlns:a="http://schemas.openxmlformats.org/drawingml/2006/main">
              <a:ext uri="{FF2B5EF4-FFF2-40B4-BE49-F238E27FC236}">
                <a16:creationId xmlns:a16="http://schemas.microsoft.com/office/drawing/2014/main" id="{37F329B0-401A-4DB6-8D97-24068FAD516E}"/>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7222CEB-4B99-4178-AA38-7CEB0F0A5B11}"/>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PL3.1</a:t>
            </a:r>
          </a:p>
        </p:txBody>
      </p:sp>
      <p:sp>
        <p:nvSpPr>
          <p:cNvPr id="5" name="">
            <a:extLst xmlns:a="http://schemas.openxmlformats.org/drawingml/2006/main">
              <a:ext uri="{FF2B5EF4-FFF2-40B4-BE49-F238E27FC236}">
                <a16:creationId xmlns:a16="http://schemas.microsoft.com/office/drawing/2014/main" id="{178D289A-7DFA-4A56-95BB-6C17C6508165}"/>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5</a:t>
            </a:r>
          </a:p>
        </p:txBody>
      </p:sp>
      <p:sp>
        <p:nvSpPr>
          <p:cNvPr id="6" name="">
            <a:extLst xmlns:a="http://schemas.openxmlformats.org/drawingml/2006/main">
              <a:ext uri="{FF2B5EF4-FFF2-40B4-BE49-F238E27FC236}">
                <a16:creationId xmlns:a16="http://schemas.microsoft.com/office/drawing/2014/main" id="{CD0F3AE0-8D4F-4D3F-BFCA-1526503577A2}"/>
              </a:ext>
            </a:extLst>
          </p:cNvPr>
          <p:cNvSpPr>
            <a:spLocks xmlns:a="http://schemas.openxmlformats.org/drawingml/2006/main" noGrp="1"/>
          </p:cNvSpPr>
          <p:nvPr/>
        </p:nvSpPr>
        <p:spPr>
          <a:xfrm xmlns:a="http://schemas.openxmlformats.org/drawingml/2006/main">
            <a:off x="762000" y="1704975"/>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003772"/>
                </a:solidFill>
                <a:latin typeface="DejaVu Sans"/>
                <a:ea typeface="DejaVu Sans"/>
                <a:cs typeface="DejaVu Sans"/>
              </a:defRPr>
            </a:pPr>
            <a:r>
              <a:rPr sz="2325" b="1">
                <a:solidFill>
                  <a:srgbClr val="003772"/>
                </a:solidFill>
                <a:latin typeface="DejaVu Sans"/>
                <a:ea typeface="DejaVu Sans"/>
                <a:cs typeface="DejaVu Sans"/>
              </a:rPr>
              <a:t>Conecta el servicio a Swing, fuerza saturación y fallos y demuestra cierre.</a:t>
            </a:r>
          </a:p>
        </p:txBody>
      </p:sp>
      <p:sp>
        <p:nvSpPr>
          <p:cNvPr id="7" name="">
            <a:extLst xmlns:a="http://schemas.openxmlformats.org/drawingml/2006/main">
              <a:ext uri="{FF2B5EF4-FFF2-40B4-BE49-F238E27FC236}">
                <a16:creationId xmlns:a16="http://schemas.microsoft.com/office/drawing/2014/main" id="{7F21CADF-3F59-4AB8-92CA-74E58295E2A9}"/>
              </a:ext>
            </a:extLst>
          </p:cNvPr>
          <p:cNvSpPr>
            <a:spLocks xmlns:a="http://schemas.openxmlformats.org/drawingml/2006/main" noGrp="1"/>
          </p:cNvSpPr>
          <p:nvPr/>
        </p:nvSpPr>
        <p:spPr>
          <a:xfrm xmlns:a="http://schemas.openxmlformats.org/drawingml/2006/main">
            <a:off x="762000" y="3371850"/>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403F3B"/>
                </a:solidFill>
                <a:latin typeface="DejaVu Sans"/>
                <a:ea typeface="DejaVu Sans"/>
                <a:cs typeface="DejaVu Sans"/>
              </a:defRPr>
            </a:pPr>
            <a:r>
              <a:rPr sz="1800" b="0">
                <a:solidFill>
                  <a:srgbClr val="403F3B"/>
                </a:solidFill>
                <a:latin typeface="DejaVu Sans"/>
                <a:ea typeface="DejaVu Sans"/>
                <a:cs typeface="DejaVu Sans"/>
              </a:rPr>
              <a:t>La vista Swing ofrece iniciar, cancelar y resumen. Todo acceso a componentes ocurre en el EDT y las operaciones lentas fuera de él. Evita iniciar dos capturas simultáneas.</a:t>
            </a:r>
          </a:p>
        </p:txBody>
      </p:sp>
      <p:sp>
        <p:nvSpPr>
          <p:cNvPr id="8" name="">
            <a:extLst xmlns:a="http://schemas.openxmlformats.org/drawingml/2006/main">
              <a:ext uri="{FF2B5EF4-FFF2-40B4-BE49-F238E27FC236}">
                <a16:creationId xmlns:a16="http://schemas.microsoft.com/office/drawing/2014/main" id="{53D22E3A-7F58-4619-89D6-64BA1C8631D7}"/>
              </a:ext>
            </a:extLst>
          </p:cNvPr>
          <p:cNvSpPr>
            <a:spLocks xmlns:a="http://schemas.openxmlformats.org/drawingml/2006/main" noGrp="1"/>
          </p:cNvSpPr>
          <p:nvPr/>
        </p:nvSpPr>
        <p:spPr>
          <a:xfrm xmlns:a="http://schemas.openxmlformats.org/drawingml/2006/main">
            <a:off x="762000" y="45434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403F3B"/>
                </a:solidFill>
                <a:latin typeface="DejaVu Sans"/>
                <a:ea typeface="DejaVu Sans"/>
                <a:cs typeface="DejaVu Sans"/>
              </a:defRPr>
            </a:pPr>
            <a:r>
              <a:rPr sz="1800" b="0">
                <a:solidFill>
                  <a:srgbClr val="403F3B"/>
                </a:solidFill>
                <a:latin typeface="DejaVu Sans"/>
                <a:ea typeface="DejaVu Sans"/>
                <a:cs typeface="DejaVu Sans"/>
              </a:rPr>
              <a:t>Incluye un escenario de error de consumidor. El coordinador debe detener el resto sin dejar productores bloqueados ni hilos no terminados. Muestra el estado final del ciclo de vida.</a:t>
            </a:r>
          </a:p>
        </p:txBody>
      </p:sp>
    </p:spTree>
    <p:extLst>
      <p:ext uri="{BB962C8B-B14F-4D97-AF65-F5344CB8AC3E}">
        <p14:creationId xmlns:p14="http://schemas.microsoft.com/office/powerpoint/2010/main" val="177444033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240534A-F172-42C1-B203-ABBE249934A1}"/>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299FC68-9D6B-4AF7-9C46-ED2223A39FEE}"/>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Entrega y demostración</a:t>
            </a:r>
          </a:p>
        </p:txBody>
      </p:sp>
      <p:sp>
        <p:nvSpPr>
          <p:cNvPr id="3" name="">
            <a:extLst xmlns:a="http://schemas.openxmlformats.org/drawingml/2006/main">
              <a:ext uri="{FF2B5EF4-FFF2-40B4-BE49-F238E27FC236}">
                <a16:creationId xmlns:a16="http://schemas.microsoft.com/office/drawing/2014/main" id="{7709D485-2A1F-4357-B6B4-221BBDF03BA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7F5501C-BF36-4D14-9A32-7B08A9EBD825}"/>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PL3.1</a:t>
            </a:r>
          </a:p>
        </p:txBody>
      </p:sp>
      <p:sp>
        <p:nvSpPr>
          <p:cNvPr id="5" name="">
            <a:extLst xmlns:a="http://schemas.openxmlformats.org/drawingml/2006/main">
              <a:ext uri="{FF2B5EF4-FFF2-40B4-BE49-F238E27FC236}">
                <a16:creationId xmlns:a16="http://schemas.microsoft.com/office/drawing/2014/main" id="{8AE10962-698B-4042-978B-48152A39D45F}"/>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6</a:t>
            </a:r>
          </a:p>
        </p:txBody>
      </p:sp>
      <p:sp>
        <p:nvSpPr>
          <p:cNvPr id="6" name="">
            <a:extLst xmlns:a="http://schemas.openxmlformats.org/drawingml/2006/main">
              <a:ext uri="{FF2B5EF4-FFF2-40B4-BE49-F238E27FC236}">
                <a16:creationId xmlns:a16="http://schemas.microsoft.com/office/drawing/2014/main" id="{E931155C-8E0F-4D1E-822C-B4ECEEFC1469}"/>
              </a:ext>
            </a:extLst>
          </p:cNvPr>
          <p:cNvSpPr>
            <a:spLocks xmlns:a="http://schemas.openxmlformats.org/drawingml/2006/main" noGrp="1"/>
          </p:cNvSpPr>
          <p:nvPr/>
        </p:nvSpPr>
        <p:spPr>
          <a:xfrm xmlns:a="http://schemas.openxmlformats.org/drawingml/2006/main">
            <a:off x="762000" y="1619250"/>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Proyecto ejecutable con modo consola y vista Swing.</a:t>
            </a:r>
          </a:p>
        </p:txBody>
      </p:sp>
      <p:sp>
        <p:nvSpPr>
          <p:cNvPr id="7" name="">
            <a:extLst xmlns:a="http://schemas.openxmlformats.org/drawingml/2006/main">
              <a:ext uri="{FF2B5EF4-FFF2-40B4-BE49-F238E27FC236}">
                <a16:creationId xmlns:a16="http://schemas.microsoft.com/office/drawing/2014/main" id="{406ECCE0-CBFA-46E1-B184-A6AA3E551FAC}"/>
              </a:ext>
            </a:extLst>
          </p:cNvPr>
          <p:cNvSpPr>
            <a:spLocks xmlns:a="http://schemas.openxmlformats.org/drawingml/2006/main" noGrp="1"/>
          </p:cNvSpPr>
          <p:nvPr/>
        </p:nvSpPr>
        <p:spPr>
          <a:xfrm xmlns:a="http://schemas.openxmlformats.org/drawingml/2006/main">
            <a:off x="762000" y="2714625"/>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evidencias/PL3.1.md con invariantes, escenarios de cancelación y commits.</a:t>
            </a:r>
          </a:p>
        </p:txBody>
      </p:sp>
      <p:sp>
        <p:nvSpPr>
          <p:cNvPr id="8" name="">
            <a:extLst xmlns:a="http://schemas.openxmlformats.org/drawingml/2006/main">
              <a:ext uri="{FF2B5EF4-FFF2-40B4-BE49-F238E27FC236}">
                <a16:creationId xmlns:a16="http://schemas.microsoft.com/office/drawing/2014/main" id="{F6C63F7F-753E-43E5-8572-06BE070F38C7}"/>
              </a:ext>
            </a:extLst>
          </p:cNvPr>
          <p:cNvSpPr>
            <a:spLocks xmlns:a="http://schemas.openxmlformats.org/drawingml/2006/main" noGrp="1"/>
          </p:cNvSpPr>
          <p:nvPr/>
        </p:nvSpPr>
        <p:spPr>
          <a:xfrm xmlns:a="http://schemas.openxmlformats.org/drawingml/2006/main">
            <a:off x="762000" y="3810000"/>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Presentación del estudiante de 6 a 8 diapositivas con arquitectura, coordinación, fallo reproducido y corrección.</a:t>
            </a:r>
          </a:p>
        </p:txBody>
      </p:sp>
      <p:sp>
        <p:nvSpPr>
          <p:cNvPr id="9" name="">
            <a:extLst xmlns:a="http://schemas.openxmlformats.org/drawingml/2006/main">
              <a:ext uri="{FF2B5EF4-FFF2-40B4-BE49-F238E27FC236}">
                <a16:creationId xmlns:a16="http://schemas.microsoft.com/office/drawing/2014/main" id="{F941C2EB-4B51-466E-A4C9-98FE77DA310E}"/>
              </a:ext>
            </a:extLst>
          </p:cNvPr>
          <p:cNvSpPr>
            <a:spLocks xmlns:a="http://schemas.openxmlformats.org/drawingml/2006/main" noGrp="1"/>
          </p:cNvSpPr>
          <p:nvPr/>
        </p:nvSpPr>
        <p:spPr>
          <a:xfrm xmlns:a="http://schemas.openxmlformats.org/drawingml/2006/main">
            <a:off x="762000" y="506730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Reduce la capacidad de la cola y cancela cuando esté llena. Explica qué desbloquea a cada participante y qué lecturas quedan pendientes.</a:t>
            </a:r>
          </a:p>
        </p:txBody>
      </p:sp>
    </p:spTree>
    <p:extLst>
      <p:ext uri="{BB962C8B-B14F-4D97-AF65-F5344CB8AC3E}">
        <p14:creationId xmlns:p14="http://schemas.microsoft.com/office/powerpoint/2010/main" val="147666092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24346BF-A26D-4B34-AE80-5AE97F342832}"/>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61C0B69-EF45-4EC0-891B-4228AC229E27}"/>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Rúbrica de la práctica</a:t>
            </a:r>
          </a:p>
        </p:txBody>
      </p:sp>
      <p:sp>
        <p:nvSpPr>
          <p:cNvPr id="3" name="">
            <a:extLst xmlns:a="http://schemas.openxmlformats.org/drawingml/2006/main">
              <a:ext uri="{FF2B5EF4-FFF2-40B4-BE49-F238E27FC236}">
                <a16:creationId xmlns:a16="http://schemas.microsoft.com/office/drawing/2014/main" id="{CA59AACB-8268-4729-8CAB-97B94ACE528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7135821-47D7-4661-A9D6-B69643615994}"/>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PL3.1</a:t>
            </a:r>
          </a:p>
        </p:txBody>
      </p:sp>
      <p:sp>
        <p:nvSpPr>
          <p:cNvPr id="5" name="">
            <a:extLst xmlns:a="http://schemas.openxmlformats.org/drawingml/2006/main">
              <a:ext uri="{FF2B5EF4-FFF2-40B4-BE49-F238E27FC236}">
                <a16:creationId xmlns:a16="http://schemas.microsoft.com/office/drawing/2014/main" id="{6242114D-A8E7-4A3E-A885-6D4B85CEBB6E}"/>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7</a:t>
            </a:r>
          </a:p>
        </p:txBody>
      </p:sp>
      <p:graphicFrame>
        <p:nvGraphicFramePr>
          <p:cNvPr id="13" name=""/>
          <p:cNvGraphicFramePr/>
          <p:nvPr/>
        </p:nvGraphicFramePr>
        <p:xfrm>
          <a:off xmlns:a="http://schemas.openxmlformats.org/drawingml/2006/main" x="609600" y="1524000"/>
          <a:ext xmlns:a="http://schemas.openxmlformats.org/drawingml/2006/main" cx="10972800" cy="3733800"/>
        </p:xfrm>
        <a:graphic xmlns:a="http://schemas.openxmlformats.org/drawingml/2006/main">
          <a:graphicData uri="http://schemas.openxmlformats.org/drawingml/2006/table">
            <a:tbl>
              <a:tblPr/>
              <a:tblGrid>
                <a:gridCol w="8191500"/>
                <a:gridCol w="2781300"/>
              </a:tblGrid>
              <a:tr h="622300">
                <a:tc>
                  <a:txBody>
                    <a:bodyPr/>
                    <a:lstStyle/>
                    <a:p>
                      <a:r>
                        <a:rPr sz="1725" b="1">
                          <a:solidFill>
                            <a:srgbClr val="FFFFFF"/>
                          </a:solidFill>
                          <a:latin typeface="DejaVu Sans"/>
                          <a:ea typeface="DejaVu Sans"/>
                          <a:cs typeface="DejaVu Sans"/>
                        </a:rPr>
                        <a:t>Criterio</a:t>
                      </a:r>
                    </a:p>
                  </a:txBody>
                  <a:tcPr marL="152400" marR="152400" marT="133350" marB="114300" anchor="ctr">
                    <a:solidFill>
                      <a:srgbClr val="003772"/>
                    </a:solidFill>
                  </a:tcPr>
                </a:tc>
                <a:tc>
                  <a:txBody>
                    <a:bodyPr/>
                    <a:lstStyle/>
                    <a:p>
                      <a:r>
                        <a:rPr sz="1725" b="1">
                          <a:solidFill>
                            <a:srgbClr val="FFFFFF"/>
                          </a:solidFill>
                          <a:latin typeface="DejaVu Sans"/>
                          <a:ea typeface="DejaVu Sans"/>
                          <a:cs typeface="DejaVu Sans"/>
                        </a:rPr>
                        <a:t>Puntaje máximo</a:t>
                      </a:r>
                    </a:p>
                  </a:txBody>
                  <a:tcPr marL="152400" marR="152400" marT="133350" marB="114300" anchor="ctr">
                    <a:solidFill>
                      <a:srgbClr val="003772"/>
                    </a:solidFill>
                  </a:tcPr>
                </a:tc>
              </a:tr>
              <a:tr h="622300">
                <a:tc>
                  <a:txBody>
                    <a:bodyPr/>
                    <a:lstStyle/>
                    <a:p>
                      <a:r>
                        <a:rPr sz="1725" b="0">
                          <a:solidFill>
                            <a:srgbClr val="403F3B"/>
                          </a:solidFill>
                          <a:latin typeface="DejaVu Sans"/>
                          <a:ea typeface="DejaVu Sans"/>
                          <a:cs typeface="DejaVu Sans"/>
                        </a:rPr>
                        <a:t>Cola y coordinación</a:t>
                      </a:r>
                    </a:p>
                  </a:txBody>
                  <a:tcPr marL="152400" marR="152400" marT="133350" marB="114300" anchor="ctr">
                    <a:solidFill>
                      <a:srgbClr val="F3F3FA"/>
                    </a:solidFill>
                  </a:tcPr>
                </a:tc>
                <a:tc>
                  <a:txBody>
                    <a:bodyPr/>
                    <a:lstStyle/>
                    <a:p>
                      <a:r>
                        <a:rPr sz="1725" b="0">
                          <a:solidFill>
                            <a:srgbClr val="403F3B"/>
                          </a:solidFill>
                          <a:latin typeface="DejaVu Sans"/>
                          <a:ea typeface="DejaVu Sans"/>
                          <a:cs typeface="DejaVu Sans"/>
                        </a:rPr>
                        <a:t>2 puntos</a:t>
                      </a:r>
                    </a:p>
                  </a:txBody>
                  <a:tcPr marL="152400" marR="152400" marT="133350" marB="114300" anchor="ctr">
                    <a:solidFill>
                      <a:srgbClr val="F3F3FA"/>
                    </a:solidFill>
                  </a:tcPr>
                </a:tc>
              </a:tr>
              <a:tr h="622300">
                <a:tc>
                  <a:txBody>
                    <a:bodyPr/>
                    <a:lstStyle/>
                    <a:p>
                      <a:r>
                        <a:rPr sz="1725" b="0">
                          <a:solidFill>
                            <a:srgbClr val="403F3B"/>
                          </a:solidFill>
                          <a:latin typeface="DejaVu Sans"/>
                          <a:ea typeface="DejaVu Sans"/>
                          <a:cs typeface="DejaVu Sans"/>
                        </a:rPr>
                        <a:t>Sincronización</a:t>
                      </a:r>
                    </a:p>
                  </a:txBody>
                  <a:tcPr marL="152400" marR="152400" marT="133350" marB="114300" anchor="ctr">
                    <a:solidFill>
                      <a:srgbClr val="FFFFFF"/>
                    </a:solidFill>
                  </a:tcPr>
                </a:tc>
                <a:tc>
                  <a:txBody>
                    <a:bodyPr/>
                    <a:lstStyle/>
                    <a:p>
                      <a:r>
                        <a:rPr sz="1725" b="0">
                          <a:solidFill>
                            <a:srgbClr val="403F3B"/>
                          </a:solidFill>
                          <a:latin typeface="DejaVu Sans"/>
                          <a:ea typeface="DejaVu Sans"/>
                          <a:cs typeface="DejaVu Sans"/>
                        </a:rPr>
                        <a:t>2 puntos</a:t>
                      </a:r>
                    </a:p>
                  </a:txBody>
                  <a:tcPr marL="152400" marR="152400" marT="133350" marB="114300" anchor="ctr">
                    <a:solidFill>
                      <a:srgbClr val="FFFFFF"/>
                    </a:solidFill>
                  </a:tcPr>
                </a:tc>
              </a:tr>
              <a:tr h="622300">
                <a:tc>
                  <a:txBody>
                    <a:bodyPr/>
                    <a:lstStyle/>
                    <a:p>
                      <a:r>
                        <a:rPr sz="1725" b="0">
                          <a:solidFill>
                            <a:srgbClr val="403F3B"/>
                          </a:solidFill>
                          <a:latin typeface="DejaVu Sans"/>
                          <a:ea typeface="DejaVu Sans"/>
                          <a:cs typeface="DejaVu Sans"/>
                        </a:rPr>
                        <a:t>Cancelación y fallos</a:t>
                      </a:r>
                    </a:p>
                  </a:txBody>
                  <a:tcPr marL="152400" marR="152400" marT="133350" marB="114300" anchor="ctr">
                    <a:solidFill>
                      <a:srgbClr val="F3F3FA"/>
                    </a:solidFill>
                  </a:tcPr>
                </a:tc>
                <a:tc>
                  <a:txBody>
                    <a:bodyPr/>
                    <a:lstStyle/>
                    <a:p>
                      <a:r>
                        <a:rPr sz="1725" b="0">
                          <a:solidFill>
                            <a:srgbClr val="403F3B"/>
                          </a:solidFill>
                          <a:latin typeface="DejaVu Sans"/>
                          <a:ea typeface="DejaVu Sans"/>
                          <a:cs typeface="DejaVu Sans"/>
                        </a:rPr>
                        <a:t>2 puntos</a:t>
                      </a:r>
                    </a:p>
                  </a:txBody>
                  <a:tcPr marL="152400" marR="152400" marT="133350" marB="114300" anchor="ctr">
                    <a:solidFill>
                      <a:srgbClr val="F3F3FA"/>
                    </a:solidFill>
                  </a:tcPr>
                </a:tc>
              </a:tr>
              <a:tr h="622300">
                <a:tc>
                  <a:txBody>
                    <a:bodyPr/>
                    <a:lstStyle/>
                    <a:p>
                      <a:r>
                        <a:rPr sz="1725" b="0">
                          <a:solidFill>
                            <a:srgbClr val="403F3B"/>
                          </a:solidFill>
                          <a:latin typeface="DejaVu Sans"/>
                          <a:ea typeface="DejaVu Sans"/>
                          <a:cs typeface="DejaVu Sans"/>
                        </a:rPr>
                        <a:t>Interfaz</a:t>
                      </a:r>
                    </a:p>
                  </a:txBody>
                  <a:tcPr marL="152400" marR="152400" marT="133350" marB="114300" anchor="ctr">
                    <a:solidFill>
                      <a:srgbClr val="FFFFFF"/>
                    </a:solidFill>
                  </a:tcPr>
                </a:tc>
                <a:tc>
                  <a:txBody>
                    <a:bodyPr/>
                    <a:lstStyle/>
                    <a:p>
                      <a:r>
                        <a:rPr sz="1725" b="0">
                          <a:solidFill>
                            <a:srgbClr val="403F3B"/>
                          </a:solidFill>
                          <a:latin typeface="DejaVu Sans"/>
                          <a:ea typeface="DejaVu Sans"/>
                          <a:cs typeface="DejaVu Sans"/>
                        </a:rPr>
                        <a:t>2 puntos</a:t>
                      </a:r>
                    </a:p>
                  </a:txBody>
                  <a:tcPr marL="152400" marR="152400" marT="133350" marB="114300" anchor="ctr">
                    <a:solidFill>
                      <a:srgbClr val="FFFFFF"/>
                    </a:solidFill>
                  </a:tcPr>
                </a:tc>
              </a:tr>
              <a:tr h="622300">
                <a:tc>
                  <a:txBody>
                    <a:bodyPr/>
                    <a:lstStyle/>
                    <a:p>
                      <a:r>
                        <a:rPr sz="1725" b="0">
                          <a:solidFill>
                            <a:srgbClr val="403F3B"/>
                          </a:solidFill>
                          <a:latin typeface="DejaVu Sans"/>
                          <a:ea typeface="DejaVu Sans"/>
                          <a:cs typeface="DejaVu Sans"/>
                        </a:rPr>
                        <a:t>Pruebas, Git y defensa</a:t>
                      </a:r>
                    </a:p>
                  </a:txBody>
                  <a:tcPr marL="152400" marR="152400" marT="133350" marB="114300" anchor="ctr">
                    <a:solidFill>
                      <a:srgbClr val="F3F3FA"/>
                    </a:solidFill>
                  </a:tcPr>
                </a:tc>
                <a:tc>
                  <a:txBody>
                    <a:bodyPr/>
                    <a:lstStyle/>
                    <a:p>
                      <a:r>
                        <a:rPr sz="1725" b="0">
                          <a:solidFill>
                            <a:srgbClr val="403F3B"/>
                          </a:solidFill>
                          <a:latin typeface="DejaVu Sans"/>
                          <a:ea typeface="DejaVu Sans"/>
                          <a:cs typeface="DejaVu Sans"/>
                        </a:rPr>
                        <a:t>2 puntos</a:t>
                      </a:r>
                    </a:p>
                  </a:txBody>
                  <a:tcPr marL="152400" marR="152400" marT="133350" marB="114300" anchor="ctr">
                    <a:solidFill>
                      <a:srgbClr val="F3F3FA"/>
                    </a:solidFill>
                  </a:tcPr>
                </a:tc>
              </a:tr>
            </a:tbl>
          </a:graphicData>
        </a:graphic>
      </p:graphicFrame>
      <p:sp>
        <p:nvSpPr>
          <p:cNvPr id="7" name="">
            <a:extLst xmlns:a="http://schemas.openxmlformats.org/drawingml/2006/main">
              <a:ext uri="{FF2B5EF4-FFF2-40B4-BE49-F238E27FC236}">
                <a16:creationId xmlns:a16="http://schemas.microsoft.com/office/drawing/2014/main" id="{FC5636DA-74B5-4F0C-90D5-052C4FA91313}"/>
              </a:ext>
            </a:extLst>
          </p:cNvPr>
          <p:cNvSpPr>
            <a:spLocks xmlns:a="http://schemas.openxmlformats.org/drawingml/2006/main" noGrp="1"/>
          </p:cNvSpPr>
          <p:nvPr/>
        </p:nvSpPr>
        <p:spPr>
          <a:xfrm xmlns:a="http://schemas.openxmlformats.org/drawingml/2006/main">
            <a:off x="762000" y="557212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07508E"/>
                </a:solidFill>
                <a:latin typeface="DejaVu Sans"/>
                <a:ea typeface="DejaVu Sans"/>
                <a:cs typeface="DejaVu Sans"/>
              </a:defRPr>
            </a:pPr>
            <a:r>
              <a:rPr sz="1650" b="0">
                <a:solidFill>
                  <a:srgbClr val="07508E"/>
                </a:solidFill>
                <a:latin typeface="DejaVu Sans"/>
                <a:ea typeface="DejaVu Sans"/>
                <a:cs typeface="DejaVu Sans"/>
              </a:rPr>
              <a:t>Total: 10 puntos. Niveles: completo, parcial y no logrado. Descriptores en la guía HTML.</a:t>
            </a:r>
          </a:p>
        </p:txBody>
      </p:sp>
    </p:spTree>
    <p:extLst>
      <p:ext uri="{BB962C8B-B14F-4D97-AF65-F5344CB8AC3E}">
        <p14:creationId xmlns:p14="http://schemas.microsoft.com/office/powerpoint/2010/main" val="10021563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2026-09-10T23:04:56.5000000Z</dcterms:created>
  <dcterms:modified xsi:type="dcterms:W3CDTF">2026-09-10T23:04:56.5000000Z</dcterms:modified>
</coreProperties>
</file>