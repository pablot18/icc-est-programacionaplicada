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67aff6e1c54fa5" /><Relationship Type="http://schemas.openxmlformats.org/officeDocument/2006/relationships/extended-properties" Target="/docProps/app.xml" Id="Ra38be4350b8c44c4" /><Relationship Type="http://schemas.openxmlformats.org/officeDocument/2006/relationships/officeDocument" Target="/ppt/presentation.xml" Id="Re76b47aed3134fda" /></Relationships>
</file>

<file path=ppt/presentation.xml><?xml version="1.0" encoding="utf-8"?>
<p:presentation xmlns:p="http://schemas.openxmlformats.org/presentationml/2006/main">
  <p:sldMasterIdLst>
    <p:sldMasterId xmlns:r="http://schemas.openxmlformats.org/officeDocument/2006/relationships" id="2147483648" r:id="R14cf40e3b7ca49ef"/>
  </p:sldMasterIdLst>
  <p:notesMasterIdLst>
    <p:notesMasterId xmlns:r="http://schemas.openxmlformats.org/officeDocument/2006/relationships" r:id="Rd64eb5a7bba34fee"/>
  </p:notesMasterIdLst>
  <p:sldIdLst>
    <p:sldId xmlns:r="http://schemas.openxmlformats.org/officeDocument/2006/relationships" id="256" r:id="R5f2a768ea0af4680"/>
    <p:sldId xmlns:r="http://schemas.openxmlformats.org/officeDocument/2006/relationships" id="257" r:id="R66988e1c52ca4a57"/>
    <p:sldId xmlns:r="http://schemas.openxmlformats.org/officeDocument/2006/relationships" id="258" r:id="R14f6afaf7d6e4395"/>
    <p:sldId xmlns:r="http://schemas.openxmlformats.org/officeDocument/2006/relationships" id="259" r:id="R6b390c338f084660"/>
    <p:sldId xmlns:r="http://schemas.openxmlformats.org/officeDocument/2006/relationships" id="260" r:id="Rc2d4096b70e041ef"/>
    <p:sldId xmlns:r="http://schemas.openxmlformats.org/officeDocument/2006/relationships" id="261" r:id="R654f681979014184"/>
    <p:sldId xmlns:r="http://schemas.openxmlformats.org/officeDocument/2006/relationships" id="262" r:id="R09cd17379ced4f7e"/>
    <p:sldId xmlns:r="http://schemas.openxmlformats.org/officeDocument/2006/relationships" id="263" r:id="R462f067470f64847"/>
    <p:sldId xmlns:r="http://schemas.openxmlformats.org/officeDocument/2006/relationships" id="264" r:id="Rd57590f8f32e48eb"/>
    <p:sldId xmlns:r="http://schemas.openxmlformats.org/officeDocument/2006/relationships" id="265" r:id="Rac4d0698e3b1477b"/>
    <p:sldId xmlns:r="http://schemas.openxmlformats.org/officeDocument/2006/relationships" id="266" r:id="R2e96e01c474e4f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d5c97cf8174c60" /><Relationship Type="http://schemas.openxmlformats.org/officeDocument/2006/relationships/slideMaster" Target="/ppt/slideMasters/slideMaster1.xml" Id="R14cf40e3b7ca49ef" /><Relationship Type="http://schemas.openxmlformats.org/officeDocument/2006/relationships/notesMaster" Target="/ppt/notesMasters/notesMaster1.xml" Id="Rd64eb5a7bba34fee" /><Relationship Type="http://schemas.openxmlformats.org/officeDocument/2006/relationships/presProps" Target="/ppt/presProps.xml" Id="R4408df5d730d4e5e" /><Relationship Type="http://schemas.openxmlformats.org/officeDocument/2006/relationships/tableStyles" Target="/ppt/tableStyles.xml" Id="R9b46399d3aec4264" /><Relationship Type="http://schemas.openxmlformats.org/officeDocument/2006/relationships/slide" Target="/ppt/slides/slide1.xml" Id="R5f2a768ea0af4680" /><Relationship Type="http://schemas.openxmlformats.org/officeDocument/2006/relationships/slide" Target="/ppt/slides/slide2.xml" Id="R66988e1c52ca4a57" /><Relationship Type="http://schemas.openxmlformats.org/officeDocument/2006/relationships/slide" Target="/ppt/slides/slide3.xml" Id="R14f6afaf7d6e4395" /><Relationship Type="http://schemas.openxmlformats.org/officeDocument/2006/relationships/slide" Target="/ppt/slides/slide4.xml" Id="R6b390c338f084660" /><Relationship Type="http://schemas.openxmlformats.org/officeDocument/2006/relationships/slide" Target="/ppt/slides/slide5.xml" Id="Rc2d4096b70e041ef" /><Relationship Type="http://schemas.openxmlformats.org/officeDocument/2006/relationships/slide" Target="/ppt/slides/slide6.xml" Id="R654f681979014184" /><Relationship Type="http://schemas.openxmlformats.org/officeDocument/2006/relationships/slide" Target="/ppt/slides/slide7.xml" Id="R09cd17379ced4f7e" /><Relationship Type="http://schemas.openxmlformats.org/officeDocument/2006/relationships/slide" Target="/ppt/slides/slide8.xml" Id="R462f067470f64847" /><Relationship Type="http://schemas.openxmlformats.org/officeDocument/2006/relationships/slide" Target="/ppt/slides/slide9.xml" Id="Rd57590f8f32e48eb" /><Relationship Type="http://schemas.openxmlformats.org/officeDocument/2006/relationships/slide" Target="/ppt/slides/slide10.xml" Id="Rac4d0698e3b1477b" /><Relationship Type="http://schemas.openxmlformats.org/officeDocument/2006/relationships/slide" Target="/ppt/slides/slide11.xml" Id="R2e96e01c474e4f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768ffc4ec542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5a4ba5d96942cc" /><Relationship Type="http://schemas.openxmlformats.org/officeDocument/2006/relationships/notesMaster" Target="/ppt/notesMasters/notesMaster1.xml" Id="Rfbd61700b89344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1f061b98f9473f" /><Relationship Type="http://schemas.openxmlformats.org/officeDocument/2006/relationships/notesMaster" Target="/ppt/notesMasters/notesMaster1.xml" Id="R4696ee07aea84b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10daf324c7486b" /><Relationship Type="http://schemas.openxmlformats.org/officeDocument/2006/relationships/notesMaster" Target="/ppt/notesMasters/notesMaster1.xml" Id="R2cae73ce925e4e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94f6d9675248f9" /><Relationship Type="http://schemas.openxmlformats.org/officeDocument/2006/relationships/notesMaster" Target="/ppt/notesMasters/notesMaster1.xml" Id="R0686d500e5094d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13a4b05eaf4cf2" /><Relationship Type="http://schemas.openxmlformats.org/officeDocument/2006/relationships/notesMaster" Target="/ppt/notesMasters/notesMaster1.xml" Id="R9eb7d037e1d047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e774d297844be6" /><Relationship Type="http://schemas.openxmlformats.org/officeDocument/2006/relationships/notesMaster" Target="/ppt/notesMasters/notesMaster1.xml" Id="R3fa427bedcca40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8f7d1dbde741df" /><Relationship Type="http://schemas.openxmlformats.org/officeDocument/2006/relationships/notesMaster" Target="/ppt/notesMasters/notesMaster1.xml" Id="Rfc6d8a96c55047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8b43f21ac94cd5" /><Relationship Type="http://schemas.openxmlformats.org/officeDocument/2006/relationships/notesMaster" Target="/ppt/notesMasters/notesMaster1.xml" Id="Rd61b463a32144d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e296afc8dc4e5e" /><Relationship Type="http://schemas.openxmlformats.org/officeDocument/2006/relationships/notesMaster" Target="/ppt/notesMasters/notesMaster1.xml" Id="Ra6ffb6c55eef43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d96dd8c53d4408" /><Relationship Type="http://schemas.openxmlformats.org/officeDocument/2006/relationships/notesMaster" Target="/ppt/notesMasters/notesMaster1.xml" Id="Rf42551af1bf149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b6485dbd974a66" /><Relationship Type="http://schemas.openxmlformats.org/officeDocument/2006/relationships/notesMaster" Target="/ppt/notesMasters/notesMaster1.xml" Id="R211856ed7b4c43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3.1. Fundamentos de concurrencia.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importación de archivos y la recepción de lecturas pueden coincidir con consultas del usuario. CampusMonitor necesita mantener varias actividades en progreso sin asumir un orden de ejecución accidental.</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Imagen original generada para el material. Prompt y origen en docs/prompts-imagenes.json.</a:t>
            </a:r>
          </a:p>
          <a:p xmlns:a="http://schemas.openxmlformats.org/drawingml/2006/main">
            <a:r>
              <a:t>No constituye un esquema eléctrico ni una especificación técnica.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Concurrencia significa que varias actividades progresan durante un intervalo. Paralelismo significa que varias operaciones se ejecutan simultáneamente. Un solo núcleo puede intercalar tareas concurrentes y varios núcleos pueden ejecutar tareas en paralelo. Añadir hilos no garantiza una mejora: existen costos de coordinación y límites en CPU, memoria y dispositivos.</a:t>
            </a:r>
          </a:p>
          <a:p xmlns:a="http://schemas.openxmlformats.org/drawingml/2006/main">
            <a:r>
              <a:t/>
            </a:r>
          </a:p>
          <a:p xmlns:a="http://schemas.openxmlformats.org/drawingml/2006/main">
            <a:r>
              <a:t>Las tareas que esperan E/S tienen oportunidades distintas de las que consumen CPU. Una importación puede esperar disco o red, mientras una transformación matemática utiliza CPU. Identifica el recurso limitante antes de elegir la estrategia. La interfaz gráfica debe mantenerse disponible aunque una operación tarde.</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condición de carrera ocurre cuando el resultado depende de un orden no controlado entre operaciones concurrentes. contador++ contiene conceptualmente lectura, suma y escritura. Dos hilos pueden leer el mismo valor y escribir el mismo resultado, perdiendo una actualización.</a:t>
            </a:r>
          </a:p>
          <a:p xmlns:a="http://schemas.openxmlformats.org/drawingml/2006/main">
            <a:r>
              <a:t/>
            </a:r>
          </a:p>
          <a:p xmlns:a="http://schemas.openxmlformats.org/drawingml/2006/main">
            <a:r>
              <a:t>La demostración fuerza ese intercalado mediante una barrera. Ambos hilos leen antes de que cualquiera escriba, de modo que el contador ordinario termina en uno. Esto permite estudiar el defecto sin depender de que aparezca por azar. Añadir println o sleep a un programa no corrige su sincronización y puede cambiar el comportamiento observado.</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Atomicidad significa que una operación se observa como una unidad indivisible respecto de otras. Visibilidad determina cuándo un hilo observa las escrituras de otro. Orden se refiere a las relaciones permitidas entre operaciones, incluyendo reordenamientos compatibles con el modelo de memoria.</a:t>
            </a:r>
          </a:p>
          <a:p xmlns:a="http://schemas.openxmlformats.org/drawingml/2006/main">
            <a:r>
              <a:t/>
            </a:r>
          </a:p>
          <a:p xmlns:a="http://schemas.openxmlformats.org/drawingml/2006/main">
            <a:r>
              <a:t>volatile proporciona garantías de visibilidad y orden para accesos al campo, pero no vuelve atómico un incremento compuesto. synchronized, las clases atómicas y otras herramientas establecen relaciones de happens-before documentadas. Thread.start y Thread.join también establecen relaciones relevantes. Razona sobre garantías, no sobre lo que normalmente ocurre en tu computadora.</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primera opción es asignar cada dato a un único propietario. Otra es usar objetos inmutables y mensajes. Una cola entre productor y consumidor expresa la transferencia de trabajo sin compartir todas las estructuras internas. Cuando sí se comparte estado mutable, identifica la sección crítica y el mecanismo que la protege.</a:t>
            </a:r>
          </a:p>
          <a:p xmlns:a="http://schemas.openxmlformats.org/drawingml/2006/main">
            <a:r>
              <a:t/>
            </a:r>
          </a:p>
          <a:p xmlns:a="http://schemas.openxmlformats.org/drawingml/2006/main">
            <a:r>
              <a:t>Una prueba correcta define invariantes: cantidad final de registros, ausencia de duplicados y correspondencia entre recibidos y procesados. El orden exacto de mensajes impresos no suele ser un criterio válido. Repite escenarios para aumentar las posibilidades de encontrar un defecto, pero recuerda que pasar muchas ejecuciones no demuestra ausencia de carreras.</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edu.ups.pap.u03;</a:t>
            </a:r>
          </a:p>
          <a:p xmlns:a="http://schemas.openxmlformats.org/drawingml/2006/main">
            <a:r>
              <a:t>import java.util.concurrent.*;</a:t>
            </a:r>
          </a:p>
          <a:p xmlns:a="http://schemas.openxmlformats.org/drawingml/2006/main">
            <a:r>
              <a:t>import java.util.concurrent.atomic.AtomicInteger;</a:t>
            </a:r>
          </a:p>
          <a:p xmlns:a="http://schemas.openxmlformats.org/drawingml/2006/main">
            <a:r>
              <a:t>public class CarreraDemo {</a:t>
            </a:r>
          </a:p>
          <a:p xmlns:a="http://schemas.openxmlformats.org/drawingml/2006/main">
            <a:r>
              <a:t>    static int contador;</a:t>
            </a:r>
          </a:p>
          <a:p xmlns:a="http://schemas.openxmlformats.org/drawingml/2006/main">
            <a:r>
              <a:t>    public static void main(String[] args) throws InterruptedException {</a:t>
            </a:r>
          </a:p>
          <a:p xmlns:a="http://schemas.openxmlformats.org/drawingml/2006/main">
            <a:r>
              <a:t>        CyclicBarrier barrera = new CyclicBarrier(2);</a:t>
            </a:r>
          </a:p>
          <a:p xmlns:a="http://schemas.openxmlformats.org/drawingml/2006/main">
            <a:r>
              <a:t>        AtomicInteger seguro = new AtomicInteger();</a:t>
            </a:r>
          </a:p>
          <a:p xmlns:a="http://schemas.openxmlformats.org/drawingml/2006/main">
            <a:r>
              <a:t>        Runnable tarea = () -&gt; {</a:t>
            </a:r>
          </a:p>
          <a:p xmlns:a="http://schemas.openxmlformats.org/drawingml/2006/main">
            <a:r>
              <a:t>            int anterior = contador;</a:t>
            </a:r>
          </a:p>
          <a:p xmlns:a="http://schemas.openxmlformats.org/drawingml/2006/main">
            <a:r>
              <a:t>            try { barrera.await(); }</a:t>
            </a:r>
          </a:p>
          <a:p xmlns:a="http://schemas.openxmlformats.org/drawingml/2006/main">
            <a:r>
              <a:t>            catch (InterruptedException e) { Thread.currentThread().interrupt(); return; }</a:t>
            </a:r>
          </a:p>
          <a:p xmlns:a="http://schemas.openxmlformats.org/drawingml/2006/main">
            <a:r>
              <a:t>            catch (BrokenBarrierException e) { throw new IllegalStateException(e); }</a:t>
            </a:r>
          </a:p>
          <a:p xmlns:a="http://schemas.openxmlformats.org/drawingml/2006/main">
            <a:r>
              <a:t>            contador = anterior + 1;</a:t>
            </a:r>
          </a:p>
          <a:p xmlns:a="http://schemas.openxmlformats.org/drawingml/2006/main">
            <a:r>
              <a:t>            seguro.incrementAndGet();</a:t>
            </a:r>
          </a:p>
          <a:p xmlns:a="http://schemas.openxmlformats.org/drawingml/2006/main">
            <a:r>
              <a:t>        };</a:t>
            </a:r>
          </a:p>
          <a:p xmlns:a="http://schemas.openxmlformats.org/drawingml/2006/main">
            <a:r>
              <a:t>        Thread a = new Thread(tarea), b = new Thread(tarea);</a:t>
            </a:r>
          </a:p>
          <a:p xmlns:a="http://schemas.openxmlformats.org/drawingml/2006/main">
            <a:r>
              <a:t>        a.start(); b.start(); a.join(); b.join();</a:t>
            </a:r>
          </a:p>
          <a:p xmlns:a="http://schemas.openxmlformats.org/drawingml/2006/main">
            <a:r>
              <a:t>        System.out.println("Sin operación atómica: " + contador);</a:t>
            </a:r>
          </a:p>
          <a:p xmlns:a="http://schemas.openxmlformats.org/drawingml/2006/main">
            <a:r>
              <a:t>        System.out.println("Con AtomicInteger: " + seguro.get());</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Sin operación atómica: 1</a:t>
            </a:r>
          </a:p>
          <a:p xmlns:a="http://schemas.openxmlformats.org/drawingml/2006/main">
            <a:r>
              <a:t>Con AtomicInteger: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Sin operación atómica: 1</a:t>
            </a:r>
          </a:p>
          <a:p xmlns:a="http://schemas.openxmlformats.org/drawingml/2006/main">
            <a:r>
              <a:t>Con AtomicInteger: 2</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evidencias/PC3.1.md y enlace al commit final.</a:t>
            </a:r>
          </a:p>
          <a:p xmlns:a="http://schemas.openxmlformats.org/drawingml/2006/main">
            <a:r>
              <a:t>Identifica en CampusMonitor el catálogo, las listas de lecturas y el resumen que podrían ser compartidos. Documenta sus propietarios.</a:t>
            </a:r>
          </a:p>
          <a:p xmlns:a="http://schemas.openxmlformats.org/drawingml/2006/main">
            <a:r>
              <a:t>Reproduce una actualización perdida con dos tareas y una coordinación determinista. Después corrige el contador con AtomicInteger.</a:t>
            </a:r>
          </a:p>
          <a:p xmlns:a="http://schemas.openxmlformats.org/drawingml/2006/main">
            <a:r>
              <a:t>Define tres invariantes para una importación concurrente y explica cuáles no se garantizan usando solo volatile.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a43ae145fd48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d078ad2b049c1" /><Relationship Type="http://schemas.openxmlformats.org/officeDocument/2006/relationships/slideLayout" Target="/ppt/slideLayouts/slideLayout1.xml" Id="Rf5fd7fede60f4c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fd7fede60f4c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324d734ecb4b7c" /><Relationship Type="http://schemas.openxmlformats.org/officeDocument/2006/relationships/image" Target="/ppt/media/image.png" Id="Rec352d0cad2c4813" /><Relationship Type="http://schemas.openxmlformats.org/officeDocument/2006/relationships/notesSlide" Target="/ppt/notesSlides/notesSlide1.xml" Id="Rbc9cce9440d641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e6130d68304eda" /><Relationship Type="http://schemas.openxmlformats.org/officeDocument/2006/relationships/notesSlide" Target="/ppt/notesSlides/notesSlide2.xml" Id="Rc745f7df771644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5e681799ca4d94" /><Relationship Type="http://schemas.openxmlformats.org/officeDocument/2006/relationships/image" Target="/ppt/media/image2.png" Id="R387a482f194c4f7f" /><Relationship Type="http://schemas.openxmlformats.org/officeDocument/2006/relationships/notesSlide" Target="/ppt/notesSlides/notesSlide3.xml" Id="R3dce59bde53b46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31fe69606a4295" /><Relationship Type="http://schemas.openxmlformats.org/officeDocument/2006/relationships/notesSlide" Target="/ppt/notesSlides/notesSlide4.xml" Id="R0c73bc25d4c245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00aa5ebe50401f" /><Relationship Type="http://schemas.openxmlformats.org/officeDocument/2006/relationships/notesSlide" Target="/ppt/notesSlides/notesSlide5.xml" Id="R74875e6643f24a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5c2ddfd3c24b38" /><Relationship Type="http://schemas.openxmlformats.org/officeDocument/2006/relationships/notesSlide" Target="/ppt/notesSlides/notesSlide6.xml" Id="Rdff22d46a1584b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6255c85f89480f" /><Relationship Type="http://schemas.openxmlformats.org/officeDocument/2006/relationships/notesSlide" Target="/ppt/notesSlides/notesSlide7.xml" Id="R8c09bf81986b46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993efbb4aa4235" /><Relationship Type="http://schemas.openxmlformats.org/officeDocument/2006/relationships/notesSlide" Target="/ppt/notesSlides/notesSlide8.xml" Id="R7eef2687696142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651206178846d8" /><Relationship Type="http://schemas.openxmlformats.org/officeDocument/2006/relationships/notesSlide" Target="/ppt/notesSlides/notesSlide9.xml" Id="R7beadba3a35a4c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ab6352384e4b13" /><Relationship Type="http://schemas.openxmlformats.org/officeDocument/2006/relationships/notesSlide" Target="/ppt/notesSlides/notesSlide10.xml" Id="Rd17cae1ebceb4c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e4e887f5444a87" /><Relationship Type="http://schemas.openxmlformats.org/officeDocument/2006/relationships/notesSlide" Target="/ppt/notesSlides/notesSlide11.xml" Id="R9c4bf0cc76af41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c352d0cad2c4813"/>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E4F67CF-23D9-474E-B7BB-3A63B0501970}"/>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2ACF2716-DE84-4AEC-AB0A-0C2CB56F44BD}"/>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Fundamentos de concurrencia</a:t>
            </a:r>
          </a:p>
        </p:txBody>
      </p:sp>
      <p:sp>
        <p:nvSpPr>
          <p:cNvPr id="4" name="">
            <a:extLst xmlns:a="http://schemas.openxmlformats.org/drawingml/2006/main">
              <a:ext uri="{FF2B5EF4-FFF2-40B4-BE49-F238E27FC236}">
                <a16:creationId xmlns:a16="http://schemas.microsoft.com/office/drawing/2014/main" id="{806554DB-8E42-4EA5-B990-486A7B65CAD3}"/>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DD52CD-8ADA-4493-BF07-754260D6D97A}"/>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3.1</a:t>
            </a:r>
          </a:p>
        </p:txBody>
      </p:sp>
      <p:sp>
        <p:nvSpPr>
          <p:cNvPr id="6" name="">
            <a:extLst xmlns:a="http://schemas.openxmlformats.org/drawingml/2006/main">
              <a:ext uri="{FF2B5EF4-FFF2-40B4-BE49-F238E27FC236}">
                <a16:creationId xmlns:a16="http://schemas.microsoft.com/office/drawing/2014/main" id="{5218B45E-DA25-441D-85BC-E85959E58D1C}"/>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8172855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3F8BD0-AFC8-42CF-8798-40755FC8492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027A9F-1CD0-488C-B6B7-AD7D4183BA9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FDD17A93-E16B-4499-A727-CA5AC96F98E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348084-4096-4FA4-9042-571E9BFAC6B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F523F7A8-3194-4C33-8D93-0082591E3EA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BB3336D0-0CFF-4A0E-983E-04D37BC76472}"/>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importación de archivos y la recepción de lecturas pueden coincidir con consultas del usuario. CampusMonitor necesita mantener varias actividades en progreso sin asumir un orden de ejecución accidental.</a:t>
            </a:r>
          </a:p>
        </p:txBody>
      </p:sp>
    </p:spTree>
    <p:extLst>
      <p:ext uri="{BB962C8B-B14F-4D97-AF65-F5344CB8AC3E}">
        <p14:creationId xmlns:p14="http://schemas.microsoft.com/office/powerpoint/2010/main" val="249007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77BE61-7F84-419E-A664-96E8343A3D6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D9AA7D-79B2-4C36-87ED-678F05E08DA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Una analogía para el concepto</a:t>
            </a:r>
          </a:p>
        </p:txBody>
      </p:sp>
      <p:sp>
        <p:nvSpPr>
          <p:cNvPr id="3" name="">
            <a:extLst xmlns:a="http://schemas.openxmlformats.org/drawingml/2006/main">
              <a:ext uri="{FF2B5EF4-FFF2-40B4-BE49-F238E27FC236}">
                <a16:creationId xmlns:a16="http://schemas.microsoft.com/office/drawing/2014/main" id="{B71316FB-A319-48C0-88D5-0D4AEC2BF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F029BA-085A-4EF8-AD2D-B9775B10341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12D8DBC5-9FB3-4A71-A7E8-6B6D264E359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87a482f194c4f7f"/>
          <a:stretch xmlns:a="http://schemas.openxmlformats.org/drawingml/2006/main"/>
        </p:blipFill>
        <p:spPr>
          <a:xfrm xmlns:a="http://schemas.openxmlformats.org/drawingml/2006/main">
            <a:off x="4862513" y="1504950"/>
            <a:ext cx="671512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E18296-348D-407C-87D3-BDA7787E5513}"/>
              </a:ext>
            </a:extLst>
          </p:cNvPr>
          <p:cNvSpPr>
            <a:spLocks xmlns:a="http://schemas.openxmlformats.org/drawingml/2006/main" noGrp="1"/>
          </p:cNvSpPr>
          <p:nvPr/>
        </p:nvSpPr>
        <p:spPr>
          <a:xfrm xmlns:a="http://schemas.openxmlformats.org/drawingml/2006/main">
            <a:off x="685800" y="20002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Concurrencia y paralelismo son conceptos distintos.</a:t>
            </a:r>
          </a:p>
        </p:txBody>
      </p:sp>
      <p:sp>
        <p:nvSpPr>
          <p:cNvPr id="8" name="">
            <a:extLst xmlns:a="http://schemas.openxmlformats.org/drawingml/2006/main">
              <a:ext uri="{FF2B5EF4-FFF2-40B4-BE49-F238E27FC236}">
                <a16:creationId xmlns:a16="http://schemas.microsoft.com/office/drawing/2014/main" id="{6CE3DBD2-4B26-45B8-A60A-5C81317C3F26}"/>
              </a:ext>
            </a:extLst>
          </p:cNvPr>
          <p:cNvSpPr>
            <a:spLocks xmlns:a="http://schemas.openxmlformats.org/drawingml/2006/main" noGrp="1"/>
          </p:cNvSpPr>
          <p:nvPr/>
        </p:nvSpPr>
        <p:spPr>
          <a:xfrm xmlns:a="http://schemas.openxmlformats.org/drawingml/2006/main">
            <a:off x="685800" y="37528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La ilustración sirve como analogía. El contrato técnico se define en el código.</a:t>
            </a:r>
          </a:p>
        </p:txBody>
      </p:sp>
    </p:spTree>
    <p:extLst>
      <p:ext uri="{BB962C8B-B14F-4D97-AF65-F5344CB8AC3E}">
        <p14:creationId xmlns:p14="http://schemas.microsoft.com/office/powerpoint/2010/main" val="19268443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5A1592-3BB8-4834-83D4-B7C581905A4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A25C49-2750-4CDD-B958-7E20620A548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Concurrencia y paralelismo</a:t>
            </a:r>
          </a:p>
        </p:txBody>
      </p:sp>
      <p:sp>
        <p:nvSpPr>
          <p:cNvPr id="3" name="">
            <a:extLst xmlns:a="http://schemas.openxmlformats.org/drawingml/2006/main">
              <a:ext uri="{FF2B5EF4-FFF2-40B4-BE49-F238E27FC236}">
                <a16:creationId xmlns:a16="http://schemas.microsoft.com/office/drawing/2014/main" id="{2124C5A5-E2FB-438A-8931-D08A536FA21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369B7C-B65E-4E20-A7C1-ED0594A55E1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D1B6A55F-1FD9-49B9-BF6C-89CFCE06C26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BB9AC1D7-697E-4B33-A8ED-BFEF6D400B0C}"/>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Concurrencia y paralelismo son conceptos distintos.</a:t>
            </a:r>
          </a:p>
        </p:txBody>
      </p:sp>
      <p:sp>
        <p:nvSpPr>
          <p:cNvPr id="7" name="">
            <a:extLst xmlns:a="http://schemas.openxmlformats.org/drawingml/2006/main">
              <a:ext uri="{FF2B5EF4-FFF2-40B4-BE49-F238E27FC236}">
                <a16:creationId xmlns:a16="http://schemas.microsoft.com/office/drawing/2014/main" id="{F94AD370-F256-4D9C-A266-F4F0D392E85E}"/>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Concurrencia significa que varias actividades progresan durante un intervalo. Paralelismo significa que varias operaciones se ejecutan simultáneamente. Un solo núcleo puede intercalar tareas concurrentes y varios núcleos pueden ejecutar tareas en paralelo. Añadir hilos no garantiza una mejora: existen costos de coordinación y límites en CPU, memoria y dispositivos.</a:t>
            </a:r>
          </a:p>
        </p:txBody>
      </p:sp>
      <p:sp>
        <p:nvSpPr>
          <p:cNvPr id="8" name="">
            <a:extLst xmlns:a="http://schemas.openxmlformats.org/drawingml/2006/main">
              <a:ext uri="{FF2B5EF4-FFF2-40B4-BE49-F238E27FC236}">
                <a16:creationId xmlns:a16="http://schemas.microsoft.com/office/drawing/2014/main" id="{0E4EEFF4-ECD8-48E3-B4C7-C7F82067C800}"/>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DA5E4B-2DD6-4134-A414-748D96935DF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Las tareas que esperan E/S tienen oportunidades distintas de las que consumen CPU. Una importación puede esperar disco o red, mientras una transformación matemática utiliza CPU.</a:t>
            </a:r>
          </a:p>
        </p:txBody>
      </p:sp>
    </p:spTree>
    <p:extLst>
      <p:ext uri="{BB962C8B-B14F-4D97-AF65-F5344CB8AC3E}">
        <p14:creationId xmlns:p14="http://schemas.microsoft.com/office/powerpoint/2010/main" val="18580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0D9013-AC93-4A5D-8019-49F590B4C0BA}"/>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98288E-BB72-4564-BE98-4475F529D4C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Estado compartido y condición de carrera</a:t>
            </a:r>
          </a:p>
        </p:txBody>
      </p:sp>
      <p:sp>
        <p:nvSpPr>
          <p:cNvPr id="3" name="">
            <a:extLst xmlns:a="http://schemas.openxmlformats.org/drawingml/2006/main">
              <a:ext uri="{FF2B5EF4-FFF2-40B4-BE49-F238E27FC236}">
                <a16:creationId xmlns:a16="http://schemas.microsoft.com/office/drawing/2014/main" id="{CA010299-A912-4B31-8796-193A5DB70AA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8B8E86-090D-4442-969F-B8A09DE9960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1A32BB80-D54C-42F6-9EC9-9ED1EB9402D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3AEB8C76-BCF7-4342-83CC-E5642B15536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Una carrera puede perder actualizaciones.</a:t>
            </a:r>
          </a:p>
        </p:txBody>
      </p:sp>
      <p:sp>
        <p:nvSpPr>
          <p:cNvPr id="7" name="">
            <a:extLst xmlns:a="http://schemas.openxmlformats.org/drawingml/2006/main">
              <a:ext uri="{FF2B5EF4-FFF2-40B4-BE49-F238E27FC236}">
                <a16:creationId xmlns:a16="http://schemas.microsoft.com/office/drawing/2014/main" id="{DE447299-3C5C-46BA-A9BD-6981A3957B1C}"/>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condición de carrera ocurre cuando el resultado depende de un orden no controlado entre operaciones concurrentes. contador++ contiene conceptualmente lectura, suma y escritura. Dos hilos pueden leer el mismo valor y escribir el mismo resultado, perdiendo una actualización.</a:t>
            </a:r>
          </a:p>
        </p:txBody>
      </p:sp>
      <p:sp>
        <p:nvSpPr>
          <p:cNvPr id="8" name="">
            <a:extLst xmlns:a="http://schemas.openxmlformats.org/drawingml/2006/main">
              <a:ext uri="{FF2B5EF4-FFF2-40B4-BE49-F238E27FC236}">
                <a16:creationId xmlns:a16="http://schemas.microsoft.com/office/drawing/2014/main" id="{0A0BC294-4E13-4F45-A667-CBE66714AE3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53A884D-2A82-423E-BA3F-2A53A988EC05}"/>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demostración fuerza ese intercalado mediante una barrera. Ambos hilos leen antes de que cualquiera escriba, de modo que el contador ordinario termina en uno.</a:t>
            </a:r>
          </a:p>
        </p:txBody>
      </p:sp>
    </p:spTree>
    <p:extLst>
      <p:ext uri="{BB962C8B-B14F-4D97-AF65-F5344CB8AC3E}">
        <p14:creationId xmlns:p14="http://schemas.microsoft.com/office/powerpoint/2010/main" val="7078271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F16D02-8CE1-4087-A75C-42FDC5B0CA7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778693-E9CA-4003-B1D4-FF4781EF853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Atomicidad, visibilidad y orden</a:t>
            </a:r>
          </a:p>
        </p:txBody>
      </p:sp>
      <p:sp>
        <p:nvSpPr>
          <p:cNvPr id="3" name="">
            <a:extLst xmlns:a="http://schemas.openxmlformats.org/drawingml/2006/main">
              <a:ext uri="{FF2B5EF4-FFF2-40B4-BE49-F238E27FC236}">
                <a16:creationId xmlns:a16="http://schemas.microsoft.com/office/drawing/2014/main" id="{7334FE0C-1495-496C-8E88-5C2DF49351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B98FB4-5C27-4F58-9619-F3525485E5D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78AE9EB9-46E9-458D-8B4F-8DF9734ABCA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B27F69CB-E676-4BD4-8AB7-CBCF0CEC9BA0}"/>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Visibilidad no implica atomicidad.</a:t>
            </a:r>
          </a:p>
        </p:txBody>
      </p:sp>
      <p:sp>
        <p:nvSpPr>
          <p:cNvPr id="7" name="">
            <a:extLst xmlns:a="http://schemas.openxmlformats.org/drawingml/2006/main">
              <a:ext uri="{FF2B5EF4-FFF2-40B4-BE49-F238E27FC236}">
                <a16:creationId xmlns:a16="http://schemas.microsoft.com/office/drawing/2014/main" id="{0441816F-2D25-46A5-A00E-5E9187F132A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Atomicidad significa que una operación se observa como una unidad indivisible respecto de otras. Visibilidad determina cuándo un hilo observa las escrituras de otro. Orden se refiere a las relaciones permitidas entre operaciones, incluyendo reordenamientos compatibles con el modelo de memoria.</a:t>
            </a:r>
          </a:p>
        </p:txBody>
      </p:sp>
      <p:sp>
        <p:nvSpPr>
          <p:cNvPr id="8" name="">
            <a:extLst xmlns:a="http://schemas.openxmlformats.org/drawingml/2006/main">
              <a:ext uri="{FF2B5EF4-FFF2-40B4-BE49-F238E27FC236}">
                <a16:creationId xmlns:a16="http://schemas.microsoft.com/office/drawing/2014/main" id="{6C2A1B5F-1D51-4059-8FE8-A32DA17907BF}"/>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7FEF4F-B33A-48A4-BF2E-CBE8C9FDE3AA}"/>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volatile proporciona garantías de visibilidad y orden para accesos al campo, pero no vuelve atómico un incremento compuesto. synchronized, las clases atómicas y otras herramientas establecen relaciones de happens-before documentadas. Thread.</a:t>
            </a:r>
          </a:p>
        </p:txBody>
      </p:sp>
    </p:spTree>
    <p:extLst>
      <p:ext uri="{BB962C8B-B14F-4D97-AF65-F5344CB8AC3E}">
        <p14:creationId xmlns:p14="http://schemas.microsoft.com/office/powerpoint/2010/main" val="17361406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BBA4F0-AE82-43EB-88EA-8B70C9ADEBE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23CAF7-5A86-49A2-A5C8-4CE9D4DA48F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Diseño con menos estado compartido</a:t>
            </a:r>
          </a:p>
        </p:txBody>
      </p:sp>
      <p:sp>
        <p:nvSpPr>
          <p:cNvPr id="3" name="">
            <a:extLst xmlns:a="http://schemas.openxmlformats.org/drawingml/2006/main">
              <a:ext uri="{FF2B5EF4-FFF2-40B4-BE49-F238E27FC236}">
                <a16:creationId xmlns:a16="http://schemas.microsoft.com/office/drawing/2014/main" id="{B273F995-312B-4111-8C6F-ECA2BBC6814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6C6242-D73B-4D6B-B282-BA7770BE7D2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8D3E7371-C006-4191-A091-355C5824116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6DAE7862-81D2-4298-81A6-7A22A7CF17D9}"/>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Las invariantes son mejores que el orden de println.</a:t>
            </a:r>
          </a:p>
        </p:txBody>
      </p:sp>
      <p:sp>
        <p:nvSpPr>
          <p:cNvPr id="7" name="">
            <a:extLst xmlns:a="http://schemas.openxmlformats.org/drawingml/2006/main">
              <a:ext uri="{FF2B5EF4-FFF2-40B4-BE49-F238E27FC236}">
                <a16:creationId xmlns:a16="http://schemas.microsoft.com/office/drawing/2014/main" id="{EF1AE806-29C3-414D-B7B3-800EC95BEE6C}"/>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primera opción es asignar cada dato a un único propietario. Otra es usar objetos inmutables y mensajes. Una cola entre productor y consumidor expresa la transferencia de trabajo sin compartir todas las estructuras internas. Cuando sí se comparte estado mutable, identifica la sección crítica y el mecanismo que la protege.</a:t>
            </a:r>
          </a:p>
        </p:txBody>
      </p:sp>
      <p:sp>
        <p:nvSpPr>
          <p:cNvPr id="8" name="">
            <a:extLst xmlns:a="http://schemas.openxmlformats.org/drawingml/2006/main">
              <a:ext uri="{FF2B5EF4-FFF2-40B4-BE49-F238E27FC236}">
                <a16:creationId xmlns:a16="http://schemas.microsoft.com/office/drawing/2014/main" id="{C1A510BC-1D04-4219-99F2-C5D29F494D6C}"/>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FCD0C3-6FAC-4057-8B13-84A9EC8CB9F1}"/>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Una prueba correcta define invariantes: cantidad final de registros, ausencia de duplicados y correspondencia entre recibidos y procesados. El orden exacto de mensajes impresos no suele ser un criterio válido.</a:t>
            </a:r>
          </a:p>
        </p:txBody>
      </p:sp>
    </p:spTree>
    <p:extLst>
      <p:ext uri="{BB962C8B-B14F-4D97-AF65-F5344CB8AC3E}">
        <p14:creationId xmlns:p14="http://schemas.microsoft.com/office/powerpoint/2010/main" val="7988576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F81535-742F-4871-A498-F2F1AF950D33}"/>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A1534C-0428-42C6-BD96-96B51C13B95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64C3103C-FB5D-4AF0-A12B-B5E01778B7E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1E5409-6172-467C-B26C-AB9CB1FD055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054F1130-E359-4F42-A2AA-913F51F2026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3A5A7EB4-23EB-4470-B411-04853959E806}"/>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F759CD-2428-45EA-A5BE-FB4BC0262D76}"/>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InterruptedException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CyclicBarrier barrera = new CyclicBarrier(2);</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AtomicInteger seguro = new AtomicInteger();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Runnable tarea = () -&gt;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int anterior = contador;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 barrera.await();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catch (InterruptedException e) { Thread.currentThread().interrupt(); return;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catch (BrokenBarrierException e) { throw new IllegalStateException(e);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contador = anterior + 1;</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seguro.incrementAndGet();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Thread a = new Thread(tarea), b = new Thread(tarea);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a.start(); b.start(); a.join(); b.join();</a:t>
            </a:r>
          </a:p>
        </p:txBody>
      </p:sp>
      <p:sp>
        <p:nvSpPr>
          <p:cNvPr id="8" name="">
            <a:extLst xmlns:a="http://schemas.openxmlformats.org/drawingml/2006/main">
              <a:ext uri="{FF2B5EF4-FFF2-40B4-BE49-F238E27FC236}">
                <a16:creationId xmlns:a16="http://schemas.microsoft.com/office/drawing/2014/main" id="{0CC8169D-7E24-4143-B02D-2EE2677B88BA}"/>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CarreraDemo.java. Código completo y ejecución en material.md.</a:t>
            </a:r>
          </a:p>
        </p:txBody>
      </p:sp>
    </p:spTree>
    <p:extLst>
      <p:ext uri="{BB962C8B-B14F-4D97-AF65-F5344CB8AC3E}">
        <p14:creationId xmlns:p14="http://schemas.microsoft.com/office/powerpoint/2010/main" val="20282376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EF87E0-0AAD-455E-8EC8-909FB8832BC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2C3028-AD7A-47C6-96FA-73CA79C4E4B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95382D66-2127-41D0-8F72-40030A9A52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81B534-7703-4934-9F41-3114FDF2978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E6BA9D97-DAD4-4FCD-855C-0C4712D48B4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Dos incrementos coordinados sin protección</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Se pierde una actualización</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Dos incrementos atómicos</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Resultado 2</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volatile y contador++</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La operación compuesta sigue sin ser atómica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83B7224D-99E0-454B-B611-FB50D5A6D94C}"/>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Sin operación atómica: 1 · Con AtomicInteger: 2</a:t>
            </a:r>
          </a:p>
        </p:txBody>
      </p:sp>
    </p:spTree>
    <p:extLst>
      <p:ext uri="{BB962C8B-B14F-4D97-AF65-F5344CB8AC3E}">
        <p14:creationId xmlns:p14="http://schemas.microsoft.com/office/powerpoint/2010/main" val="107162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1D6E0C-437D-413A-BC71-EB84424B722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20DE1E-2B26-4E48-8703-43380701AB6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PC3.1 · Ampliación del proyecto</a:t>
            </a:r>
          </a:p>
        </p:txBody>
      </p:sp>
      <p:sp>
        <p:nvSpPr>
          <p:cNvPr id="3" name="">
            <a:extLst xmlns:a="http://schemas.openxmlformats.org/drawingml/2006/main">
              <a:ext uri="{FF2B5EF4-FFF2-40B4-BE49-F238E27FC236}">
                <a16:creationId xmlns:a16="http://schemas.microsoft.com/office/drawing/2014/main" id="{B3D8D586-BD5F-4874-AFA4-6873BCB4FD2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438A1E-066F-46F8-88A6-A79C1DCAD96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FE054E87-A822-4F2A-A9A8-6F0399F156F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D9D23575-8A55-47AD-8C95-E18F6196CE51}"/>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60E73DF5-60B8-47FB-9982-8B5B71FDAED7}"/>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Identifica en CampusMonitor el catálogo, las listas de lecturas y el resumen que podrían ser compartidos. Documenta sus propietarios.</a:t>
            </a:r>
          </a:p>
        </p:txBody>
      </p:sp>
      <p:sp>
        <p:nvSpPr>
          <p:cNvPr id="8" name="">
            <a:extLst xmlns:a="http://schemas.openxmlformats.org/drawingml/2006/main">
              <a:ext uri="{FF2B5EF4-FFF2-40B4-BE49-F238E27FC236}">
                <a16:creationId xmlns:a16="http://schemas.microsoft.com/office/drawing/2014/main" id="{D2BA8C7B-526C-4B9E-ADB2-F46F61E3B2AE}"/>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A2E0DED3-C546-43DF-AFC4-625CDBE3FA53}"/>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Reproduce una actualización perdida con dos tareas y una coordinación determinista. Después corrige el contador con AtomicInteger.</a:t>
            </a:r>
          </a:p>
        </p:txBody>
      </p:sp>
      <p:sp>
        <p:nvSpPr>
          <p:cNvPr id="10" name="">
            <a:extLst xmlns:a="http://schemas.openxmlformats.org/drawingml/2006/main">
              <a:ext uri="{FF2B5EF4-FFF2-40B4-BE49-F238E27FC236}">
                <a16:creationId xmlns:a16="http://schemas.microsoft.com/office/drawing/2014/main" id="{DCF22D12-390D-411D-B1CE-E6EDA2F8CEF8}"/>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9912477E-35A6-40A4-9A29-946A9310A9B3}"/>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Define tres invariantes para una importación concurrente y explica cuáles no se garantizan usando solo volatile.</a:t>
            </a:r>
          </a:p>
        </p:txBody>
      </p:sp>
    </p:spTree>
    <p:extLst>
      <p:ext uri="{BB962C8B-B14F-4D97-AF65-F5344CB8AC3E}">
        <p14:creationId xmlns:p14="http://schemas.microsoft.com/office/powerpoint/2010/main" val="17226058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619F2A-EDD5-4D1F-88DC-F280157F94C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13D9A1-CE09-4254-B16D-1DD05419323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26CCB46A-89A6-4AC1-B68D-6F21ABAAC0D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867A00-C2A8-4A73-9C68-9669CD6DB4E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3.1</a:t>
            </a:r>
          </a:p>
        </p:txBody>
      </p:sp>
      <p:sp>
        <p:nvSpPr>
          <p:cNvPr id="5" name="">
            <a:extLst xmlns:a="http://schemas.openxmlformats.org/drawingml/2006/main">
              <a:ext uri="{FF2B5EF4-FFF2-40B4-BE49-F238E27FC236}">
                <a16:creationId xmlns:a16="http://schemas.microsoft.com/office/drawing/2014/main" id="{6BF45037-0D9C-472B-ABA8-FAC56300532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73FA6149-D363-4F0D-A1A0-F7153AC146DF}"/>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Concurrencia y paralelismo son conceptos distintos.</a:t>
            </a:r>
          </a:p>
        </p:txBody>
      </p:sp>
      <p:sp>
        <p:nvSpPr>
          <p:cNvPr id="7" name="">
            <a:extLst xmlns:a="http://schemas.openxmlformats.org/drawingml/2006/main">
              <a:ext uri="{FF2B5EF4-FFF2-40B4-BE49-F238E27FC236}">
                <a16:creationId xmlns:a16="http://schemas.microsoft.com/office/drawing/2014/main" id="{821313FF-2037-4E05-AE2F-8837F3932D45}"/>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carrera puede perder actualizaciones.</a:t>
            </a:r>
          </a:p>
        </p:txBody>
      </p:sp>
      <p:sp>
        <p:nvSpPr>
          <p:cNvPr id="8" name="">
            <a:extLst xmlns:a="http://schemas.openxmlformats.org/drawingml/2006/main">
              <a:ext uri="{FF2B5EF4-FFF2-40B4-BE49-F238E27FC236}">
                <a16:creationId xmlns:a16="http://schemas.microsoft.com/office/drawing/2014/main" id="{2538D922-2D95-46E9-82BC-60301916D688}"/>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Visibilidad no implica atomicidad.</a:t>
            </a:r>
          </a:p>
        </p:txBody>
      </p:sp>
      <p:sp>
        <p:nvSpPr>
          <p:cNvPr id="9" name="">
            <a:extLst xmlns:a="http://schemas.openxmlformats.org/drawingml/2006/main">
              <a:ext uri="{FF2B5EF4-FFF2-40B4-BE49-F238E27FC236}">
                <a16:creationId xmlns:a16="http://schemas.microsoft.com/office/drawing/2014/main" id="{B8CCEEE8-5C60-4C8D-A467-5D3F97C24010}"/>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Las invariantes son mejores que el orden de println.</a:t>
            </a:r>
          </a:p>
        </p:txBody>
      </p:sp>
    </p:spTree>
    <p:extLst>
      <p:ext uri="{BB962C8B-B14F-4D97-AF65-F5344CB8AC3E}">
        <p14:creationId xmlns:p14="http://schemas.microsoft.com/office/powerpoint/2010/main" val="165056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2026-09-10T23:06:23.6990000Z</dcterms:created>
  <dcterms:modified xsi:type="dcterms:W3CDTF">2026-09-10T23:06:23.6990000Z</dcterms:modified>
</coreProperties>
</file>