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f774dd55784d0a" /><Relationship Type="http://schemas.openxmlformats.org/officeDocument/2006/relationships/extended-properties" Target="/docProps/app.xml" Id="Rf21cfee8b7ac4f91" /><Relationship Type="http://schemas.openxmlformats.org/officeDocument/2006/relationships/officeDocument" Target="/ppt/presentation.xml" Id="Rb629f8518f31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499de14faf4ea1"/>
  </p:sldMasterIdLst>
  <p:notesMasterIdLst>
    <p:notesMasterId xmlns:r="http://schemas.openxmlformats.org/officeDocument/2006/relationships" r:id="Re84b41997d394001"/>
  </p:notesMasterIdLst>
  <p:sldIdLst>
    <p:sldId xmlns:r="http://schemas.openxmlformats.org/officeDocument/2006/relationships" id="256" r:id="Re36d31fcdce04b72"/>
    <p:sldId xmlns:r="http://schemas.openxmlformats.org/officeDocument/2006/relationships" id="257" r:id="R8ab106baa9354a0a"/>
    <p:sldId xmlns:r="http://schemas.openxmlformats.org/officeDocument/2006/relationships" id="258" r:id="R8022702cfb544127"/>
    <p:sldId xmlns:r="http://schemas.openxmlformats.org/officeDocument/2006/relationships" id="259" r:id="R7359ba348f1440d2"/>
    <p:sldId xmlns:r="http://schemas.openxmlformats.org/officeDocument/2006/relationships" id="260" r:id="Rcf5d18283e55474b"/>
    <p:sldId xmlns:r="http://schemas.openxmlformats.org/officeDocument/2006/relationships" id="261" r:id="R3d7c37f5555740fd"/>
    <p:sldId xmlns:r="http://schemas.openxmlformats.org/officeDocument/2006/relationships" id="262" r:id="R1e0210a2f23d418a"/>
    <p:sldId xmlns:r="http://schemas.openxmlformats.org/officeDocument/2006/relationships" id="263" r:id="Rdffd1c53d77346b8"/>
    <p:sldId xmlns:r="http://schemas.openxmlformats.org/officeDocument/2006/relationships" id="264" r:id="R3230726573074c60"/>
    <p:sldId xmlns:r="http://schemas.openxmlformats.org/officeDocument/2006/relationships" id="265" r:id="R73d1d8ec539448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6e7053f044260" /><Relationship Type="http://schemas.openxmlformats.org/officeDocument/2006/relationships/slideMaster" Target="/ppt/slideMasters/slideMaster1.xml" Id="R21499de14faf4ea1" /><Relationship Type="http://schemas.openxmlformats.org/officeDocument/2006/relationships/notesMaster" Target="/ppt/notesMasters/notesMaster1.xml" Id="Re84b41997d394001" /><Relationship Type="http://schemas.openxmlformats.org/officeDocument/2006/relationships/presProps" Target="/ppt/presProps.xml" Id="R6236ee8b0bf348a9" /><Relationship Type="http://schemas.openxmlformats.org/officeDocument/2006/relationships/tableStyles" Target="/ppt/tableStyles.xml" Id="Rb6dd45452022405f" /><Relationship Type="http://schemas.openxmlformats.org/officeDocument/2006/relationships/slide" Target="/ppt/slides/slide1.xml" Id="Re36d31fcdce04b72" /><Relationship Type="http://schemas.openxmlformats.org/officeDocument/2006/relationships/slide" Target="/ppt/slides/slide2.xml" Id="R8ab106baa9354a0a" /><Relationship Type="http://schemas.openxmlformats.org/officeDocument/2006/relationships/slide" Target="/ppt/slides/slide3.xml" Id="R8022702cfb544127" /><Relationship Type="http://schemas.openxmlformats.org/officeDocument/2006/relationships/slide" Target="/ppt/slides/slide4.xml" Id="R7359ba348f1440d2" /><Relationship Type="http://schemas.openxmlformats.org/officeDocument/2006/relationships/slide" Target="/ppt/slides/slide5.xml" Id="Rcf5d18283e55474b" /><Relationship Type="http://schemas.openxmlformats.org/officeDocument/2006/relationships/slide" Target="/ppt/slides/slide6.xml" Id="R3d7c37f5555740fd" /><Relationship Type="http://schemas.openxmlformats.org/officeDocument/2006/relationships/slide" Target="/ppt/slides/slide7.xml" Id="R1e0210a2f23d418a" /><Relationship Type="http://schemas.openxmlformats.org/officeDocument/2006/relationships/slide" Target="/ppt/slides/slide8.xml" Id="Rdffd1c53d77346b8" /><Relationship Type="http://schemas.openxmlformats.org/officeDocument/2006/relationships/slide" Target="/ppt/slides/slide9.xml" Id="R3230726573074c60" /><Relationship Type="http://schemas.openxmlformats.org/officeDocument/2006/relationships/slide" Target="/ppt/slides/slide10.xml" Id="R73d1d8ec539448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f44b5f58f14e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03fff6bff44d79" /><Relationship Type="http://schemas.openxmlformats.org/officeDocument/2006/relationships/notesMaster" Target="/ppt/notesMasters/notesMaster1.xml" Id="Rdafabfa192bd44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9518c6eaff4d42" /><Relationship Type="http://schemas.openxmlformats.org/officeDocument/2006/relationships/notesMaster" Target="/ppt/notesMasters/notesMaster1.xml" Id="R9f5e4743611743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f348552bdc4299" /><Relationship Type="http://schemas.openxmlformats.org/officeDocument/2006/relationships/notesMaster" Target="/ppt/notesMasters/notesMaster1.xml" Id="Re0aa328199424b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69c391c6b4fc1" /><Relationship Type="http://schemas.openxmlformats.org/officeDocument/2006/relationships/notesMaster" Target="/ppt/notesMasters/notesMaster1.xml" Id="R6c616db524ea45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eb9084630f4650" /><Relationship Type="http://schemas.openxmlformats.org/officeDocument/2006/relationships/notesMaster" Target="/ppt/notesMasters/notesMaster1.xml" Id="R5d6d69c16de948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b9bb2a7c93488b" /><Relationship Type="http://schemas.openxmlformats.org/officeDocument/2006/relationships/notesMaster" Target="/ppt/notesMasters/notesMaster1.xml" Id="R4b86bed8c04047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0b6d50b74c4dc5" /><Relationship Type="http://schemas.openxmlformats.org/officeDocument/2006/relationships/notesMaster" Target="/ppt/notesMasters/notesMaster1.xml" Id="R88a7a15335e146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d97828d335418f" /><Relationship Type="http://schemas.openxmlformats.org/officeDocument/2006/relationships/notesMaster" Target="/ppt/notesMasters/notesMaster1.xml" Id="R74056458336a49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b914606d9b4b64" /><Relationship Type="http://schemas.openxmlformats.org/officeDocument/2006/relationships/notesMaster" Target="/ppt/notesMasters/notesMaster1.xml" Id="R1af2547f55654f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0bc9eab3a54dfb" /><Relationship Type="http://schemas.openxmlformats.org/officeDocument/2006/relationships/notesMaster" Target="/ppt/notesMasters/notesMaster1.xml" Id="R9421ceec39df41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3.6. Concurrencia e interfaz gráfica con Swing.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monitor necesita mostrar el avance de una importación sin congelar la ventana. Swing forma parte del JDK y permite concentrarse en la regla de actualización de la interfaz y la separación entre trabajo y presentación.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Swing procesa eventos y actualizaciones de interfaz en el Event Dispatch Thread, EDT. Crea y modifica componentes Swing en ese hilo. Una tarea lenta ejecutada en un ActionListener bloquea otros eventos, incluido repintado y cierre aparente de la ventana.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SwingUtilities.invokeLater programa una operación breve en el EDT. No ejecuta trabajo pesado en segundo plano. Las operaciones de disco, base de datos o recepción serial deben realizarse fuera del EDT y comunicar resultados mediante mecanismos adecuados. También evita llamadas bloqueantes como get o join dentro del EDT salvo que el resultado ya esté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SwingWorker&lt;T,V&gt; separa doInBackground, que ejecuta trabajo fuera del EDT, de process y done, que se ejecutan en el EDT. publish envía avances que pueden agruparse antes de llegar a process. No supongas que cada publish genera una llamada inmediata e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done se ejecuta al terminar, también cuando hay cancelación o error. get dentro de done permite recuperar el resultado o la causa, porque la tarea ya finalizó. Maneja CancellationException, ExecutionException e InterruptedException de forma diferenciada. Los mensajes al usuario deben indicar el estado real de la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Mientras se ejecuta una tarea, deshabilita el botón que iniciaría otra copia incompatible y habilita la cancelación si procede. Al terminar, restaura controles en una ruta común. El cierre de la ventana debe cancelar tareas y liberar recursos, especialmente si después se agregan conexiones seriales o JDBC.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cancel(true) solicita interrupción. doInBackground debe consultar isCancelled y responder a InterruptedException. Una barra al cien por ciento no equivale a datos persistidos si la transacción todavía no se confirmó. Usa etiquetas como procesadas o guardadas según la etapa representada.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modelo mantiene sensores y lecturas, la vista presenta controles y el controlador interpreta acciones. La lógica del parser o repositorio no debería depender de JLabel ni JOptionPane. Esta separación permite ejecutar los mismos casos desde consola y desde interfaz.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demostración incluye un modo --self-test para verificar el cálculo sin pantalla y un modo gráfico para inspeccionar respuesta y cancelación. La prueba sin pantalla no sustituye la revisión visual. Para una aplicación real, el servicio de importación debe devolver resultados estructurados y la vista decidir cómo mostrarlos.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https://docs.oracle.com/en/java/javase/25/docs/api/java.base/java/util/concurrent/package-summary.html</a:t>
            </a:r>
          </a:p>
          <a:p xmlns:a="http://schemas.openxmlformats.org/drawingml/2006/main">
            <a:r>
              <a:t>https://docs.oracle.com/en/java/javase/25/docs/api/java.base/java/lang/Thread.html</a:t>
            </a:r>
          </a:p>
          <a:p xmlns:a="http://schemas.openxmlformats.org/drawingml/2006/main">
            <a:r>
              <a:t>https://docs.oracle.com/en/java/javase/25/docs/api/java.desktop/javax/swing/SwingWorker.html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edu.ups.pap.u03;</a:t>
            </a:r>
          </a:p>
          <a:p xmlns:a="http://schemas.openxmlformats.org/drawingml/2006/main">
            <a:r>
              <a:t>import javax.swing.*;</a:t>
            </a:r>
          </a:p>
          <a:p xmlns:a="http://schemas.openxmlformats.org/drawingml/2006/main">
            <a:r>
              <a:t>import java.awt.*;</a:t>
            </a:r>
          </a:p>
          <a:p xmlns:a="http://schemas.openxmlformats.org/drawingml/2006/main">
            <a:r>
              <a:t>import java.awt.event.*;</a:t>
            </a:r>
          </a:p>
          <a:p xmlns:a="http://schemas.openxmlformats.org/drawingml/2006/main">
            <a:r>
              <a:t>import java.util.List;</a:t>
            </a:r>
          </a:p>
          <a:p xmlns:a="http://schemas.openxmlformats.org/drawingml/2006/main">
            <a:r>
              <a:t>import java.util.concurrent.*;</a:t>
            </a:r>
          </a:p>
          <a:p xmlns:a="http://schemas.openxmlformats.org/drawingml/2006/main">
            <a:r>
              <a:t>public class SwingDemo {</a:t>
            </a:r>
          </a:p>
          <a:p xmlns:a="http://schemas.openxmlformats.org/drawingml/2006/main">
            <a:r>
              <a:t>    static int calcular() { return java.util.stream.IntStream.rangeClosed(1,10).sum(); }</a:t>
            </a:r>
          </a:p>
          <a:p xmlns:a="http://schemas.openxmlformats.org/drawingml/2006/main">
            <a:r>
              <a:t>    public static void main(String[] args) {</a:t>
            </a:r>
          </a:p>
          <a:p xmlns:a="http://schemas.openxmlformats.org/drawingml/2006/main">
            <a:r>
              <a:t>        if (args.length&gt;0 &amp;&amp; args[0].equals("--self-test")) {</a:t>
            </a:r>
          </a:p>
          <a:p xmlns:a="http://schemas.openxmlformats.org/drawingml/2006/main">
            <a:r>
              <a:t>            if (calcular()!=55) throw new AssertionError();</a:t>
            </a:r>
          </a:p>
          <a:p xmlns:a="http://schemas.openxmlformats.org/drawingml/2006/main">
            <a:r>
              <a:t>            System.out.println("Cálculo: 55"); return;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SwingUtilities.invokeLater(() -&gt; {</a:t>
            </a:r>
          </a:p>
          <a:p xmlns:a="http://schemas.openxmlformats.org/drawingml/2006/main">
            <a:r>
              <a:t>            JFrame ventana = new JFrame("CampusMonitor");</a:t>
            </a:r>
          </a:p>
          <a:p xmlns:a="http://schemas.openxmlformats.org/drawingml/2006/main">
            <a:r>
              <a:t>            JLabel estado = new JLabel("Listo");</a:t>
            </a:r>
          </a:p>
          <a:p xmlns:a="http://schemas.openxmlformats.org/drawingml/2006/main">
            <a:r>
              <a:t>            JButton iniciar = new JButton("Importar"), cancelar = new JButton("Cancelar");</a:t>
            </a:r>
          </a:p>
          <a:p xmlns:a="http://schemas.openxmlformats.org/drawingml/2006/main">
            <a:r>
              <a:t>            cancelar.setEnabled(false);</a:t>
            </a:r>
          </a:p>
          <a:p xmlns:a="http://schemas.openxmlformats.org/drawingml/2006/main">
            <a:r>
              <a:t>            final java.util.concurrent.atomic.AtomicReference&lt;SwingWorker&lt;Integer,Integer&gt;&gt; actual = new java.util.concurrent.atomic.AtomicReference&lt;&gt;();</a:t>
            </a:r>
          </a:p>
          <a:p xmlns:a="http://schemas.openxmlformats.org/drawingml/2006/main">
            <a:r>
              <a:t>            iniciar.addActionListener(evento -&gt; {</a:t>
            </a:r>
          </a:p>
          <a:p xmlns:a="http://schemas.openxmlformats.org/drawingml/2006/main">
            <a:r>
              <a:t>                iniciar.setEnabled(false); cancelar.setEnabled(true);</a:t>
            </a:r>
          </a:p>
          <a:p xmlns:a="http://schemas.openxmlformats.org/drawingml/2006/main">
            <a:r>
              <a:t>                actual.set(new SwingWorker&lt;Integer,Integer&gt;() {</a:t>
            </a:r>
          </a:p>
          <a:p xmlns:a="http://schemas.openxmlformats.org/drawingml/2006/main">
            <a:r>
              <a:t>                    protected Integer doInBackground() throws Exception {</a:t>
            </a:r>
          </a:p>
          <a:p xmlns:a="http://schemas.openxmlformats.org/drawingml/2006/main">
            <a:r>
              <a:t>                        for(int i=1;i&lt;=10;i++) {</a:t>
            </a:r>
          </a:p>
          <a:p xmlns:a="http://schemas.openxmlformats.org/drawingml/2006/main">
            <a:r>
              <a:t>                            if(isCancelled()) return 0;</a:t>
            </a:r>
          </a:p>
          <a:p xmlns:a="http://schemas.openxmlformats.org/drawingml/2006/main">
            <a:r>
              <a:t>                            Thread.sleep(80); publish(i);</a:t>
            </a:r>
          </a:p>
          <a:p xmlns:a="http://schemas.openxmlformats.org/drawingml/2006/main">
            <a:r>
              <a:t>                        }</a:t>
            </a:r>
          </a:p>
          <a:p xmlns:a="http://schemas.openxmlformats.org/drawingml/2006/main">
            <a:r>
              <a:t>                        return calcular();</a:t>
            </a:r>
          </a:p>
          <a:p xmlns:a="http://schemas.openxmlformats.org/drawingml/2006/main">
            <a:r>
              <a:t>                    }</a:t>
            </a:r>
          </a:p>
          <a:p xmlns:a="http://schemas.openxmlformats.org/drawingml/2006/main">
            <a:r>
              <a:t>                    protected void process(List&lt;Integer&gt; lotes) {</a:t>
            </a:r>
          </a:p>
          <a:p xmlns:a="http://schemas.openxmlformats.org/drawingml/2006/main">
            <a:r>
              <a:t>                        estado.setText("Procesadas: "+lotes.getLast());</a:t>
            </a:r>
          </a:p>
          <a:p xmlns:a="http://schemas.openxmlformats.org/drawingml/2006/main">
            <a:r>
              <a:t>                    }</a:t>
            </a:r>
          </a:p>
          <a:p xmlns:a="http://schemas.openxmlformats.org/drawingml/2006/main">
            <a:r>
              <a:t>                    protected void done() {</a:t>
            </a:r>
          </a:p>
          <a:p xmlns:a="http://schemas.openxmlformats.org/drawingml/2006/main">
            <a:r>
              <a:t>                        try { estado.setText("Suma: "+get()); }</a:t>
            </a:r>
          </a:p>
          <a:p xmlns:a="http://schemas.openxmlformats.org/drawingml/2006/main">
            <a:r>
              <a:t>                        catch(CancellationException e) { estado.setText("Cancelado"); }</a:t>
            </a:r>
          </a:p>
          <a:p xmlns:a="http://schemas.openxmlformats.org/drawingml/2006/main">
            <a:r>
              <a:t>                        catch(InterruptedException e) { Thread.currentThread().interrupt(); }</a:t>
            </a:r>
          </a:p>
          <a:p xmlns:a="http://schemas.openxmlformats.org/drawingml/2006/main">
            <a:r>
              <a:t>                        catch(ExecutionException e) { estado.setText("Error: "+e.getCause().getMessage()); }</a:t>
            </a:r>
          </a:p>
          <a:p xmlns:a="http://schemas.openxmlformats.org/drawingml/2006/main">
            <a:r>
              <a:t>                        finally { iniciar.setEnabled(true); cancelar.setEnabled(false); }</a:t>
            </a:r>
          </a:p>
          <a:p xmlns:a="http://schemas.openxmlformats.org/drawingml/2006/main">
            <a:r>
              <a:t>                    }</a:t>
            </a:r>
          </a:p>
          <a:p xmlns:a="http://schemas.openxmlformats.org/drawingml/2006/main">
            <a:r>
              <a:t>                });</a:t>
            </a:r>
          </a:p>
          <a:p xmlns:a="http://schemas.openxmlformats.org/drawingml/2006/main">
            <a:r>
              <a:t>                actual.get().execute();</a:t>
            </a:r>
          </a:p>
          <a:p xmlns:a="http://schemas.openxmlformats.org/drawingml/2006/main">
            <a:r>
              <a:t>            });</a:t>
            </a:r>
          </a:p>
          <a:p xmlns:a="http://schemas.openxmlformats.org/drawingml/2006/main">
            <a:r>
              <a:t>            cancelar.addActionListener(e -&gt; { if(actual.get()!=null) actual.get().cancel(true); });</a:t>
            </a:r>
          </a:p>
          <a:p xmlns:a="http://schemas.openxmlformats.org/drawingml/2006/main">
            <a:r>
              <a:t>            ventana.addWindowListener(new WindowAdapter() {</a:t>
            </a:r>
          </a:p>
          <a:p xmlns:a="http://schemas.openxmlformats.org/drawingml/2006/main">
            <a:r>
              <a:t>                public void windowClosing(WindowEvent e) { if(actual.get()!=null) actual.get().cancel(true); }</a:t>
            </a:r>
          </a:p>
          <a:p xmlns:a="http://schemas.openxmlformats.org/drawingml/2006/main">
            <a:r>
              <a:t>            });</a:t>
            </a:r>
          </a:p>
          <a:p xmlns:a="http://schemas.openxmlformats.org/drawingml/2006/main">
            <a:r>
              <a:t>            ventana.setDefaultCloseOperation(JFrame.DISPOSE_ON_CLOSE);</a:t>
            </a:r>
          </a:p>
          <a:p xmlns:a="http://schemas.openxmlformats.org/drawingml/2006/main">
            <a:r>
              <a:t>            ventana.setLayout(new FlowLayout());</a:t>
            </a:r>
          </a:p>
          <a:p xmlns:a="http://schemas.openxmlformats.org/drawingml/2006/main">
            <a:r>
              <a:t>            ventana.add(iniciar);ventana.add(cancelar);ventana.add(estado);</a:t>
            </a:r>
          </a:p>
          <a:p xmlns:a="http://schemas.openxmlformats.org/drawingml/2006/main">
            <a:r>
              <a:t>            ventana.setSize(420,140);ventana.setLocationRelativeTo(null);ventana.setVisible(true);</a:t>
            </a:r>
          </a:p>
          <a:p xmlns:a="http://schemas.openxmlformats.org/drawingml/2006/main">
            <a:r>
              <a:t>        });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Modo --self-test: Cálculo: 55. Modo gráfico: ventana con Importar, Cancelar y progreso. Al completar muestra Suma: 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Modo --self-test: Cálculo: 55. Modo gráfico: ventana con Importar, Cancelar y progreso. Al completar muestra Suma: 55.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evidencias/PC3.6.md y enlace al commit final.</a:t>
            </a:r>
          </a:p>
          <a:p xmlns:a="http://schemas.openxmlformats.org/drawingml/2006/main">
            <a:r>
              <a:t>Agrega una vista Swing a CampusMonitor con selector de fichero, botón importar, progreso y cancelación. Reutiliza el servicio existente.</a:t>
            </a:r>
          </a:p>
          <a:p xmlns:a="http://schemas.openxmlformats.org/drawingml/2006/main">
            <a:r>
              <a:t>Ejecuta importación fuera del EDT y actualiza componentes únicamente desde process, done o invokeLater.</a:t>
            </a:r>
          </a:p>
          <a:p xmlns:a="http://schemas.openxmlformats.org/drawingml/2006/main">
            <a:r>
              <a:t>Prueba doble clic, cancelación y cierre durante el trabajo. La ventana debe responder y no dejar tareas activas sin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7d2c195d948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c3d96a67074e59" /><Relationship Type="http://schemas.openxmlformats.org/officeDocument/2006/relationships/slideLayout" Target="/ppt/slideLayouts/slideLayout1.xml" Id="R2584b658227c45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4b658227c45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831abc16c4c8f" /><Relationship Type="http://schemas.openxmlformats.org/officeDocument/2006/relationships/image" Target="/ppt/media/image.png" Id="R370b865c49bd4b6f" /><Relationship Type="http://schemas.openxmlformats.org/officeDocument/2006/relationships/notesSlide" Target="/ppt/notesSlides/notesSlide1.xml" Id="R90f95adc835c4b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65240223a4ee4" /><Relationship Type="http://schemas.openxmlformats.org/officeDocument/2006/relationships/notesSlide" Target="/ppt/notesSlides/notesSlide2.xml" Id="R3b930f88363e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6b0667adc4062" /><Relationship Type="http://schemas.openxmlformats.org/officeDocument/2006/relationships/notesSlide" Target="/ppt/notesSlides/notesSlide3.xml" Id="R16fc96384ce84c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a16eb68ae4666" /><Relationship Type="http://schemas.openxmlformats.org/officeDocument/2006/relationships/notesSlide" Target="/ppt/notesSlides/notesSlide4.xml" Id="Rf86b12cbd927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6cd13f38a4340" /><Relationship Type="http://schemas.openxmlformats.org/officeDocument/2006/relationships/notesSlide" Target="/ppt/notesSlides/notesSlide5.xml" Id="Rc280beae2b8f4e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aa1d3a3b94e39" /><Relationship Type="http://schemas.openxmlformats.org/officeDocument/2006/relationships/notesSlide" Target="/ppt/notesSlides/notesSlide6.xml" Id="R7f5926ce550245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9c2ba42f6457f" /><Relationship Type="http://schemas.openxmlformats.org/officeDocument/2006/relationships/notesSlide" Target="/ppt/notesSlides/notesSlide7.xml" Id="R29c3ad92c0314f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cf4ec6e8d400e" /><Relationship Type="http://schemas.openxmlformats.org/officeDocument/2006/relationships/notesSlide" Target="/ppt/notesSlides/notesSlide8.xml" Id="R802c8ba926f44f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d28db62404471" /><Relationship Type="http://schemas.openxmlformats.org/officeDocument/2006/relationships/notesSlide" Target="/ppt/notesSlides/notesSlide9.xml" Id="R381953ab27fa43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c7173e8a44496" /><Relationship Type="http://schemas.openxmlformats.org/officeDocument/2006/relationships/notesSlide" Target="/ppt/notesSlides/notesSlide10.xml" Id="R048025e4b95849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b865c49bd4b6f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C44B5-B322-4594-884A-98A7AD3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E3ED9-7D0E-454B-A9DA-991B81A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Concurrencia e interfaz gráfica con Swing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1E96A-7FF7-4138-A33C-D650C06A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DF59E-45B0-4B1B-9ECD-5C746514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3 · 3.6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95ABE-F47F-458B-B412-919A0AA6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99607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358A0-0656-4054-8D26-ACD30C65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B06BB-D15F-4D21-9546-8A834AC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439E4-3365-4B75-A5C6-309BF1C9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9854A-8568-44EA-99ED-2C00074F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87E09-4F4B-4EE9-B5EC-558078B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DCC3B-6A57-4312-AF2E-7BA255C7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monitor necesita mostrar el avance de una importación sin congelar la ventana. Swing forma parte del JDK y permite concentrarse en la regla de actualización de la interfaz y la separación entre trabajo y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2025555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FDBEA-BF44-4F57-AFFE-AFDBB0AD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33CB7-9A21-4ED5-BDE4-19C3A297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Event Dispatch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FAB1E-B884-4C9A-9A3A-FFA52277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48F57-FAEB-4389-AC90-55BEACF6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DD87-0642-46CA-8D80-B71A1AAE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60424-C82C-4AD0-A251-68001286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Swing actualiza sus componentes en el EDT.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D5687-9D67-4323-A7F9-5EC0D01F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Swing procesa eventos y actualizaciones de interfaz en el Event Dispatch Thread, EDT. Crea y modifica componentes Swing en ese hilo. Una tarea lenta ejecutada en un ActionListener bloquea otros eventos, incluido repintado y cierre aparente de la ventana.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4FB95-DDA0-48CA-A58D-3BCD406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66D02-B9B9-4BB2-9F38-67565CC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SwingUtilities.invokeLater programa una operación breve en el EDT. No ejecuta trabajo pesado en segundo plano.</a:t>
            </a:r>
          </a:p>
        </p:txBody>
      </p:sp>
    </p:spTree>
    <p:extLst>
      <p:ext uri="{BB962C8B-B14F-4D97-AF65-F5344CB8AC3E}">
        <p14:creationId xmlns:p14="http://schemas.microsoft.com/office/powerpoint/2010/main" val="323333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DB43B-8FCA-4C94-9274-50F02228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08E64-AB54-4387-B17B-A267805B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SwingWorker y comunicación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C4D66-8689-4B3C-8D71-4CE128A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02570-5071-4B51-BE25-62D9792A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A4E89-2D92-4279-B3A0-4BD711AB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52635-F98B-448E-B708-4A4DDCBC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SwingWorker comunica el avance y el resultado al EDT.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FF8D4-CAE8-4E23-BEA5-2C11974C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SwingWorker&lt;T,V&gt; separa doInBackground, que ejecuta trabajo fuera del EDT, de process y done, que se ejecutan en el EDT. publish envía avances que pueden agruparse antes de llegar a process. No supongas que cada publish genera una llamada inmediata e individual.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F4963-A496-4CD4-A8B4-C5A8EC5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F6C6A-703E-42E6-B0C4-654D7BD9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done se ejecuta al terminar, también cuando hay cancelación o error. get dentro de done permite recuperar el resultado o la causa, porque la tarea ya finalizó.</a:t>
            </a:r>
          </a:p>
        </p:txBody>
      </p:sp>
    </p:spTree>
    <p:extLst>
      <p:ext uri="{BB962C8B-B14F-4D97-AF65-F5344CB8AC3E}">
        <p14:creationId xmlns:p14="http://schemas.microsoft.com/office/powerpoint/2010/main" val="488122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2C9E8-F688-4CA3-9E8C-9F91F3F4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DFF8A-E885-4D79-A407-D6E7D69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Estado de pantalla y cancelación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581DB-8F8B-43A9-AE3D-BFE68F86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ECF7E-FB9A-46D1-B027-DC22F287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0E645-3B22-49EA-B625-46D58D7D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7EEDF-09BA-4F8A-AE4D-F4810E4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Cancelar debe restaurar el estado de la vista.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C5773-29F5-4189-BDD8-867E327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Mientras se ejecuta una tarea, deshabilita el botón que iniciaría otra copia incompatible y habilita la cancelación si procede. Al terminar, restaura controles en una ruta común. El cierre de la ventana debe cancelar tareas y liberar recursos, especialmente si después se agregan conexiones seriales o JDBC.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D2044-E9AE-42FD-AA6A-F2A5329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B3D8B-00DD-4DE6-8574-7B4F3CE1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cancel(true) solicita interrupción. doInBackground debe consultar isCancelled y responder a InterruptedException. Una barra al cien por ciento no equivale a datos persistidos si la transacción todavía no se confirmó.</a:t>
            </a:r>
          </a:p>
        </p:txBody>
      </p:sp>
    </p:spTree>
    <p:extLst>
      <p:ext uri="{BB962C8B-B14F-4D97-AF65-F5344CB8AC3E}">
        <p14:creationId xmlns:p14="http://schemas.microsoft.com/office/powerpoint/2010/main" val="169607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90FBA-1D8E-4779-A01C-2264B4F6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680B9-CA34-4C88-9F96-56D9AFD6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Separación MVC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64589-389B-4BE2-B5ED-5371CE89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D8E92-D4DB-480F-8C5C-72C9352F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F9005-D753-46C9-8933-6FCB79DF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40D38-47B6-4B7C-9941-BB2542E9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MVC separa datos, presentación y coordinación.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8D488-AEC7-4EDE-B61B-AFF30424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modelo mantiene sensores y lecturas, la vista presenta controles y el controlador interpreta acciones. La lógica del parser o repositorio no debería depender de JLabel ni JOptionPane. Esta separación permite ejecutar los mismos casos desde consola y desde interfaz.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4B4F7-8B71-4B81-911C-2CF3C63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49E8A-91ED-427F-B3FF-894345A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 demostración incluye un modo --self-test para verificar el cálculo sin pantalla y un modo gráfico para inspeccionar respuesta y cancelación. La prueba sin pantalla no sustituye la revisión visual.</a:t>
            </a:r>
          </a:p>
        </p:txBody>
      </p:sp>
    </p:spTree>
    <p:extLst>
      <p:ext uri="{BB962C8B-B14F-4D97-AF65-F5344CB8AC3E}">
        <p14:creationId xmlns:p14="http://schemas.microsoft.com/office/powerpoint/2010/main" val="1847381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FDBF2-F64E-4FD0-B849-6A3192B2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EAC88-9A05-4D9F-9B59-2D168948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C9743-0879-4D63-96BE-42A168F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F8FB3-0844-4FFF-87A9-2DDD0DE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EF081-B11E-4450-844C-18ED4BB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BB05F-A993-4988-B01C-83DD5836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15696-EE6A-4112-9069-DAD18C22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if (args.length&gt;0 &amp;&amp; args[0].equals("--self-test"))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if (calcular()!=55) throw new AssertionError();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System.out.println("Cálculo: 55"); return;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SwingUtilities.invokeLater(() -&gt;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JFrame ventana = new JFrame("CampusMonitor");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JLabel estado = new JLabel("Listo");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JButton iniciar = new JButton("Importar"), cancelar = new JButton("Cancelar");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cancelar.setEnabled(false);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final java.util.concurrent.atomic.AtomicReference&lt;SwingWorker&lt;Integer,Integer&gt;&gt; actual = new java.util.concurrent.atomic.AtomicReference&lt;&gt;();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iniciar.addActionListener(evento -&gt;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iniciar.setEnabled(false); cancelar.setEnabled(true);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178FA-EA6B-4722-9BED-29003CDD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SwingDemo.java.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561279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99DD6-F244-46BE-A620-70B6516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1C814-C1C3-442F-85C7-FFC32274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3F62F-2D99-4D13-8DD4-C2E18BB4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4D1BC-5BC2-4E9A-BC47-40F6F6C0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461DB-10AD-477F-84E9-596794CB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Importación activa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ventana repinta y responde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Segundo clic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inicia un trabajo duplicado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Cancelar o cerrar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 termina y libera recursos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122BB-B4C6-45D0-A6EE-F0AFDCB3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Modo --self-test: Cálculo: 55. Modo gráfico: ventana con Importar, Cancelar y progreso. Al completar muestra Suma: 55.</a:t>
            </a:r>
          </a:p>
        </p:txBody>
      </p:sp>
    </p:spTree>
    <p:extLst>
      <p:ext uri="{BB962C8B-B14F-4D97-AF65-F5344CB8AC3E}">
        <p14:creationId xmlns:p14="http://schemas.microsoft.com/office/powerpoint/2010/main" val="1655727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18151-4452-4D60-A16B-B6E5C8E5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E4A6C-A381-4AA3-A56D-B29BC899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PC3.6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31E74-DF07-4D3F-B704-D9D82013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87478-14D8-4B46-991F-49CE3216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B2181-1014-456F-8732-F32AD90C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29F49-3779-4B40-A62C-1A0189BB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D7755-3532-4F2F-B239-0766E6FD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Agrega una vista Swing a CampusMonitor con selector de fichero, botón importar, progreso y cancelación. Reutiliza el servicio existente.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1E08E-2C5C-4998-AFAD-18BE2FE5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7204F-0FD7-4CFC-9B25-1975E307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 importación fuera del EDT y actualiza componentes únicamente desde process, done o invokeLater.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4DD8A-D6AF-4967-B728-3782E52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35FDF-F895-4C68-A00B-2B93D7F5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Prueba doble clic, cancelación y cierre durante el trabajo. La ventana debe responder y no dejar tareas activas sin control.</a:t>
            </a:r>
          </a:p>
        </p:txBody>
      </p:sp>
    </p:spTree>
    <p:extLst>
      <p:ext uri="{BB962C8B-B14F-4D97-AF65-F5344CB8AC3E}">
        <p14:creationId xmlns:p14="http://schemas.microsoft.com/office/powerpoint/2010/main" val="687317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6AC82-901B-4D8F-B1EA-D205C583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140D4-FF72-46FF-B361-733B9567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FC2ED-F357-4619-8E2F-8A9E89EA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517DC-59B7-41A5-B9C2-4A65D9D0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3.6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55919-E9D3-43B1-8C7E-F281DC67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28EA5-F6E2-45F8-8DE9-A5D2CCAF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Swing actualiza sus componentes en el EDT.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A46E0-72F5-4ED7-9F31-569BF67D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SwingWorker comunica el avance y el resultado al EDT.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E7DAF-FB6B-48DD-BD60-A2C42B84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Cancelar debe restaurar el estado de la vista.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42E41-ECBC-411F-B8FC-E0B4373C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MVC separa datos, presentación y coordinación.</a:t>
            </a:r>
          </a:p>
        </p:txBody>
      </p:sp>
    </p:spTree>
    <p:extLst>
      <p:ext uri="{BB962C8B-B14F-4D97-AF65-F5344CB8AC3E}">
        <p14:creationId xmlns:p14="http://schemas.microsoft.com/office/powerpoint/2010/main" val="737822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2026-09-10T23:06:58.5220000Z</dcterms:created>
  <dcterms:modified xsi:type="dcterms:W3CDTF">2026-09-10T23:06:58.5220000Z</dcterms:modified>
</coreProperties>
</file>