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00933c49354f23" /><Relationship Type="http://schemas.openxmlformats.org/officeDocument/2006/relationships/extended-properties" Target="/docProps/app.xml" Id="R9eebbb66bc894d82" /><Relationship Type="http://schemas.openxmlformats.org/officeDocument/2006/relationships/officeDocument" Target="/ppt/presentation.xml" Id="R1a3b0f341fd145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a8dcf012f746fe"/>
  </p:sldMasterIdLst>
  <p:notesMasterIdLst>
    <p:notesMasterId xmlns:r="http://schemas.openxmlformats.org/officeDocument/2006/relationships" r:id="Rc02040b771c64ff3"/>
  </p:notesMasterIdLst>
  <p:sldIdLst>
    <p:sldId xmlns:r="http://schemas.openxmlformats.org/officeDocument/2006/relationships" id="256" r:id="Rd7c6be28aba0495c"/>
    <p:sldId xmlns:r="http://schemas.openxmlformats.org/officeDocument/2006/relationships" id="257" r:id="R65eaef4d2c7f436b"/>
    <p:sldId xmlns:r="http://schemas.openxmlformats.org/officeDocument/2006/relationships" id="258" r:id="Rc635b9a6d95b4240"/>
    <p:sldId xmlns:r="http://schemas.openxmlformats.org/officeDocument/2006/relationships" id="259" r:id="Rb7cdc36a29ed4e0f"/>
    <p:sldId xmlns:r="http://schemas.openxmlformats.org/officeDocument/2006/relationships" id="260" r:id="R4d99984c42ab4048"/>
    <p:sldId xmlns:r="http://schemas.openxmlformats.org/officeDocument/2006/relationships" id="261" r:id="Re2d50203d85c4d61"/>
    <p:sldId xmlns:r="http://schemas.openxmlformats.org/officeDocument/2006/relationships" id="262" r:id="R1239dcf0070c4c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30c7aa85be4cdf" /><Relationship Type="http://schemas.openxmlformats.org/officeDocument/2006/relationships/slideMaster" Target="/ppt/slideMasters/slideMaster1.xml" Id="Rc0a8dcf012f746fe" /><Relationship Type="http://schemas.openxmlformats.org/officeDocument/2006/relationships/notesMaster" Target="/ppt/notesMasters/notesMaster1.xml" Id="Rc02040b771c64ff3" /><Relationship Type="http://schemas.openxmlformats.org/officeDocument/2006/relationships/presProps" Target="/ppt/presProps.xml" Id="R956c06e7461e41f6" /><Relationship Type="http://schemas.openxmlformats.org/officeDocument/2006/relationships/tableStyles" Target="/ppt/tableStyles.xml" Id="R87253e5d0a794d58" /><Relationship Type="http://schemas.openxmlformats.org/officeDocument/2006/relationships/slide" Target="/ppt/slides/slide1.xml" Id="Rd7c6be28aba0495c" /><Relationship Type="http://schemas.openxmlformats.org/officeDocument/2006/relationships/slide" Target="/ppt/slides/slide2.xml" Id="R65eaef4d2c7f436b" /><Relationship Type="http://schemas.openxmlformats.org/officeDocument/2006/relationships/slide" Target="/ppt/slides/slide3.xml" Id="Rc635b9a6d95b4240" /><Relationship Type="http://schemas.openxmlformats.org/officeDocument/2006/relationships/slide" Target="/ppt/slides/slide4.xml" Id="Rb7cdc36a29ed4e0f" /><Relationship Type="http://schemas.openxmlformats.org/officeDocument/2006/relationships/slide" Target="/ppt/slides/slide5.xml" Id="R4d99984c42ab4048" /><Relationship Type="http://schemas.openxmlformats.org/officeDocument/2006/relationships/slide" Target="/ppt/slides/slide6.xml" Id="Re2d50203d85c4d61" /><Relationship Type="http://schemas.openxmlformats.org/officeDocument/2006/relationships/slide" Target="/ppt/slides/slide7.xml" Id="R1239dcf0070c4c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3bc32255d44e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e47626a12a41c0" /><Relationship Type="http://schemas.openxmlformats.org/officeDocument/2006/relationships/notesMaster" Target="/ppt/notesMasters/notesMaster1.xml" Id="Rcfbd542ae0e14b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9e6bed8cb544b1" /><Relationship Type="http://schemas.openxmlformats.org/officeDocument/2006/relationships/notesMaster" Target="/ppt/notesMasters/notesMaster1.xml" Id="Rba9bc5fbbf0847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0e88c5408e416a" /><Relationship Type="http://schemas.openxmlformats.org/officeDocument/2006/relationships/notesMaster" Target="/ppt/notesMasters/notesMaster1.xml" Id="Rb3f6bcec5c6e4c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c966226f7a41a6" /><Relationship Type="http://schemas.openxmlformats.org/officeDocument/2006/relationships/notesMaster" Target="/ppt/notesMasters/notesMaster1.xml" Id="Rc7d2f6ba865d4d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5dd385e26b4c3d" /><Relationship Type="http://schemas.openxmlformats.org/officeDocument/2006/relationships/notesMaster" Target="/ppt/notesMasters/notesMaster1.xml" Id="R26a3b755be894f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99ef5723164ffa" /><Relationship Type="http://schemas.openxmlformats.org/officeDocument/2006/relationships/notesMaster" Target="/ppt/notesMasters/notesMaster1.xml" Id="R969112c28fba40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a7b51dfd324b7a" /><Relationship Type="http://schemas.openxmlformats.org/officeDocument/2006/relationships/notesMaster" Target="/ppt/notesMasters/notesMaster1.xml" Id="R382ed5b6990f41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PL1.1. Catálogo genérico de dispositivos y lecturas. Autor: Ing. Pablo Torres, Mgtr.</a:t>
            </a:r>
          </a:p>
          <a:p xmlns:a="http://schemas.openxmlformats.org/drawingml/2006/main">
            <a:r>
              <a:t>Logo original proporcionado por el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facultad administra dispositivos de temperatura y ocupación. Necesita un catálogo reutilizable que permita registrar, consultar y seleccionar elementos de varios tipos sin duplicar algoritmos ni usar conversiones no comprobadas.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Trabaja sobre CampusMonitor y conserva las PC de la unidad. Implementa Sensor y Lectura&lt;T&gt;, y un Repositorio&lt;ID,T&gt; en memoria con al menos dos tipos de entidad.</a:t>
            </a:r>
          </a:p>
          <a:p xmlns:a="http://schemas.openxmlformats.org/drawingml/2006/main">
            <a:r>
              <a:t>Incluye alta, búsqueda por ID, listado y rechazo de duplicados. Toda operación pública debe definir el tratamiento de null y de colecciones vacías.</a:t>
            </a:r>
          </a:p>
          <a:p xmlns:a="http://schemas.openxmlformats.org/drawingml/2006/main">
            <a:r>
              <a:t>Implementa una selección genérica y un máximo con Comparator. Aplica dos criterios diferentes sin duplicar el algoritmo de recorrido.</a:t>
            </a:r>
          </a:p>
          <a:p xmlns:a="http://schemas.openxmlformats.org/drawingml/2006/main">
            <a:r>
              <a:t>Utiliza comodines según PECS en al menos una operación de transferencia. Incluye dos casos comentados que no compilan y explica la incompatibilidad.</a:t>
            </a:r>
          </a:p>
          <a:p xmlns:a="http://schemas.openxmlformats.org/drawingml/2006/main">
            <a:r>
              <a:t>Crea un registro permitido de fuentes mediante Supplier. Compara en la memoria una construcción controlada con reflexión, sin cargar clases arbitrarias de entrada externa.</a:t>
            </a:r>
          </a:p>
          <a:p xmlns:a="http://schemas.openxmlformats.org/drawingml/2006/main">
            <a:r>
              <a:t>Genera al menos 12 sensores y 30 lecturas deterministas. Separa magnitudes y unidades al calcular resúmenes. Implementa un menú o comandos de consola.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Guía completa: PL1.1.html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Trabaja sobre CampusMonitor y conserva las PC de la unidad. Implementa Sensor y Lectura&lt;T&gt;, y un Repositorio&lt;ID,T&gt; en memoria con al menos dos tipos de entidad.</a:t>
            </a:r>
          </a:p>
          <a:p xmlns:a="http://schemas.openxmlformats.org/drawingml/2006/main">
            <a:r>
              <a:t>Incluye alta, búsqueda por ID, listado y rechazo de duplicados. Toda operación pública debe definir el tratamiento de null y de colecciones vacías.</a:t>
            </a:r>
          </a:p>
          <a:p xmlns:a="http://schemas.openxmlformats.org/drawingml/2006/main">
            <a:r>
              <a:t>Implementa una selección genérica y un máximo con Comparator. Aplica dos criterios diferentes sin duplicar el algoritmo de recorrido.</a:t>
            </a:r>
          </a:p>
          <a:p xmlns:a="http://schemas.openxmlformats.org/drawingml/2006/main">
            <a:r>
              <a:t>Utiliza comodines según PECS en al menos una operación de transferencia. Incluye dos casos comentados que no compilan y explica la incompatibilidad.</a:t>
            </a:r>
          </a:p>
          <a:p xmlns:a="http://schemas.openxmlformats.org/drawingml/2006/main">
            <a:r>
              <a:t>Crea un registro permitido de fuentes mediante Supplier. Compara en la memoria una construcción controlada con reflexión, sin cargar clases arbitrarias de entrada externa.</a:t>
            </a:r>
          </a:p>
          <a:p xmlns:a="http://schemas.openxmlformats.org/drawingml/2006/main">
            <a:r>
              <a:t>Genera al menos 12 sensores y 30 lecturas deterministas. Separa magnitudes y unidades al calcular resúmenes. Implementa un menú o comandos de consola.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Guía completa: PL1.1.html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Trabaja sobre CampusMonitor y conserva las PC de la unidad. Implementa Sensor y Lectura&lt;T&gt;, y un Repositorio&lt;ID,T&gt; en memoria con al menos dos tipos de entidad.</a:t>
            </a:r>
          </a:p>
          <a:p xmlns:a="http://schemas.openxmlformats.org/drawingml/2006/main">
            <a:r>
              <a:t>Incluye alta, búsqueda por ID, listado y rechazo de duplicados. Toda operación pública debe definir el tratamiento de null y de colecciones vacías.</a:t>
            </a:r>
          </a:p>
          <a:p xmlns:a="http://schemas.openxmlformats.org/drawingml/2006/main">
            <a:r>
              <a:t>Implementa una selección genérica y un máximo con Comparator. Aplica dos criterios diferentes sin duplicar el algoritmo de recorrido.</a:t>
            </a:r>
          </a:p>
          <a:p xmlns:a="http://schemas.openxmlformats.org/drawingml/2006/main">
            <a:r>
              <a:t>Utiliza comodines según PECS en al menos una operación de transferencia. Incluye dos casos comentados que no compilan y explica la incompatibilidad.</a:t>
            </a:r>
          </a:p>
          <a:p xmlns:a="http://schemas.openxmlformats.org/drawingml/2006/main">
            <a:r>
              <a:t>Crea un registro permitido de fuentes mediante Supplier. Compara en la memoria una construcción controlada con reflexión, sin cargar clases arbitrarias de entrada externa.</a:t>
            </a:r>
          </a:p>
          <a:p xmlns:a="http://schemas.openxmlformats.org/drawingml/2006/main">
            <a:r>
              <a:t>Genera al menos 12 sensores y 30 lecturas deterministas. Separa magnitudes y unidades al calcular resúmenes. Implementa un menú o comandos de consola.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Guía completa: PL1.1.html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Repositorio personal con fuentes Java y comandos de ejecución.</a:t>
            </a:r>
          </a:p>
          <a:p xmlns:a="http://schemas.openxmlformats.org/drawingml/2006/main">
            <a:r>
              <a:t>evidencias/PL1.1.md con casos, resultados reales, enlaces a commits y decisiones de diseño.</a:t>
            </a:r>
          </a:p>
          <a:p xmlns:a="http://schemas.openxmlformats.org/drawingml/2006/main">
            <a:r>
              <a:t>Presentación del estudiante de 5 a 7 diapositivas: problema, contratos, demostración, casos y conclusiones.</a:t>
            </a:r>
          </a:p>
          <a:p xmlns:a="http://schemas.openxmlformats.org/drawingml/2006/main">
            <a:r>
              <a:t>Defensa: Sustituye el criterio de máximo por uno que priorice otra propiedad y explica qué archivos cambian y cuáles conservan su contrato.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Contratos genéricos · 2 · Relaciona ID y T correctamente, sin tipos crudos ni casts unchecked. · Funciona para un tipo y contiene una generalización incompleta. · No expresa contratos genéricos utilizables.</a:t>
            </a:r>
          </a:p>
          <a:p xmlns:a="http://schemas.openxmlformats.org/drawingml/2006/main">
            <a:r>
              <a:t>Repositorio y validación · 2 · Cumple alta, búsqueda, listado, nulos y duplicados conservando invariantes. · Presenta una operación o validación incompleta. · No mantiene la consistencia del catálogo.</a:t>
            </a:r>
          </a:p>
          <a:p xmlns:a="http://schemas.openxmlformats.org/drawingml/2006/main">
            <a:r>
              <a:t>Algoritmos y PECS · 2 · Reutiliza selección y máximo y justifica productores y consumidores. · Reutiliza parcialmente o no justifica el comodín. · Duplica recorridos sin aplicar los conceptos.</a:t>
            </a:r>
          </a:p>
          <a:p xmlns:a="http://schemas.openxmlformats.org/drawingml/2006/main">
            <a:r>
              <a:t>Pruebas reproducibles · 2 · Incluye datos deterministas y verifica todos los casos exigidos. · Faltan casos de borde o evidencia de algún resultado. · No hay pruebas verificables.</a:t>
            </a:r>
          </a:p>
          <a:p xmlns:a="http://schemas.openxmlformats.org/drawingml/2006/main">
            <a:r>
              <a:t>Git y defensa · 2 · Commits por fase, evidencia vinculada y modificación explicada en vivo. · Historial poco claro o explicación parcial. · No puede relacionar el código con su comportamiento.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ab0d43964b43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9af3114f6e4be4" /><Relationship Type="http://schemas.openxmlformats.org/officeDocument/2006/relationships/slideLayout" Target="/ppt/slideLayouts/slideLayout1.xml" Id="Ra818c394770245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18c394770245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86c7e874648a4" /><Relationship Type="http://schemas.openxmlformats.org/officeDocument/2006/relationships/image" Target="/ppt/media/image.png" Id="Rf901a6b2f54e4b32" /><Relationship Type="http://schemas.openxmlformats.org/officeDocument/2006/relationships/notesSlide" Target="/ppt/notesSlides/notesSlide1.xml" Id="R6284b6182b344a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0652c210f4389" /><Relationship Type="http://schemas.openxmlformats.org/officeDocument/2006/relationships/notesSlide" Target="/ppt/notesSlides/notesSlide2.xml" Id="R70d684fd23624f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367d15b1948f8" /><Relationship Type="http://schemas.openxmlformats.org/officeDocument/2006/relationships/notesSlide" Target="/ppt/notesSlides/notesSlide3.xml" Id="R8694b1eb78ce4e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1e7f4f93c4f1f" /><Relationship Type="http://schemas.openxmlformats.org/officeDocument/2006/relationships/notesSlide" Target="/ppt/notesSlides/notesSlide4.xml" Id="Rd20083261a0748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1b4d7b58248c2" /><Relationship Type="http://schemas.openxmlformats.org/officeDocument/2006/relationships/notesSlide" Target="/ppt/notesSlides/notesSlide5.xml" Id="Rd43edea5dbd547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e02e755f34402" /><Relationship Type="http://schemas.openxmlformats.org/officeDocument/2006/relationships/notesSlide" Target="/ppt/notesSlides/notesSlide6.xml" Id="R881ff7fff29f4e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be6b94f274278" /><Relationship Type="http://schemas.openxmlformats.org/officeDocument/2006/relationships/notesSlide" Target="/ppt/notesSlides/notesSlide7.xml" Id="Rce0abbb2b7274b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1a6b2f54e4b32"/>
          <a:stretch xmlns:a="http://schemas.openxmlformats.org/drawingml/2006/main"/>
        </p:blipFill>
        <p:spPr>
          <a:xfrm xmlns:a="http://schemas.openxmlformats.org/drawingml/2006/main">
            <a:off x="609600" y="545418"/>
            <a:ext cx="6858000" cy="112848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425DF-ABB5-4B73-A283-C70CE9D6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 Aplicada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06B0A-EBA9-41DE-B373-9D7B4F42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Catálogo genérico de dispositivos y lecturas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9A559-0BED-4D90-AA89-29173194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74DD3-6F3F-4441-A03B-A888CE20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Unidad 1 · PL1.1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5B204-CFD2-4A4F-8614-D49F03F4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0055335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A033B9-1946-4FA4-9FA5-E60A73DF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22188-147D-4C90-8BA1-B9FB2A9F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El problema de la práctica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B027E-7DE2-4FA4-B1AB-06A3E545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768FF-C8C6-4D4F-A371-E276F13C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46967-3579-4B32-B2BF-7AEC8316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EF200-B515-4198-B001-8C19B190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477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facultad administra dispositivos de temperatura y ocupación. Necesita un catálogo reutilizable que permita registrar, consultar y seleccionar elementos de varios tipos sin duplicar algoritmos ni usar conversiones no comprobadas.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2D03F-EF30-480A-AD30-7686D495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Proyecto personal: CampusMonitor</a:t>
            </a:r>
          </a:p>
        </p:txBody>
      </p:sp>
    </p:spTree>
    <p:extLst>
      <p:ext uri="{BB962C8B-B14F-4D97-AF65-F5344CB8AC3E}">
        <p14:creationId xmlns:p14="http://schemas.microsoft.com/office/powerpoint/2010/main" val="17707855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231D7-8FDE-4928-88B1-72FFC398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B9A4E-FD5E-44F9-B137-1679F0FE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1 · Modelo y contratos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CFA83-33B6-4349-8227-776D1C8E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93DE2-C4BB-48BF-A788-11C840CA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49BB1-3BB3-48A6-A76D-4F846DAF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4DCE4-9DFF-4E74-8DF5-D7C17232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Define identidad, reglas de nulos y política de duplicados antes de crear la implementación.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D1CD8-F3DE-4DE3-9A3D-08EF6053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Trabaja sobre CampusMonitor y conserva las PC de la unidad. Implementa Sensor y Lectura&lt;T&gt;, y un Repositorio&lt;ID,T&gt; en memoria con al menos dos tipos de entidad.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FCEB1-9345-42F5-9FAB-1939ADBE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Incluye alta, búsqueda por ID, listado y rechazo de duplicados. Toda operación pública debe definir el tratamiento de null y de colecciones vacías.</a:t>
            </a:r>
          </a:p>
        </p:txBody>
      </p:sp>
    </p:spTree>
    <p:extLst>
      <p:ext uri="{BB962C8B-B14F-4D97-AF65-F5344CB8AC3E}">
        <p14:creationId xmlns:p14="http://schemas.microsoft.com/office/powerpoint/2010/main" val="4078895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7AB6F-6AAB-477F-AF77-96956AEF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D613A-3CFA-4F46-A282-21634C53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2 · Repositorio y consultas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291AF-C69F-4356-AB2E-C467E338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A2B71-90E5-479F-B914-58E91E3E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DF6FE-2854-4A59-88C6-C7935263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2B354-AB1D-4030-BE22-48B272F2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Implementa operaciones, estrategias y copias de resultados. Conserva los datos previos tras un rechazo.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13D4F-9775-4F6B-96C9-3F939944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 una selección genérica y un máximo con Comparator. Aplica dos criterios diferentes sin duplicar el algoritmo de recorrido.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8085B-0738-44D2-A632-72498C93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Utiliza comodines según PECS en al menos una operación de transferencia. Incluye dos casos comentados que no compilan y explica la incompatibilidad.</a:t>
            </a:r>
          </a:p>
        </p:txBody>
      </p:sp>
    </p:spTree>
    <p:extLst>
      <p:ext uri="{BB962C8B-B14F-4D97-AF65-F5344CB8AC3E}">
        <p14:creationId xmlns:p14="http://schemas.microsoft.com/office/powerpoint/2010/main" val="5903287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3A258-B3A4-4AB0-8BE0-F8FC0E07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E1FE4-5180-430A-9D9A-CD32CC47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3 · Escenarios y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970B0-A2DE-410E-9603-ECE6282F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07718-12A0-4A2D-93E7-1DE78694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92162-2AD3-4F24-981B-1C80400D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55AE9-D414-4D38-8F0B-1C07036A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Ejecuta los casos, registra decisiones y demuestra un nuevo criterio pedido durante la defensa.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39AB1-CFFD-4476-930F-CAFE99A7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Crea un registro permitido de fuentes mediante Supplier. Compara en la memoria una construcción controlada con reflexión, sin cargar clases arbitrarias de entrada externa.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516A2-F6FD-40AB-8DEB-2F367C21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Genera al menos 12 sensores y 30 lecturas deterministas. Separa magnitudes y unidades al calcular resúmenes. Implementa un menú o comandos de consola.</a:t>
            </a:r>
          </a:p>
        </p:txBody>
      </p:sp>
    </p:spTree>
    <p:extLst>
      <p:ext uri="{BB962C8B-B14F-4D97-AF65-F5344CB8AC3E}">
        <p14:creationId xmlns:p14="http://schemas.microsoft.com/office/powerpoint/2010/main" val="19269815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B44CC-D3EB-41A7-B502-8A8819D1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4A0AB-38EB-4364-9F41-153F6118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 y demostración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C838E-AE23-48A0-9ECD-852D0131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50F57-5B69-4F7C-9144-B9120803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4EBB4-606B-4B3D-B698-353E1ABC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80D44-7348-4256-9C50-9CBF4849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Repositorio personal con fuentes Java y comandos de ejecución.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D3D51-36E8-424B-A10A-6A262518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evidencias/PL1.1.md con casos, resultados reales, enlaces a commits y decisiones de diseño.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16102-E710-40FC-A8AB-EB9C4E32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Presentación del estudiante de 5 a 7 diapositivas: problema, contratos, demostración, casos y conclusiones.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0809A-A524-4759-9D0A-6A3771B6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Sustituye el criterio de máximo por uno que priorice otra propiedad y explica qué archivos cambian y cuáles conservan su contrato.</a:t>
            </a:r>
          </a:p>
        </p:txBody>
      </p:sp>
    </p:spTree>
    <p:extLst>
      <p:ext uri="{BB962C8B-B14F-4D97-AF65-F5344CB8AC3E}">
        <p14:creationId xmlns:p14="http://schemas.microsoft.com/office/powerpoint/2010/main" val="6919654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83BF2-6028-46A8-9864-6C6CFE7A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5C4F1-DC84-44B5-B95A-1D6E5FC3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Rúbrica de la práctica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363C0-C56E-403F-8765-00AFFBA1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E535B-80E5-4467-A054-DA221406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PL1.1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F01F7-CF34-4D4D-B11D-C782BA91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191500"/>
                <a:gridCol w="2781300"/>
              </a:tblGrid>
              <a:tr h="622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Criterio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Puntaje máximo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Contratos genéricos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puntos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Repositorio y validación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puntos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Algoritmos y PECS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puntos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Pruebas reproducibles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puntos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 y defensa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puntos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6B6A5-D7CB-4E32-A4A9-42CEF730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Total: 10 puntos. Niveles: completo, parcial y no logrado. Descriptores en la guía HTML.</a:t>
            </a:r>
          </a:p>
        </p:txBody>
      </p:sp>
    </p:spTree>
    <p:extLst>
      <p:ext uri="{BB962C8B-B14F-4D97-AF65-F5344CB8AC3E}">
        <p14:creationId xmlns:p14="http://schemas.microsoft.com/office/powerpoint/2010/main" val="502574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2026-09-10T23:04:47.8990000Z</dcterms:created>
  <dcterms:modified xsi:type="dcterms:W3CDTF">2026-09-10T23:04:47.8990000Z</dcterms:modified>
</coreProperties>
</file>