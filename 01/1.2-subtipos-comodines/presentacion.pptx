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622917f56c4dfe" /><Relationship Type="http://schemas.openxmlformats.org/officeDocument/2006/relationships/extended-properties" Target="/docProps/app.xml" Id="R0310c6b865e641f7" /><Relationship Type="http://schemas.openxmlformats.org/officeDocument/2006/relationships/officeDocument" Target="/ppt/presentation.xml" Id="R0e48e8b778d64d26" /></Relationships>
</file>

<file path=ppt/presentation.xml><?xml version="1.0" encoding="utf-8"?>
<p:presentation xmlns:p="http://schemas.openxmlformats.org/presentationml/2006/main">
  <p:sldMasterIdLst>
    <p:sldMasterId xmlns:r="http://schemas.openxmlformats.org/officeDocument/2006/relationships" id="2147483648" r:id="R9a0cadfb63e64e2c"/>
  </p:sldMasterIdLst>
  <p:notesMasterIdLst>
    <p:notesMasterId xmlns:r="http://schemas.openxmlformats.org/officeDocument/2006/relationships" r:id="R5087ec87130b4130"/>
  </p:notesMasterIdLst>
  <p:sldIdLst>
    <p:sldId xmlns:r="http://schemas.openxmlformats.org/officeDocument/2006/relationships" id="256" r:id="R8686829e4f954aa5"/>
    <p:sldId xmlns:r="http://schemas.openxmlformats.org/officeDocument/2006/relationships" id="257" r:id="R1866b231b3344da3"/>
    <p:sldId xmlns:r="http://schemas.openxmlformats.org/officeDocument/2006/relationships" id="258" r:id="R36a4837d378b4711"/>
    <p:sldId xmlns:r="http://schemas.openxmlformats.org/officeDocument/2006/relationships" id="259" r:id="R892811f8bcdc4b2f"/>
    <p:sldId xmlns:r="http://schemas.openxmlformats.org/officeDocument/2006/relationships" id="260" r:id="Re6840719e43d4e8f"/>
    <p:sldId xmlns:r="http://schemas.openxmlformats.org/officeDocument/2006/relationships" id="261" r:id="Racd0445de3294af7"/>
    <p:sldId xmlns:r="http://schemas.openxmlformats.org/officeDocument/2006/relationships" id="262" r:id="Rc0c392060892455e"/>
    <p:sldId xmlns:r="http://schemas.openxmlformats.org/officeDocument/2006/relationships" id="263" r:id="Rb0978a32f9ae4aa7"/>
    <p:sldId xmlns:r="http://schemas.openxmlformats.org/officeDocument/2006/relationships" id="264" r:id="Rd1dc2a48e29347a7"/>
    <p:sldId xmlns:r="http://schemas.openxmlformats.org/officeDocument/2006/relationships" id="265" r:id="R1ed3c83286554f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479258b6b604fe6" /><Relationship Type="http://schemas.openxmlformats.org/officeDocument/2006/relationships/slideMaster" Target="/ppt/slideMasters/slideMaster1.xml" Id="R9a0cadfb63e64e2c" /><Relationship Type="http://schemas.openxmlformats.org/officeDocument/2006/relationships/notesMaster" Target="/ppt/notesMasters/notesMaster1.xml" Id="R5087ec87130b4130" /><Relationship Type="http://schemas.openxmlformats.org/officeDocument/2006/relationships/presProps" Target="/ppt/presProps.xml" Id="R4d69560c9a584977" /><Relationship Type="http://schemas.openxmlformats.org/officeDocument/2006/relationships/tableStyles" Target="/ppt/tableStyles.xml" Id="R81e2c1a63f1642b3" /><Relationship Type="http://schemas.openxmlformats.org/officeDocument/2006/relationships/slide" Target="/ppt/slides/slide1.xml" Id="R8686829e4f954aa5" /><Relationship Type="http://schemas.openxmlformats.org/officeDocument/2006/relationships/slide" Target="/ppt/slides/slide2.xml" Id="R1866b231b3344da3" /><Relationship Type="http://schemas.openxmlformats.org/officeDocument/2006/relationships/slide" Target="/ppt/slides/slide3.xml" Id="R36a4837d378b4711" /><Relationship Type="http://schemas.openxmlformats.org/officeDocument/2006/relationships/slide" Target="/ppt/slides/slide4.xml" Id="R892811f8bcdc4b2f" /><Relationship Type="http://schemas.openxmlformats.org/officeDocument/2006/relationships/slide" Target="/ppt/slides/slide5.xml" Id="Re6840719e43d4e8f" /><Relationship Type="http://schemas.openxmlformats.org/officeDocument/2006/relationships/slide" Target="/ppt/slides/slide6.xml" Id="Racd0445de3294af7" /><Relationship Type="http://schemas.openxmlformats.org/officeDocument/2006/relationships/slide" Target="/ppt/slides/slide7.xml" Id="Rc0c392060892455e" /><Relationship Type="http://schemas.openxmlformats.org/officeDocument/2006/relationships/slide" Target="/ppt/slides/slide8.xml" Id="Rb0978a32f9ae4aa7" /><Relationship Type="http://schemas.openxmlformats.org/officeDocument/2006/relationships/slide" Target="/ppt/slides/slide9.xml" Id="Rd1dc2a48e29347a7" /><Relationship Type="http://schemas.openxmlformats.org/officeDocument/2006/relationships/slide" Target="/ppt/slides/slide10.xml" Id="R1ed3c83286554f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a6ad6894624a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ef0bee9fa647fe" /><Relationship Type="http://schemas.openxmlformats.org/officeDocument/2006/relationships/notesMaster" Target="/ppt/notesMasters/notesMaster1.xml" Id="R213cf4ff97b049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dccc92936e4416" /><Relationship Type="http://schemas.openxmlformats.org/officeDocument/2006/relationships/notesMaster" Target="/ppt/notesMasters/notesMaster1.xml" Id="Rb2aafe6811a54a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5b3ac4da034f42" /><Relationship Type="http://schemas.openxmlformats.org/officeDocument/2006/relationships/notesMaster" Target="/ppt/notesMasters/notesMaster1.xml" Id="Rea3e11b56c014b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ce39e861d245b7" /><Relationship Type="http://schemas.openxmlformats.org/officeDocument/2006/relationships/notesMaster" Target="/ppt/notesMasters/notesMaster1.xml" Id="R5fb0fc6ff77149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3348ec51b14205" /><Relationship Type="http://schemas.openxmlformats.org/officeDocument/2006/relationships/notesMaster" Target="/ppt/notesMasters/notesMaster1.xml" Id="Rc3e9619cbda04e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09ffefeffe46d5" /><Relationship Type="http://schemas.openxmlformats.org/officeDocument/2006/relationships/notesMaster" Target="/ppt/notesMasters/notesMaster1.xml" Id="R039deb6ad9344b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d006296cb446db" /><Relationship Type="http://schemas.openxmlformats.org/officeDocument/2006/relationships/notesMaster" Target="/ppt/notesMasters/notesMaster1.xml" Id="R94423c81146e4b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d8609a40c4408a" /><Relationship Type="http://schemas.openxmlformats.org/officeDocument/2006/relationships/notesMaster" Target="/ppt/notesMasters/notesMaster1.xml" Id="R3adf5ea81b8e454d" /></Relationships>
</file>

<file path=ppt/notesSlides/_rels/notesSlide9.xml.rels>&#65279;<?xml version="1.0" encoding="utf-8"?><Relationships xmlns="http://schemas.openxmlformats.org/package/2006/relationships"><Relationship Type="http://schemas.openxmlformats.org/officeDocument/2006/relationships/slide" Target="/ppt/slides/slide9.xml" Id="R09ea480e500447f1" /><Relationship Type="http://schemas.openxmlformats.org/officeDocument/2006/relationships/notesMaster" Target="/ppt/notesMasters/notesMaster1.xml" Id="Rad4179cfd3544d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288728b1ad34ec5" /><Relationship Type="http://schemas.openxmlformats.org/officeDocument/2006/relationships/notesMaster" Target="/ppt/notesMasters/notesMaster1.xml" Id="R0465da8a466a4e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1.2. Subtipos, comodines y PECS. Autor: Ing. Pablo Torres, Mgtr.</a:t>
            </a:r>
          </a:p>
          <a:p xmlns:a="http://schemas.openxmlformats.org/drawingml/2006/main">
            <a:r>
              <a:t>Logo original proporcionado por el docente.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lecturas de temperatura son Double, pero una utilidad de cálculo puede aceptar Number. La herencia entre Integer, Double y Number no se propaga automáticamente a List. El diseño de la firma determina qué se puede leer y escribir de forma segura.</a:t>
            </a:r>
          </a:p>
          <a:p xmlns:a="http://schemas.openxmlformats.org/drawingml/2006/main">
            <a:r>
              <a:t>Fuente del desarrollo: material.md, contexto.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Aunque Integer extiende Number, List&lt;Integer&gt; no es subtipo de List&lt;Number&gt;. Si esa asignación fuera válida, una referencia List&lt;Number&gt; permitiría insertar un Double en una lista destinada a Integer. La invariancia evita esa contradicción. No se resuelve añadiendo un cast: un cast no comprueba todos los elementos y puede posponer el fallo.</a:t>
            </a:r>
          </a:p>
          <a:p xmlns:a="http://schemas.openxmlformats.org/drawingml/2006/main">
            <a:r>
              <a:t/>
            </a:r>
          </a:p>
          <a:p xmlns:a="http://schemas.openxmlformats.org/drawingml/2006/main">
            <a:r>
              <a:t>La compatibilidad se expresa con comodines. List&lt;?&gt; representa una lista de un tipo desconocido. Puedes recuperar elementos como Object y consultar tamaño o vaciado, pero no insertar un valor concreto con seguridad. Desconocido no significa que la lista mezcle libremente todos los tipos.</a:t>
            </a:r>
          </a:p>
          <a:p xmlns:a="http://schemas.openxmlformats.org/drawingml/2006/main">
            <a:r>
              <a:t/>
            </a:r>
          </a:p>
          <a:p xmlns:a="http://schemas.openxmlformats.org/drawingml/2006/main">
            <a:r>
              <a:t>Referencias:</a:t>
            </a:r>
          </a:p>
          <a:p xmlns:a="http://schemas.openxmlformats.org/drawingml/2006/main">
            <a:r>
              <a:t>https://dev.java/learn/generics/</a:t>
            </a:r>
          </a:p>
          <a:p xmlns:a="http://schemas.openxmlformats.org/drawingml/2006/main">
            <a:r>
              <a:t>https://dev.java/learn/reflection/</a:t>
            </a:r>
          </a:p>
          <a:p xmlns:a="http://schemas.openxmlformats.org/drawingml/2006/main">
            <a:r>
              <a:t>https://docs.oracle.com/en/java/javase/25/docs/api/index.html</a:t>
            </a:r>
          </a:p>
          <a:p xmlns:a="http://schemas.openxmlformats.org/drawingml/2006/main">
            <a:r>
              <a:t>Correspondencia: material.md, sección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List&lt;? extends Number&gt; representa una lista de algún subtipo de Number. Se puede leer cada elemento como Number. No permite añadir un Integer o un Double porque el subtipo concreto es desconocido. La lista podría ser List&lt;BigDecimal&gt;. Esta restricción se aplica a la referencia con comodín y no convierte el objeto subyacente en inmutable.</a:t>
            </a:r>
          </a:p>
          <a:p xmlns:a="http://schemas.openxmlformats.org/drawingml/2006/main">
            <a:r>
              <a:t/>
            </a:r>
          </a:p>
          <a:p xmlns:a="http://schemas.openxmlformats.org/drawingml/2006/main">
            <a:r>
              <a:t>Usa extends cuando el parámetro produce valores para el algoritmo. Un sumador solo necesita leer y convertir a double. Este contrato acepta listas Integer y Double. Recuerda que una suma numérica no valida unidades y que double no sirve para todos los dominios, como importes monetarios exactos.</a:t>
            </a:r>
          </a:p>
          <a:p xmlns:a="http://schemas.openxmlformats.org/drawingml/2006/main">
            <a:r>
              <a:t/>
            </a:r>
          </a:p>
          <a:p xmlns:a="http://schemas.openxmlformats.org/drawingml/2006/main">
            <a:r>
              <a:t>Referencias:</a:t>
            </a:r>
          </a:p>
          <a:p xmlns:a="http://schemas.openxmlformats.org/drawingml/2006/main">
            <a:r>
              <a:t>https://dev.java/learn/generics/</a:t>
            </a:r>
          </a:p>
          <a:p xmlns:a="http://schemas.openxmlformats.org/drawingml/2006/main">
            <a:r>
              <a:t>https://dev.java/learn/reflection/</a:t>
            </a:r>
          </a:p>
          <a:p xmlns:a="http://schemas.openxmlformats.org/drawingml/2006/main">
            <a:r>
              <a:t>https://docs.oracle.com/en/java/javase/25/docs/api/index.html</a:t>
            </a:r>
          </a:p>
          <a:p xmlns:a="http://schemas.openxmlformats.org/drawingml/2006/main">
            <a:r>
              <a:t>Correspondencia: material.md, sección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List&lt;? super Integer&gt; representa una lista de Integer o de alguno de sus supertipos. Es seguro añadir Integer. Al leer, el tipo garantizado es Object, porque una List&lt;Number&gt; podría contener Double y una List&lt;Object&gt; podría contener cadenas.</a:t>
            </a:r>
          </a:p>
          <a:p xmlns:a="http://schemas.openxmlformats.org/drawingml/2006/main">
            <a:r>
              <a:t/>
            </a:r>
          </a:p>
          <a:p xmlns:a="http://schemas.openxmlformats.org/drawingml/2006/main">
            <a:r>
              <a:t>PECS resume Producer Extends, Consumer Super. Se aplica a parámetros de entrada según su papel en el algoritmo. En copiar, el origen produce T y el destino consume T. Si un parámetro se lee y escribe con el mismo tipo concreto, una List&lt;T&gt; suele ser más adecuada. Evita devolver comodines sin necesidad porque obliga al cliente a gestionar tipos desconocidos.</a:t>
            </a:r>
          </a:p>
          <a:p xmlns:a="http://schemas.openxmlformats.org/drawingml/2006/main">
            <a:r>
              <a:t/>
            </a:r>
          </a:p>
          <a:p xmlns:a="http://schemas.openxmlformats.org/drawingml/2006/main">
            <a:r>
              <a:t>Referencias:</a:t>
            </a:r>
          </a:p>
          <a:p xmlns:a="http://schemas.openxmlformats.org/drawingml/2006/main">
            <a:r>
              <a:t>https://dev.java/learn/generics/</a:t>
            </a:r>
          </a:p>
          <a:p xmlns:a="http://schemas.openxmlformats.org/drawingml/2006/main">
            <a:r>
              <a:t>https://dev.java/learn/reflection/</a:t>
            </a:r>
          </a:p>
          <a:p xmlns:a="http://schemas.openxmlformats.org/drawingml/2006/main">
            <a:r>
              <a:t>https://docs.oracle.com/en/java/javase/25/docs/api/index.html</a:t>
            </a:r>
          </a:p>
          <a:p xmlns:a="http://schemas.openxmlformats.org/drawingml/2006/main">
            <a:r>
              <a:t>Correspondencia: material.md, sección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compilador captura el comodín como un tipo desconocido consistente. Un método auxiliar genérico puede aprovechar esa captura para operaciones como intercambiar elementos de una misma lista. La necesidad de ese auxiliar no implica que deba usarse un cast sin comprobar.</a:t>
            </a:r>
          </a:p>
          <a:p xmlns:a="http://schemas.openxmlformats.org/drawingml/2006/main">
            <a:r>
              <a:t/>
            </a:r>
          </a:p>
          <a:p xmlns:a="http://schemas.openxmlformats.org/drawingml/2006/main">
            <a:r>
              <a:t>La firma tampoco garantiza mutabilidad. List.of crea una lista no modificable, por lo que usarla como destino de copiar lanza UnsupportedOperationException. Documenta las precondiciones: el destino debe aceptar inserciones y los valores deben respetar la política de nulos. Tipo, mutabilidad y reglas del dominio son dimensiones independientes.</a:t>
            </a:r>
          </a:p>
          <a:p xmlns:a="http://schemas.openxmlformats.org/drawingml/2006/main">
            <a:r>
              <a:t/>
            </a:r>
          </a:p>
          <a:p xmlns:a="http://schemas.openxmlformats.org/drawingml/2006/main">
            <a:r>
              <a:t>Referencias:</a:t>
            </a:r>
          </a:p>
          <a:p xmlns:a="http://schemas.openxmlformats.org/drawingml/2006/main">
            <a:r>
              <a:t>https://dev.java/learn/generics/</a:t>
            </a:r>
          </a:p>
          <a:p xmlns:a="http://schemas.openxmlformats.org/drawingml/2006/main">
            <a:r>
              <a:t>https://dev.java/learn/reflection/</a:t>
            </a:r>
          </a:p>
          <a:p xmlns:a="http://schemas.openxmlformats.org/drawingml/2006/main">
            <a:r>
              <a:t>https://docs.oracle.com/en/java/javase/25/docs/api/index.html</a:t>
            </a:r>
          </a:p>
          <a:p xmlns:a="http://schemas.openxmlformats.org/drawingml/2006/main">
            <a:r>
              <a:t>Correspondencia: material.md, sección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a:t>
            </a:r>
          </a:p>
          <a:p xmlns:a="http://schemas.openxmlformats.org/drawingml/2006/main">
            <a:r>
              <a:t>package edu.ups.pap.u01;</a:t>
            </a:r>
          </a:p>
          <a:p xmlns:a="http://schemas.openxmlformats.org/drawingml/2006/main">
            <a:r>
              <a:t>import java.util.*;</a:t>
            </a:r>
          </a:p>
          <a:p xmlns:a="http://schemas.openxmlformats.org/drawingml/2006/main">
            <a:r>
              <a:t>public class ComodinesDemo {</a:t>
            </a:r>
          </a:p>
          <a:p xmlns:a="http://schemas.openxmlformats.org/drawingml/2006/main">
            <a:r>
              <a:t>    static double sumar(List&lt;? extends Number&gt; valores) {</a:t>
            </a:r>
          </a:p>
          <a:p xmlns:a="http://schemas.openxmlformats.org/drawingml/2006/main">
            <a:r>
              <a:t>        double total = 0;</a:t>
            </a:r>
          </a:p>
          <a:p xmlns:a="http://schemas.openxmlformats.org/drawingml/2006/main">
            <a:r>
              <a:t>        for (Number n : valores) total += Objects.requireNonNull(n).doubleValue();</a:t>
            </a:r>
          </a:p>
          <a:p xmlns:a="http://schemas.openxmlformats.org/drawingml/2006/main">
            <a:r>
              <a:t>        return total;</a:t>
            </a:r>
          </a:p>
          <a:p xmlns:a="http://schemas.openxmlformats.org/drawingml/2006/main">
            <a:r>
              <a:t>    }</a:t>
            </a:r>
          </a:p>
          <a:p xmlns:a="http://schemas.openxmlformats.org/drawingml/2006/main">
            <a:r>
              <a:t>    static &lt;T&gt; void copiar(List&lt;? extends T&gt; origen, List&lt;? super T&gt; destino) {</a:t>
            </a:r>
          </a:p>
          <a:p xmlns:a="http://schemas.openxmlformats.org/drawingml/2006/main">
            <a:r>
              <a:t>        destino.addAll(origen);</a:t>
            </a:r>
          </a:p>
          <a:p xmlns:a="http://schemas.openxmlformats.org/drawingml/2006/main">
            <a:r>
              <a:t>    }</a:t>
            </a:r>
          </a:p>
          <a:p xmlns:a="http://schemas.openxmlformats.org/drawingml/2006/main">
            <a:r>
              <a:t>    public static void main(String[] args) {</a:t>
            </a:r>
          </a:p>
          <a:p xmlns:a="http://schemas.openxmlformats.org/drawingml/2006/main">
            <a:r>
              <a:t>        List&lt;Integer&gt; ocupacion = List.of(10,12,8);</a:t>
            </a:r>
          </a:p>
          <a:p xmlns:a="http://schemas.openxmlformats.org/drawingml/2006/main">
            <a:r>
              <a:t>        List&lt;Number&gt; acumulado = new ArrayList&lt;&gt;();</a:t>
            </a:r>
          </a:p>
          <a:p xmlns:a="http://schemas.openxmlformats.org/drawingml/2006/main">
            <a:r>
              <a:t>        copiar(ocupacion, acumulado);</a:t>
            </a:r>
          </a:p>
          <a:p xmlns:a="http://schemas.openxmlformats.org/drawingml/2006/main">
            <a:r>
              <a:t>        copiar(List.of(22.5,24.0), acumulado);</a:t>
            </a:r>
          </a:p>
          <a:p xmlns:a="http://schemas.openxmlformats.org/drawingml/2006/main">
            <a:r>
              <a:t>        System.out.println(acumulado);</a:t>
            </a:r>
          </a:p>
          <a:p xmlns:a="http://schemas.openxmlformats.org/drawingml/2006/main">
            <a:r>
              <a:t>        System.out.println("Total numérico: " + sumar(acumulado));</a:t>
            </a:r>
          </a:p>
          <a:p xmlns:a="http://schemas.openxmlformats.org/drawingml/2006/main">
            <a:r>
              <a:t>        List&lt;Object&gt; auditoria = new ArrayList&lt;&gt;();</a:t>
            </a:r>
          </a:p>
          <a:p xmlns:a="http://schemas.openxmlformats.org/drawingml/2006/main">
            <a:r>
              <a:t>        copiar(acumulado, auditoria);</a:t>
            </a:r>
          </a:p>
          <a:p xmlns:a="http://schemas.openxmlformats.org/drawingml/2006/main">
            <a:r>
              <a:t>        System.out.println("Elementos auditados: " + auditoria.size());</a:t>
            </a:r>
          </a:p>
          <a:p xmlns:a="http://schemas.openxmlformats.org/drawingml/2006/main">
            <a:r>
              <a:t>    }</a:t>
            </a:r>
          </a:p>
          <a:p xmlns:a="http://schemas.openxmlformats.org/drawingml/2006/main">
            <a:r>
              <a:t>}</a:t>
            </a:r>
          </a:p>
          <a:p xmlns:a="http://schemas.openxmlformats.org/drawingml/2006/main">
            <a:r>
              <a:t/>
            </a:r>
          </a:p>
          <a:p xmlns:a="http://schemas.openxmlformats.org/drawingml/2006/main">
            <a:r>
              <a:t/>
            </a:r>
          </a:p>
          <a:p xmlns:a="http://schemas.openxmlformats.org/drawingml/2006/main">
            <a:r>
              <a:t>Salida:</a:t>
            </a:r>
          </a:p>
          <a:p xmlns:a="http://schemas.openxmlformats.org/drawingml/2006/main">
            <a:r>
              <a:t>[10, 12, 8, 22.5, 24.0]</a:t>
            </a:r>
          </a:p>
          <a:p xmlns:a="http://schemas.openxmlformats.org/drawingml/2006/main">
            <a:r>
              <a:t>Total numérico: 76.5</a:t>
            </a:r>
          </a:p>
          <a:p xmlns:a="http://schemas.openxmlformats.org/drawingml/2006/main">
            <a:r>
              <a:t>Elementos auditados: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Salida esperada:</a:t>
            </a:r>
          </a:p>
          <a:p xmlns:a="http://schemas.openxmlformats.org/drawingml/2006/main">
            <a:r>
              <a:t>[10, 12, 8, 22.5, 24.0]</a:t>
            </a:r>
          </a:p>
          <a:p xmlns:a="http://schemas.openxmlformats.org/drawingml/2006/main">
            <a:r>
              <a:t>Total numérico: 76.5</a:t>
            </a:r>
          </a:p>
          <a:p xmlns:a="http://schemas.openxmlformats.org/drawingml/2006/main">
            <a:r>
              <a:t>Elementos auditados: 5</a:t>
            </a:r>
          </a:p>
          <a:p xmlns:a="http://schemas.openxmlformats.org/drawingml/2006/main">
            <a:r>
              <a:t>Casos de aceptación: material.md, sección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Resuelve la ampliación en tu proyecto CampusMonitor.</a:t>
            </a:r>
          </a:p>
          <a:p xmlns:a="http://schemas.openxmlformats.org/drawingml/2006/main">
            <a:r>
              <a:t>Evidencia: evidencias/PC1.2.md y enlace al commit final.</a:t>
            </a:r>
          </a:p>
          <a:p xmlns:a="http://schemas.openxmlformats.org/drawingml/2006/main">
            <a:r>
              <a:t>Generaliza el método de copia del catálogo con origen productor y destino consumidor. Usa una lista destino modificable.</a:t>
            </a:r>
          </a:p>
          <a:p xmlns:a="http://schemas.openxmlformats.org/drawingml/2006/main">
            <a:r>
              <a:t>Demuestra copias Integer a Number y Number a Object. Mantén separados los promedios por unidad en CampusMonitor.</a:t>
            </a:r>
          </a:p>
          <a:p xmlns:a="http://schemas.openxmlformats.org/drawingml/2006/main">
            <a:r>
              <a:t>Incluye dos contraejemplos comentados: asignación List&lt;Integer&gt; a List&lt;Number&gt; e inserción en List&lt;? extends Number&gt;. Explica por qué no compilan.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Síntesis del material. Revisa la sección 3 para la PC y la guía general para commits y evidencias.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6fb46e3a124a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5b7891b2f994195" /><Relationship Type="http://schemas.openxmlformats.org/officeDocument/2006/relationships/slideLayout" Target="/ppt/slideLayouts/slideLayout1.xml" Id="R714fd3c6416e42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4fd3c6416e42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9f3b27b4e6946f8" /><Relationship Type="http://schemas.openxmlformats.org/officeDocument/2006/relationships/image" Target="/ppt/media/image.png" Id="Re1ffc1af95f34e35" /><Relationship Type="http://schemas.openxmlformats.org/officeDocument/2006/relationships/notesSlide" Target="/ppt/notesSlides/notesSlide1.xml" Id="R2094168a173241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da7efe20b82464e" /><Relationship Type="http://schemas.openxmlformats.org/officeDocument/2006/relationships/notesSlide" Target="/ppt/notesSlides/notesSlide2.xml" Id="R29001a08d5cb4b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e0ae4b3b1c84635" /><Relationship Type="http://schemas.openxmlformats.org/officeDocument/2006/relationships/notesSlide" Target="/ppt/notesSlides/notesSlide3.xml" Id="R22db2114015547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1aec833ef94807" /><Relationship Type="http://schemas.openxmlformats.org/officeDocument/2006/relationships/notesSlide" Target="/ppt/notesSlides/notesSlide4.xml" Id="R6ab5373d2e9a49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dcab211299149da" /><Relationship Type="http://schemas.openxmlformats.org/officeDocument/2006/relationships/notesSlide" Target="/ppt/notesSlides/notesSlide5.xml" Id="Rd7941d2bf73247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6d7ab35378b41c6" /><Relationship Type="http://schemas.openxmlformats.org/officeDocument/2006/relationships/notesSlide" Target="/ppt/notesSlides/notesSlide6.xml" Id="R255941ca47024cf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106cae856bd4556" /><Relationship Type="http://schemas.openxmlformats.org/officeDocument/2006/relationships/notesSlide" Target="/ppt/notesSlides/notesSlide7.xml" Id="Rfd143dd35b4240f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50e6cd1d12b4052" /><Relationship Type="http://schemas.openxmlformats.org/officeDocument/2006/relationships/notesSlide" Target="/ppt/notesSlides/notesSlide8.xml" Id="R0fb96663ae9f444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edc871ad8b84371" /><Relationship Type="http://schemas.openxmlformats.org/officeDocument/2006/relationships/notesSlide" Target="/ppt/notesSlides/notesSlide9.xml" Id="Re409d882f0e44c0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f6498d3b841428b" /><Relationship Type="http://schemas.openxmlformats.org/officeDocument/2006/relationships/notesSlide" Target="/ppt/notesSlides/notesSlide10.xml" Id="R9213edf7a8704a6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1ffc1af95f34e35"/>
          <a:stretch xmlns:a="http://schemas.openxmlformats.org/drawingml/2006/main"/>
        </p:blipFill>
        <p:spPr>
          <a:xfrm xmlns:a="http://schemas.openxmlformats.org/drawingml/2006/main">
            <a:off x="609600" y="545418"/>
            <a:ext cx="6858000" cy="112848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950D9FF-EEEE-402E-A927-AF365DF7C6F9}"/>
              </a:ext>
            </a:extLst>
          </p:cNvPr>
          <p:cNvSpPr>
            <a:spLocks xmlns:a="http://schemas.openxmlformats.org/drawingml/2006/main" noGrp="1"/>
          </p:cNvSpPr>
          <p:nvPr/>
        </p:nvSpPr>
        <p:spPr>
          <a:xfrm xmlns:a="http://schemas.openxmlformats.org/drawingml/2006/main">
            <a:off x="609600" y="22383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003772"/>
                </a:solidFill>
                <a:latin typeface="DejaVu Sans"/>
                <a:ea typeface="DejaVu Sans"/>
                <a:cs typeface="DejaVu Sans"/>
              </a:defRPr>
            </a:pPr>
            <a:r>
              <a:rPr sz="3150" b="1">
                <a:solidFill>
                  <a:srgbClr val="003772"/>
                </a:solidFill>
                <a:latin typeface="DejaVu Sans"/>
                <a:ea typeface="DejaVu Sans"/>
                <a:cs typeface="DejaVu Sans"/>
              </a:rPr>
              <a:t>Programación Aplicada</a:t>
            </a:r>
          </a:p>
        </p:txBody>
      </p:sp>
      <p:sp>
        <p:nvSpPr>
          <p:cNvPr id="3" name="">
            <a:extLst xmlns:a="http://schemas.openxmlformats.org/drawingml/2006/main">
              <a:ext uri="{FF2B5EF4-FFF2-40B4-BE49-F238E27FC236}">
                <a16:creationId xmlns:a16="http://schemas.microsoft.com/office/drawing/2014/main" id="{764683D5-5BF4-4DAC-B6E9-1026470190B8}"/>
              </a:ext>
            </a:extLst>
          </p:cNvPr>
          <p:cNvSpPr>
            <a:spLocks xmlns:a="http://schemas.openxmlformats.org/drawingml/2006/main" noGrp="1"/>
          </p:cNvSpPr>
          <p:nvPr/>
        </p:nvSpPr>
        <p:spPr>
          <a:xfrm xmlns:a="http://schemas.openxmlformats.org/drawingml/2006/main">
            <a:off x="609600" y="31623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003772"/>
                </a:solidFill>
                <a:latin typeface="DejaVu Sans"/>
                <a:ea typeface="DejaVu Sans"/>
                <a:cs typeface="DejaVu Sans"/>
              </a:defRPr>
            </a:pPr>
            <a:r>
              <a:rPr sz="2775" b="1">
                <a:solidFill>
                  <a:srgbClr val="003772"/>
                </a:solidFill>
                <a:latin typeface="DejaVu Sans"/>
                <a:ea typeface="DejaVu Sans"/>
                <a:cs typeface="DejaVu Sans"/>
              </a:rPr>
              <a:t>Subtipos, comodines y PECS</a:t>
            </a:r>
          </a:p>
        </p:txBody>
      </p:sp>
      <p:sp>
        <p:nvSpPr>
          <p:cNvPr id="4" name="">
            <a:extLst xmlns:a="http://schemas.openxmlformats.org/drawingml/2006/main">
              <a:ext uri="{FF2B5EF4-FFF2-40B4-BE49-F238E27FC236}">
                <a16:creationId xmlns:a16="http://schemas.microsoft.com/office/drawing/2014/main" id="{D9303145-9E6F-4C78-BF5D-82CA5E357EAB}"/>
              </a:ext>
            </a:extLst>
          </p:cNvPr>
          <p:cNvSpPr>
            <a:spLocks xmlns:a="http://schemas.openxmlformats.org/drawingml/2006/main" noGrp="1"/>
          </p:cNvSpPr>
          <p:nvPr/>
        </p:nvSpPr>
        <p:spPr>
          <a:xfrm xmlns:a="http://schemas.openxmlformats.org/drawingml/2006/main">
            <a:off x="609600" y="4705350"/>
            <a:ext cx="1381125"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9244C0A-EFBA-43D9-860E-48CEADA13F17}"/>
              </a:ext>
            </a:extLst>
          </p:cNvPr>
          <p:cNvSpPr>
            <a:spLocks xmlns:a="http://schemas.openxmlformats.org/drawingml/2006/main" noGrp="1"/>
          </p:cNvSpPr>
          <p:nvPr/>
        </p:nvSpPr>
        <p:spPr>
          <a:xfrm xmlns:a="http://schemas.openxmlformats.org/drawingml/2006/main">
            <a:off x="609600" y="50673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Unidad 1 · 1.2</a:t>
            </a:r>
          </a:p>
        </p:txBody>
      </p:sp>
      <p:sp>
        <p:nvSpPr>
          <p:cNvPr id="6" name="">
            <a:extLst xmlns:a="http://schemas.openxmlformats.org/drawingml/2006/main">
              <a:ext uri="{FF2B5EF4-FFF2-40B4-BE49-F238E27FC236}">
                <a16:creationId xmlns:a16="http://schemas.microsoft.com/office/drawing/2014/main" id="{29DCF695-9708-4C1B-9046-538765FFB0FC}"/>
              </a:ext>
            </a:extLst>
          </p:cNvPr>
          <p:cNvSpPr>
            <a:spLocks xmlns:a="http://schemas.openxmlformats.org/drawingml/2006/main" noGrp="1"/>
          </p:cNvSpPr>
          <p:nvPr/>
        </p:nvSpPr>
        <p:spPr>
          <a:xfrm xmlns:a="http://schemas.openxmlformats.org/drawingml/2006/main">
            <a:off x="609600" y="5676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17068605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E4A7DA9-DB1A-418C-B28D-4D54879ECA91}"/>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A60BD5-5DDE-4F9E-8135-C1C5C2F661A5}"/>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El problema de CampusMonitor</a:t>
            </a:r>
          </a:p>
        </p:txBody>
      </p:sp>
      <p:sp>
        <p:nvSpPr>
          <p:cNvPr id="3" name="">
            <a:extLst xmlns:a="http://schemas.openxmlformats.org/drawingml/2006/main">
              <a:ext uri="{FF2B5EF4-FFF2-40B4-BE49-F238E27FC236}">
                <a16:creationId xmlns:a16="http://schemas.microsoft.com/office/drawing/2014/main" id="{DF2290B6-7D80-4CFB-AD05-1FB37BD8369F}"/>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1CC8F33-913B-473B-879B-12A86B62D31A}"/>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1.2</a:t>
            </a:r>
          </a:p>
        </p:txBody>
      </p:sp>
      <p:sp>
        <p:nvSpPr>
          <p:cNvPr id="5" name="">
            <a:extLst xmlns:a="http://schemas.openxmlformats.org/drawingml/2006/main">
              <a:ext uri="{FF2B5EF4-FFF2-40B4-BE49-F238E27FC236}">
                <a16:creationId xmlns:a16="http://schemas.microsoft.com/office/drawing/2014/main" id="{D9C45498-E990-4215-9AEC-DDB9805ADC2E}"/>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C0974740-5DD4-43C7-BCEC-EB4C71C94878}"/>
              </a:ext>
            </a:extLst>
          </p:cNvPr>
          <p:cNvSpPr>
            <a:spLocks xmlns:a="http://schemas.openxmlformats.org/drawingml/2006/main" noGrp="1"/>
          </p:cNvSpPr>
          <p:nvPr/>
        </p:nvSpPr>
        <p:spPr>
          <a:xfrm xmlns:a="http://schemas.openxmlformats.org/drawingml/2006/main">
            <a:off x="762000" y="1771650"/>
            <a:ext cx="10477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Las lecturas de temperatura son Double, pero una utilidad de cálculo puede aceptar Number. La herencia entre Integer, Double y Number no se propaga automáticamente a List. El diseño de la firma determina qué se puede leer y escribir de forma segura.</a:t>
            </a:r>
          </a:p>
        </p:txBody>
      </p:sp>
    </p:spTree>
    <p:extLst>
      <p:ext uri="{BB962C8B-B14F-4D97-AF65-F5344CB8AC3E}">
        <p14:creationId xmlns:p14="http://schemas.microsoft.com/office/powerpoint/2010/main" val="18224653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F4B79CB-AE15-4F0C-B089-6F78E2A0947E}"/>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8BAE45-3291-4165-845B-D261F4113832}"/>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Invariancia de los tipos parametrizados</a:t>
            </a:r>
          </a:p>
        </p:txBody>
      </p:sp>
      <p:sp>
        <p:nvSpPr>
          <p:cNvPr id="3" name="">
            <a:extLst xmlns:a="http://schemas.openxmlformats.org/drawingml/2006/main">
              <a:ext uri="{FF2B5EF4-FFF2-40B4-BE49-F238E27FC236}">
                <a16:creationId xmlns:a16="http://schemas.microsoft.com/office/drawing/2014/main" id="{FB79B407-6467-4F24-BF5C-24B8EB0C311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D25DA26-A31D-483E-84AC-13137C35C4E0}"/>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1.2</a:t>
            </a:r>
          </a:p>
        </p:txBody>
      </p:sp>
      <p:sp>
        <p:nvSpPr>
          <p:cNvPr id="5" name="">
            <a:extLst xmlns:a="http://schemas.openxmlformats.org/drawingml/2006/main">
              <a:ext uri="{FF2B5EF4-FFF2-40B4-BE49-F238E27FC236}">
                <a16:creationId xmlns:a16="http://schemas.microsoft.com/office/drawing/2014/main" id="{0DB2B734-4B6D-4492-BFB8-14622420D74F}"/>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74ADA206-5146-424A-BD45-17EC6E28AC78}"/>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List es invariante.</a:t>
            </a:r>
          </a:p>
        </p:txBody>
      </p:sp>
      <p:sp>
        <p:nvSpPr>
          <p:cNvPr id="7" name="">
            <a:extLst xmlns:a="http://schemas.openxmlformats.org/drawingml/2006/main">
              <a:ext uri="{FF2B5EF4-FFF2-40B4-BE49-F238E27FC236}">
                <a16:creationId xmlns:a16="http://schemas.microsoft.com/office/drawing/2014/main" id="{7CC34FB7-C952-4F8F-B27B-DD8E4D9921F5}"/>
              </a:ext>
            </a:extLst>
          </p:cNvPr>
          <p:cNvSpPr>
            <a:spLocks xmlns:a="http://schemas.openxmlformats.org/drawingml/2006/main" noGrp="1"/>
          </p:cNvSpPr>
          <p:nvPr/>
        </p:nvSpPr>
        <p:spPr>
          <a:xfrm xmlns:a="http://schemas.openxmlformats.org/drawingml/2006/main">
            <a:off x="723900" y="2800350"/>
            <a:ext cx="5048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Aunque Integer extiende Number, List&lt;Integer&gt; no es subtipo de List&lt;Number&gt;. Si esa asignación fuera válida, una referencia List&lt;Number&gt; permitiría insertar un Double en una lista destinada a Integer. La invariancia evita esa contradicción.</a:t>
            </a:r>
          </a:p>
        </p:txBody>
      </p:sp>
      <p:sp>
        <p:nvSpPr>
          <p:cNvPr id="8" name="">
            <a:extLst xmlns:a="http://schemas.openxmlformats.org/drawingml/2006/main">
              <a:ext uri="{FF2B5EF4-FFF2-40B4-BE49-F238E27FC236}">
                <a16:creationId xmlns:a16="http://schemas.microsoft.com/office/drawing/2014/main" id="{3E800B57-0456-40DA-9847-5868EA232734}"/>
              </a:ext>
            </a:extLst>
          </p:cNvPr>
          <p:cNvSpPr>
            <a:spLocks xmlns:a="http://schemas.openxmlformats.org/drawingml/2006/main" noGrp="1"/>
          </p:cNvSpPr>
          <p:nvPr/>
        </p:nvSpPr>
        <p:spPr>
          <a:xfrm xmlns:a="http://schemas.openxmlformats.org/drawingml/2006/main">
            <a:off x="6210300" y="2724150"/>
            <a:ext cx="5238750" cy="27432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5C0679D-1958-4E28-A966-348309739B73}"/>
              </a:ext>
            </a:extLst>
          </p:cNvPr>
          <p:cNvSpPr>
            <a:spLocks xmlns:a="http://schemas.openxmlformats.org/drawingml/2006/main" noGrp="1"/>
          </p:cNvSpPr>
          <p:nvPr/>
        </p:nvSpPr>
        <p:spPr>
          <a:xfrm xmlns:a="http://schemas.openxmlformats.org/drawingml/2006/main">
            <a:off x="6419850" y="2924175"/>
            <a:ext cx="48196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403F3B"/>
                </a:solidFill>
                <a:latin typeface="DejaVu Sans"/>
                <a:ea typeface="DejaVu Sans"/>
                <a:cs typeface="DejaVu Sans"/>
              </a:defRPr>
            </a:pPr>
            <a:r>
              <a:rPr sz="1425" b="0">
                <a:solidFill>
                  <a:srgbClr val="403F3B"/>
                </a:solidFill>
                <a:latin typeface="DejaVu Sans"/>
                <a:ea typeface="DejaVu Sans"/>
                <a:cs typeface="DejaVu Sans"/>
              </a:rPr>
              <a:t>List&lt;Integer&gt; ocupacion = List.of(10, 12);</a:t>
            </a:r>
          </a:p>
          <a:p xmlns:a="http://schemas.openxmlformats.org/drawingml/2006/main">
            <a:pPr>
              <a:defRPr sz="1425" b="0">
                <a:solidFill>
                  <a:srgbClr val="403F3B"/>
                </a:solidFill>
                <a:latin typeface="DejaVu Sans"/>
                <a:ea typeface="DejaVu Sans"/>
                <a:cs typeface="DejaVu Sans"/>
              </a:defRPr>
            </a:pPr>
            <a:r>
              <a:rPr sz="1425" b="0">
                <a:solidFill>
                  <a:srgbClr val="403F3B"/>
                </a:solidFill>
                <a:latin typeface="DejaVu Sans"/>
                <a:ea typeface="DejaVu Sans"/>
                <a:cs typeface="DejaVu Sans"/>
              </a:rPr>
              <a:t>List&lt;? extends Number&gt; lectura = ocupacion;</a:t>
            </a:r>
          </a:p>
          <a:p xmlns:a="http://schemas.openxmlformats.org/drawingml/2006/main">
            <a:pPr>
              <a:defRPr sz="1425" b="0">
                <a:solidFill>
                  <a:srgbClr val="403F3B"/>
                </a:solidFill>
                <a:latin typeface="DejaVu Sans"/>
                <a:ea typeface="DejaVu Sans"/>
                <a:cs typeface="DejaVu Sans"/>
              </a:defRPr>
            </a:pPr>
            <a:r>
              <a:rPr sz="1425" b="0">
                <a:solidFill>
                  <a:srgbClr val="403F3B"/>
                </a:solidFill>
                <a:latin typeface="DejaVu Sans"/>
                <a:ea typeface="DejaVu Sans"/>
                <a:cs typeface="DejaVu Sans"/>
              </a:rPr>
              <a:t>Number primero = lectura.get(0);</a:t>
            </a:r>
          </a:p>
        </p:txBody>
      </p:sp>
    </p:spTree>
    <p:extLst>
      <p:ext uri="{BB962C8B-B14F-4D97-AF65-F5344CB8AC3E}">
        <p14:creationId xmlns:p14="http://schemas.microsoft.com/office/powerpoint/2010/main" val="9845738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49C720C-5035-4E5B-8452-8E9E01A0F1BA}"/>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D64916-1F70-4016-862C-55378631958E}"/>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Productores con extends</a:t>
            </a:r>
          </a:p>
        </p:txBody>
      </p:sp>
      <p:sp>
        <p:nvSpPr>
          <p:cNvPr id="3" name="">
            <a:extLst xmlns:a="http://schemas.openxmlformats.org/drawingml/2006/main">
              <a:ext uri="{FF2B5EF4-FFF2-40B4-BE49-F238E27FC236}">
                <a16:creationId xmlns:a16="http://schemas.microsoft.com/office/drawing/2014/main" id="{DE9C89E4-D04C-4879-B6F3-00C01318E83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51022AD-6C84-4F84-9C0C-D0A6AB303EFB}"/>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1.2</a:t>
            </a:r>
          </a:p>
        </p:txBody>
      </p:sp>
      <p:sp>
        <p:nvSpPr>
          <p:cNvPr id="5" name="">
            <a:extLst xmlns:a="http://schemas.openxmlformats.org/drawingml/2006/main">
              <a:ext uri="{FF2B5EF4-FFF2-40B4-BE49-F238E27FC236}">
                <a16:creationId xmlns:a16="http://schemas.microsoft.com/office/drawing/2014/main" id="{197EAEE1-7F69-4DBC-B201-107033ED6CCA}"/>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AC977D88-93CB-4B5C-AC13-752FDF9BE95F}"/>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extends permite leer el tipo acotado.</a:t>
            </a:r>
          </a:p>
        </p:txBody>
      </p:sp>
      <p:sp>
        <p:nvSpPr>
          <p:cNvPr id="7" name="">
            <a:extLst xmlns:a="http://schemas.openxmlformats.org/drawingml/2006/main">
              <a:ext uri="{FF2B5EF4-FFF2-40B4-BE49-F238E27FC236}">
                <a16:creationId xmlns:a16="http://schemas.microsoft.com/office/drawing/2014/main" id="{7C2E51C4-23F8-476C-A3DF-18058D990FF0}"/>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List&lt;? extends Number&gt; representa una lista de algún subtipo de Number. Se puede leer cada elemento como Number. No permite añadir un Integer o un Double porque el subtipo concreto es desconocido. La lista podría ser List&lt;BigDecimal&gt;.</a:t>
            </a:r>
          </a:p>
        </p:txBody>
      </p:sp>
      <p:sp>
        <p:nvSpPr>
          <p:cNvPr id="8" name="">
            <a:extLst xmlns:a="http://schemas.openxmlformats.org/drawingml/2006/main">
              <a:ext uri="{FF2B5EF4-FFF2-40B4-BE49-F238E27FC236}">
                <a16:creationId xmlns:a16="http://schemas.microsoft.com/office/drawing/2014/main" id="{ECBE6551-48FD-43B3-819E-76108217FA69}"/>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BC25D68-A076-4D2A-BB56-FAD7EE61E614}"/>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Usa extends cuando el parámetro produce valores para el algoritmo. Un sumador solo necesita leer y convertir a double. Este contrato acepta listas Integer y Double.</a:t>
            </a:r>
          </a:p>
        </p:txBody>
      </p:sp>
    </p:spTree>
    <p:extLst>
      <p:ext uri="{BB962C8B-B14F-4D97-AF65-F5344CB8AC3E}">
        <p14:creationId xmlns:p14="http://schemas.microsoft.com/office/powerpoint/2010/main" val="13133847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AE04047-8806-4EE3-9FE4-451B196FB056}"/>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430D535-C4DD-4EB9-9691-2E82B92D4B5E}"/>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Consumidores con super</a:t>
            </a:r>
          </a:p>
        </p:txBody>
      </p:sp>
      <p:sp>
        <p:nvSpPr>
          <p:cNvPr id="3" name="">
            <a:extLst xmlns:a="http://schemas.openxmlformats.org/drawingml/2006/main">
              <a:ext uri="{FF2B5EF4-FFF2-40B4-BE49-F238E27FC236}">
                <a16:creationId xmlns:a16="http://schemas.microsoft.com/office/drawing/2014/main" id="{C4F1BF4A-FEFB-4304-BB65-AEAD778C346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C6D16B2-00AD-4EAB-956F-8CD754B4853F}"/>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1.2</a:t>
            </a:r>
          </a:p>
        </p:txBody>
      </p:sp>
      <p:sp>
        <p:nvSpPr>
          <p:cNvPr id="5" name="">
            <a:extLst xmlns:a="http://schemas.openxmlformats.org/drawingml/2006/main">
              <a:ext uri="{FF2B5EF4-FFF2-40B4-BE49-F238E27FC236}">
                <a16:creationId xmlns:a16="http://schemas.microsoft.com/office/drawing/2014/main" id="{7864B7D2-9C6A-4BB3-B148-092A83185E7E}"/>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A7E4867C-2233-4B52-B908-9BC84BD0384C}"/>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super permite escribir el tipo acotado.</a:t>
            </a:r>
          </a:p>
        </p:txBody>
      </p:sp>
      <p:sp>
        <p:nvSpPr>
          <p:cNvPr id="7" name="">
            <a:extLst xmlns:a="http://schemas.openxmlformats.org/drawingml/2006/main">
              <a:ext uri="{FF2B5EF4-FFF2-40B4-BE49-F238E27FC236}">
                <a16:creationId xmlns:a16="http://schemas.microsoft.com/office/drawing/2014/main" id="{EA14F3EC-8873-43A9-9EBA-7D85FC2232F4}"/>
              </a:ext>
            </a:extLst>
          </p:cNvPr>
          <p:cNvSpPr>
            <a:spLocks xmlns:a="http://schemas.openxmlformats.org/drawingml/2006/main" noGrp="1"/>
          </p:cNvSpPr>
          <p:nvPr/>
        </p:nvSpPr>
        <p:spPr>
          <a:xfrm xmlns:a="http://schemas.openxmlformats.org/drawingml/2006/main">
            <a:off x="723900" y="2800350"/>
            <a:ext cx="5048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List&lt;? super Integer&gt; representa una lista de Integer o de alguno de sus supertipos. Es seguro añadir Integer. Al leer, el tipo garantizado es Object, porque una List&lt;Number&gt; podría contener Double y una List&lt;Object&gt; podría contener cadenas.</a:t>
            </a:r>
          </a:p>
        </p:txBody>
      </p:sp>
      <p:sp>
        <p:nvSpPr>
          <p:cNvPr id="8" name="">
            <a:extLst xmlns:a="http://schemas.openxmlformats.org/drawingml/2006/main">
              <a:ext uri="{FF2B5EF4-FFF2-40B4-BE49-F238E27FC236}">
                <a16:creationId xmlns:a16="http://schemas.microsoft.com/office/drawing/2014/main" id="{55D70B58-F376-4DDE-8C43-062B6B4BE613}"/>
              </a:ext>
            </a:extLst>
          </p:cNvPr>
          <p:cNvSpPr>
            <a:spLocks xmlns:a="http://schemas.openxmlformats.org/drawingml/2006/main" noGrp="1"/>
          </p:cNvSpPr>
          <p:nvPr/>
        </p:nvSpPr>
        <p:spPr>
          <a:xfrm xmlns:a="http://schemas.openxmlformats.org/drawingml/2006/main">
            <a:off x="6210300" y="2724150"/>
            <a:ext cx="5238750" cy="27432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E9533BD-0E1C-47F2-A63E-79B3FAF45C9B}"/>
              </a:ext>
            </a:extLst>
          </p:cNvPr>
          <p:cNvSpPr>
            <a:spLocks xmlns:a="http://schemas.openxmlformats.org/drawingml/2006/main" noGrp="1"/>
          </p:cNvSpPr>
          <p:nvPr/>
        </p:nvSpPr>
        <p:spPr>
          <a:xfrm xmlns:a="http://schemas.openxmlformats.org/drawingml/2006/main">
            <a:off x="6419850" y="2924175"/>
            <a:ext cx="48196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403F3B"/>
                </a:solidFill>
                <a:latin typeface="DejaVu Sans"/>
                <a:ea typeface="DejaVu Sans"/>
                <a:cs typeface="DejaVu Sans"/>
              </a:defRPr>
            </a:pPr>
            <a:r>
              <a:rPr sz="1425" b="0">
                <a:solidFill>
                  <a:srgbClr val="403F3B"/>
                </a:solidFill>
                <a:latin typeface="DejaVu Sans"/>
                <a:ea typeface="DejaVu Sans"/>
                <a:cs typeface="DejaVu Sans"/>
              </a:rPr>
              <a:t>static &lt;T&gt; void copiar(List&lt;? extends T&gt; origen, List&lt;? super T&gt; destino) {</a:t>
            </a:r>
          </a:p>
          <a:p xmlns:a="http://schemas.openxmlformats.org/drawingml/2006/main">
            <a:pPr>
              <a:defRPr sz="1425" b="0">
                <a:solidFill>
                  <a:srgbClr val="403F3B"/>
                </a:solidFill>
                <a:latin typeface="DejaVu Sans"/>
                <a:ea typeface="DejaVu Sans"/>
                <a:cs typeface="DejaVu Sans"/>
              </a:defRPr>
            </a:pPr>
            <a:r>
              <a:rPr sz="1425" b="0">
                <a:solidFill>
                  <a:srgbClr val="403F3B"/>
                </a:solidFill>
                <a:latin typeface="DejaVu Sans"/>
                <a:ea typeface="DejaVu Sans"/>
                <a:cs typeface="DejaVu Sans"/>
              </a:rPr>
              <a:t>  destino.addAll(origen);</a:t>
            </a:r>
          </a:p>
          <a:p xmlns:a="http://schemas.openxmlformats.org/drawingml/2006/main">
            <a:pPr>
              <a:defRPr sz="1425" b="0">
                <a:solidFill>
                  <a:srgbClr val="403F3B"/>
                </a:solidFill>
                <a:latin typeface="DejaVu Sans"/>
                <a:ea typeface="DejaVu Sans"/>
                <a:cs typeface="DejaVu Sans"/>
              </a:defRPr>
            </a:pPr>
            <a:r>
              <a:rPr sz="1425" b="0">
                <a:solidFill>
                  <a:srgbClr val="403F3B"/>
                </a:solidFill>
                <a:latin typeface="DejaVu Sans"/>
                <a:ea typeface="DejaVu Sans"/>
                <a:cs typeface="DejaVu Sans"/>
              </a:rPr>
              <a:t>}</a:t>
            </a:r>
          </a:p>
        </p:txBody>
      </p:sp>
    </p:spTree>
    <p:extLst>
      <p:ext uri="{BB962C8B-B14F-4D97-AF65-F5344CB8AC3E}">
        <p14:creationId xmlns:p14="http://schemas.microsoft.com/office/powerpoint/2010/main" val="2471447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0C12E7D-AE48-4995-B103-9FEDBE851128}"/>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4746E2-52A5-4A6F-B04B-E4D7026C52AC}"/>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Captura y límites del contrato</a:t>
            </a:r>
          </a:p>
        </p:txBody>
      </p:sp>
      <p:sp>
        <p:nvSpPr>
          <p:cNvPr id="3" name="">
            <a:extLst xmlns:a="http://schemas.openxmlformats.org/drawingml/2006/main">
              <a:ext uri="{FF2B5EF4-FFF2-40B4-BE49-F238E27FC236}">
                <a16:creationId xmlns:a16="http://schemas.microsoft.com/office/drawing/2014/main" id="{A12CE72D-9EF1-4209-9266-D7037ED3A69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B7B63C2-F56E-4A93-B0EE-21787930D5C4}"/>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1.2</a:t>
            </a:r>
          </a:p>
        </p:txBody>
      </p:sp>
      <p:sp>
        <p:nvSpPr>
          <p:cNvPr id="5" name="">
            <a:extLst xmlns:a="http://schemas.openxmlformats.org/drawingml/2006/main">
              <a:ext uri="{FF2B5EF4-FFF2-40B4-BE49-F238E27FC236}">
                <a16:creationId xmlns:a16="http://schemas.microsoft.com/office/drawing/2014/main" id="{312E2087-0B6C-4B56-A291-C8B24CF8055C}"/>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71155713-4903-4CC8-A73B-129B4D1A994F}"/>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PECS depende del uso del parámetro.</a:t>
            </a:r>
          </a:p>
        </p:txBody>
      </p:sp>
      <p:sp>
        <p:nvSpPr>
          <p:cNvPr id="7" name="">
            <a:extLst xmlns:a="http://schemas.openxmlformats.org/drawingml/2006/main">
              <a:ext uri="{FF2B5EF4-FFF2-40B4-BE49-F238E27FC236}">
                <a16:creationId xmlns:a16="http://schemas.microsoft.com/office/drawing/2014/main" id="{59597C03-B37E-48EF-8CF9-544BBE6901C1}"/>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El compilador captura el comodín como un tipo desconocido consistente. Un método auxiliar genérico puede aprovechar esa captura para operaciones como intercambiar elementos de una misma lista. La necesidad de ese auxiliar no implica que deba usarse un cast sin comprobar.</a:t>
            </a:r>
          </a:p>
        </p:txBody>
      </p:sp>
      <p:sp>
        <p:nvSpPr>
          <p:cNvPr id="8" name="">
            <a:extLst xmlns:a="http://schemas.openxmlformats.org/drawingml/2006/main">
              <a:ext uri="{FF2B5EF4-FFF2-40B4-BE49-F238E27FC236}">
                <a16:creationId xmlns:a16="http://schemas.microsoft.com/office/drawing/2014/main" id="{639A36A3-B929-4F4B-A453-E85303B682CB}"/>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DDE317E-94C9-474E-917F-6D0F36B44F20}"/>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La firma tampoco garantiza mutabilidad. List.of crea una lista no modificable, por lo que usarla como destino de copiar lanza UnsupportedOperationException.</a:t>
            </a:r>
          </a:p>
        </p:txBody>
      </p:sp>
    </p:spTree>
    <p:extLst>
      <p:ext uri="{BB962C8B-B14F-4D97-AF65-F5344CB8AC3E}">
        <p14:creationId xmlns:p14="http://schemas.microsoft.com/office/powerpoint/2010/main" val="24820569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15FED9E-81BE-4329-B18E-C9969CDB48B2}"/>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D85F3C-2BC2-4973-8717-F0997B487EB7}"/>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Demostración resuelta</a:t>
            </a:r>
          </a:p>
        </p:txBody>
      </p:sp>
      <p:sp>
        <p:nvSpPr>
          <p:cNvPr id="3" name="">
            <a:extLst xmlns:a="http://schemas.openxmlformats.org/drawingml/2006/main">
              <a:ext uri="{FF2B5EF4-FFF2-40B4-BE49-F238E27FC236}">
                <a16:creationId xmlns:a16="http://schemas.microsoft.com/office/drawing/2014/main" id="{2AC0CFC3-1D11-4D12-96A2-570C249EC90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A2B1EE7-67FD-4D39-AC94-F763707EA53D}"/>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1.2</a:t>
            </a:r>
          </a:p>
        </p:txBody>
      </p:sp>
      <p:sp>
        <p:nvSpPr>
          <p:cNvPr id="5" name="">
            <a:extLst xmlns:a="http://schemas.openxmlformats.org/drawingml/2006/main">
              <a:ext uri="{FF2B5EF4-FFF2-40B4-BE49-F238E27FC236}">
                <a16:creationId xmlns:a16="http://schemas.microsoft.com/office/drawing/2014/main" id="{C43F2429-E283-450C-A2AE-1DBB136F0FB0}"/>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4E06FAC2-AA41-48AA-AFEB-6543C3F6DA34}"/>
              </a:ext>
            </a:extLst>
          </p:cNvPr>
          <p:cNvSpPr>
            <a:spLocks xmlns:a="http://schemas.openxmlformats.org/drawingml/2006/main" noGrp="1"/>
          </p:cNvSpPr>
          <p:nvPr/>
        </p:nvSpPr>
        <p:spPr>
          <a:xfrm xmlns:a="http://schemas.openxmlformats.org/drawingml/2006/main">
            <a:off x="628650" y="1590675"/>
            <a:ext cx="10953750" cy="371475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53D9608-23E7-421C-A5CD-A1C683B166E4}"/>
              </a:ext>
            </a:extLst>
          </p:cNvPr>
          <p:cNvSpPr>
            <a:spLocks xmlns:a="http://schemas.openxmlformats.org/drawingml/2006/main" noGrp="1"/>
          </p:cNvSpPr>
          <p:nvPr/>
        </p:nvSpPr>
        <p:spPr>
          <a:xfrm xmlns:a="http://schemas.openxmlformats.org/drawingml/2006/main">
            <a:off x="857250" y="1743075"/>
            <a:ext cx="10477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static double sumar(List&lt;? extends Number&gt; valores)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double total = 0;</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for (Number n : valores) total += Objects.requireNonNull(n).doubleValue();</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return total;</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static &lt;T&gt; void copiar(List&lt;? extends T&gt; origen, List&lt;? super T&gt; destino)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destino.addAll(origen);</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public static void main(String[] args)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List&lt;Integer&gt; ocupacion = List.of(10,12,8);</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List&lt;Number&gt; acumulado = new ArrayList&lt;&gt;();</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copiar(ocupacion, acumulado);</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copiar(List.of(22.5,24.0), acumulado);</a:t>
            </a:r>
          </a:p>
        </p:txBody>
      </p:sp>
      <p:sp>
        <p:nvSpPr>
          <p:cNvPr id="8" name="">
            <a:extLst xmlns:a="http://schemas.openxmlformats.org/drawingml/2006/main">
              <a:ext uri="{FF2B5EF4-FFF2-40B4-BE49-F238E27FC236}">
                <a16:creationId xmlns:a16="http://schemas.microsoft.com/office/drawing/2014/main" id="{79047317-718D-4800-8B03-5B45176239AA}"/>
              </a:ext>
            </a:extLst>
          </p:cNvPr>
          <p:cNvSpPr>
            <a:spLocks xmlns:a="http://schemas.openxmlformats.org/drawingml/2006/main" noGrp="1"/>
          </p:cNvSpPr>
          <p:nvPr/>
        </p:nvSpPr>
        <p:spPr>
          <a:xfrm xmlns:a="http://schemas.openxmlformats.org/drawingml/2006/main">
            <a:off x="685800" y="55816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Fragmento de ComodinesDemo.java. Código completo y ejecución en material.md.</a:t>
            </a:r>
          </a:p>
        </p:txBody>
      </p:sp>
    </p:spTree>
    <p:extLst>
      <p:ext uri="{BB962C8B-B14F-4D97-AF65-F5344CB8AC3E}">
        <p14:creationId xmlns:p14="http://schemas.microsoft.com/office/powerpoint/2010/main" val="16944516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D25941D-F128-4868-92B2-7A75660DC94F}"/>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04B452-12AE-4DAC-883E-2405880E5439}"/>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Casos de aceptación de la PC</a:t>
            </a:r>
          </a:p>
        </p:txBody>
      </p:sp>
      <p:sp>
        <p:nvSpPr>
          <p:cNvPr id="3" name="">
            <a:extLst xmlns:a="http://schemas.openxmlformats.org/drawingml/2006/main">
              <a:ext uri="{FF2B5EF4-FFF2-40B4-BE49-F238E27FC236}">
                <a16:creationId xmlns:a16="http://schemas.microsoft.com/office/drawing/2014/main" id="{A0DD131E-9233-4667-8924-8823FEAAFB8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F5CB466-2001-4CFF-A46D-D5D7D62454FB}"/>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1.2</a:t>
            </a:r>
          </a:p>
        </p:txBody>
      </p:sp>
      <p:sp>
        <p:nvSpPr>
          <p:cNvPr id="5" name="">
            <a:extLst xmlns:a="http://schemas.openxmlformats.org/drawingml/2006/main">
              <a:ext uri="{FF2B5EF4-FFF2-40B4-BE49-F238E27FC236}">
                <a16:creationId xmlns:a16="http://schemas.microsoft.com/office/drawing/2014/main" id="{C28F87C8-CF59-4BB1-BC7D-825C372CD871}"/>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8</a:t>
            </a:r>
          </a:p>
        </p:txBody>
      </p:sp>
      <p:graphicFrame>
        <p:nvGraphicFramePr>
          <p:cNvPr id="13" name=""/>
          <p:cNvGraphicFramePr/>
          <p:nvPr/>
        </p:nvGraphicFramePr>
        <p:xfrm>
          <a:off xmlns:a="http://schemas.openxmlformats.org/drawingml/2006/main" x="609600" y="1638300"/>
          <a:ext xmlns:a="http://schemas.openxmlformats.org/drawingml/2006/main" cx="10972800" cy="3143250"/>
        </p:xfrm>
        <a:graphic xmlns:a="http://schemas.openxmlformats.org/drawingml/2006/main">
          <a:graphicData uri="http://schemas.openxmlformats.org/drawingml/2006/table">
            <a:tbl>
              <a:tblPr/>
              <a:tblGrid>
                <a:gridCol w="4191000"/>
                <a:gridCol w="6629400"/>
              </a:tblGrid>
              <a:tr h="785813">
                <a:tc>
                  <a:txBody>
                    <a:bodyPr/>
                    <a:lstStyle/>
                    <a:p>
                      <a:r>
                        <a:rPr sz="1725" b="1">
                          <a:solidFill>
                            <a:srgbClr val="FFFFFF"/>
                          </a:solidFill>
                          <a:latin typeface="DejaVu Sans"/>
                          <a:ea typeface="DejaVu Sans"/>
                          <a:cs typeface="DejaVu Sans"/>
                        </a:rPr>
                        <a:t>Caso</a:t>
                      </a:r>
                    </a:p>
                  </a:txBody>
                  <a:tcPr marL="152400" marR="152400" marT="133350" marB="114300" anchor="ctr">
                    <a:solidFill>
                      <a:srgbClr val="003772"/>
                    </a:solidFill>
                  </a:tcPr>
                </a:tc>
                <a:tc>
                  <a:txBody>
                    <a:bodyPr/>
                    <a:lstStyle/>
                    <a:p>
                      <a:r>
                        <a:rPr sz="1725" b="1">
                          <a:solidFill>
                            <a:srgbClr val="FFFFFF"/>
                          </a:solidFill>
                          <a:latin typeface="DejaVu Sans"/>
                          <a:ea typeface="DejaVu Sans"/>
                          <a:cs typeface="DejaVu Sans"/>
                        </a:rPr>
                        <a:t>Comportamiento requerido</a:t>
                      </a:r>
                    </a:p>
                  </a:txBody>
                  <a:tcPr marL="152400" marR="152400" marT="133350" marB="114300" anchor="ctr">
                    <a:solidFill>
                      <a:srgbClr val="003772"/>
                    </a:solidFill>
                  </a:tcPr>
                </a:tc>
              </a:tr>
              <a:tr h="785813">
                <a:tc>
                  <a:txBody>
                    <a:bodyPr/>
                    <a:lstStyle/>
                    <a:p>
                      <a:r>
                        <a:rPr sz="1725" b="0">
                          <a:solidFill>
                            <a:srgbClr val="403F3B"/>
                          </a:solidFill>
                          <a:latin typeface="DejaVu Sans"/>
                          <a:ea typeface="DejaVu Sans"/>
                          <a:cs typeface="DejaVu Sans"/>
                        </a:rPr>
                        <a:t>Origen Integer, destino Number</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Copia válida</a:t>
                      </a:r>
                    </a:p>
                  </a:txBody>
                  <a:tcPr marL="152400" marR="152400" marT="133350" marB="114300" anchor="ctr">
                    <a:solidFill>
                      <a:srgbClr val="F3F3FA"/>
                    </a:solidFill>
                  </a:tcPr>
                </a:tc>
              </a:tr>
              <a:tr h="785813">
                <a:tc>
                  <a:txBody>
                    <a:bodyPr/>
                    <a:lstStyle/>
                    <a:p>
                      <a:r>
                        <a:rPr sz="1725" b="0">
                          <a:solidFill>
                            <a:srgbClr val="403F3B"/>
                          </a:solidFill>
                          <a:latin typeface="DejaVu Sans"/>
                          <a:ea typeface="DejaVu Sans"/>
                          <a:cs typeface="DejaVu Sans"/>
                        </a:rPr>
                        <a:t>Destino List.of</a:t>
                      </a:r>
                    </a:p>
                  </a:txBody>
                  <a:tcPr marL="152400" marR="152400" marT="133350" marB="114300" anchor="ctr">
                    <a:solidFill>
                      <a:srgbClr val="FFFFFF"/>
                    </a:solidFill>
                  </a:tcPr>
                </a:tc>
                <a:tc>
                  <a:txBody>
                    <a:bodyPr/>
                    <a:lstStyle/>
                    <a:p>
                      <a:r>
                        <a:rPr sz="1725" b="0">
                          <a:solidFill>
                            <a:srgbClr val="403F3B"/>
                          </a:solidFill>
                          <a:latin typeface="DejaVu Sans"/>
                          <a:ea typeface="DejaVu Sans"/>
                          <a:cs typeface="DejaVu Sans"/>
                        </a:rPr>
                        <a:t>Precondición incumplida documentada</a:t>
                      </a:r>
                    </a:p>
                  </a:txBody>
                  <a:tcPr marL="152400" marR="152400" marT="133350" marB="114300" anchor="ctr">
                    <a:solidFill>
                      <a:srgbClr val="FFFFFF"/>
                    </a:solidFill>
                  </a:tcPr>
                </a:tc>
              </a:tr>
              <a:tr h="785813">
                <a:tc>
                  <a:txBody>
                    <a:bodyPr/>
                    <a:lstStyle/>
                    <a:p>
                      <a:r>
                        <a:rPr sz="1725" b="0">
                          <a:solidFill>
                            <a:srgbClr val="403F3B"/>
                          </a:solidFill>
                          <a:latin typeface="DejaVu Sans"/>
                          <a:ea typeface="DejaVu Sans"/>
                          <a:cs typeface="DejaVu Sans"/>
                        </a:rPr>
                        <a:t>Origen vacío</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Destino permanece igual</a:t>
                      </a:r>
                    </a:p>
                  </a:txBody>
                  <a:tcPr marL="152400" marR="152400" marT="133350" marB="114300" anchor="ctr">
                    <a:solidFill>
                      <a:srgbClr val="F3F3FA"/>
                    </a:solidFill>
                  </a:tcPr>
                </a:tc>
              </a:tr>
            </a:tbl>
          </a:graphicData>
        </a:graphic>
      </p:graphicFrame>
      <p:sp>
        <p:nvSpPr>
          <p:cNvPr id="7" name="">
            <a:extLst xmlns:a="http://schemas.openxmlformats.org/drawingml/2006/main">
              <a:ext uri="{FF2B5EF4-FFF2-40B4-BE49-F238E27FC236}">
                <a16:creationId xmlns:a16="http://schemas.microsoft.com/office/drawing/2014/main" id="{045F5114-7889-48F2-BAAF-D9E8F925DA4E}"/>
              </a:ext>
            </a:extLst>
          </p:cNvPr>
          <p:cNvSpPr>
            <a:spLocks xmlns:a="http://schemas.openxmlformats.org/drawingml/2006/main" noGrp="1"/>
          </p:cNvSpPr>
          <p:nvPr/>
        </p:nvSpPr>
        <p:spPr>
          <a:xfrm xmlns:a="http://schemas.openxmlformats.org/drawingml/2006/main">
            <a:off x="742950" y="52387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Salida de la demostración: [10, 12, 8, 22.5, 24.0] · Total numérico: 76.5 · Elementos auditados: 5</a:t>
            </a:r>
          </a:p>
        </p:txBody>
      </p:sp>
    </p:spTree>
    <p:extLst>
      <p:ext uri="{BB962C8B-B14F-4D97-AF65-F5344CB8AC3E}">
        <p14:creationId xmlns:p14="http://schemas.microsoft.com/office/powerpoint/2010/main" val="6424864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6B623CB-1D43-470C-A2B6-6FB15167851C}"/>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F51129-DA00-45F5-A5F1-F85F35E794E4}"/>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PC1.2 · Ampliación del proyecto</a:t>
            </a:r>
          </a:p>
        </p:txBody>
      </p:sp>
      <p:sp>
        <p:nvSpPr>
          <p:cNvPr id="3" name="">
            <a:extLst xmlns:a="http://schemas.openxmlformats.org/drawingml/2006/main">
              <a:ext uri="{FF2B5EF4-FFF2-40B4-BE49-F238E27FC236}">
                <a16:creationId xmlns:a16="http://schemas.microsoft.com/office/drawing/2014/main" id="{A7F624BB-D4EF-44C8-9B8B-ABB8873D2ECF}"/>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3C9B7FA-1729-4150-BC8C-210DCA5FCE75}"/>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1.2</a:t>
            </a:r>
          </a:p>
        </p:txBody>
      </p:sp>
      <p:sp>
        <p:nvSpPr>
          <p:cNvPr id="5" name="">
            <a:extLst xmlns:a="http://schemas.openxmlformats.org/drawingml/2006/main">
              <a:ext uri="{FF2B5EF4-FFF2-40B4-BE49-F238E27FC236}">
                <a16:creationId xmlns:a16="http://schemas.microsoft.com/office/drawing/2014/main" id="{D9E89A65-432B-47C4-9CE9-F48A7DD64752}"/>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10670B62-479F-4D9C-944B-9AEA09EE791E}"/>
              </a:ext>
            </a:extLst>
          </p:cNvPr>
          <p:cNvSpPr>
            <a:spLocks xmlns:a="http://schemas.openxmlformats.org/drawingml/2006/main" noGrp="1"/>
          </p:cNvSpPr>
          <p:nvPr/>
        </p:nvSpPr>
        <p:spPr>
          <a:xfrm xmlns:a="http://schemas.openxmlformats.org/drawingml/2006/main">
            <a:off x="685800" y="160020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1</a:t>
            </a:r>
          </a:p>
        </p:txBody>
      </p:sp>
      <p:sp>
        <p:nvSpPr>
          <p:cNvPr id="7" name="">
            <a:extLst xmlns:a="http://schemas.openxmlformats.org/drawingml/2006/main">
              <a:ext uri="{FF2B5EF4-FFF2-40B4-BE49-F238E27FC236}">
                <a16:creationId xmlns:a16="http://schemas.microsoft.com/office/drawing/2014/main" id="{55EEB4D1-CE13-47FA-B861-4149E68E96FB}"/>
              </a:ext>
            </a:extLst>
          </p:cNvPr>
          <p:cNvSpPr>
            <a:spLocks xmlns:a="http://schemas.openxmlformats.org/drawingml/2006/main" noGrp="1"/>
          </p:cNvSpPr>
          <p:nvPr/>
        </p:nvSpPr>
        <p:spPr>
          <a:xfrm xmlns:a="http://schemas.openxmlformats.org/drawingml/2006/main">
            <a:off x="1219200" y="156210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Generaliza el método de copia del catálogo con origen productor y destino consumidor. Usa una lista destino modificable.</a:t>
            </a:r>
          </a:p>
        </p:txBody>
      </p:sp>
      <p:sp>
        <p:nvSpPr>
          <p:cNvPr id="8" name="">
            <a:extLst xmlns:a="http://schemas.openxmlformats.org/drawingml/2006/main">
              <a:ext uri="{FF2B5EF4-FFF2-40B4-BE49-F238E27FC236}">
                <a16:creationId xmlns:a16="http://schemas.microsoft.com/office/drawing/2014/main" id="{DD28B82F-C604-446A-97AE-F4FC7C079677}"/>
              </a:ext>
            </a:extLst>
          </p:cNvPr>
          <p:cNvSpPr>
            <a:spLocks xmlns:a="http://schemas.openxmlformats.org/drawingml/2006/main" noGrp="1"/>
          </p:cNvSpPr>
          <p:nvPr/>
        </p:nvSpPr>
        <p:spPr>
          <a:xfrm xmlns:a="http://schemas.openxmlformats.org/drawingml/2006/main">
            <a:off x="685800" y="2962275"/>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2</a:t>
            </a:r>
          </a:p>
        </p:txBody>
      </p:sp>
      <p:sp>
        <p:nvSpPr>
          <p:cNvPr id="9" name="">
            <a:extLst xmlns:a="http://schemas.openxmlformats.org/drawingml/2006/main">
              <a:ext uri="{FF2B5EF4-FFF2-40B4-BE49-F238E27FC236}">
                <a16:creationId xmlns:a16="http://schemas.microsoft.com/office/drawing/2014/main" id="{681CFFF3-3308-4EF9-9122-9F3204DF480F}"/>
              </a:ext>
            </a:extLst>
          </p:cNvPr>
          <p:cNvSpPr>
            <a:spLocks xmlns:a="http://schemas.openxmlformats.org/drawingml/2006/main" noGrp="1"/>
          </p:cNvSpPr>
          <p:nvPr/>
        </p:nvSpPr>
        <p:spPr>
          <a:xfrm xmlns:a="http://schemas.openxmlformats.org/drawingml/2006/main">
            <a:off x="1219200" y="2924175"/>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Demuestra copias Integer a Number y Number a Object. Mantén separados los promedios por unidad en CampusMonitor.</a:t>
            </a:r>
          </a:p>
        </p:txBody>
      </p:sp>
      <p:sp>
        <p:nvSpPr>
          <p:cNvPr id="10" name="">
            <a:extLst xmlns:a="http://schemas.openxmlformats.org/drawingml/2006/main">
              <a:ext uri="{FF2B5EF4-FFF2-40B4-BE49-F238E27FC236}">
                <a16:creationId xmlns:a16="http://schemas.microsoft.com/office/drawing/2014/main" id="{9AF54E93-93AB-437E-B2C2-5A0C194DE0BB}"/>
              </a:ext>
            </a:extLst>
          </p:cNvPr>
          <p:cNvSpPr>
            <a:spLocks xmlns:a="http://schemas.openxmlformats.org/drawingml/2006/main" noGrp="1"/>
          </p:cNvSpPr>
          <p:nvPr/>
        </p:nvSpPr>
        <p:spPr>
          <a:xfrm xmlns:a="http://schemas.openxmlformats.org/drawingml/2006/main">
            <a:off x="685800" y="432435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3</a:t>
            </a:r>
          </a:p>
        </p:txBody>
      </p:sp>
      <p:sp>
        <p:nvSpPr>
          <p:cNvPr id="11" name="">
            <a:extLst xmlns:a="http://schemas.openxmlformats.org/drawingml/2006/main">
              <a:ext uri="{FF2B5EF4-FFF2-40B4-BE49-F238E27FC236}">
                <a16:creationId xmlns:a16="http://schemas.microsoft.com/office/drawing/2014/main" id="{0E657322-6EBF-4C75-9FC3-06CCFE8556E5}"/>
              </a:ext>
            </a:extLst>
          </p:cNvPr>
          <p:cNvSpPr>
            <a:spLocks xmlns:a="http://schemas.openxmlformats.org/drawingml/2006/main" noGrp="1"/>
          </p:cNvSpPr>
          <p:nvPr/>
        </p:nvSpPr>
        <p:spPr>
          <a:xfrm xmlns:a="http://schemas.openxmlformats.org/drawingml/2006/main">
            <a:off x="1219200" y="428625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Incluye dos contraejemplos comentados: asignación List&lt;Integer&gt; a List&lt;Number&gt; e inserción en List&lt;? extends Number&gt;. Explica por qué no compilan.</a:t>
            </a:r>
          </a:p>
        </p:txBody>
      </p:sp>
    </p:spTree>
    <p:extLst>
      <p:ext uri="{BB962C8B-B14F-4D97-AF65-F5344CB8AC3E}">
        <p14:creationId xmlns:p14="http://schemas.microsoft.com/office/powerpoint/2010/main" val="55902970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0FA77AE-AEE6-4FD4-8138-D2202787E879}"/>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124BA4-AAF5-478D-8ACD-F3491F06FA98}"/>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0D2FDA74-B9DB-4EB1-B16C-5842209410C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7BF7876-239E-4717-BED0-93439D5AAFA8}"/>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1.2</a:t>
            </a:r>
          </a:p>
        </p:txBody>
      </p:sp>
      <p:sp>
        <p:nvSpPr>
          <p:cNvPr id="5" name="">
            <a:extLst xmlns:a="http://schemas.openxmlformats.org/drawingml/2006/main">
              <a:ext uri="{FF2B5EF4-FFF2-40B4-BE49-F238E27FC236}">
                <a16:creationId xmlns:a16="http://schemas.microsoft.com/office/drawing/2014/main" id="{BF251C03-DA87-4515-8154-D531053839D3}"/>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05665D4E-0112-4F7A-BF06-1AE84576061A}"/>
              </a:ext>
            </a:extLst>
          </p:cNvPr>
          <p:cNvSpPr>
            <a:spLocks xmlns:a="http://schemas.openxmlformats.org/drawingml/2006/main" noGrp="1"/>
          </p:cNvSpPr>
          <p:nvPr/>
        </p:nvSpPr>
        <p:spPr>
          <a:xfrm xmlns:a="http://schemas.openxmlformats.org/drawingml/2006/main">
            <a:off x="762000" y="17430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3772"/>
                </a:solidFill>
                <a:latin typeface="DejaVu Sans"/>
                <a:ea typeface="DejaVu Sans"/>
                <a:cs typeface="DejaVu Sans"/>
              </a:defRPr>
            </a:pPr>
            <a:r>
              <a:rPr sz="2175" b="1">
                <a:solidFill>
                  <a:srgbClr val="003772"/>
                </a:solidFill>
                <a:latin typeface="DejaVu Sans"/>
                <a:ea typeface="DejaVu Sans"/>
                <a:cs typeface="DejaVu Sans"/>
              </a:rPr>
              <a:t>List es invariante.</a:t>
            </a:r>
          </a:p>
        </p:txBody>
      </p:sp>
      <p:sp>
        <p:nvSpPr>
          <p:cNvPr id="7" name="">
            <a:extLst xmlns:a="http://schemas.openxmlformats.org/drawingml/2006/main">
              <a:ext uri="{FF2B5EF4-FFF2-40B4-BE49-F238E27FC236}">
                <a16:creationId xmlns:a16="http://schemas.microsoft.com/office/drawing/2014/main" id="{80663900-FA23-4689-B706-6ABE1E03B383}"/>
              </a:ext>
            </a:extLst>
          </p:cNvPr>
          <p:cNvSpPr>
            <a:spLocks xmlns:a="http://schemas.openxmlformats.org/drawingml/2006/main" noGrp="1"/>
          </p:cNvSpPr>
          <p:nvPr/>
        </p:nvSpPr>
        <p:spPr>
          <a:xfrm xmlns:a="http://schemas.openxmlformats.org/drawingml/2006/main">
            <a:off x="762000" y="26384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extends permite leer el tipo acotado.</a:t>
            </a:r>
          </a:p>
        </p:txBody>
      </p:sp>
      <p:sp>
        <p:nvSpPr>
          <p:cNvPr id="8" name="">
            <a:extLst xmlns:a="http://schemas.openxmlformats.org/drawingml/2006/main">
              <a:ext uri="{FF2B5EF4-FFF2-40B4-BE49-F238E27FC236}">
                <a16:creationId xmlns:a16="http://schemas.microsoft.com/office/drawing/2014/main" id="{61F4CF79-8EF3-4245-BD6C-0CA0F689A55D}"/>
              </a:ext>
            </a:extLst>
          </p:cNvPr>
          <p:cNvSpPr>
            <a:spLocks xmlns:a="http://schemas.openxmlformats.org/drawingml/2006/main" noGrp="1"/>
          </p:cNvSpPr>
          <p:nvPr/>
        </p:nvSpPr>
        <p:spPr>
          <a:xfrm xmlns:a="http://schemas.openxmlformats.org/drawingml/2006/main">
            <a:off x="762000" y="35337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03772"/>
                </a:solidFill>
                <a:latin typeface="DejaVu Sans"/>
                <a:ea typeface="DejaVu Sans"/>
                <a:cs typeface="DejaVu Sans"/>
              </a:defRPr>
            </a:pPr>
            <a:r>
              <a:rPr sz="2175" b="0">
                <a:solidFill>
                  <a:srgbClr val="003772"/>
                </a:solidFill>
                <a:latin typeface="DejaVu Sans"/>
                <a:ea typeface="DejaVu Sans"/>
                <a:cs typeface="DejaVu Sans"/>
              </a:rPr>
              <a:t>super permite escribir el tipo acotado.</a:t>
            </a:r>
          </a:p>
        </p:txBody>
      </p:sp>
      <p:sp>
        <p:nvSpPr>
          <p:cNvPr id="9" name="">
            <a:extLst xmlns:a="http://schemas.openxmlformats.org/drawingml/2006/main">
              <a:ext uri="{FF2B5EF4-FFF2-40B4-BE49-F238E27FC236}">
                <a16:creationId xmlns:a16="http://schemas.microsoft.com/office/drawing/2014/main" id="{2B483B7D-809E-40C4-ACCD-2AABD58B6080}"/>
              </a:ext>
            </a:extLst>
          </p:cNvPr>
          <p:cNvSpPr>
            <a:spLocks xmlns:a="http://schemas.openxmlformats.org/drawingml/2006/main" noGrp="1"/>
          </p:cNvSpPr>
          <p:nvPr/>
        </p:nvSpPr>
        <p:spPr>
          <a:xfrm xmlns:a="http://schemas.openxmlformats.org/drawingml/2006/main">
            <a:off x="762000" y="44291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PECS depende del uso del parámetro.</a:t>
            </a:r>
          </a:p>
        </p:txBody>
      </p:sp>
    </p:spTree>
    <p:extLst>
      <p:ext uri="{BB962C8B-B14F-4D97-AF65-F5344CB8AC3E}">
        <p14:creationId xmlns:p14="http://schemas.microsoft.com/office/powerpoint/2010/main" val="12227224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2026-09-10T23:05:47.3510000Z</dcterms:created>
  <dcterms:modified xsi:type="dcterms:W3CDTF">2026-09-10T23:05:47.3510000Z</dcterms:modified>
</coreProperties>
</file>