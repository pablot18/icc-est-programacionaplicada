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8b1d86d3074b2c" /><Relationship Type="http://schemas.openxmlformats.org/officeDocument/2006/relationships/extended-properties" Target="/docProps/app.xml" Id="R86d9afeb4b5d45e0" /><Relationship Type="http://schemas.openxmlformats.org/officeDocument/2006/relationships/officeDocument" Target="/ppt/presentation.xml" Id="R302c331e12b4491b" /></Relationships>
</file>

<file path=ppt/presentation.xml><?xml version="1.0" encoding="utf-8"?>
<p:presentation xmlns:p="http://schemas.openxmlformats.org/presentationml/2006/main">
  <p:sldMasterIdLst>
    <p:sldMasterId xmlns:r="http://schemas.openxmlformats.org/officeDocument/2006/relationships" id="2147483648" r:id="R9dd361b9186744a7"/>
  </p:sldMasterIdLst>
  <p:notesMasterIdLst>
    <p:notesMasterId xmlns:r="http://schemas.openxmlformats.org/officeDocument/2006/relationships" r:id="R0803c53338bd4c42"/>
  </p:notesMasterIdLst>
  <p:sldIdLst>
    <p:sldId xmlns:r="http://schemas.openxmlformats.org/officeDocument/2006/relationships" id="256" r:id="R9131865ba5d34b01"/>
    <p:sldId xmlns:r="http://schemas.openxmlformats.org/officeDocument/2006/relationships" id="257" r:id="R737f3ad898934363"/>
    <p:sldId xmlns:r="http://schemas.openxmlformats.org/officeDocument/2006/relationships" id="258" r:id="Rd47fcc26290745c2"/>
    <p:sldId xmlns:r="http://schemas.openxmlformats.org/officeDocument/2006/relationships" id="259" r:id="Rbe68343f1da9477c"/>
    <p:sldId xmlns:r="http://schemas.openxmlformats.org/officeDocument/2006/relationships" id="260" r:id="R6bcf28612be6482c"/>
    <p:sldId xmlns:r="http://schemas.openxmlformats.org/officeDocument/2006/relationships" id="261" r:id="Rce2770d7f39f4623"/>
    <p:sldId xmlns:r="http://schemas.openxmlformats.org/officeDocument/2006/relationships" id="262" r:id="R0936c36ecb044c1e"/>
    <p:sldId xmlns:r="http://schemas.openxmlformats.org/officeDocument/2006/relationships" id="263" r:id="Ref25bf3c49934818"/>
    <p:sldId xmlns:r="http://schemas.openxmlformats.org/officeDocument/2006/relationships" id="264" r:id="R1971e4d506bb4d23"/>
    <p:sldId xmlns:r="http://schemas.openxmlformats.org/officeDocument/2006/relationships" id="265" r:id="R37f51fea650744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ae0ce201a14e03" /><Relationship Type="http://schemas.openxmlformats.org/officeDocument/2006/relationships/slideMaster" Target="/ppt/slideMasters/slideMaster1.xml" Id="R9dd361b9186744a7" /><Relationship Type="http://schemas.openxmlformats.org/officeDocument/2006/relationships/notesMaster" Target="/ppt/notesMasters/notesMaster1.xml" Id="R0803c53338bd4c42" /><Relationship Type="http://schemas.openxmlformats.org/officeDocument/2006/relationships/presProps" Target="/ppt/presProps.xml" Id="R1dbf9b3dcd9c4ef5" /><Relationship Type="http://schemas.openxmlformats.org/officeDocument/2006/relationships/tableStyles" Target="/ppt/tableStyles.xml" Id="R343e23464f6149e8" /><Relationship Type="http://schemas.openxmlformats.org/officeDocument/2006/relationships/slide" Target="/ppt/slides/slide1.xml" Id="R9131865ba5d34b01" /><Relationship Type="http://schemas.openxmlformats.org/officeDocument/2006/relationships/slide" Target="/ppt/slides/slide2.xml" Id="R737f3ad898934363" /><Relationship Type="http://schemas.openxmlformats.org/officeDocument/2006/relationships/slide" Target="/ppt/slides/slide3.xml" Id="Rd47fcc26290745c2" /><Relationship Type="http://schemas.openxmlformats.org/officeDocument/2006/relationships/slide" Target="/ppt/slides/slide4.xml" Id="Rbe68343f1da9477c" /><Relationship Type="http://schemas.openxmlformats.org/officeDocument/2006/relationships/slide" Target="/ppt/slides/slide5.xml" Id="R6bcf28612be6482c" /><Relationship Type="http://schemas.openxmlformats.org/officeDocument/2006/relationships/slide" Target="/ppt/slides/slide6.xml" Id="Rce2770d7f39f4623" /><Relationship Type="http://schemas.openxmlformats.org/officeDocument/2006/relationships/slide" Target="/ppt/slides/slide7.xml" Id="R0936c36ecb044c1e" /><Relationship Type="http://schemas.openxmlformats.org/officeDocument/2006/relationships/slide" Target="/ppt/slides/slide8.xml" Id="Ref25bf3c49934818" /><Relationship Type="http://schemas.openxmlformats.org/officeDocument/2006/relationships/slide" Target="/ppt/slides/slide9.xml" Id="R1971e4d506bb4d23" /><Relationship Type="http://schemas.openxmlformats.org/officeDocument/2006/relationships/slide" Target="/ppt/slides/slide10.xml" Id="R37f51fea650744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c2aad63a3549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7705c0f6f54070" /><Relationship Type="http://schemas.openxmlformats.org/officeDocument/2006/relationships/notesMaster" Target="/ppt/notesMasters/notesMaster1.xml" Id="R942578824dbf4f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121fc59f7943cf" /><Relationship Type="http://schemas.openxmlformats.org/officeDocument/2006/relationships/notesMaster" Target="/ppt/notesMasters/notesMaster1.xml" Id="Ra2496cb76e4e4d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bb198150e646d4" /><Relationship Type="http://schemas.openxmlformats.org/officeDocument/2006/relationships/notesMaster" Target="/ppt/notesMasters/notesMaster1.xml" Id="R8c77956a83154d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1240e1f1114b52" /><Relationship Type="http://schemas.openxmlformats.org/officeDocument/2006/relationships/notesMaster" Target="/ppt/notesMasters/notesMaster1.xml" Id="R63e28cdad32c49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e80038205a4933" /><Relationship Type="http://schemas.openxmlformats.org/officeDocument/2006/relationships/notesMaster" Target="/ppt/notesMasters/notesMaster1.xml" Id="Rc9edd8d5b4cf46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646409de304ed4" /><Relationship Type="http://schemas.openxmlformats.org/officeDocument/2006/relationships/notesMaster" Target="/ppt/notesMasters/notesMaster1.xml" Id="R4cfc0472ca404d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e86435f1fd4753" /><Relationship Type="http://schemas.openxmlformats.org/officeDocument/2006/relationships/notesMaster" Target="/ppt/notesMasters/notesMaster1.xml" Id="Ra4a2b126da924c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81144cf74048e8" /><Relationship Type="http://schemas.openxmlformats.org/officeDocument/2006/relationships/notesMaster" Target="/ppt/notesMasters/notesMaster1.xml" Id="R54844eedce8044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cb7e9c1955442a" /><Relationship Type="http://schemas.openxmlformats.org/officeDocument/2006/relationships/notesMaster" Target="/ppt/notesMasters/notesMaster1.xml" Id="R5856ff74dc2a4e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a3bcebda80491e" /><Relationship Type="http://schemas.openxmlformats.org/officeDocument/2006/relationships/notesMaster" Target="/ppt/notesMasters/notesMaster1.xml" Id="Rfc8f86fb039847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1.4. Patrones con programación genérica.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catálogo debe guardar sensores y lecturas sin duplicar operaciones. También necesita cambiar criterios de selección y fuentes de datos. Los patrones ayudan cuando corresponden a variaciones reales del sistema.</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Repository ofrece operaciones de colección sobre objetos del dominio y concentra decisiones de almacenamiento. Un contrato Repository&lt;ID,T&gt; separa el tipo de identificador del tipo de entidad. Definir guardar, buscar y listar obliga a decidir qué significa una identidad duplicada y qué ocurre si no hay coincidencia.</a:t>
            </a:r>
          </a:p>
          <a:p xmlns:a="http://schemas.openxmlformats.org/drawingml/2006/main">
            <a:r>
              <a:t/>
            </a:r>
          </a:p>
          <a:p xmlns:a="http://schemas.openxmlformats.org/drawingml/2006/main">
            <a:r>
              <a:t>En memoria, LinkedHashMap conserva el orden de inserción y simplifica búsquedas por clave. Devolver una copia de la colección evita que el cliente elimine elementos del repositorio sin pasar por sus operaciones. Esa copia es superficial: si las entidades son mutables, aún pueden alterarse. Los records ayudan a mantener datos de valor inmutables.</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encapsula un comportamiento intercambiable. Comparator&lt;T&gt; ya cumple ese papel para ordenar, y Predicate&lt;T&gt; para seleccionar. No hace falta crear una jerarquía de clases cuando una interfaz funcional expresa toda la variación. En CampusMonitor, un criterio puede escoger sensores por ubicación y otro por estado.</a:t>
            </a:r>
          </a:p>
          <a:p xmlns:a="http://schemas.openxmlformats.org/drawingml/2006/main">
            <a:r>
              <a:t/>
            </a:r>
          </a:p>
          <a:p xmlns:a="http://schemas.openxmlformats.org/drawingml/2006/main">
            <a:r>
              <a:t>La estrategia no debería modificar silenciosamente la colección que recibe. Separa las consultas de las actualizaciones y conserva funciones pequeñas. Si la comparación depende de unidades, valida la compatibilidad antes de aplicar el criterio. El uso de genéricos garantiza tipos compatibles, no equivalencia de magnitudes.</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fábrica concentra cómo se construye un objeto. Supplier&lt;T&gt; permite inyectar la construcción sin reflexión. El consumidor solicita instancias a la fábrica y utiliza únicamente el contrato. Esto facilita cambiar una fuente simulada por una fuente serial en la unidad 5.</a:t>
            </a:r>
          </a:p>
          <a:p xmlns:a="http://schemas.openxmlformats.org/drawingml/2006/main">
            <a:r>
              <a:t/>
            </a:r>
          </a:p>
          <a:p xmlns:a="http://schemas.openxmlformats.org/drawingml/2006/main">
            <a:r>
              <a:t>Repository, Strategy y Factory se pueden combinar, pero no deben añadirse por obligación. Una clase genérica que necesita veinte parámetros o múltiples casts suele indicar responsabilidades mezcladas. Diseña primero el caso concreto y generaliza la parte repetida que mantiene el mismo comportamiento.</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repositorio en memoria desaparecerá al cerrar el programa. Más adelante, una implementación JDBC mantendrá el contrato de consulta, pero incorporará errores de E/S, transacciones y restricciones de base de datos. Esas diferencias no deben esconderse detrás de promesas falsas: guardar puede fallar y varias operaciones pueden requerir una unidad transaccional.</a:t>
            </a:r>
          </a:p>
          <a:p xmlns:a="http://schemas.openxmlformats.org/drawingml/2006/main">
            <a:r>
              <a:t/>
            </a:r>
          </a:p>
          <a:p xmlns:a="http://schemas.openxmlformats.org/drawingml/2006/main">
            <a:r>
              <a:t>La demostración ofrece un repositorio reutilizable sin capas innecesarias. La PL de esta unidad pide un catálogo autónomo con criterios intercambiables. No incluye base de datos, hilos ni hardware para que el diseño genérico pueda revisarse por separado.</a:t>
            </a:r>
          </a:p>
          <a:p xmlns:a="http://schemas.openxmlformats.org/drawingml/2006/main">
            <a:r>
              <a:t/>
            </a:r>
          </a:p>
          <a:p xmlns:a="http://schemas.openxmlformats.org/drawingml/2006/main">
            <a:r>
              <a:t>Referencias:</a:t>
            </a:r>
          </a:p>
          <a:p xmlns:a="http://schemas.openxmlformats.org/drawingml/2006/main">
            <a:r>
              <a:t>https://dev.java/learn/generics/</a:t>
            </a:r>
          </a:p>
          <a:p xmlns:a="http://schemas.openxmlformats.org/drawingml/2006/main">
            <a:r>
              <a:t>https://dev.java/learn/reflection/</a:t>
            </a:r>
          </a:p>
          <a:p xmlns:a="http://schemas.openxmlformats.org/drawingml/2006/main">
            <a:r>
              <a:t>https://docs.oracle.com/en/java/javase/25/docs/api/index.html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edu.ups.pap.u01;</a:t>
            </a:r>
          </a:p>
          <a:p xmlns:a="http://schemas.openxmlformats.org/drawingml/2006/main">
            <a:r>
              <a:t>import java.util.*;</a:t>
            </a:r>
          </a:p>
          <a:p xmlns:a="http://schemas.openxmlformats.org/drawingml/2006/main">
            <a:r>
              <a:t>import java.util.function.*;</a:t>
            </a:r>
          </a:p>
          <a:p xmlns:a="http://schemas.openxmlformats.org/drawingml/2006/main">
            <a:r>
              <a:t>public class PatronesDemo {</a:t>
            </a:r>
          </a:p>
          <a:p xmlns:a="http://schemas.openxmlformats.org/drawingml/2006/main">
            <a:r>
              <a:t>    record Sensor(String id, String ubicacion) {}</a:t>
            </a:r>
          </a:p>
          <a:p xmlns:a="http://schemas.openxmlformats.org/drawingml/2006/main">
            <a:r>
              <a:t>    interface Repositorio&lt;ID,T&gt; {</a:t>
            </a:r>
          </a:p>
          <a:p xmlns:a="http://schemas.openxmlformats.org/drawingml/2006/main">
            <a:r>
              <a:t>        void guardar(T valor);</a:t>
            </a:r>
          </a:p>
          <a:p xmlns:a="http://schemas.openxmlformats.org/drawingml/2006/main">
            <a:r>
              <a:t>        Optional&lt;T&gt; buscar(ID id);</a:t>
            </a:r>
          </a:p>
          <a:p xmlns:a="http://schemas.openxmlformats.org/drawingml/2006/main">
            <a:r>
              <a:t>        List&lt;T&gt; listar();</a:t>
            </a:r>
          </a:p>
          <a:p xmlns:a="http://schemas.openxmlformats.org/drawingml/2006/main">
            <a:r>
              <a:t>    }</a:t>
            </a:r>
          </a:p>
          <a:p xmlns:a="http://schemas.openxmlformats.org/drawingml/2006/main">
            <a:r>
              <a:t>    static class Memoria&lt;ID,T&gt; implements Repositorio&lt;ID,T&gt; {</a:t>
            </a:r>
          </a:p>
          <a:p xmlns:a="http://schemas.openxmlformats.org/drawingml/2006/main">
            <a:r>
              <a:t>        private final Map&lt;ID,T&gt; datos = new LinkedHashMap&lt;&gt;();</a:t>
            </a:r>
          </a:p>
          <a:p xmlns:a="http://schemas.openxmlformats.org/drawingml/2006/main">
            <a:r>
              <a:t>        private final Function&lt;T,ID&gt; identidad;</a:t>
            </a:r>
          </a:p>
          <a:p xmlns:a="http://schemas.openxmlformats.org/drawingml/2006/main">
            <a:r>
              <a:t>        Memoria(Function&lt;T,ID&gt; identidad) { this.identidad = identidad; }</a:t>
            </a:r>
          </a:p>
          <a:p xmlns:a="http://schemas.openxmlformats.org/drawingml/2006/main">
            <a:r>
              <a:t>        public void guardar(T valor) {</a:t>
            </a:r>
          </a:p>
          <a:p xmlns:a="http://schemas.openxmlformats.org/drawingml/2006/main">
            <a:r>
              <a:t>            Objects.requireNonNull(valor);</a:t>
            </a:r>
          </a:p>
          <a:p xmlns:a="http://schemas.openxmlformats.org/drawingml/2006/main">
            <a:r>
              <a:t>            ID id = Objects.requireNonNull(identidad.apply(valor));</a:t>
            </a:r>
          </a:p>
          <a:p xmlns:a="http://schemas.openxmlformats.org/drawingml/2006/main">
            <a:r>
              <a:t>            if (datos.putIfAbsent(id,valor) != null) throw new IllegalArgumentException("ID duplicado");</a:t>
            </a:r>
          </a:p>
          <a:p xmlns:a="http://schemas.openxmlformats.org/drawingml/2006/main">
            <a:r>
              <a:t>        }</a:t>
            </a:r>
          </a:p>
          <a:p xmlns:a="http://schemas.openxmlformats.org/drawingml/2006/main">
            <a:r>
              <a:t>        public Optional&lt;T&gt; buscar(ID id) { return Optional.ofNullable(datos.get(id)); }</a:t>
            </a:r>
          </a:p>
          <a:p xmlns:a="http://schemas.openxmlformats.org/drawingml/2006/main">
            <a:r>
              <a:t>        public List&lt;T&gt; listar() { return List.copyOf(datos.values()); }</a:t>
            </a:r>
          </a:p>
          <a:p xmlns:a="http://schemas.openxmlformats.org/drawingml/2006/main">
            <a:r>
              <a:t>    }</a:t>
            </a:r>
          </a:p>
          <a:p xmlns:a="http://schemas.openxmlformats.org/drawingml/2006/main">
            <a:r>
              <a:t>    public static void main(String[] args) {</a:t>
            </a:r>
          </a:p>
          <a:p xmlns:a="http://schemas.openxmlformats.org/drawingml/2006/main">
            <a:r>
              <a:t>        Repositorio&lt;String,Sensor&gt; repo = new Memoria&lt;&gt;(Sensor::id);</a:t>
            </a:r>
          </a:p>
          <a:p xmlns:a="http://schemas.openxmlformats.org/drawingml/2006/main">
            <a:r>
              <a:t>        Supplier&lt;Sensor&gt; fabrica = () -&gt; new Sensor("S01","Lab");</a:t>
            </a:r>
          </a:p>
          <a:p xmlns:a="http://schemas.openxmlformats.org/drawingml/2006/main">
            <a:r>
              <a:t>        repo.guardar(fabrica.get());</a:t>
            </a:r>
          </a:p>
          <a:p xmlns:a="http://schemas.openxmlformats.org/drawingml/2006/main">
            <a:r>
              <a:t>        repo.guardar(new Sensor("S02","Biblioteca"));</a:t>
            </a:r>
          </a:p>
          <a:p xmlns:a="http://schemas.openxmlformats.org/drawingml/2006/main">
            <a:r>
              <a:t>        Predicate&lt;Sensor&gt; enLab = s -&gt; s.ubicacion().equals("Lab");</a:t>
            </a:r>
          </a:p>
          <a:p xmlns:a="http://schemas.openxmlformats.org/drawingml/2006/main">
            <a:r>
              <a:t>        System.out.println(repo.listar().stream().filter(enLab).toList());</a:t>
            </a:r>
          </a:p>
          <a:p xmlns:a="http://schemas.openxmlformats.org/drawingml/2006/main">
            <a:r>
              <a:t>        System.out.println(repo.buscar("S99"));</a:t>
            </a:r>
          </a:p>
          <a:p xmlns:a="http://schemas.openxmlformats.org/drawingml/2006/main">
            <a:r>
              <a:t>        try { repo.guardar(fabrica.get()); }</a:t>
            </a:r>
          </a:p>
          <a:p xmlns:a="http://schemas.openxmlformats.org/drawingml/2006/main">
            <a:r>
              <a:t>        catch (IllegalArgumentException e) { System.out.println(e.getMessage()); }</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[Sensor[id=S01, ubicacion=Lab]]</a:t>
            </a:r>
          </a:p>
          <a:p xmlns:a="http://schemas.openxmlformats.org/drawingml/2006/main">
            <a:r>
              <a:t>Optional.empty</a:t>
            </a:r>
          </a:p>
          <a:p xmlns:a="http://schemas.openxmlformats.org/drawingml/2006/main">
            <a:r>
              <a:t>ID duplicado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[Sensor[id=S01, ubicacion=Lab]]</a:t>
            </a:r>
          </a:p>
          <a:p xmlns:a="http://schemas.openxmlformats.org/drawingml/2006/main">
            <a:r>
              <a:t>Optional.empty</a:t>
            </a:r>
          </a:p>
          <a:p xmlns:a="http://schemas.openxmlformats.org/drawingml/2006/main">
            <a:r>
              <a:t>ID duplicado</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evidencias/PC1.4.md y enlace al commit final.</a:t>
            </a:r>
          </a:p>
          <a:p xmlns:a="http://schemas.openxmlformats.org/drawingml/2006/main">
            <a:r>
              <a:t>Integra Repositorio&lt;ID,T&gt; en CampusMonitor para Sensor y Lectura&lt;Double&gt;, con identidades explícitas y sin casts no comprobados.</a:t>
            </a:r>
          </a:p>
          <a:p xmlns:a="http://schemas.openxmlformats.org/drawingml/2006/main">
            <a:r>
              <a:t>Agrega estrategias de consulta por ubicación y por umbral. El repositorio debe devolver listas que no permitan alterar su estructura interna.</a:t>
            </a:r>
          </a:p>
          <a:p xmlns:a="http://schemas.openxmlformats.org/drawingml/2006/main">
            <a:r>
              <a:t>Registra fuentes con Supplier y conserva los comandos anteriores. Documenta dónde existe una variación que justifica cada patrón.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cba4ebc14f4b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2c099133154aae" /><Relationship Type="http://schemas.openxmlformats.org/officeDocument/2006/relationships/slideLayout" Target="/ppt/slideLayouts/slideLayout1.xml" Id="Ra6548569764943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548569764943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863b714c4f4a49" /><Relationship Type="http://schemas.openxmlformats.org/officeDocument/2006/relationships/image" Target="/ppt/media/image.png" Id="Reedf4c04bfdd4078" /><Relationship Type="http://schemas.openxmlformats.org/officeDocument/2006/relationships/notesSlide" Target="/ppt/notesSlides/notesSlide1.xml" Id="Rc27ae3330a9b44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28335db8454944" /><Relationship Type="http://schemas.openxmlformats.org/officeDocument/2006/relationships/notesSlide" Target="/ppt/notesSlides/notesSlide2.xml" Id="Rfbd6b386117249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ca079c09ad4d3a" /><Relationship Type="http://schemas.openxmlformats.org/officeDocument/2006/relationships/notesSlide" Target="/ppt/notesSlides/notesSlide3.xml" Id="Rb736876e177542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025d8fadab48bf" /><Relationship Type="http://schemas.openxmlformats.org/officeDocument/2006/relationships/notesSlide" Target="/ppt/notesSlides/notesSlide4.xml" Id="R342e981685a646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a5161f71624b35" /><Relationship Type="http://schemas.openxmlformats.org/officeDocument/2006/relationships/notesSlide" Target="/ppt/notesSlides/notesSlide5.xml" Id="Ra1dd5ce715d44d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b41bd29f5e14db1" /><Relationship Type="http://schemas.openxmlformats.org/officeDocument/2006/relationships/notesSlide" Target="/ppt/notesSlides/notesSlide6.xml" Id="Re5082cf3fb9e49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0ff9086914b4f57" /><Relationship Type="http://schemas.openxmlformats.org/officeDocument/2006/relationships/notesSlide" Target="/ppt/notesSlides/notesSlide7.xml" Id="Rdcd2e68e2e7943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07006ed513f4df8" /><Relationship Type="http://schemas.openxmlformats.org/officeDocument/2006/relationships/notesSlide" Target="/ppt/notesSlides/notesSlide8.xml" Id="R7a681386ba414c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7e39d60dd5d4ecc" /><Relationship Type="http://schemas.openxmlformats.org/officeDocument/2006/relationships/notesSlide" Target="/ppt/notesSlides/notesSlide9.xml" Id="R326e9f1ca89240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06a397dcf8b4323" /><Relationship Type="http://schemas.openxmlformats.org/officeDocument/2006/relationships/notesSlide" Target="/ppt/notesSlides/notesSlide10.xml" Id="Rd0b31b78310c401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edf4c04bfdd4078"/>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2D4AEB9-D973-4DA6-9168-22A1BBD79FED}"/>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E1A9463D-CC26-40C6-BA7E-8DFF201E34A6}"/>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Patrones con programación genérica</a:t>
            </a:r>
          </a:p>
        </p:txBody>
      </p:sp>
      <p:sp>
        <p:nvSpPr>
          <p:cNvPr id="4" name="">
            <a:extLst xmlns:a="http://schemas.openxmlformats.org/drawingml/2006/main">
              <a:ext uri="{FF2B5EF4-FFF2-40B4-BE49-F238E27FC236}">
                <a16:creationId xmlns:a16="http://schemas.microsoft.com/office/drawing/2014/main" id="{9FE6A321-72AF-4389-9C5D-D10EAAD23A91}"/>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42ADC9-A788-45CE-BB64-2E1CF487B715}"/>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1 · 1.4</a:t>
            </a:r>
          </a:p>
        </p:txBody>
      </p:sp>
      <p:sp>
        <p:nvSpPr>
          <p:cNvPr id="6" name="">
            <a:extLst xmlns:a="http://schemas.openxmlformats.org/drawingml/2006/main">
              <a:ext uri="{FF2B5EF4-FFF2-40B4-BE49-F238E27FC236}">
                <a16:creationId xmlns:a16="http://schemas.microsoft.com/office/drawing/2014/main" id="{3969364B-A72F-4CF0-8F78-C9F6A4D7F37A}"/>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6344207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BE98EA-23B4-423C-A9E1-7D62729522E4}"/>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DBACB0-01FB-4743-B90D-24DA77F3EB7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9A7E8E9B-5E7C-4DB2-8E33-30B1A16B2BE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CC45CB-3C28-4143-B651-783AADE7AD8B}"/>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1.4</a:t>
            </a:r>
          </a:p>
        </p:txBody>
      </p:sp>
      <p:sp>
        <p:nvSpPr>
          <p:cNvPr id="5" name="">
            <a:extLst xmlns:a="http://schemas.openxmlformats.org/drawingml/2006/main">
              <a:ext uri="{FF2B5EF4-FFF2-40B4-BE49-F238E27FC236}">
                <a16:creationId xmlns:a16="http://schemas.microsoft.com/office/drawing/2014/main" id="{98EBA06C-E13E-45BE-8147-23F723DED38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CD7F7021-3255-4BCF-9253-D65394F11CBD}"/>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El catálogo debe guardar sensores y lecturas sin duplicar operaciones. También necesita cambiar criterios de selección y fuentes de datos. Los patrones ayudan cuando corresponden a variaciones reales del sistema.</a:t>
            </a:r>
          </a:p>
        </p:txBody>
      </p:sp>
    </p:spTree>
    <p:extLst>
      <p:ext uri="{BB962C8B-B14F-4D97-AF65-F5344CB8AC3E}">
        <p14:creationId xmlns:p14="http://schemas.microsoft.com/office/powerpoint/2010/main" val="16676871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4310947-DBD3-4161-B2DC-7CF24C3B243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3AAE6D-66E8-414C-9B6F-1BE1689A7CBA}"/>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Repository y contrato de identidad</a:t>
            </a:r>
          </a:p>
        </p:txBody>
      </p:sp>
      <p:sp>
        <p:nvSpPr>
          <p:cNvPr id="3" name="">
            <a:extLst xmlns:a="http://schemas.openxmlformats.org/drawingml/2006/main">
              <a:ext uri="{FF2B5EF4-FFF2-40B4-BE49-F238E27FC236}">
                <a16:creationId xmlns:a16="http://schemas.microsoft.com/office/drawing/2014/main" id="{1EB4088B-28EB-4532-A2C4-CA6C26DC93A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A44487-2310-4541-AFA4-BDCC4912574A}"/>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1.4</a:t>
            </a:r>
          </a:p>
        </p:txBody>
      </p:sp>
      <p:sp>
        <p:nvSpPr>
          <p:cNvPr id="5" name="">
            <a:extLst xmlns:a="http://schemas.openxmlformats.org/drawingml/2006/main">
              <a:ext uri="{FF2B5EF4-FFF2-40B4-BE49-F238E27FC236}">
                <a16:creationId xmlns:a16="http://schemas.microsoft.com/office/drawing/2014/main" id="{BBA93DB7-B737-4EC8-B49C-76E8D8462F5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5CCB740A-608C-4B95-A238-11B4BECDEDD5}"/>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Repository separa acceso y almacenamiento.</a:t>
            </a:r>
          </a:p>
        </p:txBody>
      </p:sp>
      <p:sp>
        <p:nvSpPr>
          <p:cNvPr id="7" name="">
            <a:extLst xmlns:a="http://schemas.openxmlformats.org/drawingml/2006/main">
              <a:ext uri="{FF2B5EF4-FFF2-40B4-BE49-F238E27FC236}">
                <a16:creationId xmlns:a16="http://schemas.microsoft.com/office/drawing/2014/main" id="{1ABE06C5-B1EF-4D35-943F-4155E7E8B0D6}"/>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 Repository ofrece operaciones de colección sobre objetos del dominio y concentra decisiones de almacenamiento. Un contrato Repository&lt;ID,T&gt; separa el tipo de identificador del tipo de entidad. Definir guardar, buscar y listar obliga a decidir qué significa una identidad duplicada y qué ocurre si no hay coincidencia.</a:t>
            </a:r>
          </a:p>
        </p:txBody>
      </p:sp>
      <p:sp>
        <p:nvSpPr>
          <p:cNvPr id="8" name="">
            <a:extLst xmlns:a="http://schemas.openxmlformats.org/drawingml/2006/main">
              <a:ext uri="{FF2B5EF4-FFF2-40B4-BE49-F238E27FC236}">
                <a16:creationId xmlns:a16="http://schemas.microsoft.com/office/drawing/2014/main" id="{E1AECC38-BF75-4617-96DE-797A023F4A4E}"/>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7E6B710-7458-4B79-BEA3-BDE804702372}"/>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En memoria, LinkedHashMap conserva el orden de inserción y simplifica búsquedas por clave. Devolver una copia de la colección evita que el cliente elimine elementos del repositorio sin pasar por sus operaciones.</a:t>
            </a:r>
          </a:p>
        </p:txBody>
      </p:sp>
    </p:spTree>
    <p:extLst>
      <p:ext uri="{BB962C8B-B14F-4D97-AF65-F5344CB8AC3E}">
        <p14:creationId xmlns:p14="http://schemas.microsoft.com/office/powerpoint/2010/main" val="18402366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EB3A4A4-F9D2-41C4-A705-D509790F6C4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6B73B8-4703-41ED-BDAB-A78B5AA53810}"/>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Strategy con interfaces funcionales</a:t>
            </a:r>
          </a:p>
        </p:txBody>
      </p:sp>
      <p:sp>
        <p:nvSpPr>
          <p:cNvPr id="3" name="">
            <a:extLst xmlns:a="http://schemas.openxmlformats.org/drawingml/2006/main">
              <a:ext uri="{FF2B5EF4-FFF2-40B4-BE49-F238E27FC236}">
                <a16:creationId xmlns:a16="http://schemas.microsoft.com/office/drawing/2014/main" id="{B6212D93-A05E-4CB5-B6AE-2E36943ED50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1D6D20-BD32-46BA-843A-A7C75370383B}"/>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1.4</a:t>
            </a:r>
          </a:p>
        </p:txBody>
      </p:sp>
      <p:sp>
        <p:nvSpPr>
          <p:cNvPr id="5" name="">
            <a:extLst xmlns:a="http://schemas.openxmlformats.org/drawingml/2006/main">
              <a:ext uri="{FF2B5EF4-FFF2-40B4-BE49-F238E27FC236}">
                <a16:creationId xmlns:a16="http://schemas.microsoft.com/office/drawing/2014/main" id="{435E6B25-9C5D-40FF-8441-097456CF7CA8}"/>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176686D6-DCE6-47BB-8599-65A82E307365}"/>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Strategy cambia un criterio sin duplicar el algoritmo.</a:t>
            </a:r>
          </a:p>
        </p:txBody>
      </p:sp>
      <p:sp>
        <p:nvSpPr>
          <p:cNvPr id="7" name="">
            <a:extLst xmlns:a="http://schemas.openxmlformats.org/drawingml/2006/main">
              <a:ext uri="{FF2B5EF4-FFF2-40B4-BE49-F238E27FC236}">
                <a16:creationId xmlns:a16="http://schemas.microsoft.com/office/drawing/2014/main" id="{251C0DE3-9BF8-4B56-9049-1501384C7BA7}"/>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Strategy encapsula un comportamiento intercambiable. Comparator&lt;T&gt; ya cumple ese papel para ordenar, y Predicate&lt;T&gt; para seleccionar. No hace falta crear una jerarquía de clases cuando una interfaz funcional expresa toda la variación. En CampusMonitor, un criterio puede escoger sensores por ubicación y otro por estado.</a:t>
            </a:r>
          </a:p>
        </p:txBody>
      </p:sp>
      <p:sp>
        <p:nvSpPr>
          <p:cNvPr id="8" name="">
            <a:extLst xmlns:a="http://schemas.openxmlformats.org/drawingml/2006/main">
              <a:ext uri="{FF2B5EF4-FFF2-40B4-BE49-F238E27FC236}">
                <a16:creationId xmlns:a16="http://schemas.microsoft.com/office/drawing/2014/main" id="{935EDA6E-2458-459D-A8AA-0D80F4FE7546}"/>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19119CD-225E-4420-A3C8-6E4CE8AF0C34}"/>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 estrategia no debería modificar silenciosamente la colección que recibe. Separa las consultas de las actualizaciones y conserva funciones pequeñas.</a:t>
            </a:r>
          </a:p>
        </p:txBody>
      </p:sp>
    </p:spTree>
    <p:extLst>
      <p:ext uri="{BB962C8B-B14F-4D97-AF65-F5344CB8AC3E}">
        <p14:creationId xmlns:p14="http://schemas.microsoft.com/office/powerpoint/2010/main" val="4986457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24D67D7-6E0F-457A-A109-12F26A104AF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2B60FE-0BFD-4ED7-B5A6-53D45BE54131}"/>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Factory y dependencias explícitas</a:t>
            </a:r>
          </a:p>
        </p:txBody>
      </p:sp>
      <p:sp>
        <p:nvSpPr>
          <p:cNvPr id="3" name="">
            <a:extLst xmlns:a="http://schemas.openxmlformats.org/drawingml/2006/main">
              <a:ext uri="{FF2B5EF4-FFF2-40B4-BE49-F238E27FC236}">
                <a16:creationId xmlns:a16="http://schemas.microsoft.com/office/drawing/2014/main" id="{74A5FCF7-95E6-4308-A011-D54A202BF57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6C3BCF8-7697-41C5-A583-A84563242C5B}"/>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1.4</a:t>
            </a:r>
          </a:p>
        </p:txBody>
      </p:sp>
      <p:sp>
        <p:nvSpPr>
          <p:cNvPr id="5" name="">
            <a:extLst xmlns:a="http://schemas.openxmlformats.org/drawingml/2006/main">
              <a:ext uri="{FF2B5EF4-FFF2-40B4-BE49-F238E27FC236}">
                <a16:creationId xmlns:a16="http://schemas.microsoft.com/office/drawing/2014/main" id="{060A7F34-88B4-4E2D-A51A-BBCCC68A4E82}"/>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4E7CB42E-7A1D-45DA-A096-111DBF54B4E5}"/>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Factory centraliza la creación.</a:t>
            </a:r>
          </a:p>
        </p:txBody>
      </p:sp>
      <p:sp>
        <p:nvSpPr>
          <p:cNvPr id="7" name="">
            <a:extLst xmlns:a="http://schemas.openxmlformats.org/drawingml/2006/main">
              <a:ext uri="{FF2B5EF4-FFF2-40B4-BE49-F238E27FC236}">
                <a16:creationId xmlns:a16="http://schemas.microsoft.com/office/drawing/2014/main" id="{9C8D6A2C-3E70-461B-B918-2B071C5B2E30}"/>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Una fábrica concentra cómo se construye un objeto. Supplier&lt;T&gt; permite inyectar la construcción sin reflexión. El consumidor solicita instancias a la fábrica y utiliza únicamente el contrato. Esto facilita cambiar una fuente simulada por una fuente serial en la unidad 5.</a:t>
            </a:r>
          </a:p>
        </p:txBody>
      </p:sp>
      <p:sp>
        <p:nvSpPr>
          <p:cNvPr id="8" name="">
            <a:extLst xmlns:a="http://schemas.openxmlformats.org/drawingml/2006/main">
              <a:ext uri="{FF2B5EF4-FFF2-40B4-BE49-F238E27FC236}">
                <a16:creationId xmlns:a16="http://schemas.microsoft.com/office/drawing/2014/main" id="{F3D566FE-5412-4A82-9DD3-F88A76FFA261}"/>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C608C35-416D-4881-83D0-E0A12D1550BC}"/>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Repository, Strategy y Factory se pueden combinar, pero no deben añadirse por obligación. Una clase genérica que necesita veinte parámetros o múltiples casts suele indicar responsabilidades mezcladas.</a:t>
            </a:r>
          </a:p>
        </p:txBody>
      </p:sp>
    </p:spTree>
    <p:extLst>
      <p:ext uri="{BB962C8B-B14F-4D97-AF65-F5344CB8AC3E}">
        <p14:creationId xmlns:p14="http://schemas.microsoft.com/office/powerpoint/2010/main" val="19376215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47296BC-2FD6-43B6-9392-F76B1DACC0D2}"/>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8A60BC-381F-4D96-BF90-31E554BFCEA3}"/>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Evolución hacia persistencia</a:t>
            </a:r>
          </a:p>
        </p:txBody>
      </p:sp>
      <p:sp>
        <p:nvSpPr>
          <p:cNvPr id="3" name="">
            <a:extLst xmlns:a="http://schemas.openxmlformats.org/drawingml/2006/main">
              <a:ext uri="{FF2B5EF4-FFF2-40B4-BE49-F238E27FC236}">
                <a16:creationId xmlns:a16="http://schemas.microsoft.com/office/drawing/2014/main" id="{D9BF02BC-574F-4D0E-B270-3DF44990E6B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EF7F35-BA4A-402A-A394-4BA0770B3795}"/>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1.4</a:t>
            </a:r>
          </a:p>
        </p:txBody>
      </p:sp>
      <p:sp>
        <p:nvSpPr>
          <p:cNvPr id="5" name="">
            <a:extLst xmlns:a="http://schemas.openxmlformats.org/drawingml/2006/main">
              <a:ext uri="{FF2B5EF4-FFF2-40B4-BE49-F238E27FC236}">
                <a16:creationId xmlns:a16="http://schemas.microsoft.com/office/drawing/2014/main" id="{855AF1C6-5CAE-443F-AB76-3776D7CB009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BE17A2E0-AD90-423E-90BA-23258AAE76FB}"/>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Los patrones responden a variaciones concretas.</a:t>
            </a:r>
          </a:p>
        </p:txBody>
      </p:sp>
      <p:sp>
        <p:nvSpPr>
          <p:cNvPr id="7" name="">
            <a:extLst xmlns:a="http://schemas.openxmlformats.org/drawingml/2006/main">
              <a:ext uri="{FF2B5EF4-FFF2-40B4-BE49-F238E27FC236}">
                <a16:creationId xmlns:a16="http://schemas.microsoft.com/office/drawing/2014/main" id="{58133AB0-48F1-43D2-98FC-FF962383A2ED}"/>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El repositorio en memoria desaparecerá al cerrar el programa. Más adelante, una implementación JDBC mantendrá el contrato de consulta, pero incorporará errores de E/S, transacciones y restricciones de base de datos. Esas diferencias no deben esconderse detrás de promesas falsas: guardar puede fallar y varias operaciones pueden requerir una unidad transaccional.</a:t>
            </a:r>
          </a:p>
        </p:txBody>
      </p:sp>
      <p:sp>
        <p:nvSpPr>
          <p:cNvPr id="8" name="">
            <a:extLst xmlns:a="http://schemas.openxmlformats.org/drawingml/2006/main">
              <a:ext uri="{FF2B5EF4-FFF2-40B4-BE49-F238E27FC236}">
                <a16:creationId xmlns:a16="http://schemas.microsoft.com/office/drawing/2014/main" id="{F4D32AF7-47D3-4761-B171-F3A9C7C5CABB}"/>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D11A13C-C05F-4C48-8649-BA103195A4FF}"/>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 demostración ofrece un repositorio reutilizable sin capas innecesarias. La PL de esta unidad pide un catálogo autónomo con criterios intercambiables.</a:t>
            </a:r>
          </a:p>
        </p:txBody>
      </p:sp>
    </p:spTree>
    <p:extLst>
      <p:ext uri="{BB962C8B-B14F-4D97-AF65-F5344CB8AC3E}">
        <p14:creationId xmlns:p14="http://schemas.microsoft.com/office/powerpoint/2010/main" val="3060285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166116-187B-4353-AD2D-F2C82579F7CB}"/>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252A59-2FF1-40C5-9F9C-118D77D22742}"/>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4EE675DA-E503-4437-8631-F5EA16D74AD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7E160E-EE74-49BB-B7BE-E07E3500D733}"/>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1.4</a:t>
            </a:r>
          </a:p>
        </p:txBody>
      </p:sp>
      <p:sp>
        <p:nvSpPr>
          <p:cNvPr id="5" name="">
            <a:extLst xmlns:a="http://schemas.openxmlformats.org/drawingml/2006/main">
              <a:ext uri="{FF2B5EF4-FFF2-40B4-BE49-F238E27FC236}">
                <a16:creationId xmlns:a16="http://schemas.microsoft.com/office/drawing/2014/main" id="{35E926E5-5CD0-4124-BA8D-098A368ACEE0}"/>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E10D9CEB-5268-4D99-90C4-6603ED65C1E0}"/>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429B505-BC22-4417-947C-8C32750F2EFF}"/>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Repositorio&lt;String,Sensor&gt; repo = new Memoria&lt;&gt;(Sensor::id);</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Supplier&lt;Sensor&gt; fabrica = () -&gt; new Sensor("S01","Lab");</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repo.guardar(fabrica.get());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repo.guardar(new Sensor("S02","Biblioteca"));</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Predicate&lt;Sensor&gt; enLab = s -&gt; s.ubicacion().equals("Lab");</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System.out.println(repo.listar().stream().filter(enLab).toList());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System.out.println(repo.buscar("S99"));</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 { repo.guardar(fabrica.get());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catch (IllegalArgumentException e) { System.out.println(e.getMessage());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7FA97216-9680-4D9F-8102-4ED0748D1EDB}"/>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PatronesDemo.java. Código completo y ejecución en material.md.</a:t>
            </a:r>
          </a:p>
        </p:txBody>
      </p:sp>
    </p:spTree>
    <p:extLst>
      <p:ext uri="{BB962C8B-B14F-4D97-AF65-F5344CB8AC3E}">
        <p14:creationId xmlns:p14="http://schemas.microsoft.com/office/powerpoint/2010/main" val="7722067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1191FE-567B-4747-B9C7-7316B04E5451}"/>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249881-5ED4-44B9-8B39-13B8DAA8AFCD}"/>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DFAF8FF3-8FC7-420B-ABEC-13583BC2009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6E399C-E962-4865-B189-C4837B734166}"/>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1.4</a:t>
            </a:r>
          </a:p>
        </p:txBody>
      </p:sp>
      <p:sp>
        <p:nvSpPr>
          <p:cNvPr id="5" name="">
            <a:extLst xmlns:a="http://schemas.openxmlformats.org/drawingml/2006/main">
              <a:ext uri="{FF2B5EF4-FFF2-40B4-BE49-F238E27FC236}">
                <a16:creationId xmlns:a16="http://schemas.microsoft.com/office/drawing/2014/main" id="{E4DE3FA1-6B36-4D82-9C4F-B25CF500A5C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Insertar dos IDs distintos</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Ambos consultables</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Insertar ID existente</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Error controlado, sin reemplazo silencioso</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Buscar ID ausente</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Optional.empty</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6779D157-49C7-45C1-96EA-368028FD66A8}"/>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[Sensor[id=S01, ubicacion=Lab]] · Optional.empty · ID duplicado</a:t>
            </a:r>
          </a:p>
        </p:txBody>
      </p:sp>
    </p:spTree>
    <p:extLst>
      <p:ext uri="{BB962C8B-B14F-4D97-AF65-F5344CB8AC3E}">
        <p14:creationId xmlns:p14="http://schemas.microsoft.com/office/powerpoint/2010/main" val="3453253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2AC0FF3-C189-4CE2-BBD1-66AD3B1E911C}"/>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6ADEAC-C282-4D48-8E9E-27FF3174BF8A}"/>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PC1.4 · Ampliación del proyecto</a:t>
            </a:r>
          </a:p>
        </p:txBody>
      </p:sp>
      <p:sp>
        <p:nvSpPr>
          <p:cNvPr id="3" name="">
            <a:extLst xmlns:a="http://schemas.openxmlformats.org/drawingml/2006/main">
              <a:ext uri="{FF2B5EF4-FFF2-40B4-BE49-F238E27FC236}">
                <a16:creationId xmlns:a16="http://schemas.microsoft.com/office/drawing/2014/main" id="{919E4817-9391-484E-ABED-993F2941A66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1497B5A-9980-4EA3-A4B2-0CE23FBC7363}"/>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1.4</a:t>
            </a:r>
          </a:p>
        </p:txBody>
      </p:sp>
      <p:sp>
        <p:nvSpPr>
          <p:cNvPr id="5" name="">
            <a:extLst xmlns:a="http://schemas.openxmlformats.org/drawingml/2006/main">
              <a:ext uri="{FF2B5EF4-FFF2-40B4-BE49-F238E27FC236}">
                <a16:creationId xmlns:a16="http://schemas.microsoft.com/office/drawing/2014/main" id="{D4C66B96-4B29-433F-8476-41BDEF45C1F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32986199-CFF8-42C9-9EAC-58F83371C96D}"/>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38B0AC46-E2ED-4196-8690-D8CEA5D31F2D}"/>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Integra Repositorio&lt;ID,T&gt; en CampusMonitor para Sensor y Lectura&lt;Double&gt;, con identidades explícitas y sin casts no comprobados.</a:t>
            </a:r>
          </a:p>
        </p:txBody>
      </p:sp>
      <p:sp>
        <p:nvSpPr>
          <p:cNvPr id="8" name="">
            <a:extLst xmlns:a="http://schemas.openxmlformats.org/drawingml/2006/main">
              <a:ext uri="{FF2B5EF4-FFF2-40B4-BE49-F238E27FC236}">
                <a16:creationId xmlns:a16="http://schemas.microsoft.com/office/drawing/2014/main" id="{B16FAC2D-CBF1-4E19-A11F-0FED75FD9661}"/>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8B674D7A-70A9-462A-977D-AEDD5C8EF891}"/>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Agrega estrategias de consulta por ubicación y por umbral. El repositorio debe devolver listas que no permitan alterar su estructura interna.</a:t>
            </a:r>
          </a:p>
        </p:txBody>
      </p:sp>
      <p:sp>
        <p:nvSpPr>
          <p:cNvPr id="10" name="">
            <a:extLst xmlns:a="http://schemas.openxmlformats.org/drawingml/2006/main">
              <a:ext uri="{FF2B5EF4-FFF2-40B4-BE49-F238E27FC236}">
                <a16:creationId xmlns:a16="http://schemas.microsoft.com/office/drawing/2014/main" id="{EA53BBF4-2160-4BE4-A7B3-D71993E4AD75}"/>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F621CDEA-2B80-49DA-8385-C8F457ECA228}"/>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Registra fuentes con Supplier y conserva los comandos anteriores. Documenta dónde existe una variación que justifica cada patrón.</a:t>
            </a:r>
          </a:p>
        </p:txBody>
      </p:sp>
    </p:spTree>
    <p:extLst>
      <p:ext uri="{BB962C8B-B14F-4D97-AF65-F5344CB8AC3E}">
        <p14:creationId xmlns:p14="http://schemas.microsoft.com/office/powerpoint/2010/main" val="5238472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54CE45-1696-4586-8F54-63BC58C8F14B}"/>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CEE122-54C2-42EA-96E5-B6DD5660104D}"/>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84E48119-C758-4059-88FD-6793B64259C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9C3374F-B4B7-45D1-8202-E5CA80D2AFBE}"/>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1.4</a:t>
            </a:r>
          </a:p>
        </p:txBody>
      </p:sp>
      <p:sp>
        <p:nvSpPr>
          <p:cNvPr id="5" name="">
            <a:extLst xmlns:a="http://schemas.openxmlformats.org/drawingml/2006/main">
              <a:ext uri="{FF2B5EF4-FFF2-40B4-BE49-F238E27FC236}">
                <a16:creationId xmlns:a16="http://schemas.microsoft.com/office/drawing/2014/main" id="{3929174E-5A1E-47B2-B900-21D95EA49497}"/>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EFDFBEDE-9C5E-4EAD-AD6A-DF4562AB6344}"/>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Repository separa acceso y almacenamiento.</a:t>
            </a:r>
          </a:p>
        </p:txBody>
      </p:sp>
      <p:sp>
        <p:nvSpPr>
          <p:cNvPr id="7" name="">
            <a:extLst xmlns:a="http://schemas.openxmlformats.org/drawingml/2006/main">
              <a:ext uri="{FF2B5EF4-FFF2-40B4-BE49-F238E27FC236}">
                <a16:creationId xmlns:a16="http://schemas.microsoft.com/office/drawing/2014/main" id="{3576B7CB-5155-40DD-9324-5416BC610814}"/>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Strategy cambia un criterio sin duplicar el algoritmo.</a:t>
            </a:r>
          </a:p>
        </p:txBody>
      </p:sp>
      <p:sp>
        <p:nvSpPr>
          <p:cNvPr id="8" name="">
            <a:extLst xmlns:a="http://schemas.openxmlformats.org/drawingml/2006/main">
              <a:ext uri="{FF2B5EF4-FFF2-40B4-BE49-F238E27FC236}">
                <a16:creationId xmlns:a16="http://schemas.microsoft.com/office/drawing/2014/main" id="{65EE2FB6-ED9F-4169-BC90-E1FCEFF3EDD5}"/>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Factory centraliza la creación.</a:t>
            </a:r>
          </a:p>
        </p:txBody>
      </p:sp>
      <p:sp>
        <p:nvSpPr>
          <p:cNvPr id="9" name="">
            <a:extLst xmlns:a="http://schemas.openxmlformats.org/drawingml/2006/main">
              <a:ext uri="{FF2B5EF4-FFF2-40B4-BE49-F238E27FC236}">
                <a16:creationId xmlns:a16="http://schemas.microsoft.com/office/drawing/2014/main" id="{E600AA2F-DEEC-4CF2-AD4D-7C3FA1E97C99}"/>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Los patrones responden a variaciones concretas.</a:t>
            </a:r>
          </a:p>
        </p:txBody>
      </p:sp>
    </p:spTree>
    <p:extLst>
      <p:ext uri="{BB962C8B-B14F-4D97-AF65-F5344CB8AC3E}">
        <p14:creationId xmlns:p14="http://schemas.microsoft.com/office/powerpoint/2010/main" val="333650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2026-09-10T23:05:58.3870000Z</dcterms:created>
  <dcterms:modified xsi:type="dcterms:W3CDTF">2026-09-10T23:05:58.3870000Z</dcterms:modified>
</coreProperties>
</file>