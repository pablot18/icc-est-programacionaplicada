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886db9500a4e37" /><Relationship Type="http://schemas.openxmlformats.org/officeDocument/2006/relationships/extended-properties" Target="/docProps/app.xml" Id="Rd7b09804e3094c77" /><Relationship Type="http://schemas.openxmlformats.org/officeDocument/2006/relationships/officeDocument" Target="/ppt/presentation.xml" Id="R410bc2b76ad843e5" /></Relationships>
</file>

<file path=ppt/presentation.xml><?xml version="1.0" encoding="utf-8"?>
<p:presentation xmlns:p="http://schemas.openxmlformats.org/presentationml/2006/main">
  <p:sldMasterIdLst>
    <p:sldMasterId xmlns:r="http://schemas.openxmlformats.org/officeDocument/2006/relationships" id="2147483648" r:id="R363585a9d6864158"/>
  </p:sldMasterIdLst>
  <p:notesMasterIdLst>
    <p:notesMasterId xmlns:r="http://schemas.openxmlformats.org/officeDocument/2006/relationships" r:id="Rb2803e9f1cf64ec8"/>
  </p:notesMasterIdLst>
  <p:sldIdLst>
    <p:sldId xmlns:r="http://schemas.openxmlformats.org/officeDocument/2006/relationships" id="256" r:id="R01d9bc448f714dd0"/>
    <p:sldId xmlns:r="http://schemas.openxmlformats.org/officeDocument/2006/relationships" id="257" r:id="R801d937f70484863"/>
    <p:sldId xmlns:r="http://schemas.openxmlformats.org/officeDocument/2006/relationships" id="258" r:id="R3ac6af91717f4de1"/>
    <p:sldId xmlns:r="http://schemas.openxmlformats.org/officeDocument/2006/relationships" id="259" r:id="R7a30881097c24d8d"/>
    <p:sldId xmlns:r="http://schemas.openxmlformats.org/officeDocument/2006/relationships" id="260" r:id="Rc51706d028e64e39"/>
    <p:sldId xmlns:r="http://schemas.openxmlformats.org/officeDocument/2006/relationships" id="261" r:id="R6dd2eef28b564fa2"/>
    <p:sldId xmlns:r="http://schemas.openxmlformats.org/officeDocument/2006/relationships" id="262" r:id="R2fbc6889cc7c4630"/>
    <p:sldId xmlns:r="http://schemas.openxmlformats.org/officeDocument/2006/relationships" id="263" r:id="R06b6598320fd483b"/>
    <p:sldId xmlns:r="http://schemas.openxmlformats.org/officeDocument/2006/relationships" id="264" r:id="Rd5f622cf4915439d"/>
    <p:sldId xmlns:r="http://schemas.openxmlformats.org/officeDocument/2006/relationships" id="265" r:id="R5791cd3d800e4e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c75f9d3e784286" /><Relationship Type="http://schemas.openxmlformats.org/officeDocument/2006/relationships/slideMaster" Target="/ppt/slideMasters/slideMaster1.xml" Id="R363585a9d6864158" /><Relationship Type="http://schemas.openxmlformats.org/officeDocument/2006/relationships/notesMaster" Target="/ppt/notesMasters/notesMaster1.xml" Id="Rb2803e9f1cf64ec8" /><Relationship Type="http://schemas.openxmlformats.org/officeDocument/2006/relationships/presProps" Target="/ppt/presProps.xml" Id="R0eae654c68f041ce" /><Relationship Type="http://schemas.openxmlformats.org/officeDocument/2006/relationships/tableStyles" Target="/ppt/tableStyles.xml" Id="R6c02fa5733444b1d" /><Relationship Type="http://schemas.openxmlformats.org/officeDocument/2006/relationships/slide" Target="/ppt/slides/slide1.xml" Id="R01d9bc448f714dd0" /><Relationship Type="http://schemas.openxmlformats.org/officeDocument/2006/relationships/slide" Target="/ppt/slides/slide2.xml" Id="R801d937f70484863" /><Relationship Type="http://schemas.openxmlformats.org/officeDocument/2006/relationships/slide" Target="/ppt/slides/slide3.xml" Id="R3ac6af91717f4de1" /><Relationship Type="http://schemas.openxmlformats.org/officeDocument/2006/relationships/slide" Target="/ppt/slides/slide4.xml" Id="R7a30881097c24d8d" /><Relationship Type="http://schemas.openxmlformats.org/officeDocument/2006/relationships/slide" Target="/ppt/slides/slide5.xml" Id="Rc51706d028e64e39" /><Relationship Type="http://schemas.openxmlformats.org/officeDocument/2006/relationships/slide" Target="/ppt/slides/slide6.xml" Id="R6dd2eef28b564fa2" /><Relationship Type="http://schemas.openxmlformats.org/officeDocument/2006/relationships/slide" Target="/ppt/slides/slide7.xml" Id="R2fbc6889cc7c4630" /><Relationship Type="http://schemas.openxmlformats.org/officeDocument/2006/relationships/slide" Target="/ppt/slides/slide8.xml" Id="R06b6598320fd483b" /><Relationship Type="http://schemas.openxmlformats.org/officeDocument/2006/relationships/slide" Target="/ppt/slides/slide9.xml" Id="Rd5f622cf4915439d" /><Relationship Type="http://schemas.openxmlformats.org/officeDocument/2006/relationships/slide" Target="/ppt/slides/slide10.xml" Id="R5791cd3d800e4e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ceb7ada1bb41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f02ff6cf7b4d3e" /><Relationship Type="http://schemas.openxmlformats.org/officeDocument/2006/relationships/notesMaster" Target="/ppt/notesMasters/notesMaster1.xml" Id="R5d523479d00c4c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5b235ac3bb4075" /><Relationship Type="http://schemas.openxmlformats.org/officeDocument/2006/relationships/notesMaster" Target="/ppt/notesMasters/notesMaster1.xml" Id="R13a0118fcde249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2d512b9d6045b9" /><Relationship Type="http://schemas.openxmlformats.org/officeDocument/2006/relationships/notesMaster" Target="/ppt/notesMasters/notesMaster1.xml" Id="R22fd476aeecb47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bab44115034535" /><Relationship Type="http://schemas.openxmlformats.org/officeDocument/2006/relationships/notesMaster" Target="/ppt/notesMasters/notesMaster1.xml" Id="R4e79c00fd0ad47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455c9c59174f70" /><Relationship Type="http://schemas.openxmlformats.org/officeDocument/2006/relationships/notesMaster" Target="/ppt/notesMasters/notesMaster1.xml" Id="R10e6782516e340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f218cf97f04f60" /><Relationship Type="http://schemas.openxmlformats.org/officeDocument/2006/relationships/notesMaster" Target="/ppt/notesMasters/notesMaster1.xml" Id="Ra8a9f4ccecd749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86a6b63aba45a3" /><Relationship Type="http://schemas.openxmlformats.org/officeDocument/2006/relationships/notesMaster" Target="/ppt/notesMasters/notesMaster1.xml" Id="R7e5a0eefe2474f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afd24869c24c20" /><Relationship Type="http://schemas.openxmlformats.org/officeDocument/2006/relationships/notesMaster" Target="/ppt/notesMasters/notesMaster1.xml" Id="R00b3176c112c4e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fa850cafe24d4e" /><Relationship Type="http://schemas.openxmlformats.org/officeDocument/2006/relationships/notesMaster" Target="/ppt/notesMasters/notesMaster1.xml" Id="R79c338db88194b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3a16922efc4884" /><Relationship Type="http://schemas.openxmlformats.org/officeDocument/2006/relationships/notesMaster" Target="/ppt/notesMasters/notesMaster1.xml" Id="Rb57ee6a303404f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1.3. Genéricos y reflexión.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CampusMonitor puede registrar proveedores de sensores por nombre y crear adaptadores bajo demanda. La reflexión permite inspeccionar clases en ejecución, pero debe conservar contratos verificables y respetar el encapsulamiento.</a:t>
            </a:r>
          </a:p>
          <a:p xmlns:a="http://schemas.openxmlformats.org/drawingml/2006/main">
            <a:r>
              <a:t>Fuente del desarrollo: material.md,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compilador borra buena parte de los argumentos genéricos al producir bytecode. Una ArrayList&lt;String&gt; y una ArrayList&lt;Integer&gt; comparten clase en ejecución. No puede preguntarse de forma general si un objeto es una List&lt;String&gt;. El compilador inserta conversiones y, cuando hace falta, métodos puente para conservar polimorfismo.</a:t>
            </a:r>
          </a:p>
          <a:p xmlns:a="http://schemas.openxmlformats.org/drawingml/2006/main">
            <a:r>
              <a:t/>
            </a:r>
          </a:p>
          <a:p xmlns:a="http://schemas.openxmlformats.org/drawingml/2006/main">
            <a:r>
              <a:t>Algunas declaraciones conservan su firma genérica como metadatos. Field.getGenericType puede describir List&lt;String&gt; cuando el campo fue declarado así. Esto informa de la declaración, no certifica que los objetos actuales sean correctos si alguien utilizó tipos crudos o reflexión insegura. Diferencia Class, Type, ParameterizedType y TypeVariable al inspeccionar una firma.</a:t>
            </a:r>
          </a:p>
          <a:p xmlns:a="http://schemas.openxmlformats.org/drawingml/2006/main">
            <a:r>
              <a:t/>
            </a:r>
          </a:p>
          <a:p xmlns:a="http://schemas.openxmlformats.org/drawingml/2006/main">
            <a:r>
              <a:t>Referencias:</a:t>
            </a:r>
          </a:p>
          <a:p xmlns:a="http://schemas.openxmlformats.org/drawingml/2006/main">
            <a:r>
              <a:t>https://dev.java/learn/generics/</a:t>
            </a:r>
          </a:p>
          <a:p xmlns:a="http://schemas.openxmlformats.org/drawingml/2006/main">
            <a:r>
              <a:t>https://dev.java/learn/reflection/</a:t>
            </a:r>
          </a:p>
          <a:p xmlns:a="http://schemas.openxmlformats.org/drawingml/2006/main">
            <a:r>
              <a:t>https://docs.oracle.com/en/java/javase/25/docs/api/index.html</a:t>
            </a:r>
          </a:p>
          <a:p xmlns:a="http://schemas.openxmlformats.org/drawingml/2006/main">
            <a:r>
              <a:t>Correspondencia: material.md, sección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argumento Class&lt;T&gt; transporta una clase conocida a una operación genérica. Class.cast realiza una comprobación en ejecución, y asSubclass verifica que una clase implemente el contrato esperado. Esa técnica es útil en fábricas o deserializadores y es más clara que una conversión unchecked.</a:t>
            </a:r>
          </a:p>
          <a:p xmlns:a="http://schemas.openxmlformats.org/drawingml/2006/main">
            <a:r>
              <a:t/>
            </a:r>
          </a:p>
          <a:p xmlns:a="http://schemas.openxmlformats.org/drawingml/2006/main">
            <a:r>
              <a:t>getDeclaredConstructor().newInstance() exige un constructor compatible y accesible. La creación puede fallar por ausencia del constructor, acceso restringido o una excepción lanzada por el constructor. ReflectiveOperationException agrupa varios fallos relacionados, pero conviene preservar su causa y comunicar qué proveedor no pudo construirse.</a:t>
            </a:r>
          </a:p>
          <a:p xmlns:a="http://schemas.openxmlformats.org/drawingml/2006/main">
            <a:r>
              <a:t/>
            </a:r>
          </a:p>
          <a:p xmlns:a="http://schemas.openxmlformats.org/drawingml/2006/main">
            <a:r>
              <a:t>Referencias:</a:t>
            </a:r>
          </a:p>
          <a:p xmlns:a="http://schemas.openxmlformats.org/drawingml/2006/main">
            <a:r>
              <a:t>https://dev.java/learn/generics/</a:t>
            </a:r>
          </a:p>
          <a:p xmlns:a="http://schemas.openxmlformats.org/drawingml/2006/main">
            <a:r>
              <a:t>https://dev.java/learn/reflection/</a:t>
            </a:r>
          </a:p>
          <a:p xmlns:a="http://schemas.openxmlformats.org/drawingml/2006/main">
            <a:r>
              <a:t>https://docs.oracle.com/en/java/javase/25/docs/api/index.html</a:t>
            </a:r>
          </a:p>
          <a:p xmlns:a="http://schemas.openxmlformats.org/drawingml/2006/main">
            <a:r>
              <a:t>Correspondencia: material.md, sección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anotación con RetentionPolicy.RUNTIME queda disponible para reflexión. Target restringe dónde puede usarse. Puede servir para identificar un adaptador o describir una unidad. No ejecuta código por sí misma: el programa que la inspecciona decide qué hacer.</a:t>
            </a:r>
          </a:p>
          <a:p xmlns:a="http://schemas.openxmlformats.org/drawingml/2006/main">
            <a:r>
              <a:t/>
            </a:r>
          </a:p>
          <a:p xmlns:a="http://schemas.openxmlformats.org/drawingml/2006/main">
            <a:r>
              <a:t>Para cargar extensiones, prefiere un registro de clases permitido o ServiceLoader. No aceptes desde un archivo externo cualquier nombre de clase para ejecutarlo. Tampoco uses setAccessible(true) para saltar el diseño del modelo. En Java modular, los paquetes abiertos y exportados condicionan el acceso. La reflexión debe tener un propósito concreto y una superficie acotada.</a:t>
            </a:r>
          </a:p>
          <a:p xmlns:a="http://schemas.openxmlformats.org/drawingml/2006/main">
            <a:r>
              <a:t/>
            </a:r>
          </a:p>
          <a:p xmlns:a="http://schemas.openxmlformats.org/drawingml/2006/main">
            <a:r>
              <a:t>Referencias:</a:t>
            </a:r>
          </a:p>
          <a:p xmlns:a="http://schemas.openxmlformats.org/drawingml/2006/main">
            <a:r>
              <a:t>https://dev.java/learn/generics/</a:t>
            </a:r>
          </a:p>
          <a:p xmlns:a="http://schemas.openxmlformats.org/drawingml/2006/main">
            <a:r>
              <a:t>https://dev.java/learn/reflection/</a:t>
            </a:r>
          </a:p>
          <a:p xmlns:a="http://schemas.openxmlformats.org/drawingml/2006/main">
            <a:r>
              <a:t>https://docs.oracle.com/en/java/javase/25/docs/api/index.html</a:t>
            </a:r>
          </a:p>
          <a:p xmlns:a="http://schemas.openxmlformats.org/drawingml/2006/main">
            <a:r>
              <a:t>Correspondencia: material.md, sección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reflexión desplaza errores desde compilación a ejecución y puede hacer más difícil refactorizar. Un registro Map&lt;String, Supplier&lt;Sensor&gt;&gt; es una alternativa cuando los tipos ya se conocen. Permite crear objetos sin buscar constructores por nombre y conserva comprobación estática.</a:t>
            </a:r>
          </a:p>
          <a:p xmlns:a="http://schemas.openxmlformats.org/drawingml/2006/main">
            <a:r>
              <a:t/>
            </a:r>
          </a:p>
          <a:p xmlns:a="http://schemas.openxmlformats.org/drawingml/2006/main">
            <a:r>
              <a:t>La demostración usa reflexión para inspección y construcción controlada. La PC compara esa vía con una fábrica explícita. En ambos casos, el resto de la aplicación debe depender de una interfaz estable, no de los detalles de cómo se creó la instancia.</a:t>
            </a:r>
          </a:p>
          <a:p xmlns:a="http://schemas.openxmlformats.org/drawingml/2006/main">
            <a:r>
              <a:t/>
            </a:r>
          </a:p>
          <a:p xmlns:a="http://schemas.openxmlformats.org/drawingml/2006/main">
            <a:r>
              <a:t>Referencias:</a:t>
            </a:r>
          </a:p>
          <a:p xmlns:a="http://schemas.openxmlformats.org/drawingml/2006/main">
            <a:r>
              <a:t>https://dev.java/learn/generics/</a:t>
            </a:r>
          </a:p>
          <a:p xmlns:a="http://schemas.openxmlformats.org/drawingml/2006/main">
            <a:r>
              <a:t>https://dev.java/learn/reflection/</a:t>
            </a:r>
          </a:p>
          <a:p xmlns:a="http://schemas.openxmlformats.org/drawingml/2006/main">
            <a:r>
              <a:t>https://docs.oracle.com/en/java/javase/25/docs/api/index.html</a:t>
            </a:r>
          </a:p>
          <a:p xmlns:a="http://schemas.openxmlformats.org/drawingml/2006/main">
            <a:r>
              <a:t>Correspondencia: material.md, sección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a:t>
            </a:r>
          </a:p>
          <a:p xmlns:a="http://schemas.openxmlformats.org/drawingml/2006/main">
            <a:r>
              <a:t>package edu.ups.pap.u01;</a:t>
            </a:r>
          </a:p>
          <a:p xmlns:a="http://schemas.openxmlformats.org/drawingml/2006/main">
            <a:r>
              <a:t>import java.lang.annotation.*;</a:t>
            </a:r>
          </a:p>
          <a:p xmlns:a="http://schemas.openxmlformats.org/drawingml/2006/main">
            <a:r>
              <a:t>import java.lang.reflect.*;</a:t>
            </a:r>
          </a:p>
          <a:p xmlns:a="http://schemas.openxmlformats.org/drawingml/2006/main">
            <a:r>
              <a:t>import java.util.*;</a:t>
            </a:r>
          </a:p>
          <a:p xmlns:a="http://schemas.openxmlformats.org/drawingml/2006/main">
            <a:r>
              <a:t>public class ReflexionDemo {</a:t>
            </a:r>
          </a:p>
          <a:p xmlns:a="http://schemas.openxmlformats.org/drawingml/2006/main">
            <a:r>
              <a:t>    @Retention(RetentionPolicy.RUNTIME) @Target(ElementType.TYPE)</a:t>
            </a:r>
          </a:p>
          <a:p xmlns:a="http://schemas.openxmlformats.org/drawingml/2006/main">
            <a:r>
              <a:t>    @interface Unidad { String value(); }</a:t>
            </a:r>
          </a:p>
          <a:p xmlns:a="http://schemas.openxmlformats.org/drawingml/2006/main">
            <a:r>
              <a:t>    interface Sensor { double leer(); }</a:t>
            </a:r>
          </a:p>
          <a:p xmlns:a="http://schemas.openxmlformats.org/drawingml/2006/main">
            <a:r>
              <a:t>    @Unidad("°C")</a:t>
            </a:r>
          </a:p>
          <a:p xmlns:a="http://schemas.openxmlformats.org/drawingml/2006/main">
            <a:r>
              <a:t>    public static class Temperatura implements Sensor {</a:t>
            </a:r>
          </a:p>
          <a:p xmlns:a="http://schemas.openxmlformats.org/drawingml/2006/main">
            <a:r>
              <a:t>        public Temperatura() {}</a:t>
            </a:r>
          </a:p>
          <a:p xmlns:a="http://schemas.openxmlformats.org/drawingml/2006/main">
            <a:r>
              <a:t>        public double leer() { return 23.5; }</a:t>
            </a:r>
          </a:p>
          <a:p xmlns:a="http://schemas.openxmlformats.org/drawingml/2006/main">
            <a:r>
              <a:t>    }</a:t>
            </a:r>
          </a:p>
          <a:p xmlns:a="http://schemas.openxmlformats.org/drawingml/2006/main">
            <a:r>
              <a:t>    static class Historial { List&lt;Double&gt; valores = new ArrayList&lt;&gt;(); }</a:t>
            </a:r>
          </a:p>
          <a:p xmlns:a="http://schemas.openxmlformats.org/drawingml/2006/main">
            <a:r>
              <a:t>    static &lt;T&gt; T crear(Class&lt;T&gt; tipo) throws ReflectiveOperationException {</a:t>
            </a:r>
          </a:p>
          <a:p xmlns:a="http://schemas.openxmlformats.org/drawingml/2006/main">
            <a:r>
              <a:t>        return tipo.getDeclaredConstructor().newInstance();</a:t>
            </a:r>
          </a:p>
          <a:p xmlns:a="http://schemas.openxmlformats.org/drawingml/2006/main">
            <a:r>
              <a:t>    }</a:t>
            </a:r>
          </a:p>
          <a:p xmlns:a="http://schemas.openxmlformats.org/drawingml/2006/main">
            <a:r>
              <a:t>    public static void main(String[] args) throws ReflectiveOperationException {</a:t>
            </a:r>
          </a:p>
          <a:p xmlns:a="http://schemas.openxmlformats.org/drawingml/2006/main">
            <a:r>
              <a:t>        Map&lt;String,Class&lt;? extends Sensor&gt;&gt; permitidos = Map.of("temp",Temperatura.class);</a:t>
            </a:r>
          </a:p>
          <a:p xmlns:a="http://schemas.openxmlformats.org/drawingml/2006/main">
            <a:r>
              <a:t>        Class&lt;? extends Sensor&gt; tipo = permitidos.get("temp");</a:t>
            </a:r>
          </a:p>
          <a:p xmlns:a="http://schemas.openxmlformats.org/drawingml/2006/main">
            <a:r>
              <a:t>        Sensor sensor = crear(tipo);</a:t>
            </a:r>
          </a:p>
          <a:p xmlns:a="http://schemas.openxmlformats.org/drawingml/2006/main">
            <a:r>
              <a:t>        System.out.println(sensor.leer() + " " + tipo.getAnnotation(Unidad.class).value());</a:t>
            </a:r>
          </a:p>
          <a:p xmlns:a="http://schemas.openxmlformats.org/drawingml/2006/main">
            <a:r>
              <a:t>        Type firma = Historial.class.getDeclaredField("valores").getGenericType();</a:t>
            </a:r>
          </a:p>
          <a:p xmlns:a="http://schemas.openxmlformats.org/drawingml/2006/main">
            <a:r>
              <a:t>        System.out.println(firma.getTypeName());</a:t>
            </a:r>
          </a:p>
          <a:p xmlns:a="http://schemas.openxmlformats.org/drawingml/2006/main">
            <a:r>
              <a:t>        System.out.println(new ArrayList&lt;String&gt;().getClass() == new ArrayList&lt;Integer&gt;().getClass());</a:t>
            </a:r>
          </a:p>
          <a:p xmlns:a="http://schemas.openxmlformats.org/drawingml/2006/main">
            <a:r>
              <a:t>    }</a:t>
            </a:r>
          </a:p>
          <a:p xmlns:a="http://schemas.openxmlformats.org/drawingml/2006/main">
            <a:r>
              <a:t>}</a:t>
            </a:r>
          </a:p>
          <a:p xmlns:a="http://schemas.openxmlformats.org/drawingml/2006/main">
            <a:r>
              <a:t/>
            </a:r>
          </a:p>
          <a:p xmlns:a="http://schemas.openxmlformats.org/drawingml/2006/main">
            <a:r>
              <a:t/>
            </a:r>
          </a:p>
          <a:p xmlns:a="http://schemas.openxmlformats.org/drawingml/2006/main">
            <a:r>
              <a:t>Salida:</a:t>
            </a:r>
          </a:p>
          <a:p xmlns:a="http://schemas.openxmlformats.org/drawingml/2006/main">
            <a:r>
              <a:t>23.5 °C</a:t>
            </a:r>
          </a:p>
          <a:p xmlns:a="http://schemas.openxmlformats.org/drawingml/2006/main">
            <a:r>
              <a:t>java.util.List&lt;java.lang.Double&gt;</a:t>
            </a:r>
          </a:p>
          <a:p xmlns:a="http://schemas.openxmlformats.org/drawingml/2006/main">
            <a:r>
              <a:t>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Salida esperada:</a:t>
            </a:r>
          </a:p>
          <a:p xmlns:a="http://schemas.openxmlformats.org/drawingml/2006/main">
            <a:r>
              <a:t>23.5 °C</a:t>
            </a:r>
          </a:p>
          <a:p xmlns:a="http://schemas.openxmlformats.org/drawingml/2006/main">
            <a:r>
              <a:t>java.util.List&lt;java.lang.Double&gt;</a:t>
            </a:r>
          </a:p>
          <a:p xmlns:a="http://schemas.openxmlformats.org/drawingml/2006/main">
            <a:r>
              <a:t>true</a:t>
            </a:r>
          </a:p>
          <a:p xmlns:a="http://schemas.openxmlformats.org/drawingml/2006/main">
            <a:r>
              <a:t>Casos de aceptación: material.md, sección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Resuelve la ampliación en tu proyecto CampusMonitor.</a:t>
            </a:r>
          </a:p>
          <a:p xmlns:a="http://schemas.openxmlformats.org/drawingml/2006/main">
            <a:r>
              <a:t>Evidencia: evidencias/PC1.3.md y enlace al commit final.</a:t>
            </a:r>
          </a:p>
          <a:p xmlns:a="http://schemas.openxmlformats.org/drawingml/2006/main">
            <a:r>
              <a:t>Agrega a CampusMonitor una interfaz FuenteLecturas y dos implementaciones simuladas con constructor público sin argumentos.</a:t>
            </a:r>
          </a:p>
          <a:p xmlns:a="http://schemas.openxmlformats.org/drawingml/2006/main">
            <a:r>
              <a:t>Crea un registro permitido por nombre y una fábrica con Class&lt;T&gt;. Inspecciona una anotación de unidad sin acceder a campos privados.</a:t>
            </a:r>
          </a:p>
          <a:p xmlns:a="http://schemas.openxmlformats.org/drawingml/2006/main">
            <a:r>
              <a:t>Resuelve el mismo registro con Supplier y compara qué errores detecta cada alternativa. Un proveedor inexistente debe producir un mensaje controlado.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material. Revisa la sección 3 para la PC y la guía general para commits y 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606bc19e5e4e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e0376e6b4541d3" /><Relationship Type="http://schemas.openxmlformats.org/officeDocument/2006/relationships/slideLayout" Target="/ppt/slideLayouts/slideLayout1.xml" Id="Ref6f3cef8a5d4b7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6f3cef8a5d4b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13c0bc52594935" /><Relationship Type="http://schemas.openxmlformats.org/officeDocument/2006/relationships/image" Target="/ppt/media/image.png" Id="R1c3c17cff1e442e2" /><Relationship Type="http://schemas.openxmlformats.org/officeDocument/2006/relationships/notesSlide" Target="/ppt/notesSlides/notesSlide1.xml" Id="Re4e8ee5b9bdb4d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56b09c8d54144f1" /><Relationship Type="http://schemas.openxmlformats.org/officeDocument/2006/relationships/notesSlide" Target="/ppt/notesSlides/notesSlide2.xml" Id="R94671cde04ec4d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3f2c4c103724fe0" /><Relationship Type="http://schemas.openxmlformats.org/officeDocument/2006/relationships/notesSlide" Target="/ppt/notesSlides/notesSlide3.xml" Id="Rbdd232aaa03645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c22e3eb91694f06" /><Relationship Type="http://schemas.openxmlformats.org/officeDocument/2006/relationships/notesSlide" Target="/ppt/notesSlides/notesSlide4.xml" Id="Rcb28562106a048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2b8d1341dd54d35" /><Relationship Type="http://schemas.openxmlformats.org/officeDocument/2006/relationships/notesSlide" Target="/ppt/notesSlides/notesSlide5.xml" Id="Rc46ebd491e394e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1a7172bfc8e45fb" /><Relationship Type="http://schemas.openxmlformats.org/officeDocument/2006/relationships/notesSlide" Target="/ppt/notesSlides/notesSlide6.xml" Id="R369667c3239a4c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d546d33010c4660" /><Relationship Type="http://schemas.openxmlformats.org/officeDocument/2006/relationships/notesSlide" Target="/ppt/notesSlides/notesSlide7.xml" Id="R52539b61a63547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a4b5b38bf284ae5" /><Relationship Type="http://schemas.openxmlformats.org/officeDocument/2006/relationships/notesSlide" Target="/ppt/notesSlides/notesSlide8.xml" Id="R404d8417a12844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d435ecc78f24baf" /><Relationship Type="http://schemas.openxmlformats.org/officeDocument/2006/relationships/notesSlide" Target="/ppt/notesSlides/notesSlide9.xml" Id="R8c98bcc4a9e84ca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93499bf43f3442b" /><Relationship Type="http://schemas.openxmlformats.org/officeDocument/2006/relationships/notesSlide" Target="/ppt/notesSlides/notesSlide10.xml" Id="Rd871f66ad416431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c3c17cff1e442e2"/>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705A734-EC15-4E39-8E0E-EF3F7779D992}"/>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4A9C8A58-E6FD-4434-B541-AE14C3853A63}"/>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Genéricos y reflexión</a:t>
            </a:r>
          </a:p>
        </p:txBody>
      </p:sp>
      <p:sp>
        <p:nvSpPr>
          <p:cNvPr id="4" name="">
            <a:extLst xmlns:a="http://schemas.openxmlformats.org/drawingml/2006/main">
              <a:ext uri="{FF2B5EF4-FFF2-40B4-BE49-F238E27FC236}">
                <a16:creationId xmlns:a16="http://schemas.microsoft.com/office/drawing/2014/main" id="{7D7CA7E3-4B45-41D5-8F1A-7716BF0189CD}"/>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3763D18-CF71-430B-9535-B32B652FC4AB}"/>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1 · 1.3</a:t>
            </a:r>
          </a:p>
        </p:txBody>
      </p:sp>
      <p:sp>
        <p:nvSpPr>
          <p:cNvPr id="6" name="">
            <a:extLst xmlns:a="http://schemas.openxmlformats.org/drawingml/2006/main">
              <a:ext uri="{FF2B5EF4-FFF2-40B4-BE49-F238E27FC236}">
                <a16:creationId xmlns:a16="http://schemas.microsoft.com/office/drawing/2014/main" id="{613A050E-D658-48E5-A24B-35813DDCF09C}"/>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5488313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1B50DC-44D5-47C7-A666-0BED998AA76E}"/>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C8A186-873F-4110-BD5A-00D596A0E25F}"/>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CampusMonitor</a:t>
            </a:r>
          </a:p>
        </p:txBody>
      </p:sp>
      <p:sp>
        <p:nvSpPr>
          <p:cNvPr id="3" name="">
            <a:extLst xmlns:a="http://schemas.openxmlformats.org/drawingml/2006/main">
              <a:ext uri="{FF2B5EF4-FFF2-40B4-BE49-F238E27FC236}">
                <a16:creationId xmlns:a16="http://schemas.microsoft.com/office/drawing/2014/main" id="{A4180499-D67A-4166-8254-33E69F10512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5245BDB-DA06-4D29-9F9E-7D8B33D66B90}"/>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1.3</a:t>
            </a:r>
          </a:p>
        </p:txBody>
      </p:sp>
      <p:sp>
        <p:nvSpPr>
          <p:cNvPr id="5" name="">
            <a:extLst xmlns:a="http://schemas.openxmlformats.org/drawingml/2006/main">
              <a:ext uri="{FF2B5EF4-FFF2-40B4-BE49-F238E27FC236}">
                <a16:creationId xmlns:a16="http://schemas.microsoft.com/office/drawing/2014/main" id="{4D6CB05D-4E0E-44E4-9004-46976886E327}"/>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D1A643E9-475C-4DF4-9303-08C202946CFB}"/>
              </a:ext>
            </a:extLst>
          </p:cNvPr>
          <p:cNvSpPr>
            <a:spLocks xmlns:a="http://schemas.openxmlformats.org/drawingml/2006/main" noGrp="1"/>
          </p:cNvSpPr>
          <p:nvPr/>
        </p:nvSpPr>
        <p:spPr>
          <a:xfrm xmlns:a="http://schemas.openxmlformats.org/drawingml/2006/main">
            <a:off x="762000" y="1771650"/>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CampusMonitor puede registrar proveedores de sensores por nombre y crear adaptadores bajo demanda. La reflexión permite inspeccionar clases en ejecución, pero debe conservar contratos verificables y respetar el encapsulamiento.</a:t>
            </a:r>
          </a:p>
        </p:txBody>
      </p:sp>
    </p:spTree>
    <p:extLst>
      <p:ext uri="{BB962C8B-B14F-4D97-AF65-F5344CB8AC3E}">
        <p14:creationId xmlns:p14="http://schemas.microsoft.com/office/powerpoint/2010/main" val="2870097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F4475B7-F4A2-4B69-B071-4FD6F3C9889D}"/>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E24FF0-21E0-4AA7-9743-5A77AFC8A067}"/>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Borrado y metadatos disponibles</a:t>
            </a:r>
          </a:p>
        </p:txBody>
      </p:sp>
      <p:sp>
        <p:nvSpPr>
          <p:cNvPr id="3" name="">
            <a:extLst xmlns:a="http://schemas.openxmlformats.org/drawingml/2006/main">
              <a:ext uri="{FF2B5EF4-FFF2-40B4-BE49-F238E27FC236}">
                <a16:creationId xmlns:a16="http://schemas.microsoft.com/office/drawing/2014/main" id="{6E4901DC-5D6F-43D3-BAF0-28A9E04A03E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6A4F08F-69A7-4D88-9FDA-62B8A22B4666}"/>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1.3</a:t>
            </a:r>
          </a:p>
        </p:txBody>
      </p:sp>
      <p:sp>
        <p:nvSpPr>
          <p:cNvPr id="5" name="">
            <a:extLst xmlns:a="http://schemas.openxmlformats.org/drawingml/2006/main">
              <a:ext uri="{FF2B5EF4-FFF2-40B4-BE49-F238E27FC236}">
                <a16:creationId xmlns:a16="http://schemas.microsoft.com/office/drawing/2014/main" id="{071DA850-238B-49F5-B77B-F8A2DC6F3674}"/>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61E25580-4054-4E3A-9980-6564A5CF23D7}"/>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El borrado elimina argumentos; las firmas conservan metadatos.</a:t>
            </a:r>
          </a:p>
        </p:txBody>
      </p:sp>
      <p:sp>
        <p:nvSpPr>
          <p:cNvPr id="7" name="">
            <a:extLst xmlns:a="http://schemas.openxmlformats.org/drawingml/2006/main">
              <a:ext uri="{FF2B5EF4-FFF2-40B4-BE49-F238E27FC236}">
                <a16:creationId xmlns:a16="http://schemas.microsoft.com/office/drawing/2014/main" id="{06B659E2-DE38-4261-AA85-E55A4B8A8108}"/>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El compilador borra buena parte de los argumentos genéricos al producir bytecode. Una ArrayList&lt;String&gt; y una ArrayList&lt;Integer&gt; comparten clase en ejecución. No puede preguntarse de forma general si un objeto es una List&lt;String&gt;. El compilador inserta conversiones y, cuando hace falta, métodos puente para conservar polimorfismo.</a:t>
            </a:r>
          </a:p>
        </p:txBody>
      </p:sp>
      <p:sp>
        <p:nvSpPr>
          <p:cNvPr id="8" name="">
            <a:extLst xmlns:a="http://schemas.openxmlformats.org/drawingml/2006/main">
              <a:ext uri="{FF2B5EF4-FFF2-40B4-BE49-F238E27FC236}">
                <a16:creationId xmlns:a16="http://schemas.microsoft.com/office/drawing/2014/main" id="{AC4F111A-D4CA-4022-9912-070973B8AD12}"/>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1606CB4-18BD-4013-845F-2D32393BE4BF}"/>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Algunas declaraciones conservan su firma genérica como metadatos. Field.getGenericType puede describir List&lt;String&gt; cuando el campo fue declarado así.</a:t>
            </a:r>
          </a:p>
        </p:txBody>
      </p:sp>
    </p:spTree>
    <p:extLst>
      <p:ext uri="{BB962C8B-B14F-4D97-AF65-F5344CB8AC3E}">
        <p14:creationId xmlns:p14="http://schemas.microsoft.com/office/powerpoint/2010/main" val="209142696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2A2375B-7219-437F-BDA8-9DAE29F438DC}"/>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27FADD-ABA4-48BB-9CD1-98A32A89589C}"/>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Class&lt;T&gt; como token de tipo</a:t>
            </a:r>
          </a:p>
        </p:txBody>
      </p:sp>
      <p:sp>
        <p:nvSpPr>
          <p:cNvPr id="3" name="">
            <a:extLst xmlns:a="http://schemas.openxmlformats.org/drawingml/2006/main">
              <a:ext uri="{FF2B5EF4-FFF2-40B4-BE49-F238E27FC236}">
                <a16:creationId xmlns:a16="http://schemas.microsoft.com/office/drawing/2014/main" id="{3822BC4E-2C35-4CA4-98A8-C36C96F37C3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028BF76-7675-4993-9604-8623EC316F76}"/>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1.3</a:t>
            </a:r>
          </a:p>
        </p:txBody>
      </p:sp>
      <p:sp>
        <p:nvSpPr>
          <p:cNvPr id="5" name="">
            <a:extLst xmlns:a="http://schemas.openxmlformats.org/drawingml/2006/main">
              <a:ext uri="{FF2B5EF4-FFF2-40B4-BE49-F238E27FC236}">
                <a16:creationId xmlns:a16="http://schemas.microsoft.com/office/drawing/2014/main" id="{0AD161CC-24F9-437D-A837-D491D8493A62}"/>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B68C6C9C-F9E2-4B2E-B8A8-B28DA6F3DF00}"/>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Class&lt;T&gt; permite conversiones comprobadas.</a:t>
            </a:r>
          </a:p>
        </p:txBody>
      </p:sp>
      <p:sp>
        <p:nvSpPr>
          <p:cNvPr id="7" name="">
            <a:extLst xmlns:a="http://schemas.openxmlformats.org/drawingml/2006/main">
              <a:ext uri="{FF2B5EF4-FFF2-40B4-BE49-F238E27FC236}">
                <a16:creationId xmlns:a16="http://schemas.microsoft.com/office/drawing/2014/main" id="{F2509ADC-1F63-4D9B-9172-85CE19F35FB0}"/>
              </a:ext>
            </a:extLst>
          </p:cNvPr>
          <p:cNvSpPr>
            <a:spLocks xmlns:a="http://schemas.openxmlformats.org/drawingml/2006/main" noGrp="1"/>
          </p:cNvSpPr>
          <p:nvPr/>
        </p:nvSpPr>
        <p:spPr>
          <a:xfrm xmlns:a="http://schemas.openxmlformats.org/drawingml/2006/main">
            <a:off x="723900" y="2800350"/>
            <a:ext cx="5048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Un argumento Class&lt;T&gt; transporta una clase conocida a una operación genérica. Class.cast realiza una comprobación en ejecución, y asSubclass verifica que una clase implemente el contrato esperado. Esa técnica es útil en fábricas o deserializadores y es más clara que una conversión unchecked.</a:t>
            </a:r>
          </a:p>
        </p:txBody>
      </p:sp>
      <p:sp>
        <p:nvSpPr>
          <p:cNvPr id="8" name="">
            <a:extLst xmlns:a="http://schemas.openxmlformats.org/drawingml/2006/main">
              <a:ext uri="{FF2B5EF4-FFF2-40B4-BE49-F238E27FC236}">
                <a16:creationId xmlns:a16="http://schemas.microsoft.com/office/drawing/2014/main" id="{6C4AA59B-F6C7-4996-AB00-8BACBA3F833D}"/>
              </a:ext>
            </a:extLst>
          </p:cNvPr>
          <p:cNvSpPr>
            <a:spLocks xmlns:a="http://schemas.openxmlformats.org/drawingml/2006/main" noGrp="1"/>
          </p:cNvSpPr>
          <p:nvPr/>
        </p:nvSpPr>
        <p:spPr>
          <a:xfrm xmlns:a="http://schemas.openxmlformats.org/drawingml/2006/main">
            <a:off x="6210300" y="2724150"/>
            <a:ext cx="5238750" cy="27432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6A06189-B6A4-40A8-B80A-D9FB1281F642}"/>
              </a:ext>
            </a:extLst>
          </p:cNvPr>
          <p:cNvSpPr>
            <a:spLocks xmlns:a="http://schemas.openxmlformats.org/drawingml/2006/main" noGrp="1"/>
          </p:cNvSpPr>
          <p:nvPr/>
        </p:nvSpPr>
        <p:spPr>
          <a:xfrm xmlns:a="http://schemas.openxmlformats.org/drawingml/2006/main">
            <a:off x="6419850" y="2924175"/>
            <a:ext cx="48196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static &lt;T&gt; T crear(Class&lt;T&gt; tipo) throws ReflectiveOperationException {</a:t>
            </a:r>
          </a:p>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  return tipo.getDeclaredConstructor().newInstance();</a:t>
            </a:r>
          </a:p>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a:t>
            </a:r>
          </a:p>
        </p:txBody>
      </p:sp>
    </p:spTree>
    <p:extLst>
      <p:ext uri="{BB962C8B-B14F-4D97-AF65-F5344CB8AC3E}">
        <p14:creationId xmlns:p14="http://schemas.microsoft.com/office/powerpoint/2010/main" val="11045307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BD99BF4-706B-4147-821D-87FAFFB3D9E7}"/>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336A52-0290-493C-954D-5A5E0E273977}"/>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Anotaciones y descubrimiento controlado</a:t>
            </a:r>
          </a:p>
        </p:txBody>
      </p:sp>
      <p:sp>
        <p:nvSpPr>
          <p:cNvPr id="3" name="">
            <a:extLst xmlns:a="http://schemas.openxmlformats.org/drawingml/2006/main">
              <a:ext uri="{FF2B5EF4-FFF2-40B4-BE49-F238E27FC236}">
                <a16:creationId xmlns:a16="http://schemas.microsoft.com/office/drawing/2014/main" id="{39CE3078-E873-423E-BBF4-1B49FE20E98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7C9F3EB-6885-4754-B67B-66B7554F5E1E}"/>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1.3</a:t>
            </a:r>
          </a:p>
        </p:txBody>
      </p:sp>
      <p:sp>
        <p:nvSpPr>
          <p:cNvPr id="5" name="">
            <a:extLst xmlns:a="http://schemas.openxmlformats.org/drawingml/2006/main">
              <a:ext uri="{FF2B5EF4-FFF2-40B4-BE49-F238E27FC236}">
                <a16:creationId xmlns:a16="http://schemas.microsoft.com/office/drawing/2014/main" id="{8E365C12-EDA5-47B9-9E08-38D89B543567}"/>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A11C4BB4-4014-45F3-A542-8F15469437D2}"/>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Las anotaciones describen información accesible por reflexión.</a:t>
            </a:r>
          </a:p>
        </p:txBody>
      </p:sp>
      <p:sp>
        <p:nvSpPr>
          <p:cNvPr id="7" name="">
            <a:extLst xmlns:a="http://schemas.openxmlformats.org/drawingml/2006/main">
              <a:ext uri="{FF2B5EF4-FFF2-40B4-BE49-F238E27FC236}">
                <a16:creationId xmlns:a16="http://schemas.microsoft.com/office/drawing/2014/main" id="{D95462ED-1295-43BC-A748-C3CC6D382FB2}"/>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Una anotación con RetentionPolicy.RUNTIME queda disponible para reflexión. Target restringe dónde puede usarse. Puede servir para identificar un adaptador o describir una unidad. No ejecuta código por sí misma: el programa que la inspecciona decide qué hacer.</a:t>
            </a:r>
          </a:p>
        </p:txBody>
      </p:sp>
      <p:sp>
        <p:nvSpPr>
          <p:cNvPr id="8" name="">
            <a:extLst xmlns:a="http://schemas.openxmlformats.org/drawingml/2006/main">
              <a:ext uri="{FF2B5EF4-FFF2-40B4-BE49-F238E27FC236}">
                <a16:creationId xmlns:a16="http://schemas.microsoft.com/office/drawing/2014/main" id="{844EE08F-4B34-4C72-A99C-0FE83D5DC40C}"/>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86A44DB-14B1-4E06-AC3F-3BE26F1AD6F7}"/>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Para cargar extensiones, prefiere un registro de clases permitido o ServiceLoader. No aceptes desde un archivo externo cualquier nombre de clase para ejecutarlo. Tampoco uses setAccessible(true) para saltar el diseño del modelo.</a:t>
            </a:r>
          </a:p>
        </p:txBody>
      </p:sp>
    </p:spTree>
    <p:extLst>
      <p:ext uri="{BB962C8B-B14F-4D97-AF65-F5344CB8AC3E}">
        <p14:creationId xmlns:p14="http://schemas.microsoft.com/office/powerpoint/2010/main" val="8159780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7D76851-0351-4ADA-83F3-5AAAD359AEFE}"/>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9A82C8-5730-4A0E-A1B0-974835963BC1}"/>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Costo y alternativa explícita</a:t>
            </a:r>
          </a:p>
        </p:txBody>
      </p:sp>
      <p:sp>
        <p:nvSpPr>
          <p:cNvPr id="3" name="">
            <a:extLst xmlns:a="http://schemas.openxmlformats.org/drawingml/2006/main">
              <a:ext uri="{FF2B5EF4-FFF2-40B4-BE49-F238E27FC236}">
                <a16:creationId xmlns:a16="http://schemas.microsoft.com/office/drawing/2014/main" id="{83820433-015E-4BCF-94D9-9D4D21DD15E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B41147F-B30D-497E-A320-FB0200B90C59}"/>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1.3</a:t>
            </a:r>
          </a:p>
        </p:txBody>
      </p:sp>
      <p:sp>
        <p:nvSpPr>
          <p:cNvPr id="5" name="">
            <a:extLst xmlns:a="http://schemas.openxmlformats.org/drawingml/2006/main">
              <a:ext uri="{FF2B5EF4-FFF2-40B4-BE49-F238E27FC236}">
                <a16:creationId xmlns:a16="http://schemas.microsoft.com/office/drawing/2014/main" id="{94ED8F05-981A-448B-9AA3-E346FEFC0AA7}"/>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7C2A3B3F-C6F7-449D-A732-73275A49C55B}"/>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La reflexión debe respetar contratos y acceso.</a:t>
            </a:r>
          </a:p>
        </p:txBody>
      </p:sp>
      <p:sp>
        <p:nvSpPr>
          <p:cNvPr id="7" name="">
            <a:extLst xmlns:a="http://schemas.openxmlformats.org/drawingml/2006/main">
              <a:ext uri="{FF2B5EF4-FFF2-40B4-BE49-F238E27FC236}">
                <a16:creationId xmlns:a16="http://schemas.microsoft.com/office/drawing/2014/main" id="{C1278FEA-4DF1-4F93-9064-C8653B2236C9}"/>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La reflexión desplaza errores desde compilación a ejecución y puede hacer más difícil refactorizar. Un registro Map&lt;String, Supplier&lt;Sensor&gt;&gt; es una alternativa cuando los tipos ya se conocen. Permite crear objetos sin buscar constructores por nombre y conserva comprobación estática.</a:t>
            </a:r>
          </a:p>
        </p:txBody>
      </p:sp>
      <p:sp>
        <p:nvSpPr>
          <p:cNvPr id="8" name="">
            <a:extLst xmlns:a="http://schemas.openxmlformats.org/drawingml/2006/main">
              <a:ext uri="{FF2B5EF4-FFF2-40B4-BE49-F238E27FC236}">
                <a16:creationId xmlns:a16="http://schemas.microsoft.com/office/drawing/2014/main" id="{549E76DB-15DA-4EEA-98FF-D52196A8D639}"/>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3BDD516-D33D-45ED-A71C-211946416CF7}"/>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La demostración usa reflexión para inspección y construcción controlada. La PC compara esa vía con una fábrica explícita.</a:t>
            </a:r>
          </a:p>
        </p:txBody>
      </p:sp>
    </p:spTree>
    <p:extLst>
      <p:ext uri="{BB962C8B-B14F-4D97-AF65-F5344CB8AC3E}">
        <p14:creationId xmlns:p14="http://schemas.microsoft.com/office/powerpoint/2010/main" val="8636542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5304B2-E2F5-4E49-A3A4-F01F5810AD99}"/>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111118-0434-4128-A7A7-EC8C2C9C1497}"/>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Demostración resuelta</a:t>
            </a:r>
          </a:p>
        </p:txBody>
      </p:sp>
      <p:sp>
        <p:nvSpPr>
          <p:cNvPr id="3" name="">
            <a:extLst xmlns:a="http://schemas.openxmlformats.org/drawingml/2006/main">
              <a:ext uri="{FF2B5EF4-FFF2-40B4-BE49-F238E27FC236}">
                <a16:creationId xmlns:a16="http://schemas.microsoft.com/office/drawing/2014/main" id="{9C54E7A3-043A-4937-8798-BD6C9AB1DAF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9A3A85-621E-4824-969F-3990AF1D9BE4}"/>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1.3</a:t>
            </a:r>
          </a:p>
        </p:txBody>
      </p:sp>
      <p:sp>
        <p:nvSpPr>
          <p:cNvPr id="5" name="">
            <a:extLst xmlns:a="http://schemas.openxmlformats.org/drawingml/2006/main">
              <a:ext uri="{FF2B5EF4-FFF2-40B4-BE49-F238E27FC236}">
                <a16:creationId xmlns:a16="http://schemas.microsoft.com/office/drawing/2014/main" id="{3FAD48EC-A49C-43C5-BB72-FC8D7288A7E9}"/>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B2F6357A-21CC-48AD-9322-29E8852043A4}"/>
              </a:ext>
            </a:extLst>
          </p:cNvPr>
          <p:cNvSpPr>
            <a:spLocks xmlns:a="http://schemas.openxmlformats.org/drawingml/2006/main" noGrp="1"/>
          </p:cNvSpPr>
          <p:nvPr/>
        </p:nvSpPr>
        <p:spPr>
          <a:xfrm xmlns:a="http://schemas.openxmlformats.org/drawingml/2006/main">
            <a:off x="628650" y="1590675"/>
            <a:ext cx="10953750" cy="371475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526F754-D81D-4487-A036-79F70DDFE12B}"/>
              </a:ext>
            </a:extLst>
          </p:cNvPr>
          <p:cNvSpPr>
            <a:spLocks xmlns:a="http://schemas.openxmlformats.org/drawingml/2006/main" noGrp="1"/>
          </p:cNvSpPr>
          <p:nvPr/>
        </p:nvSpPr>
        <p:spPr>
          <a:xfrm xmlns:a="http://schemas.openxmlformats.org/drawingml/2006/main">
            <a:off x="857250" y="1743075"/>
            <a:ext cx="10477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static &lt;T&gt; T crear(Class&lt;T&gt; tipo) throws ReflectiveOperationException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return tipo.getDeclaredConstructor().newInstance();</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public static void main(String[] args) throws ReflectiveOperationException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Map&lt;String,Class&lt;? extends Sensor&gt;&gt; permitidos = Map.of("temp",Temperatura.class);</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Class&lt;? extends Sensor&gt; tipo = permitidos.get("temp");</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Sensor sensor = crear(tipo);</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System.out.println(sensor.leer() + " " + tipo.getAnnotation(Unidad.class).value());</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Type firma = Historial.class.getDeclaredField("valores").getGenericType();</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System.out.println(firma.getTypeName());</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System.out.println(new ArrayList&lt;String&gt;().getClass() == new ArrayList&lt;Integer&gt;().getClass());</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a:t>
            </a:r>
          </a:p>
        </p:txBody>
      </p:sp>
      <p:sp>
        <p:nvSpPr>
          <p:cNvPr id="8" name="">
            <a:extLst xmlns:a="http://schemas.openxmlformats.org/drawingml/2006/main">
              <a:ext uri="{FF2B5EF4-FFF2-40B4-BE49-F238E27FC236}">
                <a16:creationId xmlns:a16="http://schemas.microsoft.com/office/drawing/2014/main" id="{E92D3D42-80CD-432E-B025-579ED80A938D}"/>
              </a:ext>
            </a:extLst>
          </p:cNvPr>
          <p:cNvSpPr>
            <a:spLocks xmlns:a="http://schemas.openxmlformats.org/drawingml/2006/main" noGrp="1"/>
          </p:cNvSpPr>
          <p:nvPr/>
        </p:nvSpPr>
        <p:spPr>
          <a:xfrm xmlns:a="http://schemas.openxmlformats.org/drawingml/2006/main">
            <a:off x="6858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Fragmento de ReflexionDemo.java. Código completo y ejecución en material.md.</a:t>
            </a:r>
          </a:p>
        </p:txBody>
      </p:sp>
    </p:spTree>
    <p:extLst>
      <p:ext uri="{BB962C8B-B14F-4D97-AF65-F5344CB8AC3E}">
        <p14:creationId xmlns:p14="http://schemas.microsoft.com/office/powerpoint/2010/main" val="10857596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D5A897-2E81-4EAC-A974-DD22945B58C8}"/>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F27F3D-4230-4EF3-B6A3-3A8CBED0D7F3}"/>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Casos de aceptación de la PC</a:t>
            </a:r>
          </a:p>
        </p:txBody>
      </p:sp>
      <p:sp>
        <p:nvSpPr>
          <p:cNvPr id="3" name="">
            <a:extLst xmlns:a="http://schemas.openxmlformats.org/drawingml/2006/main">
              <a:ext uri="{FF2B5EF4-FFF2-40B4-BE49-F238E27FC236}">
                <a16:creationId xmlns:a16="http://schemas.microsoft.com/office/drawing/2014/main" id="{2E4DB1FC-F850-4F09-878D-F0BFA665E9C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73BF09A-06E6-405D-88DE-8B034498AE4C}"/>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1.3</a:t>
            </a:r>
          </a:p>
        </p:txBody>
      </p:sp>
      <p:sp>
        <p:nvSpPr>
          <p:cNvPr id="5" name="">
            <a:extLst xmlns:a="http://schemas.openxmlformats.org/drawingml/2006/main">
              <a:ext uri="{FF2B5EF4-FFF2-40B4-BE49-F238E27FC236}">
                <a16:creationId xmlns:a16="http://schemas.microsoft.com/office/drawing/2014/main" id="{F360F592-7F14-4DA3-96C6-B9A2701475A7}"/>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8</a:t>
            </a:r>
          </a:p>
        </p:txBody>
      </p:sp>
      <p:graphicFrame>
        <p:nvGraphicFramePr>
          <p:cNvPr id="13" name=""/>
          <p:cNvGraphicFramePr/>
          <p:nvPr/>
        </p:nvGraphicFramePr>
        <p:xfrm>
          <a:off xmlns:a="http://schemas.openxmlformats.org/drawingml/2006/main" x="609600" y="1638300"/>
          <a:ext xmlns:a="http://schemas.openxmlformats.org/drawingml/2006/main" cx="10972800" cy="3143250"/>
        </p:xfrm>
        <a:graphic xmlns:a="http://schemas.openxmlformats.org/drawingml/2006/main">
          <a:graphicData uri="http://schemas.openxmlformats.org/drawingml/2006/table">
            <a:tbl>
              <a:tblPr/>
              <a:tblGrid>
                <a:gridCol w="4191000"/>
                <a:gridCol w="6629400"/>
              </a:tblGrid>
              <a:tr h="785813">
                <a:tc>
                  <a:txBody>
                    <a:bodyPr/>
                    <a:lstStyle/>
                    <a:p>
                      <a:r>
                        <a:rPr sz="1725" b="1">
                          <a:solidFill>
                            <a:srgbClr val="FFFFFF"/>
                          </a:solidFill>
                          <a:latin typeface="DejaVu Sans"/>
                          <a:ea typeface="DejaVu Sans"/>
                          <a:cs typeface="DejaVu Sans"/>
                        </a:rPr>
                        <a:t>Caso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Comportamiento requerido</a:t>
                      </a:r>
                    </a:p>
                  </a:txBody>
                  <a:tcPr marL="152400" marR="152400" marT="133350" marB="114300" anchor="ctr">
                    <a:solidFill>
                      <a:srgbClr val="003772"/>
                    </a:solidFill>
                  </a:tcPr>
                </a:tc>
              </a:tr>
              <a:tr h="785813">
                <a:tc>
                  <a:txBody>
                    <a:bodyPr/>
                    <a:lstStyle/>
                    <a:p>
                      <a:r>
                        <a:rPr sz="1725" b="0">
                          <a:solidFill>
                            <a:srgbClr val="403F3B"/>
                          </a:solidFill>
                          <a:latin typeface="DejaVu Sans"/>
                          <a:ea typeface="DejaVu Sans"/>
                          <a:cs typeface="DejaVu Sans"/>
                        </a:rPr>
                        <a:t>Proveedor registrado</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Instancia que implementa el contrato</a:t>
                      </a:r>
                    </a:p>
                  </a:txBody>
                  <a:tcPr marL="152400" marR="152400" marT="133350" marB="114300" anchor="ctr">
                    <a:solidFill>
                      <a:srgbClr val="F3F3FA"/>
                    </a:solidFill>
                  </a:tcPr>
                </a:tc>
              </a:tr>
              <a:tr h="785813">
                <a:tc>
                  <a:txBody>
                    <a:bodyPr/>
                    <a:lstStyle/>
                    <a:p>
                      <a:r>
                        <a:rPr sz="1725" b="0">
                          <a:solidFill>
                            <a:srgbClr val="403F3B"/>
                          </a:solidFill>
                          <a:latin typeface="DejaVu Sans"/>
                          <a:ea typeface="DejaVu Sans"/>
                          <a:cs typeface="DejaVu Sans"/>
                        </a:rPr>
                        <a:t>Nombre desconocido</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Rechazo sin Class.forName arbitrario</a:t>
                      </a:r>
                    </a:p>
                  </a:txBody>
                  <a:tcPr marL="152400" marR="152400" marT="133350" marB="114300" anchor="ctr">
                    <a:solidFill>
                      <a:srgbClr val="FFFFFF"/>
                    </a:solidFill>
                  </a:tcPr>
                </a:tc>
              </a:tr>
              <a:tr h="785813">
                <a:tc>
                  <a:txBody>
                    <a:bodyPr/>
                    <a:lstStyle/>
                    <a:p>
                      <a:r>
                        <a:rPr sz="1725" b="0">
                          <a:solidFill>
                            <a:srgbClr val="403F3B"/>
                          </a:solidFill>
                          <a:latin typeface="DejaVu Sans"/>
                          <a:ea typeface="DejaVu Sans"/>
                          <a:cs typeface="DejaVu Sans"/>
                        </a:rPr>
                        <a:t>Campo List&lt;Double&gt;</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Firma de la declaración visible</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E3D3FC8D-BFB9-4646-A037-3C2FFE95C7ED}"/>
              </a:ext>
            </a:extLst>
          </p:cNvPr>
          <p:cNvSpPr>
            <a:spLocks xmlns:a="http://schemas.openxmlformats.org/drawingml/2006/main" noGrp="1"/>
          </p:cNvSpPr>
          <p:nvPr/>
        </p:nvSpPr>
        <p:spPr>
          <a:xfrm xmlns:a="http://schemas.openxmlformats.org/drawingml/2006/main">
            <a:off x="742950" y="5238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Salida de la demostración: 23.5 °C · java.util.List&lt;java.lang.Double&gt; · true</a:t>
            </a:r>
          </a:p>
        </p:txBody>
      </p:sp>
    </p:spTree>
    <p:extLst>
      <p:ext uri="{BB962C8B-B14F-4D97-AF65-F5344CB8AC3E}">
        <p14:creationId xmlns:p14="http://schemas.microsoft.com/office/powerpoint/2010/main" val="121821119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830D2A3-3CD1-49AC-8B69-801E972B4607}"/>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68A32D-D9C9-4A62-96E7-DD8E322120F5}"/>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PC1.3 · Ampliación del proyecto</a:t>
            </a:r>
          </a:p>
        </p:txBody>
      </p:sp>
      <p:sp>
        <p:nvSpPr>
          <p:cNvPr id="3" name="">
            <a:extLst xmlns:a="http://schemas.openxmlformats.org/drawingml/2006/main">
              <a:ext uri="{FF2B5EF4-FFF2-40B4-BE49-F238E27FC236}">
                <a16:creationId xmlns:a16="http://schemas.microsoft.com/office/drawing/2014/main" id="{326B0290-7A9B-4D7B-B772-C7ED18D78BA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B81BD55-06EF-4DA9-89F6-D8C1705824F0}"/>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1.3</a:t>
            </a:r>
          </a:p>
        </p:txBody>
      </p:sp>
      <p:sp>
        <p:nvSpPr>
          <p:cNvPr id="5" name="">
            <a:extLst xmlns:a="http://schemas.openxmlformats.org/drawingml/2006/main">
              <a:ext uri="{FF2B5EF4-FFF2-40B4-BE49-F238E27FC236}">
                <a16:creationId xmlns:a16="http://schemas.microsoft.com/office/drawing/2014/main" id="{734A7255-BBD4-4D20-9F2D-41076E66410C}"/>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51006D14-875A-4422-8E0D-27BC7AC491E0}"/>
              </a:ext>
            </a:extLst>
          </p:cNvPr>
          <p:cNvSpPr>
            <a:spLocks xmlns:a="http://schemas.openxmlformats.org/drawingml/2006/main" noGrp="1"/>
          </p:cNvSpPr>
          <p:nvPr/>
        </p:nvSpPr>
        <p:spPr>
          <a:xfrm xmlns:a="http://schemas.openxmlformats.org/drawingml/2006/main">
            <a:off x="685800" y="160020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CE506B91-4170-4771-BCEA-2B096B43E717}"/>
              </a:ext>
            </a:extLst>
          </p:cNvPr>
          <p:cNvSpPr>
            <a:spLocks xmlns:a="http://schemas.openxmlformats.org/drawingml/2006/main" noGrp="1"/>
          </p:cNvSpPr>
          <p:nvPr/>
        </p:nvSpPr>
        <p:spPr>
          <a:xfrm xmlns:a="http://schemas.openxmlformats.org/drawingml/2006/main">
            <a:off x="1219200" y="156210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Agrega a CampusMonitor una interfaz FuenteLecturas y dos implementaciones simuladas con constructor público sin argumentos.</a:t>
            </a:r>
          </a:p>
        </p:txBody>
      </p:sp>
      <p:sp>
        <p:nvSpPr>
          <p:cNvPr id="8" name="">
            <a:extLst xmlns:a="http://schemas.openxmlformats.org/drawingml/2006/main">
              <a:ext uri="{FF2B5EF4-FFF2-40B4-BE49-F238E27FC236}">
                <a16:creationId xmlns:a16="http://schemas.microsoft.com/office/drawing/2014/main" id="{ADDA9CFA-BEC3-4FF5-8173-CD78F648C2D6}"/>
              </a:ext>
            </a:extLst>
          </p:cNvPr>
          <p:cNvSpPr>
            <a:spLocks xmlns:a="http://schemas.openxmlformats.org/drawingml/2006/main" noGrp="1"/>
          </p:cNvSpPr>
          <p:nvPr/>
        </p:nvSpPr>
        <p:spPr>
          <a:xfrm xmlns:a="http://schemas.openxmlformats.org/drawingml/2006/main">
            <a:off x="685800" y="296227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8C74F1D0-D190-4832-BB4F-1BCAF2F8356F}"/>
              </a:ext>
            </a:extLst>
          </p:cNvPr>
          <p:cNvSpPr>
            <a:spLocks xmlns:a="http://schemas.openxmlformats.org/drawingml/2006/main" noGrp="1"/>
          </p:cNvSpPr>
          <p:nvPr/>
        </p:nvSpPr>
        <p:spPr>
          <a:xfrm xmlns:a="http://schemas.openxmlformats.org/drawingml/2006/main">
            <a:off x="1219200" y="2924175"/>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Crea un registro permitido por nombre y una fábrica con Class&lt;T&gt;. Inspecciona una anotación de unidad sin acceder a campos privados.</a:t>
            </a:r>
          </a:p>
        </p:txBody>
      </p:sp>
      <p:sp>
        <p:nvSpPr>
          <p:cNvPr id="10" name="">
            <a:extLst xmlns:a="http://schemas.openxmlformats.org/drawingml/2006/main">
              <a:ext uri="{FF2B5EF4-FFF2-40B4-BE49-F238E27FC236}">
                <a16:creationId xmlns:a16="http://schemas.microsoft.com/office/drawing/2014/main" id="{F34170CE-BB1C-49B6-8E4A-F641CDE29D8D}"/>
              </a:ext>
            </a:extLst>
          </p:cNvPr>
          <p:cNvSpPr>
            <a:spLocks xmlns:a="http://schemas.openxmlformats.org/drawingml/2006/main" noGrp="1"/>
          </p:cNvSpPr>
          <p:nvPr/>
        </p:nvSpPr>
        <p:spPr>
          <a:xfrm xmlns:a="http://schemas.openxmlformats.org/drawingml/2006/main">
            <a:off x="685800" y="432435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AFB5379B-98EF-418D-B3AF-97550E816DAB}"/>
              </a:ext>
            </a:extLst>
          </p:cNvPr>
          <p:cNvSpPr>
            <a:spLocks xmlns:a="http://schemas.openxmlformats.org/drawingml/2006/main" noGrp="1"/>
          </p:cNvSpPr>
          <p:nvPr/>
        </p:nvSpPr>
        <p:spPr>
          <a:xfrm xmlns:a="http://schemas.openxmlformats.org/drawingml/2006/main">
            <a:off x="1219200" y="428625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Resuelve el mismo registro con Supplier y compara qué errores detecta cada alternativa. Un proveedor inexistente debe producir un mensaje controlado.</a:t>
            </a:r>
          </a:p>
        </p:txBody>
      </p:sp>
    </p:spTree>
    <p:extLst>
      <p:ext uri="{BB962C8B-B14F-4D97-AF65-F5344CB8AC3E}">
        <p14:creationId xmlns:p14="http://schemas.microsoft.com/office/powerpoint/2010/main" val="16592637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246F0B6-BE59-474E-9008-3E73A00A12E8}"/>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11795A-ADE8-4B8D-8967-0FDB8DFA3C05}"/>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DF412237-F593-44BF-A9A5-D133A1F9A8B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DFA7E5E-17FB-4911-AE32-0357F6526425}"/>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1.3</a:t>
            </a:r>
          </a:p>
        </p:txBody>
      </p:sp>
      <p:sp>
        <p:nvSpPr>
          <p:cNvPr id="5" name="">
            <a:extLst xmlns:a="http://schemas.openxmlformats.org/drawingml/2006/main">
              <a:ext uri="{FF2B5EF4-FFF2-40B4-BE49-F238E27FC236}">
                <a16:creationId xmlns:a16="http://schemas.microsoft.com/office/drawing/2014/main" id="{EDECB62B-4844-4F11-86E6-D817AC6AC82C}"/>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E3782A10-D01D-422D-8FBF-91D6E9DCDDB4}"/>
              </a:ext>
            </a:extLst>
          </p:cNvPr>
          <p:cNvSpPr>
            <a:spLocks xmlns:a="http://schemas.openxmlformats.org/drawingml/2006/main" noGrp="1"/>
          </p:cNvSpPr>
          <p:nvPr/>
        </p:nvSpPr>
        <p:spPr>
          <a:xfrm xmlns:a="http://schemas.openxmlformats.org/drawingml/2006/main">
            <a:off x="762000" y="17430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3772"/>
                </a:solidFill>
                <a:latin typeface="DejaVu Sans"/>
                <a:ea typeface="DejaVu Sans"/>
                <a:cs typeface="DejaVu Sans"/>
              </a:defRPr>
            </a:pPr>
            <a:r>
              <a:rPr sz="2175" b="1">
                <a:solidFill>
                  <a:srgbClr val="003772"/>
                </a:solidFill>
                <a:latin typeface="DejaVu Sans"/>
                <a:ea typeface="DejaVu Sans"/>
                <a:cs typeface="DejaVu Sans"/>
              </a:rPr>
              <a:t>El borrado elimina argumentos; las firmas conservan metadatos.</a:t>
            </a:r>
          </a:p>
        </p:txBody>
      </p:sp>
      <p:sp>
        <p:nvSpPr>
          <p:cNvPr id="7" name="">
            <a:extLst xmlns:a="http://schemas.openxmlformats.org/drawingml/2006/main">
              <a:ext uri="{FF2B5EF4-FFF2-40B4-BE49-F238E27FC236}">
                <a16:creationId xmlns:a16="http://schemas.microsoft.com/office/drawing/2014/main" id="{99697CB6-2E23-4026-BF7E-617C655AE0F7}"/>
              </a:ext>
            </a:extLst>
          </p:cNvPr>
          <p:cNvSpPr>
            <a:spLocks xmlns:a="http://schemas.openxmlformats.org/drawingml/2006/main" noGrp="1"/>
          </p:cNvSpPr>
          <p:nvPr/>
        </p:nvSpPr>
        <p:spPr>
          <a:xfrm xmlns:a="http://schemas.openxmlformats.org/drawingml/2006/main">
            <a:off x="762000" y="26384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Class&lt;T&gt; permite conversiones comprobadas.</a:t>
            </a:r>
          </a:p>
        </p:txBody>
      </p:sp>
      <p:sp>
        <p:nvSpPr>
          <p:cNvPr id="8" name="">
            <a:extLst xmlns:a="http://schemas.openxmlformats.org/drawingml/2006/main">
              <a:ext uri="{FF2B5EF4-FFF2-40B4-BE49-F238E27FC236}">
                <a16:creationId xmlns:a16="http://schemas.microsoft.com/office/drawing/2014/main" id="{A6304568-759E-4B52-9E5A-5EF371CBE767}"/>
              </a:ext>
            </a:extLst>
          </p:cNvPr>
          <p:cNvSpPr>
            <a:spLocks xmlns:a="http://schemas.openxmlformats.org/drawingml/2006/main" noGrp="1"/>
          </p:cNvSpPr>
          <p:nvPr/>
        </p:nvSpPr>
        <p:spPr>
          <a:xfrm xmlns:a="http://schemas.openxmlformats.org/drawingml/2006/main">
            <a:off x="762000" y="35337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3772"/>
                </a:solidFill>
                <a:latin typeface="DejaVu Sans"/>
                <a:ea typeface="DejaVu Sans"/>
                <a:cs typeface="DejaVu Sans"/>
              </a:defRPr>
            </a:pPr>
            <a:r>
              <a:rPr sz="2175" b="0">
                <a:solidFill>
                  <a:srgbClr val="003772"/>
                </a:solidFill>
                <a:latin typeface="DejaVu Sans"/>
                <a:ea typeface="DejaVu Sans"/>
                <a:cs typeface="DejaVu Sans"/>
              </a:rPr>
              <a:t>Las anotaciones describen información accesible por reflexión.</a:t>
            </a:r>
          </a:p>
        </p:txBody>
      </p:sp>
      <p:sp>
        <p:nvSpPr>
          <p:cNvPr id="9" name="">
            <a:extLst xmlns:a="http://schemas.openxmlformats.org/drawingml/2006/main">
              <a:ext uri="{FF2B5EF4-FFF2-40B4-BE49-F238E27FC236}">
                <a16:creationId xmlns:a16="http://schemas.microsoft.com/office/drawing/2014/main" id="{0384B3F3-399B-49F8-9E24-4F138FC2F316}"/>
              </a:ext>
            </a:extLst>
          </p:cNvPr>
          <p:cNvSpPr>
            <a:spLocks xmlns:a="http://schemas.openxmlformats.org/drawingml/2006/main" noGrp="1"/>
          </p:cNvSpPr>
          <p:nvPr/>
        </p:nvSpPr>
        <p:spPr>
          <a:xfrm xmlns:a="http://schemas.openxmlformats.org/drawingml/2006/main">
            <a:off x="762000" y="44291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La reflexión debe respetar contratos y acceso.</a:t>
            </a:r>
          </a:p>
        </p:txBody>
      </p:sp>
    </p:spTree>
    <p:extLst>
      <p:ext uri="{BB962C8B-B14F-4D97-AF65-F5344CB8AC3E}">
        <p14:creationId xmlns:p14="http://schemas.microsoft.com/office/powerpoint/2010/main" val="11781977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2026-09-10T23:05:53.1220000Z</dcterms:created>
  <dcterms:modified xsi:type="dcterms:W3CDTF">2026-09-10T23:05:53.1220000Z</dcterms:modified>
</coreProperties>
</file>