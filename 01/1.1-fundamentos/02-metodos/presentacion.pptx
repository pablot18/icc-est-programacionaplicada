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bc130531d4b71" /><Relationship Type="http://schemas.openxmlformats.org/officeDocument/2006/relationships/extended-properties" Target="/docProps/app.xml" Id="R01d266b990734502" /><Relationship Type="http://schemas.openxmlformats.org/officeDocument/2006/relationships/officeDocument" Target="/ppt/presentation.xml" Id="Rb410bf4612b7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1d4b91891a475c"/>
  </p:sldMasterIdLst>
  <p:notesMasterIdLst>
    <p:notesMasterId xmlns:r="http://schemas.openxmlformats.org/officeDocument/2006/relationships" r:id="R24daed7fec614cf8"/>
  </p:notesMasterIdLst>
  <p:sldIdLst>
    <p:sldId xmlns:r="http://schemas.openxmlformats.org/officeDocument/2006/relationships" id="256" r:id="R21749d7c77e1480c"/>
    <p:sldId xmlns:r="http://schemas.openxmlformats.org/officeDocument/2006/relationships" id="257" r:id="R39d05ad30aa24bed"/>
    <p:sldId xmlns:r="http://schemas.openxmlformats.org/officeDocument/2006/relationships" id="258" r:id="R105d169d051f4713"/>
    <p:sldId xmlns:r="http://schemas.openxmlformats.org/officeDocument/2006/relationships" id="259" r:id="Rcff943dbf03a4518"/>
    <p:sldId xmlns:r="http://schemas.openxmlformats.org/officeDocument/2006/relationships" id="260" r:id="R3de90ccc6970472c"/>
    <p:sldId xmlns:r="http://schemas.openxmlformats.org/officeDocument/2006/relationships" id="261" r:id="R7a1b94def0db4f27"/>
    <p:sldId xmlns:r="http://schemas.openxmlformats.org/officeDocument/2006/relationships" id="262" r:id="R53dc76d3523a4acb"/>
    <p:sldId xmlns:r="http://schemas.openxmlformats.org/officeDocument/2006/relationships" id="263" r:id="Rc762c578167f45cf"/>
    <p:sldId xmlns:r="http://schemas.openxmlformats.org/officeDocument/2006/relationships" id="264" r:id="R7e477a9197ce4006"/>
    <p:sldId xmlns:r="http://schemas.openxmlformats.org/officeDocument/2006/relationships" id="265" r:id="R2db3b4920810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e2b2acb8d640c4" /><Relationship Type="http://schemas.openxmlformats.org/officeDocument/2006/relationships/slideMaster" Target="/ppt/slideMasters/slideMaster1.xml" Id="R6d1d4b91891a475c" /><Relationship Type="http://schemas.openxmlformats.org/officeDocument/2006/relationships/notesMaster" Target="/ppt/notesMasters/notesMaster1.xml" Id="R24daed7fec614cf8" /><Relationship Type="http://schemas.openxmlformats.org/officeDocument/2006/relationships/presProps" Target="/ppt/presProps.xml" Id="Rf74761dca8944511" /><Relationship Type="http://schemas.openxmlformats.org/officeDocument/2006/relationships/tableStyles" Target="/ppt/tableStyles.xml" Id="Rd1ece1f1fc8243a9" /><Relationship Type="http://schemas.openxmlformats.org/officeDocument/2006/relationships/slide" Target="/ppt/slides/slide1.xml" Id="R21749d7c77e1480c" /><Relationship Type="http://schemas.openxmlformats.org/officeDocument/2006/relationships/slide" Target="/ppt/slides/slide2.xml" Id="R39d05ad30aa24bed" /><Relationship Type="http://schemas.openxmlformats.org/officeDocument/2006/relationships/slide" Target="/ppt/slides/slide3.xml" Id="R105d169d051f4713" /><Relationship Type="http://schemas.openxmlformats.org/officeDocument/2006/relationships/slide" Target="/ppt/slides/slide4.xml" Id="Rcff943dbf03a4518" /><Relationship Type="http://schemas.openxmlformats.org/officeDocument/2006/relationships/slide" Target="/ppt/slides/slide5.xml" Id="R3de90ccc6970472c" /><Relationship Type="http://schemas.openxmlformats.org/officeDocument/2006/relationships/slide" Target="/ppt/slides/slide6.xml" Id="R7a1b94def0db4f27" /><Relationship Type="http://schemas.openxmlformats.org/officeDocument/2006/relationships/slide" Target="/ppt/slides/slide7.xml" Id="R53dc76d3523a4acb" /><Relationship Type="http://schemas.openxmlformats.org/officeDocument/2006/relationships/slide" Target="/ppt/slides/slide8.xml" Id="Rc762c578167f45cf" /><Relationship Type="http://schemas.openxmlformats.org/officeDocument/2006/relationships/slide" Target="/ppt/slides/slide9.xml" Id="R7e477a9197ce4006" /><Relationship Type="http://schemas.openxmlformats.org/officeDocument/2006/relationships/slide" Target="/ppt/slides/slide10.xml" Id="R2db3b4920810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81fb1701cf4b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da33f7b8640cf" /><Relationship Type="http://schemas.openxmlformats.org/officeDocument/2006/relationships/notesMaster" Target="/ppt/notesMasters/notesMaster1.xml" Id="R11ced4ffe20b40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62fe77dfc243b9" /><Relationship Type="http://schemas.openxmlformats.org/officeDocument/2006/relationships/notesMaster" Target="/ppt/notesMasters/notesMaster1.xml" Id="R310b91c86d5145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1d480039894e37" /><Relationship Type="http://schemas.openxmlformats.org/officeDocument/2006/relationships/notesMaster" Target="/ppt/notesMasters/notesMaster1.xml" Id="Rf8ca4788798d46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9b847bc684821" /><Relationship Type="http://schemas.openxmlformats.org/officeDocument/2006/relationships/notesMaster" Target="/ppt/notesMasters/notesMaster1.xml" Id="R67d512721e624d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f7ed961e3f4aa5" /><Relationship Type="http://schemas.openxmlformats.org/officeDocument/2006/relationships/notesMaster" Target="/ppt/notesMasters/notesMaster1.xml" Id="Rd0c16c69ac7a4f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ace4fd6a74cd4" /><Relationship Type="http://schemas.openxmlformats.org/officeDocument/2006/relationships/notesMaster" Target="/ppt/notesMasters/notesMaster1.xml" Id="R08f03cbf00ad41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5a519bfe84dfc" /><Relationship Type="http://schemas.openxmlformats.org/officeDocument/2006/relationships/notesMaster" Target="/ppt/notesMasters/notesMaster1.xml" Id="Race2fdb533cd4e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6bf2cd291e4bca" /><Relationship Type="http://schemas.openxmlformats.org/officeDocument/2006/relationships/notesMaster" Target="/ppt/notesMasters/notesMaster1.xml" Id="R163457c3fc584c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b232e7b1a4cf9" /><Relationship Type="http://schemas.openxmlformats.org/officeDocument/2006/relationships/notesMaster" Target="/ppt/notesMasters/notesMaster1.xml" Id="Re6305df5b8a6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27365483b6455c" /><Relationship Type="http://schemas.openxmlformats.org/officeDocument/2006/relationships/notesMaster" Target="/ppt/notesMasters/notesMaster1.xml" Id="R88fe66421161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1.1b. Métodos genéricos y cotas.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vez representadas las lecturas, CampusMonitor necesita seleccionar la mayor lectura y filtrar catálogos. Copiar un método para cada modelo introduce versiones que se desincronizan. Un método genérico permite parametrizar la operación sin exigir que toda la clase sea genérica.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método genérico declara &lt;T&gt; antes del tipo de retorno. El alcance de T es ese método, incluidos sus parámetros y retorno. Puede existir en una clase no genérica y también puede ser static. Esto permite reunir algoritmos reutilizables en una clase de utilidades. Un método de una clase Caja&lt;T&gt; que simplemente devuelve T utiliza el parámetro de la clase y no es, por esa sola razón, un método genérico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compilador infiere T a partir de los argumentos y del contexto. También puede indicarse explícitamente con Utilidades.&lt;String&gt;identidad("a"). Evita parámetros genéricos que no relacionan nada: aceptar T y devolver siempre String puede ser menos claro que aceptar el contrato realmente necesario.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cota restringe los tipos admisibles y habilita operaciones. &lt;T extends Number&gt; permite llamar doubleValue(), pero no convierte T en un tipo aritmético con operador +. Para comparar, Comparable describe el orden natural, mientras Comparator permite elegir un orden externo. El ejemplo usa Comparator&lt;? super T&gt; para aceptar comparadores que también sepan comparar supertipos, relación que se explica con detalle en 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forma &lt;T extends Comparable&lt;? super T&gt;&gt; es útil para un máximo con orden natural. Las cotas múltiples se separan con &amp;: si hay una clase, aparece primero y solo puede haber una. Expresa únicamente los requisitos del algoritmo, porque cada cota adicional reduce la reutilización.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método máximo debe definir qué ocurre con una colección vacía. Devolver null traslada una comprobación implícita al cliente. Optional&lt;T&gt; comunica la ausencia de resultado. La demostración rechaza elementos nulos para que el comparador no tenga que interpretarlos. Otra política válida sería Comparator.nullsLast, pero debe ser explícita y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selección recorre n elementos y conserva solo el mejor candidato: tiempo O(n) y memoria auxiliar O(1). No necesita ordenar toda la lista. Si dos elementos empatan, este algoritmo conserva el primero. La política de desempate forma parte del comportamiento observable y debe aparecer en las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utilidad no conoce sensores, estudiantes ni productos. Recibe datos y una estrategia de comparación. El cliente define que una lectura es mayor por su valor o por su identificador, sin cambiar el recorrido. Esa separación reduce dependencias y prepara el uso de Strategy en 1.4.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un sistema real no se debe comparar indiscriminadamente una temperatura con una ocupación solo porque ambas son Number. CampusMonitor debe agrupar lecturas por magnitud y unidad antes de calcular máximos. Reutilizar código no elimina la semántica del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edu.ups.pap.u01;</a:t>
            </a:r>
          </a:p>
          <a:p xmlns:a="http://schemas.openxmlformats.org/drawingml/2006/main">
            <a:r>
              <a:t>import java.util.*;</a:t>
            </a:r>
          </a:p>
          <a:p xmlns:a="http://schemas.openxmlformats.org/drawingml/2006/main">
            <a:r>
              <a:t>public class MetodosDemo {</a:t>
            </a:r>
          </a:p>
          <a:p xmlns:a="http://schemas.openxmlformats.org/drawingml/2006/main">
            <a:r>
              <a:t>    record Medicion(String sensor, double valor) {}</a:t>
            </a:r>
          </a:p>
          <a:p xmlns:a="http://schemas.openxmlformats.org/drawingml/2006/main">
            <a:r>
              <a:t>    static &lt;T&gt; Optional&lt;T&gt; maximo(List&lt;T&gt; datos, Comparator&lt;? super T&gt; orden) {</a:t>
            </a:r>
          </a:p>
          <a:p xmlns:a="http://schemas.openxmlformats.org/drawingml/2006/main">
            <a:r>
              <a:t>        Objects.requireNonNull(datos);</a:t>
            </a:r>
          </a:p>
          <a:p xmlns:a="http://schemas.openxmlformats.org/drawingml/2006/main">
            <a:r>
              <a:t>        Objects.requireNonNull(orden);</a:t>
            </a:r>
          </a:p>
          <a:p xmlns:a="http://schemas.openxmlformats.org/drawingml/2006/main">
            <a:r>
              <a:t>        T mejor = null;</a:t>
            </a:r>
          </a:p>
          <a:p xmlns:a="http://schemas.openxmlformats.org/drawingml/2006/main">
            <a:r>
              <a:t>        for (T actual : datos) {</a:t>
            </a:r>
          </a:p>
          <a:p xmlns:a="http://schemas.openxmlformats.org/drawingml/2006/main">
            <a:r>
              <a:t>            Objects.requireNonNull(actual, "No se admiten elementos nulos");</a:t>
            </a:r>
          </a:p>
          <a:p xmlns:a="http://schemas.openxmlformats.org/drawingml/2006/main">
            <a:r>
              <a:t>            if (mejor == null || orden.compare(actual, mejor) &gt; 0) mejor = actual;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return Optional.ofNullable(mejor);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var datos = List.of(new Medicion("S01",22.5), new Medicion("S02",27.2),</a:t>
            </a:r>
          </a:p>
          <a:p xmlns:a="http://schemas.openxmlformats.org/drawingml/2006/main">
            <a:r>
              <a:t>                            new Medicion("S03",24.0));</a:t>
            </a:r>
          </a:p>
          <a:p xmlns:a="http://schemas.openxmlformats.org/drawingml/2006/main">
            <a:r>
              <a:t>        var orden = Comparator.comparingDouble(Medicion::valor);</a:t>
            </a:r>
          </a:p>
          <a:p xmlns:a="http://schemas.openxmlformats.org/drawingml/2006/main">
            <a:r>
              <a:t>        System.out.println(maximo(datos, orden).orElseThrow());</a:t>
            </a:r>
          </a:p>
          <a:p xmlns:a="http://schemas.openxmlformats.org/drawingml/2006/main">
            <a:r>
              <a:t>        System.out.println(maximo(List.&lt;Medicion&gt;of(), orden));</a:t>
            </a:r>
          </a:p>
          <a:p xmlns:a="http://schemas.openxmlformats.org/drawingml/2006/main">
            <a:r>
              <a:t>        System.out.println(maximo(List.of("Aula", "Laboratorio"),</a:t>
            </a:r>
          </a:p>
          <a:p xmlns:a="http://schemas.openxmlformats.org/drawingml/2006/main">
            <a:r>
              <a:t>                                  Comparator.comparingInt(String::length)).orElseThrow());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Medicion[sensor=S02, valor=27.2]</a:t>
            </a:r>
          </a:p>
          <a:p xmlns:a="http://schemas.openxmlformats.org/drawingml/2006/main">
            <a:r>
              <a:t>Optional.empty</a:t>
            </a:r>
          </a:p>
          <a:p xmlns:a="http://schemas.openxmlformats.org/drawingml/2006/main">
            <a:r>
              <a:t>Laboratorio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Medicion[sensor=S02, valor=27.2]</a:t>
            </a:r>
          </a:p>
          <a:p xmlns:a="http://schemas.openxmlformats.org/drawingml/2006/main">
            <a:r>
              <a:t>Optional.empty</a:t>
            </a:r>
          </a:p>
          <a:p xmlns:a="http://schemas.openxmlformats.org/drawingml/2006/main">
            <a:r>
              <a:t>Laboratorio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evidencias/PC1.1b.md y enlace al commit final.</a:t>
            </a:r>
          </a:p>
          <a:p xmlns:a="http://schemas.openxmlformats.org/drawingml/2006/main">
            <a:r>
              <a:t>Reutiliza las lecturas Double de la PC anterior. Implementa seleccionar(List&lt;T&gt;, Predicate&lt;? super T&gt;) que devuelva una lista nueva y no modifique la entrada.</a:t>
            </a:r>
          </a:p>
          <a:p xmlns:a="http://schemas.openxmlformats.org/drawingml/2006/main">
            <a:r>
              <a:t>Filtra temperaturas mayores a 25 °C y calcula el máximo con un comparador. Una lista vacía debe producir ausencia de resultado.</a:t>
            </a:r>
          </a:p>
          <a:p xmlns:a="http://schemas.openxmlformats.org/drawingml/2006/main">
            <a:r>
              <a:t>Demuestra la reutilización de seleccionar con una lista de sensores por ubicación. No copies el recorrido para el segundo tipo.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7c97dcd8d4f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c7f4ba302404c" /><Relationship Type="http://schemas.openxmlformats.org/officeDocument/2006/relationships/slideLayout" Target="/ppt/slideLayouts/slideLayout1.xml" Id="R67e8b8a4a34c4f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8b8a4a34c4f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30c321234bf7" /><Relationship Type="http://schemas.openxmlformats.org/officeDocument/2006/relationships/image" Target="/ppt/media/image.png" Id="R2a5fd19b036d4ea1" /><Relationship Type="http://schemas.openxmlformats.org/officeDocument/2006/relationships/notesSlide" Target="/ppt/notesSlides/notesSlide1.xml" Id="Rb8c3a4ccecf544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8d749b88f4fed" /><Relationship Type="http://schemas.openxmlformats.org/officeDocument/2006/relationships/notesSlide" Target="/ppt/notesSlides/notesSlide2.xml" Id="R30d7fbe1c782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ddc40c81a4b49" /><Relationship Type="http://schemas.openxmlformats.org/officeDocument/2006/relationships/notesSlide" Target="/ppt/notesSlides/notesSlide3.xml" Id="R6f111dca3b54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5bae7f054468d" /><Relationship Type="http://schemas.openxmlformats.org/officeDocument/2006/relationships/notesSlide" Target="/ppt/notesSlides/notesSlide4.xml" Id="Rd18b0ae53c24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eaa36d9c54421" /><Relationship Type="http://schemas.openxmlformats.org/officeDocument/2006/relationships/notesSlide" Target="/ppt/notesSlides/notesSlide5.xml" Id="Re95d8bb3b8854d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34375d2ae465a" /><Relationship Type="http://schemas.openxmlformats.org/officeDocument/2006/relationships/notesSlide" Target="/ppt/notesSlides/notesSlide6.xml" Id="R7b463c1db53040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576a78d9e4361" /><Relationship Type="http://schemas.openxmlformats.org/officeDocument/2006/relationships/notesSlide" Target="/ppt/notesSlides/notesSlide7.xml" Id="Rd38d406cf7a449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cc1a218114b06" /><Relationship Type="http://schemas.openxmlformats.org/officeDocument/2006/relationships/notesSlide" Target="/ppt/notesSlides/notesSlide8.xml" Id="R462e9108e12e44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50dc29dab4aac" /><Relationship Type="http://schemas.openxmlformats.org/officeDocument/2006/relationships/notesSlide" Target="/ppt/notesSlides/notesSlide9.xml" Id="R02656e64636745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480e1534b49ec" /><Relationship Type="http://schemas.openxmlformats.org/officeDocument/2006/relationships/notesSlide" Target="/ppt/notesSlides/notesSlide10.xml" Id="Rc1cb07ad562e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fd19b036d4ea1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775CC-0624-4AF7-84AF-25110940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6008E-9185-4B35-B370-BABE534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Métodos genéricos y cotas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56954-2970-42CA-90AA-3CD429D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DDEF7-969D-4134-8CC3-75F1B694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1 · 1.1b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67E2E-9C49-4662-AE48-D591FFAE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058717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896D0-11C9-4023-B134-CCDC972F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99F23-184B-40D1-9953-2A91BBAB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8F55A-5CC6-4B3E-81C6-44505A81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EE0F5-8423-43B1-B4D2-EDB2CDB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38C3B-FCBC-4ACE-A158-BF0EE03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66373-1CBF-4DA8-8BC6-B76176C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vez representadas las lecturas, CampusMonitor necesita seleccionar la mayor lectura y filtrar catálogos. Copiar un método para cada modelo introduce versiones que se desincronizan. Un método genérico permite parametrizar la operación sin exigir que toda la clase sea genérica.</a:t>
            </a:r>
          </a:p>
        </p:txBody>
      </p:sp>
    </p:spTree>
    <p:extLst>
      <p:ext uri="{BB962C8B-B14F-4D97-AF65-F5344CB8AC3E}">
        <p14:creationId xmlns:p14="http://schemas.microsoft.com/office/powerpoint/2010/main" val="1839202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B08C0-C06B-4C58-9B4D-64E04DAA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5C988-503C-4B17-B5CD-DD77D6C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Declaración y alcance del parámetro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9D2DF-7E0E-4E8F-90B4-DFBA380F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88310-44B2-43BE-BC02-A5BE1EDD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88815-7CCD-45CC-9F98-A098D753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3FB61-65B2-414A-A1E3-A690958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&lt;T&gt; se declara antes del retorno.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880BA-9BF3-4571-9D24-DDA5225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método genérico declara &lt;T&gt; antes del tipo de retorno. El alcance de T es ese método, incluidos sus parámetros y retorno. Puede existir en una clase no genérica y también puede ser static. Esto permite reunir algoritmos reutilizables en una clase de utilidades.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F71E4-142F-4136-95C2-F66F50C8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13D69-DB91-4871-916D-5A145F94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static &lt;T&gt; T identidad(T valor) {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return valor;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String id = identidad("S01");</a:t>
            </a:r>
          </a:p>
        </p:txBody>
      </p:sp>
    </p:spTree>
    <p:extLst>
      <p:ext uri="{BB962C8B-B14F-4D97-AF65-F5344CB8AC3E}">
        <p14:creationId xmlns:p14="http://schemas.microsoft.com/office/powerpoint/2010/main" val="708229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58D1D-4CC9-45FF-A846-7DD138C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4EFF0-ACC0-4B52-84F6-9C3EB868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Cotas para exigir operaciones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4CBE7-C1CD-4EAF-937F-8C15E3AF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783AE-1841-45B5-AB8C-AEBB2AF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E4DA2-B436-471B-87E7-EC828D43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F8B22-03A2-4825-A4CA-4A5F57D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cotas expresan las operaciones necesarias.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E2CB1-0266-4ACA-8D41-1B75615A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cota restringe los tipos admisibles y habilita operaciones. &lt;T extends Number&gt; permite llamar doubleValue(), pero no convierte T en un tipo aritmético con operador +. Para comparar, Comparable describe el orden natural, mientras Comparator permite elegir un orden externo.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5CC55-20FF-4DF4-A445-777CE2B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61869-B0FF-45CE-A5A2-D07BAF66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static &lt;T extends Number&gt; double convertir(T valor) {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return valor.doubleValue();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0831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8E9D8-1A45-4068-BA60-08F48D4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7DE1A-F7E3-4C73-85A4-A5A5EB71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Vacío, nulos y decisiones del algoritmo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9D275-8B9E-4392-ADD5-B7B7247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EEAD8-7FAD-42CF-A5DD-6330EAA3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8EE95-AD20-4845-8FCF-33E6054D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C747F-3750-4316-A0EF-7C512CA5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Optional representa un resultado ausente.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C4244-F570-4907-8EDC-CF04AC83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método máximo debe definir qué ocurre con una colección vacía. Devolver null traslada una comprobación implícita al cliente. Optional&lt;T&gt; comunica la ausencia de resultado. La demostración rechaza elementos nulos para que el comparador no tenga que interpretarlos. Otra política válida sería Comparator.nullsLast, pero debe ser explícita y consistente.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DD01C-5015-422B-BA2F-0FC8A727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2C7AD-0E12-43D4-A193-9219891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selección recorre n elementos y conserva solo el mejor candidato: tiempo O(n) y memoria auxiliar O(1). No necesita ordenar toda la lista. Si dos elementos empatan, este algoritmo conserva el primero.</a:t>
            </a:r>
          </a:p>
        </p:txBody>
      </p:sp>
    </p:spTree>
    <p:extLst>
      <p:ext uri="{BB962C8B-B14F-4D97-AF65-F5344CB8AC3E}">
        <p14:creationId xmlns:p14="http://schemas.microsoft.com/office/powerpoint/2010/main" val="346577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5BD46-436B-4592-B4C0-D329B79E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910B6-4FDD-45CA-88FB-DCA21931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Método reutilizable y regla del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7AE88-6D39-4021-9536-038AF7B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7661E-381B-4EB5-9178-5B88BED4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6178C-120A-43C0-87DF-28D91E99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95D14-A23D-4B89-AF2A-19788C8B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Comparator separa el criterio del recorrido.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58B9C-D0D1-4492-97A6-366CEEB2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utilidad no conoce sensores, estudiantes ni productos. Recibe datos y una estrategia de comparación. El cliente define que una lectura es mayor por su valor o por su identificador, sin cambiar el recorrido. Esa separación reduce dependencias y prepara el uso de Strategy en 1.4.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4BF98-75F9-40FD-A864-2FCFAB1D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0CB27-5A11-4C4C-A66F-C7C0B85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En un sistema real no se debe comparar indiscriminadamente una temperatura con una ocupación solo porque ambas son Number. CampusMonitor debe agrupar lecturas por magnitud y unidad antes de calcular máximos.</a:t>
            </a:r>
          </a:p>
        </p:txBody>
      </p:sp>
    </p:spTree>
    <p:extLst>
      <p:ext uri="{BB962C8B-B14F-4D97-AF65-F5344CB8AC3E}">
        <p14:creationId xmlns:p14="http://schemas.microsoft.com/office/powerpoint/2010/main" val="20331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24807-0615-405E-AC5B-1A6C75B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F4602-7380-43C2-ACE7-7CBDC3A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615C8-74F5-4A4A-852A-F5E8C5E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606BD-38A5-4043-BFA6-34CCB23D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91037-E65A-4A48-80E3-03989D1A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ECBEC-0BEF-4A7E-B9F4-3E71FF7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A43D9-ECD9-4B6B-98E5-AE87E5A0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static &lt;T&gt; Optional&lt;T&gt; maximo(List&lt;T&gt; datos, Comparator&lt;? super T&gt; orden)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Objects.requireNonNull(datos);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Objects.requireNonNull(orden);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 mejor = null;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for (T actual : datos)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Objects.requireNonNull(actual, "No se admiten elementos nulos");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if (mejor == null || orden.compare(actual, mejor) &gt; 0) mejor = actual;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return Optional.ofNullable(mejor);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var datos = List.of(new Medicion("S01",22.5), new Medicion("S02",27.2),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new Medicion("S03",24.0));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92513-AC9B-4F88-8276-3F3A19C0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MetodosDemo.java.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1642268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B463B-FAC0-4074-BE7B-179CDCCF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70316-66EC-4187-8E64-3907D1E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75F6D-6B2D-4418-9B23-163A92E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59E9F-A311-4FAD-990D-7EA8F4F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47182-B7C7-4CD1-8CA3-C33CE60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22.5, 27.2, 24.0 con umbral 25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Solo 27.2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 vacía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 filtrada vacía y máximo ausente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Dos máximos iguales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Desempate documentado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42310-2EAC-48B5-B7FB-F17F8BC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Medicion[sensor=S02, valor=27.2] · Optional.empty · Laboratorio</a:t>
            </a:r>
          </a:p>
        </p:txBody>
      </p:sp>
    </p:spTree>
    <p:extLst>
      <p:ext uri="{BB962C8B-B14F-4D97-AF65-F5344CB8AC3E}">
        <p14:creationId xmlns:p14="http://schemas.microsoft.com/office/powerpoint/2010/main" val="34421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9E9FB-2555-4CA2-8790-9B1A876E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7D6AD-D4BB-4696-BC45-FCD8D24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PC1.1b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40F81-B623-4111-9E91-363F38A5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0105-C95A-46E8-B684-681360D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1FFC0-424F-49D7-9349-B3C2170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8F52-E1DE-4A15-A82A-30DE145D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23C0-A707-4C82-B096-C7E7797D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Reutiliza las lecturas Double de la PC anterior. Implementa seleccionar(List&lt;T&gt;, Predicate&lt;? super T&gt;) que devuelva una lista nueva y no modifique la entrada.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4D20F-D2F6-407F-9897-5FB6D33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37877-57EF-49DB-85A6-899B9F7C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Filtra temperaturas mayores a 25 °C y calcula el máximo con un comparador. Una lista vacía debe producir ausencia de resultado.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8F21A-944E-45E8-B3DA-82E23FB1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13CB4-999B-417F-8F5D-38583E8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Demuestra la reutilización de seleccionar con una lista de sensores por ubicación. No copies el recorrido para el segundo tipo.</a:t>
            </a:r>
          </a:p>
        </p:txBody>
      </p:sp>
    </p:spTree>
    <p:extLst>
      <p:ext uri="{BB962C8B-B14F-4D97-AF65-F5344CB8AC3E}">
        <p14:creationId xmlns:p14="http://schemas.microsoft.com/office/powerpoint/2010/main" val="1892694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FCFB5-8037-4584-8BC1-DB38A558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DCED3-C498-48C6-9343-F065AB7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70BE0-4319-451D-A5B7-B33F67B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4CC86-C42A-4551-BD07-3C035866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C5EED-8D06-4C09-A3C5-499C188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C5F34-FA38-4B98-9805-7712B8AF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&lt;T&gt; se declara antes del retorno.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1C62B-643D-4FA3-87A0-54900D2B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cotas expresan las operaciones necesarias.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177DF-9CA6-4EAD-8933-8EEAF0B6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Optional representa un resultado ausente.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A9450-298F-4CEB-87A0-2058D8D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Comparator separa el criterio del recorrido.</a:t>
            </a:r>
          </a:p>
        </p:txBody>
      </p:sp>
    </p:spTree>
    <p:extLst>
      <p:ext uri="{BB962C8B-B14F-4D97-AF65-F5344CB8AC3E}">
        <p14:creationId xmlns:p14="http://schemas.microsoft.com/office/powerpoint/2010/main" val="1720105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2026-09-10T23:05:38.0610000Z</dcterms:created>
  <dcterms:modified xsi:type="dcterms:W3CDTF">2026-09-10T23:05:38.0610000Z</dcterms:modified>
</coreProperties>
</file>