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0cfcd6138a64aa9" /><Relationship Type="http://schemas.openxmlformats.org/officeDocument/2006/relationships/extended-properties" Target="/docProps/app.xml" Id="R1bb6fcedcc96471e" /><Relationship Type="http://schemas.openxmlformats.org/officeDocument/2006/relationships/officeDocument" Target="/ppt/presentation.xml" Id="Rdaaa85e6c4714169" /></Relationships>
</file>

<file path=ppt/presentation.xml><?xml version="1.0" encoding="utf-8"?>
<p:presentation xmlns:p="http://schemas.openxmlformats.org/presentationml/2006/main">
  <p:sldMasterIdLst>
    <p:sldMasterId xmlns:r="http://schemas.openxmlformats.org/officeDocument/2006/relationships" id="2147483648" r:id="R3e82341ca20b47ec"/>
  </p:sldMasterIdLst>
  <p:notesMasterIdLst>
    <p:notesMasterId xmlns:r="http://schemas.openxmlformats.org/officeDocument/2006/relationships" r:id="R6b98f3e137044e6b"/>
  </p:notesMasterIdLst>
  <p:sldIdLst>
    <p:sldId xmlns:r="http://schemas.openxmlformats.org/officeDocument/2006/relationships" id="256" r:id="R89f286111ac6456b"/>
    <p:sldId xmlns:r="http://schemas.openxmlformats.org/officeDocument/2006/relationships" id="257" r:id="R796cc4a7c1f54ffb"/>
    <p:sldId xmlns:r="http://schemas.openxmlformats.org/officeDocument/2006/relationships" id="258" r:id="R44dd428f8985431e"/>
    <p:sldId xmlns:r="http://schemas.openxmlformats.org/officeDocument/2006/relationships" id="259" r:id="R7ef4a22f4edf4050"/>
    <p:sldId xmlns:r="http://schemas.openxmlformats.org/officeDocument/2006/relationships" id="260" r:id="Ree59ad3ba2614f2a"/>
    <p:sldId xmlns:r="http://schemas.openxmlformats.org/officeDocument/2006/relationships" id="261" r:id="R60fc1a1ec4f04eab"/>
    <p:sldId xmlns:r="http://schemas.openxmlformats.org/officeDocument/2006/relationships" id="262" r:id="R689a17363abb4ee2"/>
    <p:sldId xmlns:r="http://schemas.openxmlformats.org/officeDocument/2006/relationships" id="263" r:id="R3970b441513d45cb"/>
    <p:sldId xmlns:r="http://schemas.openxmlformats.org/officeDocument/2006/relationships" id="264" r:id="Rb36f54b92a514223"/>
    <p:sldId xmlns:r="http://schemas.openxmlformats.org/officeDocument/2006/relationships" id="265" r:id="Rdd10236566574b9f"/>
    <p:sldId xmlns:r="http://schemas.openxmlformats.org/officeDocument/2006/relationships" id="266" r:id="Re2cae404364d4f7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f91da6f77d94bfb" /><Relationship Type="http://schemas.openxmlformats.org/officeDocument/2006/relationships/slideMaster" Target="/ppt/slideMasters/slideMaster1.xml" Id="R3e82341ca20b47ec" /><Relationship Type="http://schemas.openxmlformats.org/officeDocument/2006/relationships/notesMaster" Target="/ppt/notesMasters/notesMaster1.xml" Id="R6b98f3e137044e6b" /><Relationship Type="http://schemas.openxmlformats.org/officeDocument/2006/relationships/presProps" Target="/ppt/presProps.xml" Id="R40e1e705586643bc" /><Relationship Type="http://schemas.openxmlformats.org/officeDocument/2006/relationships/tableStyles" Target="/ppt/tableStyles.xml" Id="Rbf3371c710854cc4" /><Relationship Type="http://schemas.openxmlformats.org/officeDocument/2006/relationships/slide" Target="/ppt/slides/slide1.xml" Id="R89f286111ac6456b" /><Relationship Type="http://schemas.openxmlformats.org/officeDocument/2006/relationships/slide" Target="/ppt/slides/slide2.xml" Id="R796cc4a7c1f54ffb" /><Relationship Type="http://schemas.openxmlformats.org/officeDocument/2006/relationships/slide" Target="/ppt/slides/slide3.xml" Id="R44dd428f8985431e" /><Relationship Type="http://schemas.openxmlformats.org/officeDocument/2006/relationships/slide" Target="/ppt/slides/slide4.xml" Id="R7ef4a22f4edf4050" /><Relationship Type="http://schemas.openxmlformats.org/officeDocument/2006/relationships/slide" Target="/ppt/slides/slide5.xml" Id="Ree59ad3ba2614f2a" /><Relationship Type="http://schemas.openxmlformats.org/officeDocument/2006/relationships/slide" Target="/ppt/slides/slide6.xml" Id="R60fc1a1ec4f04eab" /><Relationship Type="http://schemas.openxmlformats.org/officeDocument/2006/relationships/slide" Target="/ppt/slides/slide7.xml" Id="R689a17363abb4ee2" /><Relationship Type="http://schemas.openxmlformats.org/officeDocument/2006/relationships/slide" Target="/ppt/slides/slide8.xml" Id="R3970b441513d45cb" /><Relationship Type="http://schemas.openxmlformats.org/officeDocument/2006/relationships/slide" Target="/ppt/slides/slide9.xml" Id="Rb36f54b92a514223" /><Relationship Type="http://schemas.openxmlformats.org/officeDocument/2006/relationships/slide" Target="/ppt/slides/slide10.xml" Id="Rdd10236566574b9f" /><Relationship Type="http://schemas.openxmlformats.org/officeDocument/2006/relationships/slide" Target="/ppt/slides/slide11.xml" Id="Re2cae404364d4f7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dd7ef7df9594f4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1e93914c8904364" /><Relationship Type="http://schemas.openxmlformats.org/officeDocument/2006/relationships/notesMaster" Target="/ppt/notesMasters/notesMaster1.xml" Id="R4c714627a52c4329" /></Relationships>
</file>

<file path=ppt/notesSlides/_rels/notesSlide2.xml.rels>&#65279;<?xml version="1.0" encoding="utf-8"?><Relationships xmlns="http://schemas.openxmlformats.org/package/2006/relationships"><Relationship Type="http://schemas.openxmlformats.org/officeDocument/2006/relationships/slide" Target="/ppt/slides/slide2.xml" Id="R1f2a097d035c48e2" /><Relationship Type="http://schemas.openxmlformats.org/officeDocument/2006/relationships/notesMaster" Target="/ppt/notesMasters/notesMaster1.xml" Id="R2b71ffbfdc2a4806" /></Relationships>
</file>

<file path=ppt/notesSlides/_rels/notesSlide3.xml.rels>&#65279;<?xml version="1.0" encoding="utf-8"?><Relationships xmlns="http://schemas.openxmlformats.org/package/2006/relationships"><Relationship Type="http://schemas.openxmlformats.org/officeDocument/2006/relationships/slide" Target="/ppt/slides/slide3.xml" Id="R12ef543df9a94493" /><Relationship Type="http://schemas.openxmlformats.org/officeDocument/2006/relationships/notesMaster" Target="/ppt/notesMasters/notesMaster1.xml" Id="Ref972facdf854f41" /></Relationships>
</file>

<file path=ppt/notesSlides/_rels/notesSlide4.xml.rels>&#65279;<?xml version="1.0" encoding="utf-8"?><Relationships xmlns="http://schemas.openxmlformats.org/package/2006/relationships"><Relationship Type="http://schemas.openxmlformats.org/officeDocument/2006/relationships/slide" Target="/ppt/slides/slide4.xml" Id="R686b160f0ea74d50" /><Relationship Type="http://schemas.openxmlformats.org/officeDocument/2006/relationships/notesMaster" Target="/ppt/notesMasters/notesMaster1.xml" Id="R74f9cdf6bc6744af" /></Relationships>
</file>

<file path=ppt/notesSlides/_rels/notesSlide5.xml.rels>&#65279;<?xml version="1.0" encoding="utf-8"?><Relationships xmlns="http://schemas.openxmlformats.org/package/2006/relationships"><Relationship Type="http://schemas.openxmlformats.org/officeDocument/2006/relationships/slide" Target="/ppt/slides/slide5.xml" Id="R3af9910a46b44ffa" /><Relationship Type="http://schemas.openxmlformats.org/officeDocument/2006/relationships/notesMaster" Target="/ppt/notesMasters/notesMaster1.xml" Id="R21ee2b20db4c46a1" /></Relationships>
</file>

<file path=ppt/notesSlides/_rels/notesSlide6.xml.rels>&#65279;<?xml version="1.0" encoding="utf-8"?><Relationships xmlns="http://schemas.openxmlformats.org/package/2006/relationships"><Relationship Type="http://schemas.openxmlformats.org/officeDocument/2006/relationships/slide" Target="/ppt/slides/slide6.xml" Id="R5f7a360d30f24cf0" /><Relationship Type="http://schemas.openxmlformats.org/officeDocument/2006/relationships/notesMaster" Target="/ppt/notesMasters/notesMaster1.xml" Id="R3a44353909414138" /></Relationships>
</file>

<file path=ppt/notesSlides/_rels/notesSlide7.xml.rels>&#65279;<?xml version="1.0" encoding="utf-8"?><Relationships xmlns="http://schemas.openxmlformats.org/package/2006/relationships"><Relationship Type="http://schemas.openxmlformats.org/officeDocument/2006/relationships/slide" Target="/ppt/slides/slide7.xml" Id="Rba0d4c809ee3430c" /><Relationship Type="http://schemas.openxmlformats.org/officeDocument/2006/relationships/notesMaster" Target="/ppt/notesMasters/notesMaster1.xml" Id="R588e74e577b44868" /></Relationships>
</file>

<file path=ppt/notesSlides/_rels/notesSlide8.xml.rels>&#65279;<?xml version="1.0" encoding="utf-8"?><Relationships xmlns="http://schemas.openxmlformats.org/package/2006/relationships"><Relationship Type="http://schemas.openxmlformats.org/officeDocument/2006/relationships/slide" Target="/ppt/slides/slide8.xml" Id="Rfc87cf673780413f" /><Relationship Type="http://schemas.openxmlformats.org/officeDocument/2006/relationships/notesMaster" Target="/ppt/notesMasters/notesMaster1.xml" Id="R9c9a7b4e88c64928" /></Relationships>
</file>

<file path=ppt/notesSlides/_rels/notesSlide9.xml.rels>&#65279;<?xml version="1.0" encoding="utf-8"?><Relationships xmlns="http://schemas.openxmlformats.org/package/2006/relationships"><Relationship Type="http://schemas.openxmlformats.org/officeDocument/2006/relationships/slide" Target="/ppt/slides/slide9.xml" Id="R96e342dd83c0495f" /><Relationship Type="http://schemas.openxmlformats.org/officeDocument/2006/relationships/notesMaster" Target="/ppt/notesMasters/notesMaster1.xml" Id="R64bc41bb7a634fa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897e03136a045f8" /><Relationship Type="http://schemas.openxmlformats.org/officeDocument/2006/relationships/notesMaster" Target="/ppt/notesMasters/notesMaster1.xml" Id="R813798a277bb40d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e89db116e8b4fad" /><Relationship Type="http://schemas.openxmlformats.org/officeDocument/2006/relationships/notesMaster" Target="/ppt/notesMasters/notesMaster1.xml" Id="Rc2e5393f7c5f4e6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1.1a. Tipos y parámetros genéricos. Autor: Ing. Pablo Torres, Mgtr.</a:t>
            </a:r>
          </a:p>
          <a:p xmlns:a="http://schemas.openxmlformats.org/drawingml/2006/main">
            <a:r>
              <a:t>Logo original proporcionado por el docente.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CampusMonitor debe almacenar identificadores, nombres y lecturas de sensores. Duplicar una clase contenedora por cada tipo repite la lógica. Usar Object acepta mezclas que solo se descubren al recuperar el dato. Una clase genérica expresa la relación entre el dato que entra y el que sale, y permite comprobarla durante la compilación.</a:t>
            </a:r>
          </a:p>
          <a:p xmlns:a="http://schemas.openxmlformats.org/drawingml/2006/main">
            <a:r>
              <a:t>Fuente del desarrollo: material.md, contexto.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Imagen original generada para el material. Prompt y origen en docs/prompts-imagenes.json.</a:t>
            </a:r>
          </a:p>
          <a:p xmlns:a="http://schemas.openxmlformats.org/drawingml/2006/main">
            <a:r>
              <a:t>No constituye un esquema eléctrico ni una especificación técnica.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variable de tipo Object puede referirse a un String, un Integer o un Sensor. Esa flexibilidad pierde información en la interfaz del contenedor: al recuperar Object, quien llama debe conocer el tipo real y convertirlo. Un cast no transforma el objeto y puede lanzar ClassCastException. La programación genérica conserva esa relación en el contrato. El compilador comprueba que una Caja&lt;String&gt; recibe cadenas y devuelve cadenas, sin que el cliente escriba conversiones.</a:t>
            </a:r>
          </a:p>
          <a:p xmlns:a="http://schemas.openxmlformats.org/drawingml/2006/main">
            <a:r>
              <a:t/>
            </a:r>
          </a:p>
          <a:p xmlns:a="http://schemas.openxmlformats.org/drawingml/2006/main">
            <a:r>
              <a:t>La ventaja principal es la seguridad de tipos y la reutilización de algoritmos. Los genéricos no implican que el programa sea más rápido, ni crean una clase distinta en ejecución por cada tipo. El error se detecta cerca de la operación que lo introduce, antes de ejecutar la aplicación.</a:t>
            </a:r>
          </a:p>
          <a:p xmlns:a="http://schemas.openxmlformats.org/drawingml/2006/main">
            <a:r>
              <a:t/>
            </a:r>
          </a:p>
          <a:p xmlns:a="http://schemas.openxmlformats.org/drawingml/2006/main">
            <a:r>
              <a:t>Referencias:</a:t>
            </a:r>
          </a:p>
          <a:p xmlns:a="http://schemas.openxmlformats.org/drawingml/2006/main">
            <a:r>
              <a:t>https://dev.java/learn/generics/</a:t>
            </a:r>
          </a:p>
          <a:p xmlns:a="http://schemas.openxmlformats.org/drawingml/2006/main">
            <a:r>
              <a:t>https://dev.java/learn/reflection/</a:t>
            </a:r>
          </a:p>
          <a:p xmlns:a="http://schemas.openxmlformats.org/drawingml/2006/main">
            <a:r>
              <a:t>https://docs.oracle.com/en/java/javase/25/docs/api/index.html</a:t>
            </a:r>
          </a:p>
          <a:p xmlns:a="http://schemas.openxmlformats.org/drawingml/2006/main">
            <a:r>
              <a:t>Correspondencia: material.md, sección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Caja&lt;T&gt;, T es un parámetro de tipo, una variable que participa en la declaración de la clase. En Caja&lt;String&gt;, String es el argumento concreto proporcionado por el cliente. No es un parámetro de valor como una cantidad o un identificador. Los nombres T, E, K y V son convenciones: tipo, elemento, clave y valor. Cuando existen varios roles, nombres como ID ayudan a expresar la intención.</a:t>
            </a:r>
          </a:p>
          <a:p xmlns:a="http://schemas.openxmlformats.org/drawingml/2006/main">
            <a:r>
              <a:t/>
            </a:r>
          </a:p>
          <a:p xmlns:a="http://schemas.openxmlformats.org/drawingml/2006/main">
            <a:r>
              <a:t>El operador diamante &lt;&gt; permite inferir argumentos a partir del contexto. La inferencia no convierte Java en un lenguaje dinámico: el tipo queda establecido en compilación. Una Caja&lt;Integer&gt; y una Caja&lt;String&gt; tienen contratos distintos, aunque comparten la misma clase en ejecución. No uses Caja sin argumentos, porque el tipo crudo elimina parte de las comprobaciones.</a:t>
            </a:r>
          </a:p>
          <a:p xmlns:a="http://schemas.openxmlformats.org/drawingml/2006/main">
            <a:r>
              <a:t/>
            </a:r>
          </a:p>
          <a:p xmlns:a="http://schemas.openxmlformats.org/drawingml/2006/main">
            <a:r>
              <a:t>Referencias:</a:t>
            </a:r>
          </a:p>
          <a:p xmlns:a="http://schemas.openxmlformats.org/drawingml/2006/main">
            <a:r>
              <a:t>https://dev.java/learn/generics/</a:t>
            </a:r>
          </a:p>
          <a:p xmlns:a="http://schemas.openxmlformats.org/drawingml/2006/main">
            <a:r>
              <a:t>https://dev.java/learn/reflection/</a:t>
            </a:r>
          </a:p>
          <a:p xmlns:a="http://schemas.openxmlformats.org/drawingml/2006/main">
            <a:r>
              <a:t>https://docs.oracle.com/en/java/javase/25/docs/api/index.html</a:t>
            </a:r>
          </a:p>
          <a:p xmlns:a="http://schemas.openxmlformats.org/drawingml/2006/main">
            <a:r>
              <a:t>Correspondencia: material.md, sección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argumentos genéricos son tipos de referencia. Usa Integer donde el dato original sea int, y Double para double. Java realiza boxing y unboxing cuando corresponde, tema que se desarrolla en 1.1c. Un parámetro T no permite ejecutar new T(), acceder a miembros estáticos de un supuesto tipo concreto ni comprobar instanceof Caja&lt;String&gt;. Tampoco puedes declarar un campo static T en una clase genérica: el campo estático pertenece a la clase compartida.</a:t>
            </a:r>
          </a:p>
          <a:p xmlns:a="http://schemas.openxmlformats.org/drawingml/2006/main">
            <a:r>
              <a:t/>
            </a:r>
          </a:p>
          <a:p xmlns:a="http://schemas.openxmlformats.org/drawingml/2006/main">
            <a:r>
              <a:t>El genérico describe qué operaciones son válidas. Sin una cota, solo están disponibles las operaciones garantizadas por Object. Si un algoritmo necesita comparar, sumar o extraer un identificador, debe expresar un contrato adicional. Las cotas y los comparadores aparecerán en los siguientes contenidos.</a:t>
            </a:r>
          </a:p>
          <a:p xmlns:a="http://schemas.openxmlformats.org/drawingml/2006/main">
            <a:r>
              <a:t/>
            </a:r>
          </a:p>
          <a:p xmlns:a="http://schemas.openxmlformats.org/drawingml/2006/main">
            <a:r>
              <a:t>Referencias:</a:t>
            </a:r>
          </a:p>
          <a:p xmlns:a="http://schemas.openxmlformats.org/drawingml/2006/main">
            <a:r>
              <a:t>https://dev.java/learn/generics/</a:t>
            </a:r>
          </a:p>
          <a:p xmlns:a="http://schemas.openxmlformats.org/drawingml/2006/main">
            <a:r>
              <a:t>https://dev.java/learn/reflection/</a:t>
            </a:r>
          </a:p>
          <a:p xmlns:a="http://schemas.openxmlformats.org/drawingml/2006/main">
            <a:r>
              <a:t>https://docs.oracle.com/en/java/javase/25/docs/api/index.html</a:t>
            </a:r>
          </a:p>
          <a:p xmlns:a="http://schemas.openxmlformats.org/drawingml/2006/main">
            <a:r>
              <a:t>Correspondencia: material.md, sección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demostración usa un campo final y rechaza null al construir la caja. final impide reasignar la referencia, pero no vuelve inmutable al objeto almacenado. Si T es una lista modificable, el contenido de esa lista todavía puede cambiar. Decide si el contenedor acepta valores nulos y documenta esa decisión.</a:t>
            </a:r>
          </a:p>
          <a:p xmlns:a="http://schemas.openxmlformats.org/drawingml/2006/main">
            <a:r>
              <a:t/>
            </a:r>
          </a:p>
          <a:p xmlns:a="http://schemas.openxmlformats.org/drawingml/2006/main">
            <a:r>
              <a:t>Las validaciones del dominio siguen siendo necesarias. Caja&lt;Double&gt; garantiza un Double, pero no que la temperatura sea válida. La seguridad de tipos y la validación de valores resuelven problemas diferentes. En CampusMonitor, el modelo Lectura deberá controlar rangos, unidad y origen además del tipo de su valor.</a:t>
            </a:r>
          </a:p>
          <a:p xmlns:a="http://schemas.openxmlformats.org/drawingml/2006/main">
            <a:r>
              <a:t/>
            </a:r>
          </a:p>
          <a:p xmlns:a="http://schemas.openxmlformats.org/drawingml/2006/main">
            <a:r>
              <a:t>Referencias:</a:t>
            </a:r>
          </a:p>
          <a:p xmlns:a="http://schemas.openxmlformats.org/drawingml/2006/main">
            <a:r>
              <a:t>https://dev.java/learn/generics/</a:t>
            </a:r>
          </a:p>
          <a:p xmlns:a="http://schemas.openxmlformats.org/drawingml/2006/main">
            <a:r>
              <a:t>https://dev.java/learn/reflection/</a:t>
            </a:r>
          </a:p>
          <a:p xmlns:a="http://schemas.openxmlformats.org/drawingml/2006/main">
            <a:r>
              <a:t>https://docs.oracle.com/en/java/javase/25/docs/api/index.html</a:t>
            </a:r>
          </a:p>
          <a:p xmlns:a="http://schemas.openxmlformats.org/drawingml/2006/main">
            <a:r>
              <a:t>Correspondencia: material.md, sección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Código completo:</a:t>
            </a:r>
          </a:p>
          <a:p xmlns:a="http://schemas.openxmlformats.org/drawingml/2006/main">
            <a:r>
              <a:t>package edu.ups.pap.u01;</a:t>
            </a:r>
          </a:p>
          <a:p xmlns:a="http://schemas.openxmlformats.org/drawingml/2006/main">
            <a:r>
              <a:t>import java.util.Objects;</a:t>
            </a:r>
          </a:p>
          <a:p xmlns:a="http://schemas.openxmlformats.org/drawingml/2006/main">
            <a:r>
              <a:t/>
            </a:r>
          </a:p>
          <a:p xmlns:a="http://schemas.openxmlformats.org/drawingml/2006/main">
            <a:r>
              <a:t>public class TiposDemo {</a:t>
            </a:r>
          </a:p>
          <a:p xmlns:a="http://schemas.openxmlformats.org/drawingml/2006/main">
            <a:r>
              <a:t>    static final class Caja&lt;T&gt; {</a:t>
            </a:r>
          </a:p>
          <a:p xmlns:a="http://schemas.openxmlformats.org/drawingml/2006/main">
            <a:r>
              <a:t>        private final T valor;</a:t>
            </a:r>
          </a:p>
          <a:p xmlns:a="http://schemas.openxmlformats.org/drawingml/2006/main">
            <a:r>
              <a:t>        Caja(T valor) { this.valor = Objects.requireNonNull(valor); }</a:t>
            </a:r>
          </a:p>
          <a:p xmlns:a="http://schemas.openxmlformats.org/drawingml/2006/main">
            <a:r>
              <a:t>        T obtener() { return valor; }</a:t>
            </a:r>
          </a:p>
          <a:p xmlns:a="http://schemas.openxmlformats.org/drawingml/2006/main">
            <a:r>
              <a:t>    }</a:t>
            </a:r>
          </a:p>
          <a:p xmlns:a="http://schemas.openxmlformats.org/drawingml/2006/main">
            <a:r>
              <a:t>    record Sensor(String id, String ubicacion) {}</a:t>
            </a:r>
          </a:p>
          <a:p xmlns:a="http://schemas.openxmlformats.org/drawingml/2006/main">
            <a:r>
              <a:t>    public static void main(String[] args) {</a:t>
            </a:r>
          </a:p>
          <a:p xmlns:a="http://schemas.openxmlformats.org/drawingml/2006/main">
            <a:r>
              <a:t>        Caja&lt;String&gt; lugar = new Caja&lt;&gt;("Laboratorio 1");</a:t>
            </a:r>
          </a:p>
          <a:p xmlns:a="http://schemas.openxmlformats.org/drawingml/2006/main">
            <a:r>
              <a:t>        Caja&lt;Integer&gt; limite = new Caja&lt;&gt;(30);</a:t>
            </a:r>
          </a:p>
          <a:p xmlns:a="http://schemas.openxmlformats.org/drawingml/2006/main">
            <a:r>
              <a:t>        Caja&lt;Sensor&gt; dispositivo = new Caja&lt;&gt;(new Sensor("S01", lugar.obtener()));</a:t>
            </a:r>
          </a:p>
          <a:p xmlns:a="http://schemas.openxmlformats.org/drawingml/2006/main">
            <a:r>
              <a:t>        System.out.println(dispositivo.obtener().id() + " / " + lugar.obtener());</a:t>
            </a:r>
          </a:p>
          <a:p xmlns:a="http://schemas.openxmlformats.org/drawingml/2006/main">
            <a:r>
              <a:t>        System.out.println("Capacidad: " + limite.obtener());</a:t>
            </a:r>
          </a:p>
          <a:p xmlns:a="http://schemas.openxmlformats.org/drawingml/2006/main">
            <a:r>
              <a:t>        System.out.println(lugar.getClass() == limite.getClass());</a:t>
            </a:r>
          </a:p>
          <a:p xmlns:a="http://schemas.openxmlformats.org/drawingml/2006/main">
            <a:r>
              <a:t>        try { new Caja&lt;String&gt;(null); }</a:t>
            </a:r>
          </a:p>
          <a:p xmlns:a="http://schemas.openxmlformats.org/drawingml/2006/main">
            <a:r>
              <a:t>        catch (NullPointerException e) { System.out.println("Valor nulo rechazado"); }</a:t>
            </a:r>
          </a:p>
          <a:p xmlns:a="http://schemas.openxmlformats.org/drawingml/2006/main">
            <a:r>
              <a:t>    }</a:t>
            </a:r>
          </a:p>
          <a:p xmlns:a="http://schemas.openxmlformats.org/drawingml/2006/main">
            <a:r>
              <a:t>}</a:t>
            </a:r>
          </a:p>
          <a:p xmlns:a="http://schemas.openxmlformats.org/drawingml/2006/main">
            <a:r>
              <a:t/>
            </a:r>
          </a:p>
          <a:p xmlns:a="http://schemas.openxmlformats.org/drawingml/2006/main">
            <a:r>
              <a:t/>
            </a:r>
          </a:p>
          <a:p xmlns:a="http://schemas.openxmlformats.org/drawingml/2006/main">
            <a:r>
              <a:t>Salida:</a:t>
            </a:r>
          </a:p>
          <a:p xmlns:a="http://schemas.openxmlformats.org/drawingml/2006/main">
            <a:r>
              <a:t>S01 / Laboratorio 1</a:t>
            </a:r>
          </a:p>
          <a:p xmlns:a="http://schemas.openxmlformats.org/drawingml/2006/main">
            <a:r>
              <a:t>Capacidad: 30</a:t>
            </a:r>
          </a:p>
          <a:p xmlns:a="http://schemas.openxmlformats.org/drawingml/2006/main">
            <a:r>
              <a:t>true</a:t>
            </a:r>
          </a:p>
          <a:p xmlns:a="http://schemas.openxmlformats.org/drawingml/2006/main">
            <a:r>
              <a:t>Valor nulo rechazado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Salida esperada:</a:t>
            </a:r>
          </a:p>
          <a:p xmlns:a="http://schemas.openxmlformats.org/drawingml/2006/main">
            <a:r>
              <a:t>S01 / Laboratorio 1</a:t>
            </a:r>
          </a:p>
          <a:p xmlns:a="http://schemas.openxmlformats.org/drawingml/2006/main">
            <a:r>
              <a:t>Capacidad: 30</a:t>
            </a:r>
          </a:p>
          <a:p xmlns:a="http://schemas.openxmlformats.org/drawingml/2006/main">
            <a:r>
              <a:t>true</a:t>
            </a:r>
          </a:p>
          <a:p xmlns:a="http://schemas.openxmlformats.org/drawingml/2006/main">
            <a:r>
              <a:t>Valor nulo rechazado</a:t>
            </a:r>
          </a:p>
          <a:p xmlns:a="http://schemas.openxmlformats.org/drawingml/2006/main">
            <a:r>
              <a:t>Casos de aceptación: material.md, sección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Resuelve la ampliación en tu proyecto CampusMonitor.</a:t>
            </a:r>
          </a:p>
          <a:p xmlns:a="http://schemas.openxmlformats.org/drawingml/2006/main">
            <a:r>
              <a:t>Evidencia: evidencias/PC1.1a.md y enlace al commit final.</a:t>
            </a:r>
          </a:p>
          <a:p xmlns:a="http://schemas.openxmlformats.org/drawingml/2006/main">
            <a:r>
              <a:t>Crea el proyecto personal CampusMonitor siguiendo la guía general. Agrega Lectura&lt;T&gt; con idSensor, valor y unidad, sin utilizar Object como tipo del valor.</a:t>
            </a:r>
          </a:p>
          <a:p xmlns:a="http://schemas.openxmlformats.org/drawingml/2006/main">
            <a:r>
              <a:t>Construye una lectura Double de temperatura y otra Integer de ocupación. Rechaza id o unidad vacíos y valores nulos.</a:t>
            </a:r>
          </a:p>
          <a:p xmlns:a="http://schemas.openxmlformats.org/drawingml/2006/main">
            <a:r>
              <a:t>Agrega un comando lecturas que muestre ambas y documenta una asignación incompatible como comentario, con el error de compilación esperado.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Síntesis del material. Revisa la sección 3 para la PC y la guía general para commits y evidencias.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7fefc84a203449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2f5ddab43a64e07" /><Relationship Type="http://schemas.openxmlformats.org/officeDocument/2006/relationships/slideLayout" Target="/ppt/slideLayouts/slideLayout1.xml" Id="R6d36d5304ca4499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d36d5304ca4499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a40b565a41449e4" /><Relationship Type="http://schemas.openxmlformats.org/officeDocument/2006/relationships/image" Target="/ppt/media/image.png" Id="Ra5362d2b92804e98" /><Relationship Type="http://schemas.openxmlformats.org/officeDocument/2006/relationships/notesSlide" Target="/ppt/notesSlides/notesSlide1.xml" Id="R558431b5ff064c9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b13cc743db84138" /><Relationship Type="http://schemas.openxmlformats.org/officeDocument/2006/relationships/notesSlide" Target="/ppt/notesSlides/notesSlide2.xml" Id="R9d6c64b13142470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9ccd6beb51343e0" /><Relationship Type="http://schemas.openxmlformats.org/officeDocument/2006/relationships/image" Target="/ppt/media/image2.png" Id="R725ddbf4567542af" /><Relationship Type="http://schemas.openxmlformats.org/officeDocument/2006/relationships/notesSlide" Target="/ppt/notesSlides/notesSlide3.xml" Id="R1023d3007eed4e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26a447ad52a4b9c" /><Relationship Type="http://schemas.openxmlformats.org/officeDocument/2006/relationships/notesSlide" Target="/ppt/notesSlides/notesSlide4.xml" Id="R3fad1f0e94c64ce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dd2458524154c5f" /><Relationship Type="http://schemas.openxmlformats.org/officeDocument/2006/relationships/notesSlide" Target="/ppt/notesSlides/notesSlide5.xml" Id="Rb1a41b04c26041f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fd58ddf7e974132" /><Relationship Type="http://schemas.openxmlformats.org/officeDocument/2006/relationships/notesSlide" Target="/ppt/notesSlides/notesSlide6.xml" Id="R7dd24b66f70348a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2d1456234d94a39" /><Relationship Type="http://schemas.openxmlformats.org/officeDocument/2006/relationships/notesSlide" Target="/ppt/notesSlides/notesSlide7.xml" Id="R1e8276a14b38461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dd74b8ffb024341" /><Relationship Type="http://schemas.openxmlformats.org/officeDocument/2006/relationships/notesSlide" Target="/ppt/notesSlides/notesSlide8.xml" Id="R32a4262a1c4f404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69ea64d29c744a6" /><Relationship Type="http://schemas.openxmlformats.org/officeDocument/2006/relationships/notesSlide" Target="/ppt/notesSlides/notesSlide9.xml" Id="Re6cb522f6fea44c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7a5f0caf26b49e0" /><Relationship Type="http://schemas.openxmlformats.org/officeDocument/2006/relationships/notesSlide" Target="/ppt/notesSlides/notesSlide10.xml" Id="R79b4447cdf0d45b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f398fca66c04ef1" /><Relationship Type="http://schemas.openxmlformats.org/officeDocument/2006/relationships/notesSlide" Target="/ppt/notesSlides/notesSlide11.xml" Id="R59626c15e03d4ef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a5362d2b92804e98"/>
          <a:stretch xmlns:a="http://schemas.openxmlformats.org/drawingml/2006/main"/>
        </p:blipFill>
        <p:spPr>
          <a:xfrm xmlns:a="http://schemas.openxmlformats.org/drawingml/2006/main">
            <a:off x="609600" y="545418"/>
            <a:ext cx="6858000" cy="112848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125A9CB-950F-4FBA-A88A-F31CE6A57334}"/>
              </a:ext>
            </a:extLst>
          </p:cNvPr>
          <p:cNvSpPr>
            <a:spLocks xmlns:a="http://schemas.openxmlformats.org/drawingml/2006/main" noGrp="1"/>
          </p:cNvSpPr>
          <p:nvPr/>
        </p:nvSpPr>
        <p:spPr>
          <a:xfrm xmlns:a="http://schemas.openxmlformats.org/drawingml/2006/main">
            <a:off x="609600" y="223837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003772"/>
                </a:solidFill>
                <a:latin typeface="DejaVu Sans"/>
                <a:ea typeface="DejaVu Sans"/>
                <a:cs typeface="DejaVu Sans"/>
              </a:defRPr>
            </a:pPr>
            <a:r>
              <a:rPr sz="3150" b="1">
                <a:solidFill>
                  <a:srgbClr val="003772"/>
                </a:solidFill>
                <a:latin typeface="DejaVu Sans"/>
                <a:ea typeface="DejaVu Sans"/>
                <a:cs typeface="DejaVu Sans"/>
              </a:rPr>
              <a:t>Programación Aplicada</a:t>
            </a:r>
          </a:p>
        </p:txBody>
      </p:sp>
      <p:sp>
        <p:nvSpPr>
          <p:cNvPr id="3" name="">
            <a:extLst xmlns:a="http://schemas.openxmlformats.org/drawingml/2006/main">
              <a:ext uri="{FF2B5EF4-FFF2-40B4-BE49-F238E27FC236}">
                <a16:creationId xmlns:a16="http://schemas.microsoft.com/office/drawing/2014/main" id="{1F62B4F4-3513-4A1E-A5BB-11F30CAD1196}"/>
              </a:ext>
            </a:extLst>
          </p:cNvPr>
          <p:cNvSpPr>
            <a:spLocks xmlns:a="http://schemas.openxmlformats.org/drawingml/2006/main" noGrp="1"/>
          </p:cNvSpPr>
          <p:nvPr/>
        </p:nvSpPr>
        <p:spPr>
          <a:xfrm xmlns:a="http://schemas.openxmlformats.org/drawingml/2006/main">
            <a:off x="609600" y="31623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75" b="1">
                <a:solidFill>
                  <a:srgbClr val="003772"/>
                </a:solidFill>
                <a:latin typeface="DejaVu Sans"/>
                <a:ea typeface="DejaVu Sans"/>
                <a:cs typeface="DejaVu Sans"/>
              </a:defRPr>
            </a:pPr>
            <a:r>
              <a:rPr sz="2775" b="1">
                <a:solidFill>
                  <a:srgbClr val="003772"/>
                </a:solidFill>
                <a:latin typeface="DejaVu Sans"/>
                <a:ea typeface="DejaVu Sans"/>
                <a:cs typeface="DejaVu Sans"/>
              </a:rPr>
              <a:t>Tipos y parámetros genéricos</a:t>
            </a:r>
          </a:p>
        </p:txBody>
      </p:sp>
      <p:sp>
        <p:nvSpPr>
          <p:cNvPr id="4" name="">
            <a:extLst xmlns:a="http://schemas.openxmlformats.org/drawingml/2006/main">
              <a:ext uri="{FF2B5EF4-FFF2-40B4-BE49-F238E27FC236}">
                <a16:creationId xmlns:a16="http://schemas.microsoft.com/office/drawing/2014/main" id="{AC92BD59-9EFE-4CFA-B196-9FFC9ADFF4C7}"/>
              </a:ext>
            </a:extLst>
          </p:cNvPr>
          <p:cNvSpPr>
            <a:spLocks xmlns:a="http://schemas.openxmlformats.org/drawingml/2006/main" noGrp="1"/>
          </p:cNvSpPr>
          <p:nvPr/>
        </p:nvSpPr>
        <p:spPr>
          <a:xfrm xmlns:a="http://schemas.openxmlformats.org/drawingml/2006/main">
            <a:off x="609600" y="4705350"/>
            <a:ext cx="1381125" cy="47625"/>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FBB0AED-F1DC-43FD-B35C-3524E5CD77F8}"/>
              </a:ext>
            </a:extLst>
          </p:cNvPr>
          <p:cNvSpPr>
            <a:spLocks xmlns:a="http://schemas.openxmlformats.org/drawingml/2006/main" noGrp="1"/>
          </p:cNvSpPr>
          <p:nvPr/>
        </p:nvSpPr>
        <p:spPr>
          <a:xfrm xmlns:a="http://schemas.openxmlformats.org/drawingml/2006/main">
            <a:off x="609600" y="50673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07508E"/>
                </a:solidFill>
                <a:latin typeface="DejaVu Sans"/>
                <a:ea typeface="DejaVu Sans"/>
                <a:cs typeface="DejaVu Sans"/>
              </a:defRPr>
            </a:pPr>
            <a:r>
              <a:rPr sz="1575" b="0">
                <a:solidFill>
                  <a:srgbClr val="07508E"/>
                </a:solidFill>
                <a:latin typeface="DejaVu Sans"/>
                <a:ea typeface="DejaVu Sans"/>
                <a:cs typeface="DejaVu Sans"/>
              </a:rPr>
              <a:t>Unidad 1 · 1.1a</a:t>
            </a:r>
          </a:p>
        </p:txBody>
      </p:sp>
      <p:sp>
        <p:nvSpPr>
          <p:cNvPr id="6" name="">
            <a:extLst xmlns:a="http://schemas.openxmlformats.org/drawingml/2006/main">
              <a:ext uri="{FF2B5EF4-FFF2-40B4-BE49-F238E27FC236}">
                <a16:creationId xmlns:a16="http://schemas.microsoft.com/office/drawing/2014/main" id="{986FB6FB-D3A6-4613-A4F4-7ABBD66A7F47}"/>
              </a:ext>
            </a:extLst>
          </p:cNvPr>
          <p:cNvSpPr>
            <a:spLocks xmlns:a="http://schemas.openxmlformats.org/drawingml/2006/main" noGrp="1"/>
          </p:cNvSpPr>
          <p:nvPr/>
        </p:nvSpPr>
        <p:spPr>
          <a:xfrm xmlns:a="http://schemas.openxmlformats.org/drawingml/2006/main">
            <a:off x="609600" y="5676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C5B5F"/>
                </a:solidFill>
                <a:latin typeface="DejaVu Sans"/>
                <a:ea typeface="DejaVu Sans"/>
                <a:cs typeface="DejaVu Sans"/>
              </a:defRPr>
            </a:pPr>
            <a:r>
              <a:rPr sz="1425" b="0">
                <a:solidFill>
                  <a:srgbClr val="5C5B5F"/>
                </a:solidFill>
                <a:latin typeface="DejaVu Sans"/>
                <a:ea typeface="DejaVu Sans"/>
                <a:cs typeface="DejaVu Sans"/>
              </a:rPr>
              <a:t>Ing. Pablo Torres, Mgtr.</a:t>
            </a:r>
          </a:p>
        </p:txBody>
      </p:sp>
    </p:spTree>
    <p:extLst>
      <p:ext uri="{BB962C8B-B14F-4D97-AF65-F5344CB8AC3E}">
        <p14:creationId xmlns:p14="http://schemas.microsoft.com/office/powerpoint/2010/main" val="25715981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CDBE021-9A4C-4005-B50E-F5539BF994EF}"/>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C2B7312-C4A1-4A63-A006-105B9CEF82BD}"/>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El problema de CampusMonitor</a:t>
            </a:r>
          </a:p>
        </p:txBody>
      </p:sp>
      <p:sp>
        <p:nvSpPr>
          <p:cNvPr id="3" name="">
            <a:extLst xmlns:a="http://schemas.openxmlformats.org/drawingml/2006/main">
              <a:ext uri="{FF2B5EF4-FFF2-40B4-BE49-F238E27FC236}">
                <a16:creationId xmlns:a16="http://schemas.microsoft.com/office/drawing/2014/main" id="{E36A9008-3167-4E85-800B-DB46A3607829}"/>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6F30872-7C23-476F-8766-ED618BD0587F}"/>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1.1a</a:t>
            </a:r>
          </a:p>
        </p:txBody>
      </p:sp>
      <p:sp>
        <p:nvSpPr>
          <p:cNvPr id="5" name="">
            <a:extLst xmlns:a="http://schemas.openxmlformats.org/drawingml/2006/main">
              <a:ext uri="{FF2B5EF4-FFF2-40B4-BE49-F238E27FC236}">
                <a16:creationId xmlns:a16="http://schemas.microsoft.com/office/drawing/2014/main" id="{950AE50F-095D-4317-BD3D-4F414393B0F5}"/>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2</a:t>
            </a:r>
          </a:p>
        </p:txBody>
      </p:sp>
      <p:sp>
        <p:nvSpPr>
          <p:cNvPr id="6" name="">
            <a:extLst xmlns:a="http://schemas.openxmlformats.org/drawingml/2006/main">
              <a:ext uri="{FF2B5EF4-FFF2-40B4-BE49-F238E27FC236}">
                <a16:creationId xmlns:a16="http://schemas.microsoft.com/office/drawing/2014/main" id="{81729E42-BA0F-4C78-923F-F3B7F557E9B1}"/>
              </a:ext>
            </a:extLst>
          </p:cNvPr>
          <p:cNvSpPr>
            <a:spLocks xmlns:a="http://schemas.openxmlformats.org/drawingml/2006/main" noGrp="1"/>
          </p:cNvSpPr>
          <p:nvPr/>
        </p:nvSpPr>
        <p:spPr>
          <a:xfrm xmlns:a="http://schemas.openxmlformats.org/drawingml/2006/main">
            <a:off x="762000" y="1771650"/>
            <a:ext cx="104775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CampusMonitor debe almacenar identificadores, nombres y lecturas de sensores. Duplicar una clase contenedora por cada tipo repite la lógica. Usar Object acepta mezclas que solo se descubren al recuperar el dato. Una clase genérica expresa la relación entre el dato que entra y el que sale, y permite comprobarla durante la compilación.</a:t>
            </a:r>
          </a:p>
        </p:txBody>
      </p:sp>
    </p:spTree>
    <p:extLst>
      <p:ext uri="{BB962C8B-B14F-4D97-AF65-F5344CB8AC3E}">
        <p14:creationId xmlns:p14="http://schemas.microsoft.com/office/powerpoint/2010/main" val="41363473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D88AD1A-54BB-4960-B495-D5775277C11F}"/>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478CAF0-D5BE-4B46-9165-D33F1B71F037}"/>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Una analogía para el concepto</a:t>
            </a:r>
          </a:p>
        </p:txBody>
      </p:sp>
      <p:sp>
        <p:nvSpPr>
          <p:cNvPr id="3" name="">
            <a:extLst xmlns:a="http://schemas.openxmlformats.org/drawingml/2006/main">
              <a:ext uri="{FF2B5EF4-FFF2-40B4-BE49-F238E27FC236}">
                <a16:creationId xmlns:a16="http://schemas.microsoft.com/office/drawing/2014/main" id="{1378D0B9-750F-43B5-B1DF-42A986C76705}"/>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1A1445A-2EBD-43FF-8C33-A6605BD83AA5}"/>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1.1a</a:t>
            </a:r>
          </a:p>
        </p:txBody>
      </p:sp>
      <p:sp>
        <p:nvSpPr>
          <p:cNvPr id="5" name="">
            <a:extLst xmlns:a="http://schemas.openxmlformats.org/drawingml/2006/main">
              <a:ext uri="{FF2B5EF4-FFF2-40B4-BE49-F238E27FC236}">
                <a16:creationId xmlns:a16="http://schemas.microsoft.com/office/drawing/2014/main" id="{56629B2E-AE35-4AAB-BE0C-6F04C31F961D}"/>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3</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25ddbf4567542af"/>
          <a:stretch xmlns:a="http://schemas.openxmlformats.org/drawingml/2006/main"/>
        </p:blipFill>
        <p:spPr>
          <a:xfrm xmlns:a="http://schemas.openxmlformats.org/drawingml/2006/main">
            <a:off x="4862513" y="1504950"/>
            <a:ext cx="6715125" cy="4476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9F9BEBE-6ACC-423A-8835-924374946E17}"/>
              </a:ext>
            </a:extLst>
          </p:cNvPr>
          <p:cNvSpPr>
            <a:spLocks xmlns:a="http://schemas.openxmlformats.org/drawingml/2006/main" noGrp="1"/>
          </p:cNvSpPr>
          <p:nvPr/>
        </p:nvSpPr>
        <p:spPr>
          <a:xfrm xmlns:a="http://schemas.openxmlformats.org/drawingml/2006/main">
            <a:off x="685800" y="2000250"/>
            <a:ext cx="3810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Los genéricos evitan conversiones inseguras al recuperar datos.</a:t>
            </a:r>
          </a:p>
        </p:txBody>
      </p:sp>
      <p:sp>
        <p:nvSpPr>
          <p:cNvPr id="8" name="">
            <a:extLst xmlns:a="http://schemas.openxmlformats.org/drawingml/2006/main">
              <a:ext uri="{FF2B5EF4-FFF2-40B4-BE49-F238E27FC236}">
                <a16:creationId xmlns:a16="http://schemas.microsoft.com/office/drawing/2014/main" id="{B743A544-7CC5-40D0-B607-3B284A28CF9A}"/>
              </a:ext>
            </a:extLst>
          </p:cNvPr>
          <p:cNvSpPr>
            <a:spLocks xmlns:a="http://schemas.openxmlformats.org/drawingml/2006/main" noGrp="1"/>
          </p:cNvSpPr>
          <p:nvPr/>
        </p:nvSpPr>
        <p:spPr>
          <a:xfrm xmlns:a="http://schemas.openxmlformats.org/drawingml/2006/main">
            <a:off x="685800" y="3752850"/>
            <a:ext cx="3810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La ilustración sirve como analogía. El contrato técnico se define en el código.</a:t>
            </a:r>
          </a:p>
        </p:txBody>
      </p:sp>
    </p:spTree>
    <p:extLst>
      <p:ext uri="{BB962C8B-B14F-4D97-AF65-F5344CB8AC3E}">
        <p14:creationId xmlns:p14="http://schemas.microsoft.com/office/powerpoint/2010/main" val="64093040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7A6474C-B10F-40A4-88FB-99ED914193A2}"/>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E4DF722-5C77-47E1-B833-ED0AD748CF74}"/>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El problema de Object y del casting</a:t>
            </a:r>
          </a:p>
        </p:txBody>
      </p:sp>
      <p:sp>
        <p:nvSpPr>
          <p:cNvPr id="3" name="">
            <a:extLst xmlns:a="http://schemas.openxmlformats.org/drawingml/2006/main">
              <a:ext uri="{FF2B5EF4-FFF2-40B4-BE49-F238E27FC236}">
                <a16:creationId xmlns:a16="http://schemas.microsoft.com/office/drawing/2014/main" id="{F6FBB283-E940-491D-8E85-35DAB73A61A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0292D0B-AB03-49E5-BD12-ADC79F58D5DD}"/>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1.1a</a:t>
            </a:r>
          </a:p>
        </p:txBody>
      </p:sp>
      <p:sp>
        <p:nvSpPr>
          <p:cNvPr id="5" name="">
            <a:extLst xmlns:a="http://schemas.openxmlformats.org/drawingml/2006/main">
              <a:ext uri="{FF2B5EF4-FFF2-40B4-BE49-F238E27FC236}">
                <a16:creationId xmlns:a16="http://schemas.microsoft.com/office/drawing/2014/main" id="{8F36ED77-42E3-4284-879D-40BDD19D3C07}"/>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4</a:t>
            </a:r>
          </a:p>
        </p:txBody>
      </p:sp>
      <p:sp>
        <p:nvSpPr>
          <p:cNvPr id="6" name="">
            <a:extLst xmlns:a="http://schemas.openxmlformats.org/drawingml/2006/main">
              <a:ext uri="{FF2B5EF4-FFF2-40B4-BE49-F238E27FC236}">
                <a16:creationId xmlns:a16="http://schemas.microsoft.com/office/drawing/2014/main" id="{79B7CBD1-961F-416B-913C-2882A141E83D}"/>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Los genéricos evitan conversiones inseguras al recuperar datos.</a:t>
            </a:r>
          </a:p>
        </p:txBody>
      </p:sp>
      <p:sp>
        <p:nvSpPr>
          <p:cNvPr id="7" name="">
            <a:extLst xmlns:a="http://schemas.openxmlformats.org/drawingml/2006/main">
              <a:ext uri="{FF2B5EF4-FFF2-40B4-BE49-F238E27FC236}">
                <a16:creationId xmlns:a16="http://schemas.microsoft.com/office/drawing/2014/main" id="{AD754093-FFFB-4F0D-9155-2C5633969922}"/>
              </a:ext>
            </a:extLst>
          </p:cNvPr>
          <p:cNvSpPr>
            <a:spLocks xmlns:a="http://schemas.openxmlformats.org/drawingml/2006/main" noGrp="1"/>
          </p:cNvSpPr>
          <p:nvPr/>
        </p:nvSpPr>
        <p:spPr>
          <a:xfrm xmlns:a="http://schemas.openxmlformats.org/drawingml/2006/main">
            <a:off x="723900" y="2800350"/>
            <a:ext cx="5048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Una variable de tipo Object puede referirse a un String, un Integer o un Sensor. Esa flexibilidad pierde información en la interfaz del contenedor: al recuperar Object, quien llama debe conocer el tipo real y convertirlo. Un cast no transforma el objeto y puede lanzar ClassCastException.</a:t>
            </a:r>
          </a:p>
        </p:txBody>
      </p:sp>
      <p:sp>
        <p:nvSpPr>
          <p:cNvPr id="8" name="">
            <a:extLst xmlns:a="http://schemas.openxmlformats.org/drawingml/2006/main">
              <a:ext uri="{FF2B5EF4-FFF2-40B4-BE49-F238E27FC236}">
                <a16:creationId xmlns:a16="http://schemas.microsoft.com/office/drawing/2014/main" id="{90A8BC73-5DA6-41E8-86D8-8E701F2FE7C0}"/>
              </a:ext>
            </a:extLst>
          </p:cNvPr>
          <p:cNvSpPr>
            <a:spLocks xmlns:a="http://schemas.openxmlformats.org/drawingml/2006/main" noGrp="1"/>
          </p:cNvSpPr>
          <p:nvPr/>
        </p:nvSpPr>
        <p:spPr>
          <a:xfrm xmlns:a="http://schemas.openxmlformats.org/drawingml/2006/main">
            <a:off x="6210300" y="2724150"/>
            <a:ext cx="5238750" cy="274320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5B42EB1-5E6E-4273-9483-4ACD88AF9581}"/>
              </a:ext>
            </a:extLst>
          </p:cNvPr>
          <p:cNvSpPr>
            <a:spLocks xmlns:a="http://schemas.openxmlformats.org/drawingml/2006/main" noGrp="1"/>
          </p:cNvSpPr>
          <p:nvPr/>
        </p:nvSpPr>
        <p:spPr>
          <a:xfrm xmlns:a="http://schemas.openxmlformats.org/drawingml/2006/main">
            <a:off x="6419850" y="2924175"/>
            <a:ext cx="48196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403F3B"/>
                </a:solidFill>
                <a:latin typeface="DejaVu Sans"/>
                <a:ea typeface="DejaVu Sans"/>
                <a:cs typeface="DejaVu Sans"/>
              </a:defRPr>
            </a:pPr>
            <a:r>
              <a:rPr sz="1425" b="0">
                <a:solidFill>
                  <a:srgbClr val="403F3B"/>
                </a:solidFill>
                <a:latin typeface="DejaVu Sans"/>
                <a:ea typeface="DejaVu Sans"/>
                <a:cs typeface="DejaVu Sans"/>
              </a:rPr>
              <a:t>Object dato = "Aula 201";</a:t>
            </a:r>
          </a:p>
          <a:p xmlns:a="http://schemas.openxmlformats.org/drawingml/2006/main">
            <a:pPr>
              <a:defRPr sz="1425" b="0">
                <a:solidFill>
                  <a:srgbClr val="403F3B"/>
                </a:solidFill>
                <a:latin typeface="DejaVu Sans"/>
                <a:ea typeface="DejaVu Sans"/>
                <a:cs typeface="DejaVu Sans"/>
              </a:defRPr>
            </a:pPr>
            <a:r>
              <a:rPr sz="1425" b="0">
                <a:solidFill>
                  <a:srgbClr val="403F3B"/>
                </a:solidFill>
                <a:latin typeface="DejaVu Sans"/>
                <a:ea typeface="DejaVu Sans"/>
                <a:cs typeface="DejaVu Sans"/>
              </a:rPr>
              <a:t>String nombre = (String) dato;</a:t>
            </a:r>
          </a:p>
          <a:p xmlns:a="http://schemas.openxmlformats.org/drawingml/2006/main">
            <a:pPr>
              <a:defRPr sz="1425" b="0">
                <a:solidFill>
                  <a:srgbClr val="403F3B"/>
                </a:solidFill>
                <a:latin typeface="DejaVu Sans"/>
                <a:ea typeface="DejaVu Sans"/>
                <a:cs typeface="DejaVu Sans"/>
              </a:defRPr>
            </a:pPr>
            <a:r>
              <a:rPr sz="1425" b="0">
                <a:solidFill>
                  <a:srgbClr val="403F3B"/>
                </a:solidFill>
                <a:latin typeface="DejaVu Sans"/>
                <a:ea typeface="DejaVu Sans"/>
                <a:cs typeface="DejaVu Sans"/>
              </a:rPr>
              <a:t>// Integer numero = (Integer) dato; // Compila, pero falla al ejecutar.</a:t>
            </a:r>
          </a:p>
        </p:txBody>
      </p:sp>
    </p:spTree>
    <p:extLst>
      <p:ext uri="{BB962C8B-B14F-4D97-AF65-F5344CB8AC3E}">
        <p14:creationId xmlns:p14="http://schemas.microsoft.com/office/powerpoint/2010/main" val="140480789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FB5BF7B-C9F7-4974-9971-DDD0617D4BCF}"/>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3BB3BFF-EA1B-469E-8C46-53E01D808E88}"/>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Parámetro de tipo y argumento de tipo</a:t>
            </a:r>
          </a:p>
        </p:txBody>
      </p:sp>
      <p:sp>
        <p:nvSpPr>
          <p:cNvPr id="3" name="">
            <a:extLst xmlns:a="http://schemas.openxmlformats.org/drawingml/2006/main">
              <a:ext uri="{FF2B5EF4-FFF2-40B4-BE49-F238E27FC236}">
                <a16:creationId xmlns:a16="http://schemas.microsoft.com/office/drawing/2014/main" id="{231DACB9-77AA-48C9-B937-74171E516BAA}"/>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02644E8-9DFB-4F85-92D6-2891DC459BA0}"/>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1.1a</a:t>
            </a:r>
          </a:p>
        </p:txBody>
      </p:sp>
      <p:sp>
        <p:nvSpPr>
          <p:cNvPr id="5" name="">
            <a:extLst xmlns:a="http://schemas.openxmlformats.org/drawingml/2006/main">
              <a:ext uri="{FF2B5EF4-FFF2-40B4-BE49-F238E27FC236}">
                <a16:creationId xmlns:a16="http://schemas.microsoft.com/office/drawing/2014/main" id="{9622F2D1-9725-4B73-B689-5F77EDA24B00}"/>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5</a:t>
            </a:r>
          </a:p>
        </p:txBody>
      </p:sp>
      <p:sp>
        <p:nvSpPr>
          <p:cNvPr id="6" name="">
            <a:extLst xmlns:a="http://schemas.openxmlformats.org/drawingml/2006/main">
              <a:ext uri="{FF2B5EF4-FFF2-40B4-BE49-F238E27FC236}">
                <a16:creationId xmlns:a16="http://schemas.microsoft.com/office/drawing/2014/main" id="{CAC5EC99-1DB0-43F7-9CD0-CCA0A5136177}"/>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El parámetro declara el contrato; el argumento concreta el tipo.</a:t>
            </a:r>
          </a:p>
        </p:txBody>
      </p:sp>
      <p:sp>
        <p:nvSpPr>
          <p:cNvPr id="7" name="">
            <a:extLst xmlns:a="http://schemas.openxmlformats.org/drawingml/2006/main">
              <a:ext uri="{FF2B5EF4-FFF2-40B4-BE49-F238E27FC236}">
                <a16:creationId xmlns:a16="http://schemas.microsoft.com/office/drawing/2014/main" id="{681C2DF3-C14A-4445-ADF1-190A270B3ADD}"/>
              </a:ext>
            </a:extLst>
          </p:cNvPr>
          <p:cNvSpPr>
            <a:spLocks xmlns:a="http://schemas.openxmlformats.org/drawingml/2006/main" noGrp="1"/>
          </p:cNvSpPr>
          <p:nvPr/>
        </p:nvSpPr>
        <p:spPr>
          <a:xfrm xmlns:a="http://schemas.openxmlformats.org/drawingml/2006/main">
            <a:off x="723900" y="2800350"/>
            <a:ext cx="5048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En Caja&lt;T&gt;, T es un parámetro de tipo, una variable que participa en la declaración de la clase. En Caja&lt;String&gt;, String es el argumento concreto proporcionado por el cliente. No es un parámetro de valor como una cantidad o un identificador.</a:t>
            </a:r>
          </a:p>
        </p:txBody>
      </p:sp>
      <p:sp>
        <p:nvSpPr>
          <p:cNvPr id="8" name="">
            <a:extLst xmlns:a="http://schemas.openxmlformats.org/drawingml/2006/main">
              <a:ext uri="{FF2B5EF4-FFF2-40B4-BE49-F238E27FC236}">
                <a16:creationId xmlns:a16="http://schemas.microsoft.com/office/drawing/2014/main" id="{02656F4D-711E-4D0E-AB2B-F69F60B29373}"/>
              </a:ext>
            </a:extLst>
          </p:cNvPr>
          <p:cNvSpPr>
            <a:spLocks xmlns:a="http://schemas.openxmlformats.org/drawingml/2006/main" noGrp="1"/>
          </p:cNvSpPr>
          <p:nvPr/>
        </p:nvSpPr>
        <p:spPr>
          <a:xfrm xmlns:a="http://schemas.openxmlformats.org/drawingml/2006/main">
            <a:off x="6210300" y="2724150"/>
            <a:ext cx="5238750" cy="274320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997E7F6-61E3-4E81-B828-0F33A0B398AC}"/>
              </a:ext>
            </a:extLst>
          </p:cNvPr>
          <p:cNvSpPr>
            <a:spLocks xmlns:a="http://schemas.openxmlformats.org/drawingml/2006/main" noGrp="1"/>
          </p:cNvSpPr>
          <p:nvPr/>
        </p:nvSpPr>
        <p:spPr>
          <a:xfrm xmlns:a="http://schemas.openxmlformats.org/drawingml/2006/main">
            <a:off x="6419850" y="2924175"/>
            <a:ext cx="48196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403F3B"/>
                </a:solidFill>
                <a:latin typeface="DejaVu Sans"/>
                <a:ea typeface="DejaVu Sans"/>
                <a:cs typeface="DejaVu Sans"/>
              </a:defRPr>
            </a:pPr>
            <a:r>
              <a:rPr sz="1425" b="0">
                <a:solidFill>
                  <a:srgbClr val="403F3B"/>
                </a:solidFill>
                <a:latin typeface="DejaVu Sans"/>
                <a:ea typeface="DejaVu Sans"/>
                <a:cs typeface="DejaVu Sans"/>
              </a:rPr>
              <a:t>Caja&lt;String&gt; ubicacion = new Caja&lt;&gt;("Laboratorio");</a:t>
            </a:r>
          </a:p>
          <a:p xmlns:a="http://schemas.openxmlformats.org/drawingml/2006/main">
            <a:pPr>
              <a:defRPr sz="1425" b="0">
                <a:solidFill>
                  <a:srgbClr val="403F3B"/>
                </a:solidFill>
                <a:latin typeface="DejaVu Sans"/>
                <a:ea typeface="DejaVu Sans"/>
                <a:cs typeface="DejaVu Sans"/>
              </a:defRPr>
            </a:pPr>
            <a:r>
              <a:rPr sz="1425" b="0">
                <a:solidFill>
                  <a:srgbClr val="403F3B"/>
                </a:solidFill>
                <a:latin typeface="DejaVu Sans"/>
                <a:ea typeface="DejaVu Sans"/>
                <a:cs typeface="DejaVu Sans"/>
              </a:rPr>
              <a:t>Caja&lt;Integer&gt; capacidad = new Caja&lt;&gt;(30);</a:t>
            </a:r>
          </a:p>
          <a:p xmlns:a="http://schemas.openxmlformats.org/drawingml/2006/main">
            <a:pPr>
              <a:defRPr sz="1425" b="0">
                <a:solidFill>
                  <a:srgbClr val="403F3B"/>
                </a:solidFill>
                <a:latin typeface="DejaVu Sans"/>
                <a:ea typeface="DejaVu Sans"/>
                <a:cs typeface="DejaVu Sans"/>
              </a:defRPr>
            </a:pPr>
            <a:r>
              <a:rPr sz="1425" b="0">
                <a:solidFill>
                  <a:srgbClr val="403F3B"/>
                </a:solidFill>
                <a:latin typeface="DejaVu Sans"/>
                <a:ea typeface="DejaVu Sans"/>
                <a:cs typeface="DejaVu Sans"/>
              </a:rPr>
              <a:t>String texto = ubicacion.obtener();</a:t>
            </a:r>
          </a:p>
        </p:txBody>
      </p:sp>
    </p:spTree>
    <p:extLst>
      <p:ext uri="{BB962C8B-B14F-4D97-AF65-F5344CB8AC3E}">
        <p14:creationId xmlns:p14="http://schemas.microsoft.com/office/powerpoint/2010/main" val="101641460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47AE7E9-3638-4422-9DAE-0C986E4CFE4E}"/>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D617DD4-CCB3-4293-BF06-71EA3B6403A8}"/>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Tipos de referencia y restricciones</a:t>
            </a:r>
          </a:p>
        </p:txBody>
      </p:sp>
      <p:sp>
        <p:nvSpPr>
          <p:cNvPr id="3" name="">
            <a:extLst xmlns:a="http://schemas.openxmlformats.org/drawingml/2006/main">
              <a:ext uri="{FF2B5EF4-FFF2-40B4-BE49-F238E27FC236}">
                <a16:creationId xmlns:a16="http://schemas.microsoft.com/office/drawing/2014/main" id="{6A85E6AE-9B1E-4DFE-AC73-B79FF10BBF21}"/>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00D8657-D7FD-4854-8FE5-41BFA8C4CB5A}"/>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1.1a</a:t>
            </a:r>
          </a:p>
        </p:txBody>
      </p:sp>
      <p:sp>
        <p:nvSpPr>
          <p:cNvPr id="5" name="">
            <a:extLst xmlns:a="http://schemas.openxmlformats.org/drawingml/2006/main">
              <a:ext uri="{FF2B5EF4-FFF2-40B4-BE49-F238E27FC236}">
                <a16:creationId xmlns:a16="http://schemas.microsoft.com/office/drawing/2014/main" id="{5D1F5BFB-150F-402F-9230-21353356E86F}"/>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6</a:t>
            </a:r>
          </a:p>
        </p:txBody>
      </p:sp>
      <p:sp>
        <p:nvSpPr>
          <p:cNvPr id="6" name="">
            <a:extLst xmlns:a="http://schemas.openxmlformats.org/drawingml/2006/main">
              <a:ext uri="{FF2B5EF4-FFF2-40B4-BE49-F238E27FC236}">
                <a16:creationId xmlns:a16="http://schemas.microsoft.com/office/drawing/2014/main" id="{7743786B-1E42-42F2-94D1-1DD874B5556C}"/>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Los argumentos genéricos deben ser tipos de referencia.</a:t>
            </a:r>
          </a:p>
        </p:txBody>
      </p:sp>
      <p:sp>
        <p:nvSpPr>
          <p:cNvPr id="7" name="">
            <a:extLst xmlns:a="http://schemas.openxmlformats.org/drawingml/2006/main">
              <a:ext uri="{FF2B5EF4-FFF2-40B4-BE49-F238E27FC236}">
                <a16:creationId xmlns:a16="http://schemas.microsoft.com/office/drawing/2014/main" id="{EBF7F4EC-2005-4288-8DFB-73C968186554}"/>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Los argumentos genéricos son tipos de referencia. Usa Integer donde el dato original sea int, y Double para double. Java realiza boxing y unboxing cuando corresponde, tema que se desarrolla en 1.1c.</a:t>
            </a:r>
          </a:p>
        </p:txBody>
      </p:sp>
      <p:sp>
        <p:nvSpPr>
          <p:cNvPr id="8" name="">
            <a:extLst xmlns:a="http://schemas.openxmlformats.org/drawingml/2006/main">
              <a:ext uri="{FF2B5EF4-FFF2-40B4-BE49-F238E27FC236}">
                <a16:creationId xmlns:a16="http://schemas.microsoft.com/office/drawing/2014/main" id="{FF01D0B2-3AAA-4F1A-8ED5-58FCC1F95238}"/>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1D858DC-4E12-4CF4-A696-32B7EAD8CB8A}"/>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El genérico describe qué operaciones son válidas. Sin una cota, solo están disponibles las operaciones garantizadas por Object.</a:t>
            </a:r>
          </a:p>
        </p:txBody>
      </p:sp>
    </p:spTree>
    <p:extLst>
      <p:ext uri="{BB962C8B-B14F-4D97-AF65-F5344CB8AC3E}">
        <p14:creationId xmlns:p14="http://schemas.microsoft.com/office/powerpoint/2010/main" val="111271637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3EE2DE9-2B37-4163-B52B-DB2ACE36D505}"/>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0E8713E-ACBE-45B8-99C3-B72462EBC15D}"/>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Contrato del contenedor e inmutabilidad</a:t>
            </a:r>
          </a:p>
        </p:txBody>
      </p:sp>
      <p:sp>
        <p:nvSpPr>
          <p:cNvPr id="3" name="">
            <a:extLst xmlns:a="http://schemas.openxmlformats.org/drawingml/2006/main">
              <a:ext uri="{FF2B5EF4-FFF2-40B4-BE49-F238E27FC236}">
                <a16:creationId xmlns:a16="http://schemas.microsoft.com/office/drawing/2014/main" id="{B52471DA-3A9B-4022-A105-268E26DBD650}"/>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AD3E4D6-8C9D-4702-9811-11DDB90AC791}"/>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1.1a</a:t>
            </a:r>
          </a:p>
        </p:txBody>
      </p:sp>
      <p:sp>
        <p:nvSpPr>
          <p:cNvPr id="5" name="">
            <a:extLst xmlns:a="http://schemas.openxmlformats.org/drawingml/2006/main">
              <a:ext uri="{FF2B5EF4-FFF2-40B4-BE49-F238E27FC236}">
                <a16:creationId xmlns:a16="http://schemas.microsoft.com/office/drawing/2014/main" id="{ED09DA8D-B176-4CC4-83E9-483177DE4BAB}"/>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7</a:t>
            </a:r>
          </a:p>
        </p:txBody>
      </p:sp>
      <p:sp>
        <p:nvSpPr>
          <p:cNvPr id="6" name="">
            <a:extLst xmlns:a="http://schemas.openxmlformats.org/drawingml/2006/main">
              <a:ext uri="{FF2B5EF4-FFF2-40B4-BE49-F238E27FC236}">
                <a16:creationId xmlns:a16="http://schemas.microsoft.com/office/drawing/2014/main" id="{B493A4EE-E021-4F5E-AC53-CC71E694305A}"/>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final protege la referencia; el dominio todavía exige validación.</a:t>
            </a:r>
          </a:p>
        </p:txBody>
      </p:sp>
      <p:sp>
        <p:nvSpPr>
          <p:cNvPr id="7" name="">
            <a:extLst xmlns:a="http://schemas.openxmlformats.org/drawingml/2006/main">
              <a:ext uri="{FF2B5EF4-FFF2-40B4-BE49-F238E27FC236}">
                <a16:creationId xmlns:a16="http://schemas.microsoft.com/office/drawing/2014/main" id="{3DD76141-F919-4815-ACE3-67940B0E7858}"/>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La demostración usa un campo final y rechaza null al construir la caja. final impide reasignar la referencia, pero no vuelve inmutable al objeto almacenado. Si T es una lista modificable, el contenido de esa lista todavía puede cambiar. Decide si el contenedor acepta valores nulos y documenta esa decisión.</a:t>
            </a:r>
          </a:p>
        </p:txBody>
      </p:sp>
      <p:sp>
        <p:nvSpPr>
          <p:cNvPr id="8" name="">
            <a:extLst xmlns:a="http://schemas.openxmlformats.org/drawingml/2006/main">
              <a:ext uri="{FF2B5EF4-FFF2-40B4-BE49-F238E27FC236}">
                <a16:creationId xmlns:a16="http://schemas.microsoft.com/office/drawing/2014/main" id="{BB64C295-128A-4B4C-818A-03282797D15E}"/>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F1F39F1-4BB3-4DD6-BF8F-EE568261C1AF}"/>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Las validaciones del dominio siguen siendo necesarias. Caja&lt;Double&gt; garantiza un Double, pero no que la temperatura sea válida. La seguridad de tipos y la validación de valores resuelven problemas diferentes.</a:t>
            </a:r>
          </a:p>
        </p:txBody>
      </p:sp>
    </p:spTree>
    <p:extLst>
      <p:ext uri="{BB962C8B-B14F-4D97-AF65-F5344CB8AC3E}">
        <p14:creationId xmlns:p14="http://schemas.microsoft.com/office/powerpoint/2010/main" val="67401975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D8012FF-26D9-46F3-9258-11A6A5431611}"/>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160D278-3197-4CA7-936C-227CF7F67DB3}"/>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Demostración resuelta</a:t>
            </a:r>
          </a:p>
        </p:txBody>
      </p:sp>
      <p:sp>
        <p:nvSpPr>
          <p:cNvPr id="3" name="">
            <a:extLst xmlns:a="http://schemas.openxmlformats.org/drawingml/2006/main">
              <a:ext uri="{FF2B5EF4-FFF2-40B4-BE49-F238E27FC236}">
                <a16:creationId xmlns:a16="http://schemas.microsoft.com/office/drawing/2014/main" id="{BFC7CF35-2058-4507-B280-53A8266BD18F}"/>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E5E32DD-F859-4284-B26D-64FD411F8E15}"/>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1.1a</a:t>
            </a:r>
          </a:p>
        </p:txBody>
      </p:sp>
      <p:sp>
        <p:nvSpPr>
          <p:cNvPr id="5" name="">
            <a:extLst xmlns:a="http://schemas.openxmlformats.org/drawingml/2006/main">
              <a:ext uri="{FF2B5EF4-FFF2-40B4-BE49-F238E27FC236}">
                <a16:creationId xmlns:a16="http://schemas.microsoft.com/office/drawing/2014/main" id="{C385840D-1688-4A5E-9E6A-6382FFDAF4AE}"/>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8</a:t>
            </a:r>
          </a:p>
        </p:txBody>
      </p:sp>
      <p:sp>
        <p:nvSpPr>
          <p:cNvPr id="6" name="">
            <a:extLst xmlns:a="http://schemas.openxmlformats.org/drawingml/2006/main">
              <a:ext uri="{FF2B5EF4-FFF2-40B4-BE49-F238E27FC236}">
                <a16:creationId xmlns:a16="http://schemas.microsoft.com/office/drawing/2014/main" id="{F14877E5-851D-40E1-95A6-B1FDBA45ECF3}"/>
              </a:ext>
            </a:extLst>
          </p:cNvPr>
          <p:cNvSpPr>
            <a:spLocks xmlns:a="http://schemas.openxmlformats.org/drawingml/2006/main" noGrp="1"/>
          </p:cNvSpPr>
          <p:nvPr/>
        </p:nvSpPr>
        <p:spPr>
          <a:xfrm xmlns:a="http://schemas.openxmlformats.org/drawingml/2006/main">
            <a:off x="628650" y="1590675"/>
            <a:ext cx="10953750" cy="371475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3271E81-0061-404D-9EA2-706607745ECF}"/>
              </a:ext>
            </a:extLst>
          </p:cNvPr>
          <p:cNvSpPr>
            <a:spLocks xmlns:a="http://schemas.openxmlformats.org/drawingml/2006/main" noGrp="1"/>
          </p:cNvSpPr>
          <p:nvPr/>
        </p:nvSpPr>
        <p:spPr>
          <a:xfrm xmlns:a="http://schemas.openxmlformats.org/drawingml/2006/main">
            <a:off x="857250" y="1743075"/>
            <a:ext cx="1047750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public static void main(String[] args)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Caja&lt;String&gt; lugar = new Caja&lt;&gt;("Laboratorio 1");</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Caja&lt;Integer&gt; limite = new Caja&lt;&gt;(30);</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Caja&lt;Sensor&gt; dispositivo = new Caja&lt;&gt;(new Sensor("S01", lugar.obtener()));</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System.out.println(dispositivo.obtener().id() + " / " + lugar.obtener());</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System.out.println("Capacidad: " + limite.obtener());</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System.out.println(lugar.getClass() == limite.getClass());</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try { new Caja&lt;String&gt;(null);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catch (NullPointerException e) { System.out.println("Valor nulo rechazado");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a:t>
            </a:r>
          </a:p>
        </p:txBody>
      </p:sp>
      <p:sp>
        <p:nvSpPr>
          <p:cNvPr id="8" name="">
            <a:extLst xmlns:a="http://schemas.openxmlformats.org/drawingml/2006/main">
              <a:ext uri="{FF2B5EF4-FFF2-40B4-BE49-F238E27FC236}">
                <a16:creationId xmlns:a16="http://schemas.microsoft.com/office/drawing/2014/main" id="{B405CB6E-D92A-46CA-9197-29FD64901F4F}"/>
              </a:ext>
            </a:extLst>
          </p:cNvPr>
          <p:cNvSpPr>
            <a:spLocks xmlns:a="http://schemas.openxmlformats.org/drawingml/2006/main" noGrp="1"/>
          </p:cNvSpPr>
          <p:nvPr/>
        </p:nvSpPr>
        <p:spPr>
          <a:xfrm xmlns:a="http://schemas.openxmlformats.org/drawingml/2006/main">
            <a:off x="685800" y="55816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C5B5F"/>
                </a:solidFill>
                <a:latin typeface="DejaVu Sans"/>
                <a:ea typeface="DejaVu Sans"/>
                <a:cs typeface="DejaVu Sans"/>
              </a:defRPr>
            </a:pPr>
            <a:r>
              <a:rPr sz="1425" b="0">
                <a:solidFill>
                  <a:srgbClr val="5C5B5F"/>
                </a:solidFill>
                <a:latin typeface="DejaVu Sans"/>
                <a:ea typeface="DejaVu Sans"/>
                <a:cs typeface="DejaVu Sans"/>
              </a:rPr>
              <a:t>Fragmento de TiposDemo.java. Código completo y ejecución en material.md.</a:t>
            </a:r>
          </a:p>
        </p:txBody>
      </p:sp>
    </p:spTree>
    <p:extLst>
      <p:ext uri="{BB962C8B-B14F-4D97-AF65-F5344CB8AC3E}">
        <p14:creationId xmlns:p14="http://schemas.microsoft.com/office/powerpoint/2010/main" val="41582717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5AF5BE9-09F7-48FA-B6B6-3AFBB6F52C38}"/>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4D7CAFD-EC23-4690-8E32-777399AB0FA4}"/>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Casos de aceptación de la PC</a:t>
            </a:r>
          </a:p>
        </p:txBody>
      </p:sp>
      <p:sp>
        <p:nvSpPr>
          <p:cNvPr id="3" name="">
            <a:extLst xmlns:a="http://schemas.openxmlformats.org/drawingml/2006/main">
              <a:ext uri="{FF2B5EF4-FFF2-40B4-BE49-F238E27FC236}">
                <a16:creationId xmlns:a16="http://schemas.microsoft.com/office/drawing/2014/main" id="{6A13ECC0-5A3A-44C6-932D-CDF6AD0F8729}"/>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535E60D-E1E9-4F8B-A936-550ACB097613}"/>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1.1a</a:t>
            </a:r>
          </a:p>
        </p:txBody>
      </p:sp>
      <p:sp>
        <p:nvSpPr>
          <p:cNvPr id="5" name="">
            <a:extLst xmlns:a="http://schemas.openxmlformats.org/drawingml/2006/main">
              <a:ext uri="{FF2B5EF4-FFF2-40B4-BE49-F238E27FC236}">
                <a16:creationId xmlns:a16="http://schemas.microsoft.com/office/drawing/2014/main" id="{3EC2F077-A68C-4A76-AEB0-902422DEBC45}"/>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9</a:t>
            </a:r>
          </a:p>
        </p:txBody>
      </p:sp>
      <p:graphicFrame>
        <p:nvGraphicFramePr>
          <p:cNvPr id="13" name=""/>
          <p:cNvGraphicFramePr/>
          <p:nvPr/>
        </p:nvGraphicFramePr>
        <p:xfrm>
          <a:off xmlns:a="http://schemas.openxmlformats.org/drawingml/2006/main" x="609600" y="1638300"/>
          <a:ext xmlns:a="http://schemas.openxmlformats.org/drawingml/2006/main" cx="10972800" cy="3143250"/>
        </p:xfrm>
        <a:graphic xmlns:a="http://schemas.openxmlformats.org/drawingml/2006/main">
          <a:graphicData uri="http://schemas.openxmlformats.org/drawingml/2006/table">
            <a:tbl>
              <a:tblPr/>
              <a:tblGrid>
                <a:gridCol w="4191000"/>
                <a:gridCol w="6629400"/>
              </a:tblGrid>
              <a:tr h="785813">
                <a:tc>
                  <a:txBody>
                    <a:bodyPr/>
                    <a:lstStyle/>
                    <a:p>
                      <a:r>
                        <a:rPr sz="1725" b="1">
                          <a:solidFill>
                            <a:srgbClr val="FFFFFF"/>
                          </a:solidFill>
                          <a:latin typeface="DejaVu Sans"/>
                          <a:ea typeface="DejaVu Sans"/>
                          <a:cs typeface="DejaVu Sans"/>
                        </a:rPr>
                        <a:t>Caso</a:t>
                      </a:r>
                    </a:p>
                  </a:txBody>
                  <a:tcPr marL="152400" marR="152400" marT="133350" marB="114300" anchor="ctr">
                    <a:solidFill>
                      <a:srgbClr val="003772"/>
                    </a:solidFill>
                  </a:tcPr>
                </a:tc>
                <a:tc>
                  <a:txBody>
                    <a:bodyPr/>
                    <a:lstStyle/>
                    <a:p>
                      <a:r>
                        <a:rPr sz="1725" b="1">
                          <a:solidFill>
                            <a:srgbClr val="FFFFFF"/>
                          </a:solidFill>
                          <a:latin typeface="DejaVu Sans"/>
                          <a:ea typeface="DejaVu Sans"/>
                          <a:cs typeface="DejaVu Sans"/>
                        </a:rPr>
                        <a:t>Comportamiento requerido</a:t>
                      </a:r>
                    </a:p>
                  </a:txBody>
                  <a:tcPr marL="152400" marR="152400" marT="133350" marB="114300" anchor="ctr">
                    <a:solidFill>
                      <a:srgbClr val="003772"/>
                    </a:solidFill>
                  </a:tcPr>
                </a:tc>
              </a:tr>
              <a:tr h="785813">
                <a:tc>
                  <a:txBody>
                    <a:bodyPr/>
                    <a:lstStyle/>
                    <a:p>
                      <a:r>
                        <a:rPr sz="1725" b="0">
                          <a:solidFill>
                            <a:srgbClr val="403F3B"/>
                          </a:solidFill>
                          <a:latin typeface="DejaVu Sans"/>
                          <a:ea typeface="DejaVu Sans"/>
                          <a:cs typeface="DejaVu Sans"/>
                        </a:rPr>
                        <a:t>S01, 22.5, °C</a:t>
                      </a:r>
                    </a:p>
                  </a:txBody>
                  <a:tcPr marL="152400" marR="152400" marT="133350" marB="114300" anchor="ctr">
                    <a:solidFill>
                      <a:srgbClr val="F3F3FA"/>
                    </a:solidFill>
                  </a:tcPr>
                </a:tc>
                <a:tc>
                  <a:txBody>
                    <a:bodyPr/>
                    <a:lstStyle/>
                    <a:p>
                      <a:r>
                        <a:rPr sz="1725" b="0">
                          <a:solidFill>
                            <a:srgbClr val="403F3B"/>
                          </a:solidFill>
                          <a:latin typeface="DejaVu Sans"/>
                          <a:ea typeface="DejaVu Sans"/>
                          <a:cs typeface="DejaVu Sans"/>
                        </a:rPr>
                        <a:t>Lectura válida y recuperada como Double</a:t>
                      </a:r>
                    </a:p>
                  </a:txBody>
                  <a:tcPr marL="152400" marR="152400" marT="133350" marB="114300" anchor="ctr">
                    <a:solidFill>
                      <a:srgbClr val="F3F3FA"/>
                    </a:solidFill>
                  </a:tcPr>
                </a:tc>
              </a:tr>
              <a:tr h="785813">
                <a:tc>
                  <a:txBody>
                    <a:bodyPr/>
                    <a:lstStyle/>
                    <a:p>
                      <a:r>
                        <a:rPr sz="1725" b="0">
                          <a:solidFill>
                            <a:srgbClr val="403F3B"/>
                          </a:solidFill>
                          <a:latin typeface="DejaVu Sans"/>
                          <a:ea typeface="DejaVu Sans"/>
                          <a:cs typeface="DejaVu Sans"/>
                        </a:rPr>
                        <a:t>S02, 18, personas</a:t>
                      </a:r>
                    </a:p>
                  </a:txBody>
                  <a:tcPr marL="152400" marR="152400" marT="133350" marB="114300" anchor="ctr">
                    <a:solidFill>
                      <a:srgbClr val="FFFFFF"/>
                    </a:solidFill>
                  </a:tcPr>
                </a:tc>
                <a:tc>
                  <a:txBody>
                    <a:bodyPr/>
                    <a:lstStyle/>
                    <a:p>
                      <a:r>
                        <a:rPr sz="1725" b="0">
                          <a:solidFill>
                            <a:srgbClr val="403F3B"/>
                          </a:solidFill>
                          <a:latin typeface="DejaVu Sans"/>
                          <a:ea typeface="DejaVu Sans"/>
                          <a:cs typeface="DejaVu Sans"/>
                        </a:rPr>
                        <a:t>Lectura válida y recuperada como Integer</a:t>
                      </a:r>
                    </a:p>
                  </a:txBody>
                  <a:tcPr marL="152400" marR="152400" marT="133350" marB="114300" anchor="ctr">
                    <a:solidFill>
                      <a:srgbClr val="FFFFFF"/>
                    </a:solidFill>
                  </a:tcPr>
                </a:tc>
              </a:tr>
              <a:tr h="785813">
                <a:tc>
                  <a:txBody>
                    <a:bodyPr/>
                    <a:lstStyle/>
                    <a:p>
                      <a:r>
                        <a:rPr sz="1725" b="0">
                          <a:solidFill>
                            <a:srgbClr val="403F3B"/>
                          </a:solidFill>
                          <a:latin typeface="DejaVu Sans"/>
                          <a:ea typeface="DejaVu Sans"/>
                          <a:cs typeface="DejaVu Sans"/>
                        </a:rPr>
                        <a:t>id vacío o valor null</a:t>
                      </a:r>
                    </a:p>
                  </a:txBody>
                  <a:tcPr marL="152400" marR="152400" marT="133350" marB="114300" anchor="ctr">
                    <a:solidFill>
                      <a:srgbClr val="F3F3FA"/>
                    </a:solidFill>
                  </a:tcPr>
                </a:tc>
                <a:tc>
                  <a:txBody>
                    <a:bodyPr/>
                    <a:lstStyle/>
                    <a:p>
                      <a:r>
                        <a:rPr sz="1725" b="0">
                          <a:solidFill>
                            <a:srgbClr val="403F3B"/>
                          </a:solidFill>
                          <a:latin typeface="DejaVu Sans"/>
                          <a:ea typeface="DejaVu Sans"/>
                          <a:cs typeface="DejaVu Sans"/>
                        </a:rPr>
                        <a:t>Error descriptivo de validación</a:t>
                      </a:r>
                    </a:p>
                  </a:txBody>
                  <a:tcPr marL="152400" marR="152400" marT="133350" marB="114300" anchor="ctr">
                    <a:solidFill>
                      <a:srgbClr val="F3F3FA"/>
                    </a:solidFill>
                  </a:tcPr>
                </a:tc>
              </a:tr>
            </a:tbl>
          </a:graphicData>
        </a:graphic>
      </p:graphicFrame>
      <p:sp>
        <p:nvSpPr>
          <p:cNvPr id="7" name="">
            <a:extLst xmlns:a="http://schemas.openxmlformats.org/drawingml/2006/main">
              <a:ext uri="{FF2B5EF4-FFF2-40B4-BE49-F238E27FC236}">
                <a16:creationId xmlns:a16="http://schemas.microsoft.com/office/drawing/2014/main" id="{0FBC6D3C-AB29-4FE9-B222-515C409F7B4D}"/>
              </a:ext>
            </a:extLst>
          </p:cNvPr>
          <p:cNvSpPr>
            <a:spLocks xmlns:a="http://schemas.openxmlformats.org/drawingml/2006/main" noGrp="1"/>
          </p:cNvSpPr>
          <p:nvPr/>
        </p:nvSpPr>
        <p:spPr>
          <a:xfrm xmlns:a="http://schemas.openxmlformats.org/drawingml/2006/main">
            <a:off x="742950" y="52387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07508E"/>
                </a:solidFill>
                <a:latin typeface="DejaVu Sans"/>
                <a:ea typeface="DejaVu Sans"/>
                <a:cs typeface="DejaVu Sans"/>
              </a:defRPr>
            </a:pPr>
            <a:r>
              <a:rPr sz="1575" b="0">
                <a:solidFill>
                  <a:srgbClr val="07508E"/>
                </a:solidFill>
                <a:latin typeface="DejaVu Sans"/>
                <a:ea typeface="DejaVu Sans"/>
                <a:cs typeface="DejaVu Sans"/>
              </a:rPr>
              <a:t>Salida de la demostración: S01 / Laboratorio 1 · Capacidad: 30 · true · Valor nulo rechazado</a:t>
            </a:r>
          </a:p>
        </p:txBody>
      </p:sp>
    </p:spTree>
    <p:extLst>
      <p:ext uri="{BB962C8B-B14F-4D97-AF65-F5344CB8AC3E}">
        <p14:creationId xmlns:p14="http://schemas.microsoft.com/office/powerpoint/2010/main" val="193030695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ABB90A9-0C89-4A61-8D88-FF6C37BA1B0D}"/>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374E9E3-C8B4-420E-B0A1-07587432D361}"/>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PC1.1a · Ampliación del proyecto</a:t>
            </a:r>
          </a:p>
        </p:txBody>
      </p:sp>
      <p:sp>
        <p:nvSpPr>
          <p:cNvPr id="3" name="">
            <a:extLst xmlns:a="http://schemas.openxmlformats.org/drawingml/2006/main">
              <a:ext uri="{FF2B5EF4-FFF2-40B4-BE49-F238E27FC236}">
                <a16:creationId xmlns:a16="http://schemas.microsoft.com/office/drawing/2014/main" id="{47A56397-67CC-4745-939B-9D46671B206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F0467A6-FF16-4098-91BD-C31EBAD846AF}"/>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1.1a</a:t>
            </a:r>
          </a:p>
        </p:txBody>
      </p:sp>
      <p:sp>
        <p:nvSpPr>
          <p:cNvPr id="5" name="">
            <a:extLst xmlns:a="http://schemas.openxmlformats.org/drawingml/2006/main">
              <a:ext uri="{FF2B5EF4-FFF2-40B4-BE49-F238E27FC236}">
                <a16:creationId xmlns:a16="http://schemas.microsoft.com/office/drawing/2014/main" id="{7D5AA571-3A2A-410B-8230-15B3065B7B4A}"/>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10</a:t>
            </a:r>
          </a:p>
        </p:txBody>
      </p:sp>
      <p:sp>
        <p:nvSpPr>
          <p:cNvPr id="6" name="">
            <a:extLst xmlns:a="http://schemas.openxmlformats.org/drawingml/2006/main">
              <a:ext uri="{FF2B5EF4-FFF2-40B4-BE49-F238E27FC236}">
                <a16:creationId xmlns:a16="http://schemas.microsoft.com/office/drawing/2014/main" id="{98C9F1A6-7269-4365-8B66-9ED95D2B787E}"/>
              </a:ext>
            </a:extLst>
          </p:cNvPr>
          <p:cNvSpPr>
            <a:spLocks xmlns:a="http://schemas.openxmlformats.org/drawingml/2006/main" noGrp="1"/>
          </p:cNvSpPr>
          <p:nvPr/>
        </p:nvSpPr>
        <p:spPr>
          <a:xfrm xmlns:a="http://schemas.openxmlformats.org/drawingml/2006/main">
            <a:off x="685800" y="1600200"/>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1</a:t>
            </a:r>
          </a:p>
        </p:txBody>
      </p:sp>
      <p:sp>
        <p:nvSpPr>
          <p:cNvPr id="7" name="">
            <a:extLst xmlns:a="http://schemas.openxmlformats.org/drawingml/2006/main">
              <a:ext uri="{FF2B5EF4-FFF2-40B4-BE49-F238E27FC236}">
                <a16:creationId xmlns:a16="http://schemas.microsoft.com/office/drawing/2014/main" id="{0454848A-EA6C-446D-BDA6-8C6FDA37F03D}"/>
              </a:ext>
            </a:extLst>
          </p:cNvPr>
          <p:cNvSpPr>
            <a:spLocks xmlns:a="http://schemas.openxmlformats.org/drawingml/2006/main" noGrp="1"/>
          </p:cNvSpPr>
          <p:nvPr/>
        </p:nvSpPr>
        <p:spPr>
          <a:xfrm xmlns:a="http://schemas.openxmlformats.org/drawingml/2006/main">
            <a:off x="1219200" y="1562100"/>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Crea el proyecto personal CampusMonitor siguiendo la guía general. Agrega Lectura&lt;T&gt; con idSensor, valor y unidad, sin utilizar Object como tipo del valor.</a:t>
            </a:r>
          </a:p>
        </p:txBody>
      </p:sp>
      <p:sp>
        <p:nvSpPr>
          <p:cNvPr id="8" name="">
            <a:extLst xmlns:a="http://schemas.openxmlformats.org/drawingml/2006/main">
              <a:ext uri="{FF2B5EF4-FFF2-40B4-BE49-F238E27FC236}">
                <a16:creationId xmlns:a16="http://schemas.microsoft.com/office/drawing/2014/main" id="{00F9A53C-1C6A-4FD7-8CBF-CB2AF62403EA}"/>
              </a:ext>
            </a:extLst>
          </p:cNvPr>
          <p:cNvSpPr>
            <a:spLocks xmlns:a="http://schemas.openxmlformats.org/drawingml/2006/main" noGrp="1"/>
          </p:cNvSpPr>
          <p:nvPr/>
        </p:nvSpPr>
        <p:spPr>
          <a:xfrm xmlns:a="http://schemas.openxmlformats.org/drawingml/2006/main">
            <a:off x="685800" y="2962275"/>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2</a:t>
            </a:r>
          </a:p>
        </p:txBody>
      </p:sp>
      <p:sp>
        <p:nvSpPr>
          <p:cNvPr id="9" name="">
            <a:extLst xmlns:a="http://schemas.openxmlformats.org/drawingml/2006/main">
              <a:ext uri="{FF2B5EF4-FFF2-40B4-BE49-F238E27FC236}">
                <a16:creationId xmlns:a16="http://schemas.microsoft.com/office/drawing/2014/main" id="{A501F01C-CFC4-4534-8A36-2923B38A8F5B}"/>
              </a:ext>
            </a:extLst>
          </p:cNvPr>
          <p:cNvSpPr>
            <a:spLocks xmlns:a="http://schemas.openxmlformats.org/drawingml/2006/main" noGrp="1"/>
          </p:cNvSpPr>
          <p:nvPr/>
        </p:nvSpPr>
        <p:spPr>
          <a:xfrm xmlns:a="http://schemas.openxmlformats.org/drawingml/2006/main">
            <a:off x="1219200" y="2924175"/>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Construye una lectura Double de temperatura y otra Integer de ocupación. Rechaza id o unidad vacíos y valores nulos.</a:t>
            </a:r>
          </a:p>
        </p:txBody>
      </p:sp>
      <p:sp>
        <p:nvSpPr>
          <p:cNvPr id="10" name="">
            <a:extLst xmlns:a="http://schemas.openxmlformats.org/drawingml/2006/main">
              <a:ext uri="{FF2B5EF4-FFF2-40B4-BE49-F238E27FC236}">
                <a16:creationId xmlns:a16="http://schemas.microsoft.com/office/drawing/2014/main" id="{DB634C13-EC13-4665-B8A8-FFF8723FE85E}"/>
              </a:ext>
            </a:extLst>
          </p:cNvPr>
          <p:cNvSpPr>
            <a:spLocks xmlns:a="http://schemas.openxmlformats.org/drawingml/2006/main" noGrp="1"/>
          </p:cNvSpPr>
          <p:nvPr/>
        </p:nvSpPr>
        <p:spPr>
          <a:xfrm xmlns:a="http://schemas.openxmlformats.org/drawingml/2006/main">
            <a:off x="685800" y="4324350"/>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3</a:t>
            </a:r>
          </a:p>
        </p:txBody>
      </p:sp>
      <p:sp>
        <p:nvSpPr>
          <p:cNvPr id="11" name="">
            <a:extLst xmlns:a="http://schemas.openxmlformats.org/drawingml/2006/main">
              <a:ext uri="{FF2B5EF4-FFF2-40B4-BE49-F238E27FC236}">
                <a16:creationId xmlns:a16="http://schemas.microsoft.com/office/drawing/2014/main" id="{83FEEF3F-8D12-46E0-A75E-456313FA05B3}"/>
              </a:ext>
            </a:extLst>
          </p:cNvPr>
          <p:cNvSpPr>
            <a:spLocks xmlns:a="http://schemas.openxmlformats.org/drawingml/2006/main" noGrp="1"/>
          </p:cNvSpPr>
          <p:nvPr/>
        </p:nvSpPr>
        <p:spPr>
          <a:xfrm xmlns:a="http://schemas.openxmlformats.org/drawingml/2006/main">
            <a:off x="1219200" y="4286250"/>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Agrega un comando lecturas que muestre ambas y documenta una asignación incompatible como comentario, con el error de compilación esperado.</a:t>
            </a:r>
          </a:p>
        </p:txBody>
      </p:sp>
    </p:spTree>
    <p:extLst>
      <p:ext uri="{BB962C8B-B14F-4D97-AF65-F5344CB8AC3E}">
        <p14:creationId xmlns:p14="http://schemas.microsoft.com/office/powerpoint/2010/main" val="22189153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80DF5A2-FEFA-43D2-9C9B-FDB24D3A4134}"/>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321BF84-3541-4066-A468-FDB10D6D82F9}"/>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Lo esencial de hoy</a:t>
            </a:r>
          </a:p>
        </p:txBody>
      </p:sp>
      <p:sp>
        <p:nvSpPr>
          <p:cNvPr id="3" name="">
            <a:extLst xmlns:a="http://schemas.openxmlformats.org/drawingml/2006/main">
              <a:ext uri="{FF2B5EF4-FFF2-40B4-BE49-F238E27FC236}">
                <a16:creationId xmlns:a16="http://schemas.microsoft.com/office/drawing/2014/main" id="{01DC8C1A-81A2-431C-8CF5-085D493E4925}"/>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2174289-036E-453D-80AA-025D3F102D22}"/>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1.1a</a:t>
            </a:r>
          </a:p>
        </p:txBody>
      </p:sp>
      <p:sp>
        <p:nvSpPr>
          <p:cNvPr id="5" name="">
            <a:extLst xmlns:a="http://schemas.openxmlformats.org/drawingml/2006/main">
              <a:ext uri="{FF2B5EF4-FFF2-40B4-BE49-F238E27FC236}">
                <a16:creationId xmlns:a16="http://schemas.microsoft.com/office/drawing/2014/main" id="{0AC96980-F077-437D-9B82-D47A82BA3DDB}"/>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11</a:t>
            </a:r>
          </a:p>
        </p:txBody>
      </p:sp>
      <p:sp>
        <p:nvSpPr>
          <p:cNvPr id="6" name="">
            <a:extLst xmlns:a="http://schemas.openxmlformats.org/drawingml/2006/main">
              <a:ext uri="{FF2B5EF4-FFF2-40B4-BE49-F238E27FC236}">
                <a16:creationId xmlns:a16="http://schemas.microsoft.com/office/drawing/2014/main" id="{9F0F82BD-A09A-4EAC-A29E-C36A2074E45F}"/>
              </a:ext>
            </a:extLst>
          </p:cNvPr>
          <p:cNvSpPr>
            <a:spLocks xmlns:a="http://schemas.openxmlformats.org/drawingml/2006/main" noGrp="1"/>
          </p:cNvSpPr>
          <p:nvPr/>
        </p:nvSpPr>
        <p:spPr>
          <a:xfrm xmlns:a="http://schemas.openxmlformats.org/drawingml/2006/main">
            <a:off x="762000" y="174307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3772"/>
                </a:solidFill>
                <a:latin typeface="DejaVu Sans"/>
                <a:ea typeface="DejaVu Sans"/>
                <a:cs typeface="DejaVu Sans"/>
              </a:defRPr>
            </a:pPr>
            <a:r>
              <a:rPr sz="2175" b="1">
                <a:solidFill>
                  <a:srgbClr val="003772"/>
                </a:solidFill>
                <a:latin typeface="DejaVu Sans"/>
                <a:ea typeface="DejaVu Sans"/>
                <a:cs typeface="DejaVu Sans"/>
              </a:rPr>
              <a:t>Los genéricos evitan conversiones inseguras al recuperar datos.</a:t>
            </a:r>
          </a:p>
        </p:txBody>
      </p:sp>
      <p:sp>
        <p:nvSpPr>
          <p:cNvPr id="7" name="">
            <a:extLst xmlns:a="http://schemas.openxmlformats.org/drawingml/2006/main">
              <a:ext uri="{FF2B5EF4-FFF2-40B4-BE49-F238E27FC236}">
                <a16:creationId xmlns:a16="http://schemas.microsoft.com/office/drawing/2014/main" id="{9C708034-A531-40B9-97EA-5D0EE90219FA}"/>
              </a:ext>
            </a:extLst>
          </p:cNvPr>
          <p:cNvSpPr>
            <a:spLocks xmlns:a="http://schemas.openxmlformats.org/drawingml/2006/main" noGrp="1"/>
          </p:cNvSpPr>
          <p:nvPr/>
        </p:nvSpPr>
        <p:spPr>
          <a:xfrm xmlns:a="http://schemas.openxmlformats.org/drawingml/2006/main">
            <a:off x="762000" y="263842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El parámetro declara el contrato; el argumento concreta el tipo.</a:t>
            </a:r>
          </a:p>
        </p:txBody>
      </p:sp>
      <p:sp>
        <p:nvSpPr>
          <p:cNvPr id="8" name="">
            <a:extLst xmlns:a="http://schemas.openxmlformats.org/drawingml/2006/main">
              <a:ext uri="{FF2B5EF4-FFF2-40B4-BE49-F238E27FC236}">
                <a16:creationId xmlns:a16="http://schemas.microsoft.com/office/drawing/2014/main" id="{5DA33FE2-F91A-4F65-B468-5A79021A4A7D}"/>
              </a:ext>
            </a:extLst>
          </p:cNvPr>
          <p:cNvSpPr>
            <a:spLocks xmlns:a="http://schemas.openxmlformats.org/drawingml/2006/main" noGrp="1"/>
          </p:cNvSpPr>
          <p:nvPr/>
        </p:nvSpPr>
        <p:spPr>
          <a:xfrm xmlns:a="http://schemas.openxmlformats.org/drawingml/2006/main">
            <a:off x="762000" y="353377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03772"/>
                </a:solidFill>
                <a:latin typeface="DejaVu Sans"/>
                <a:ea typeface="DejaVu Sans"/>
                <a:cs typeface="DejaVu Sans"/>
              </a:defRPr>
            </a:pPr>
            <a:r>
              <a:rPr sz="2175" b="0">
                <a:solidFill>
                  <a:srgbClr val="003772"/>
                </a:solidFill>
                <a:latin typeface="DejaVu Sans"/>
                <a:ea typeface="DejaVu Sans"/>
                <a:cs typeface="DejaVu Sans"/>
              </a:rPr>
              <a:t>Los argumentos genéricos deben ser tipos de referencia.</a:t>
            </a:r>
          </a:p>
        </p:txBody>
      </p:sp>
      <p:sp>
        <p:nvSpPr>
          <p:cNvPr id="9" name="">
            <a:extLst xmlns:a="http://schemas.openxmlformats.org/drawingml/2006/main">
              <a:ext uri="{FF2B5EF4-FFF2-40B4-BE49-F238E27FC236}">
                <a16:creationId xmlns:a16="http://schemas.microsoft.com/office/drawing/2014/main" id="{30A1567E-7980-4904-BF3C-484704B1BAB8}"/>
              </a:ext>
            </a:extLst>
          </p:cNvPr>
          <p:cNvSpPr>
            <a:spLocks xmlns:a="http://schemas.openxmlformats.org/drawingml/2006/main" noGrp="1"/>
          </p:cNvSpPr>
          <p:nvPr/>
        </p:nvSpPr>
        <p:spPr>
          <a:xfrm xmlns:a="http://schemas.openxmlformats.org/drawingml/2006/main">
            <a:off x="762000" y="442912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final protege la referencia; el dominio todavía exige validación.</a:t>
            </a:r>
          </a:p>
        </p:txBody>
      </p:sp>
    </p:spTree>
    <p:extLst>
      <p:ext uri="{BB962C8B-B14F-4D97-AF65-F5344CB8AC3E}">
        <p14:creationId xmlns:p14="http://schemas.microsoft.com/office/powerpoint/2010/main" val="13403103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2026-09-10T23:05:32.2570000Z</dcterms:created>
  <dcterms:modified xsi:type="dcterms:W3CDTF">2026-09-10T23:05:32.2570000Z</dcterms:modified>
</coreProperties>
</file>