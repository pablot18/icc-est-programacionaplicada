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38cd44fa284405" /><Relationship Type="http://schemas.openxmlformats.org/officeDocument/2006/relationships/extended-properties" Target="/docProps/app.xml" Id="R2e965f6633834ee6" /><Relationship Type="http://schemas.openxmlformats.org/officeDocument/2006/relationships/officeDocument" Target="/ppt/presentation.xml" Id="R530baf75b76e47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2532ef129644bf"/>
  </p:sldMasterIdLst>
  <p:notesMasterIdLst>
    <p:notesMasterId xmlns:r="http://schemas.openxmlformats.org/officeDocument/2006/relationships" r:id="R49ae3a4e82b74ad1"/>
  </p:notesMasterIdLst>
  <p:sldIdLst>
    <p:sldId xmlns:r="http://schemas.openxmlformats.org/officeDocument/2006/relationships" id="256" r:id="R57d7d34064744c61"/>
    <p:sldId xmlns:r="http://schemas.openxmlformats.org/officeDocument/2006/relationships" id="257" r:id="R66694d0896ab48b3"/>
    <p:sldId xmlns:r="http://schemas.openxmlformats.org/officeDocument/2006/relationships" id="258" r:id="R4a260e81edb64528"/>
    <p:sldId xmlns:r="http://schemas.openxmlformats.org/officeDocument/2006/relationships" id="259" r:id="R802af4e797674106"/>
    <p:sldId xmlns:r="http://schemas.openxmlformats.org/officeDocument/2006/relationships" id="260" r:id="R57c1adef60ff45b9"/>
    <p:sldId xmlns:r="http://schemas.openxmlformats.org/officeDocument/2006/relationships" id="261" r:id="Ra3cd834a86554281"/>
    <p:sldId xmlns:r="http://schemas.openxmlformats.org/officeDocument/2006/relationships" id="262" r:id="R70906eb54c164dc1"/>
    <p:sldId xmlns:r="http://schemas.openxmlformats.org/officeDocument/2006/relationships" id="263" r:id="R84555710465f42e2"/>
    <p:sldId xmlns:r="http://schemas.openxmlformats.org/officeDocument/2006/relationships" id="264" r:id="Rd1a9e77d320e4e19"/>
    <p:sldId xmlns:r="http://schemas.openxmlformats.org/officeDocument/2006/relationships" id="265" r:id="R6f864ccf73804a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7ebeab5df74194" /><Relationship Type="http://schemas.openxmlformats.org/officeDocument/2006/relationships/slideMaster" Target="/ppt/slideMasters/slideMaster1.xml" Id="R552532ef129644bf" /><Relationship Type="http://schemas.openxmlformats.org/officeDocument/2006/relationships/notesMaster" Target="/ppt/notesMasters/notesMaster1.xml" Id="R49ae3a4e82b74ad1" /><Relationship Type="http://schemas.openxmlformats.org/officeDocument/2006/relationships/presProps" Target="/ppt/presProps.xml" Id="Rd4f97c34abff4f42" /><Relationship Type="http://schemas.openxmlformats.org/officeDocument/2006/relationships/tableStyles" Target="/ppt/tableStyles.xml" Id="Rbc23231c5e1a4634" /><Relationship Type="http://schemas.openxmlformats.org/officeDocument/2006/relationships/slide" Target="/ppt/slides/slide1.xml" Id="R57d7d34064744c61" /><Relationship Type="http://schemas.openxmlformats.org/officeDocument/2006/relationships/slide" Target="/ppt/slides/slide2.xml" Id="R66694d0896ab48b3" /><Relationship Type="http://schemas.openxmlformats.org/officeDocument/2006/relationships/slide" Target="/ppt/slides/slide3.xml" Id="R4a260e81edb64528" /><Relationship Type="http://schemas.openxmlformats.org/officeDocument/2006/relationships/slide" Target="/ppt/slides/slide4.xml" Id="R802af4e797674106" /><Relationship Type="http://schemas.openxmlformats.org/officeDocument/2006/relationships/slide" Target="/ppt/slides/slide5.xml" Id="R57c1adef60ff45b9" /><Relationship Type="http://schemas.openxmlformats.org/officeDocument/2006/relationships/slide" Target="/ppt/slides/slide6.xml" Id="Ra3cd834a86554281" /><Relationship Type="http://schemas.openxmlformats.org/officeDocument/2006/relationships/slide" Target="/ppt/slides/slide7.xml" Id="R70906eb54c164dc1" /><Relationship Type="http://schemas.openxmlformats.org/officeDocument/2006/relationships/slide" Target="/ppt/slides/slide8.xml" Id="R84555710465f42e2" /><Relationship Type="http://schemas.openxmlformats.org/officeDocument/2006/relationships/slide" Target="/ppt/slides/slide9.xml" Id="Rd1a9e77d320e4e19" /><Relationship Type="http://schemas.openxmlformats.org/officeDocument/2006/relationships/slide" Target="/ppt/slides/slide10.xml" Id="R6f864ccf73804a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453ac063f240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628c91b1084573" /><Relationship Type="http://schemas.openxmlformats.org/officeDocument/2006/relationships/notesMaster" Target="/ppt/notesMasters/notesMaster1.xml" Id="Rbc6a4f412a234f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f1d4858c164fd8" /><Relationship Type="http://schemas.openxmlformats.org/officeDocument/2006/relationships/notesMaster" Target="/ppt/notesMasters/notesMaster1.xml" Id="Rbfc7a05f326644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3f8e3fa42344c9" /><Relationship Type="http://schemas.openxmlformats.org/officeDocument/2006/relationships/notesMaster" Target="/ppt/notesMasters/notesMaster1.xml" Id="R423c1fb5c00a42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d43b6764bb448a" /><Relationship Type="http://schemas.openxmlformats.org/officeDocument/2006/relationships/notesMaster" Target="/ppt/notesMasters/notesMaster1.xml" Id="R2046dcf130914a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211748a59e4d6a" /><Relationship Type="http://schemas.openxmlformats.org/officeDocument/2006/relationships/notesMaster" Target="/ppt/notesMasters/notesMaster1.xml" Id="R82e667782bd641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bdc73149044a6b" /><Relationship Type="http://schemas.openxmlformats.org/officeDocument/2006/relationships/notesMaster" Target="/ppt/notesMasters/notesMaster1.xml" Id="R489181efca6d4e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8cd6efa59b4d43" /><Relationship Type="http://schemas.openxmlformats.org/officeDocument/2006/relationships/notesMaster" Target="/ppt/notesMasters/notesMaster1.xml" Id="R0278896e8d5e41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fbad1c011347e3" /><Relationship Type="http://schemas.openxmlformats.org/officeDocument/2006/relationships/notesMaster" Target="/ppt/notesMasters/notesMaster1.xml" Id="R7d6fb648f90d48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a9d5e765b9401b" /><Relationship Type="http://schemas.openxmlformats.org/officeDocument/2006/relationships/notesMaster" Target="/ppt/notesMasters/notesMaster1.xml" Id="R32cf23560c284a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e6681fe74e4ca9" /><Relationship Type="http://schemas.openxmlformats.org/officeDocument/2006/relationships/notesMaster" Target="/ppt/notesMasters/notesMaster1.xml" Id="Rdd4b853dc0aa45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1.1c. Boxing, foreach, var y varargs. Autor: Ing. Pablo Torres, Mgtr.</a:t>
            </a:r>
          </a:p>
          <a:p xmlns:a="http://schemas.openxmlformats.org/drawingml/2006/main">
            <a:r>
              <a:t>Logo original proporcionado por 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catálogo ya usa tipos genéricos. Ahora necesitamos cargar varias lecturas, recorrerlas y calcular un promedio. Esta operación conecta los tipos primitivos con sus envoltorios y obliga a distinguir inferencia local, argumentos de consola y cantidad variable de argumentos.</a:t>
            </a:r>
          </a:p>
          <a:p xmlns:a="http://schemas.openxmlformats.org/drawingml/2006/main">
            <a:r>
              <a:t>Fuente del desarrollo: material.md, contexto.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Boxing convierte un valor primitivo en una instancia de su clase envoltorio, por ejemplo int a Integer. Unboxing recupera el primitivo. El compilador inserta conversiones en asignaciones, argumentos y operaciones aritméticas. List&lt;Integer&gt; almacena referencias a envoltorios. Unboxing de null produce NullPointerException.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 envoltorios, == puede comparar identidad de referencias. Algunas instancias se reutilizan mediante cachés y otras no, por lo que un resultado observado con un número pequeño no establece una regla general. Para comparar valores usa equals u Objects.equals si admites null. En cálculos intensivos, arreglos primitivos o streams especializados pueden evitar boxing innecesario.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https://dev.java/learn/generics/</a:t>
            </a:r>
          </a:p>
          <a:p xmlns:a="http://schemas.openxmlformats.org/drawingml/2006/main">
            <a:r>
              <a:t>https://dev.java/learn/reflection/</a:t>
            </a:r>
          </a:p>
          <a:p xmlns:a="http://schemas.openxmlformats.org/drawingml/2006/main">
            <a:r>
              <a:t>https://docs.oracle.com/en/java/javase/25/docs/api/index.html</a:t>
            </a:r>
          </a:p>
          <a:p xmlns:a="http://schemas.openxmlformats.org/drawingml/2006/main">
            <a:r>
              <a:t>Correspondencia: material.md, sección 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foreach facilita recorrer arreglos y objetos Iterable. La variable del bucle recibe cada valor o referencia. Reasignar esa variable no reemplaza la posición original del arreglo o de la lista. Si el elemento es mutable, llamar a sus métodos sí puede modificar el objeto compartido.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elimines elementos de un ArrayList mediante lista.remove dentro de su foreach. Sus iteradores pueden detectar modificaciones estructurales y lanzar ConcurrentModificationException, incluso sin varios hilos. Usa removeIf para eliminación por condición, o Iterator.remove cuando proceda. Si necesitas el índice o reemplazar posiciones, un for con índice comunica mejor la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https://dev.java/learn/generics/</a:t>
            </a:r>
          </a:p>
          <a:p xmlns:a="http://schemas.openxmlformats.org/drawingml/2006/main">
            <a:r>
              <a:t>https://dev.java/learn/reflection/</a:t>
            </a:r>
          </a:p>
          <a:p xmlns:a="http://schemas.openxmlformats.org/drawingml/2006/main">
            <a:r>
              <a:t>https://docs.oracle.com/en/java/javase/25/docs/api/index.html</a:t>
            </a:r>
          </a:p>
          <a:p xmlns:a="http://schemas.openxmlformats.org/drawingml/2006/main">
            <a:r>
              <a:t>Correspondencia: material.md, sección 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var permite inferir el tipo de una variable local inicializada. No significa Object, no admite inicialización con null sin tipo y no se utiliza para campos o parámetros ordinarios. Si escribes var lista = new ArrayList&lt;String&gt;(), el tipo estático de lista es ArrayList&lt;String&gt;.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String[] args es el arreglo de argumentos recibido por main. Su nombre es convencional. En cambio, T... valores declara varargs: el método admite cero o más argumentos y los recibe como un arreglo. Solo puede existir un parámetro varargs y debe ser el último. Pasar explícitamente un arreglo nulo sigue siendo posible y necesita una política de validación.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https://dev.java/learn/generics/</a:t>
            </a:r>
          </a:p>
          <a:p xmlns:a="http://schemas.openxmlformats.org/drawingml/2006/main">
            <a:r>
              <a:t>https://dev.java/learn/reflection/</a:t>
            </a:r>
          </a:p>
          <a:p xmlns:a="http://schemas.openxmlformats.org/drawingml/2006/main">
            <a:r>
              <a:t>https://docs.oracle.com/en/java/javase/25/docs/api/index.html</a:t>
            </a:r>
          </a:p>
          <a:p xmlns:a="http://schemas.openxmlformats.org/drawingml/2006/main">
            <a:r>
              <a:t>Correspondencia: material.md, sección 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arreglos comprueban su tipo de componente en ejecución, mientras los genéricos emplean borrado. Mezclarlos puede introducir contaminación del heap: una variable parametrizada contiene un objeto incompatible debido a operaciones no seguras. @SafeVarargs documenta que la implementación no realiza esas operaciones, pero la anotación no corrige código inseguro.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Úsala solo en métodos o constructores permitidos y realmente seguros. En el ejemplo, el método static recorre los argumentos, valida cada elemento y copia las referencias a una lista nueva. No escribe tipos ajenos en el arreglo ni lo expone al llamador. Para una API que recibe lotes grandes o nulos frecuentes, aceptar una List&lt;T&gt; puede ser más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https://dev.java/learn/generics/</a:t>
            </a:r>
          </a:p>
          <a:p xmlns:a="http://schemas.openxmlformats.org/drawingml/2006/main">
            <a:r>
              <a:t>https://dev.java/learn/reflection/</a:t>
            </a:r>
          </a:p>
          <a:p xmlns:a="http://schemas.openxmlformats.org/drawingml/2006/main">
            <a:r>
              <a:t>https://docs.oracle.com/en/java/javase/25/docs/api/index.html</a:t>
            </a:r>
          </a:p>
          <a:p xmlns:a="http://schemas.openxmlformats.org/drawingml/2006/main">
            <a:r>
              <a:t>Correspondencia: material.md, sección 1.4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completo:</a:t>
            </a:r>
          </a:p>
          <a:p xmlns:a="http://schemas.openxmlformats.org/drawingml/2006/main">
            <a:r>
              <a:t>package edu.ups.pap.u01;</a:t>
            </a:r>
          </a:p>
          <a:p xmlns:a="http://schemas.openxmlformats.org/drawingml/2006/main">
            <a:r>
              <a:t>import java.util.*;</a:t>
            </a:r>
          </a:p>
          <a:p xmlns:a="http://schemas.openxmlformats.org/drawingml/2006/main">
            <a:r>
              <a:t>public class BoxingDemo {</a:t>
            </a:r>
          </a:p>
          <a:p xmlns:a="http://schemas.openxmlformats.org/drawingml/2006/main">
            <a:r>
              <a:t>    @SafeVarargs</a:t>
            </a:r>
          </a:p>
          <a:p xmlns:a="http://schemas.openxmlformats.org/drawingml/2006/main">
            <a:r>
              <a:t>    static &lt;T&gt; List&lt;T&gt; lote(T... valores) {</a:t>
            </a:r>
          </a:p>
          <a:p xmlns:a="http://schemas.openxmlformats.org/drawingml/2006/main">
            <a:r>
              <a:t>        Objects.requireNonNull(valores, "Arreglo nulo");</a:t>
            </a:r>
          </a:p>
          <a:p xmlns:a="http://schemas.openxmlformats.org/drawingml/2006/main">
            <a:r>
              <a:t>        List&lt;T&gt; copia = new ArrayList&lt;&gt;();</a:t>
            </a:r>
          </a:p>
          <a:p xmlns:a="http://schemas.openxmlformats.org/drawingml/2006/main">
            <a:r>
              <a:t>        for (T valor : valores) copia.add(Objects.requireNonNull(valor, "Elemento nulo"));</a:t>
            </a:r>
          </a:p>
          <a:p xmlns:a="http://schemas.openxmlformats.org/drawingml/2006/main">
            <a:r>
              <a:t>        return List.copyOf(copia);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static OptionalDouble promedio(List&lt;Double&gt; valores) {</a:t>
            </a:r>
          </a:p>
          <a:p xmlns:a="http://schemas.openxmlformats.org/drawingml/2006/main">
            <a:r>
              <a:t>        if (valores.isEmpty()) return OptionalDouble.empty();</a:t>
            </a:r>
          </a:p>
          <a:p xmlns:a="http://schemas.openxmlformats.org/drawingml/2006/main">
            <a:r>
              <a:t>        double suma = 0;</a:t>
            </a:r>
          </a:p>
          <a:p xmlns:a="http://schemas.openxmlformats.org/drawingml/2006/main">
            <a:r>
              <a:t>        for (Double valor : valores) suma += Objects.requireNonNull(valor);</a:t>
            </a:r>
          </a:p>
          <a:p xmlns:a="http://schemas.openxmlformats.org/drawingml/2006/main">
            <a:r>
              <a:t>        return OptionalDouble.of(suma / valores.size());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public static void main(String[] args) {</a:t>
            </a:r>
          </a:p>
          <a:p xmlns:a="http://schemas.openxmlformats.org/drawingml/2006/main">
            <a:r>
              <a:t>        var temperaturas = lote(22.0, 24.0, 26.0);</a:t>
            </a:r>
          </a:p>
          <a:p xmlns:a="http://schemas.openxmlformats.org/drawingml/2006/main">
            <a:r>
              <a:t>        System.out.println(promedio(temperaturas).orElseThrow());</a:t>
            </a:r>
          </a:p>
          <a:p xmlns:a="http://schemas.openxmlformats.org/drawingml/2006/main">
            <a:r>
              <a:t>        System.out.println("Argumentos de consola: " + args.length);</a:t>
            </a:r>
          </a:p>
          <a:p xmlns:a="http://schemas.openxmlformats.org/drawingml/2006/main">
            <a:r>
              <a:t>        System.out.println(promedio(List.of()));</a:t>
            </a:r>
          </a:p>
          <a:p xmlns:a="http://schemas.openxmlformats.org/drawingml/2006/main">
            <a:r>
              <a:t>        try { lote(22.0, null); }</a:t>
            </a:r>
          </a:p>
          <a:p xmlns:a="http://schemas.openxmlformats.org/drawingml/2006/main">
            <a:r>
              <a:t>        catch (NullPointerException e) { System.out.println(e.getMessage());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Salida:</a:t>
            </a:r>
          </a:p>
          <a:p xmlns:a="http://schemas.openxmlformats.org/drawingml/2006/main">
            <a:r>
              <a:t>24.0</a:t>
            </a:r>
          </a:p>
          <a:p xmlns:a="http://schemas.openxmlformats.org/drawingml/2006/main">
            <a:r>
              <a:t>Argumentos de consola: 0</a:t>
            </a:r>
          </a:p>
          <a:p xmlns:a="http://schemas.openxmlformats.org/drawingml/2006/main">
            <a:r>
              <a:t>OptionalDouble.empty</a:t>
            </a:r>
          </a:p>
          <a:p xmlns:a="http://schemas.openxmlformats.org/drawingml/2006/main">
            <a:r>
              <a:t>Elemento nulo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Salida esperada:</a:t>
            </a:r>
          </a:p>
          <a:p xmlns:a="http://schemas.openxmlformats.org/drawingml/2006/main">
            <a:r>
              <a:t>24.0</a:t>
            </a:r>
          </a:p>
          <a:p xmlns:a="http://schemas.openxmlformats.org/drawingml/2006/main">
            <a:r>
              <a:t>Argumentos de consola: 0</a:t>
            </a:r>
          </a:p>
          <a:p xmlns:a="http://schemas.openxmlformats.org/drawingml/2006/main">
            <a:r>
              <a:t>OptionalDouble.empty</a:t>
            </a:r>
          </a:p>
          <a:p xmlns:a="http://schemas.openxmlformats.org/drawingml/2006/main">
            <a:r>
              <a:t>Elemento nulo</a:t>
            </a:r>
          </a:p>
          <a:p xmlns:a="http://schemas.openxmlformats.org/drawingml/2006/main">
            <a:r>
              <a:t>Casos de aceptación: material.md, sección 3.2.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Resuelve la ampliación en tu proyecto CampusMonitor.</a:t>
            </a:r>
          </a:p>
          <a:p xmlns:a="http://schemas.openxmlformats.org/drawingml/2006/main">
            <a:r>
              <a:t>Evidencia: evidencias/PC1.1c.md y enlace al commit final.</a:t>
            </a:r>
          </a:p>
          <a:p xmlns:a="http://schemas.openxmlformats.org/drawingml/2006/main">
            <a:r>
              <a:t>Agrega un comando promedio que convierta los argumentos de consola a Double, valide valores finitos y calcule el promedio de un lote.</a:t>
            </a:r>
          </a:p>
          <a:p xmlns:a="http://schemas.openxmlformats.org/drawingml/2006/main">
            <a:r>
              <a:t>Implementa una fábrica varargs de Lectura&lt;Double&gt; que no exponga el arreglo recibido. Rechaza elementos nulos con un mensaje concreto.</a:t>
            </a:r>
          </a:p>
          <a:p xmlns:a="http://schemas.openxmlformats.org/drawingml/2006/main">
            <a:r>
              <a:t>Compara en la evidencia un foreach que reasigna su variable con una operación que reemplaza la posición de una lista. Explica los resultados.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del material. Revisa la sección 3 para la PC y la guía general para commits y evidencias.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f7888c40af43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9ae862bfbf4323" /><Relationship Type="http://schemas.openxmlformats.org/officeDocument/2006/relationships/slideLayout" Target="/ppt/slideLayouts/slideLayout1.xml" Id="R6124fb468fb44a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24fb468fb44a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f51c973de49b9" /><Relationship Type="http://schemas.openxmlformats.org/officeDocument/2006/relationships/image" Target="/ppt/media/image.png" Id="R49be48d28f6c4e73" /><Relationship Type="http://schemas.openxmlformats.org/officeDocument/2006/relationships/notesSlide" Target="/ppt/notesSlides/notesSlide1.xml" Id="Rc69ba247c9234b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e8d4a4b914a3a" /><Relationship Type="http://schemas.openxmlformats.org/officeDocument/2006/relationships/notesSlide" Target="/ppt/notesSlides/notesSlide2.xml" Id="R57b783484ea44a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e5fd5483641b9" /><Relationship Type="http://schemas.openxmlformats.org/officeDocument/2006/relationships/notesSlide" Target="/ppt/notesSlides/notesSlide3.xml" Id="R0eae1e99355f4e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165f7f0e24742" /><Relationship Type="http://schemas.openxmlformats.org/officeDocument/2006/relationships/notesSlide" Target="/ppt/notesSlides/notesSlide4.xml" Id="R28b9dd72dc1d42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18d90e9d84e5c" /><Relationship Type="http://schemas.openxmlformats.org/officeDocument/2006/relationships/notesSlide" Target="/ppt/notesSlides/notesSlide5.xml" Id="Rd497dc02c53441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12aaaaa86450d" /><Relationship Type="http://schemas.openxmlformats.org/officeDocument/2006/relationships/notesSlide" Target="/ppt/notesSlides/notesSlide6.xml" Id="Rc04e85e52d0c45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f0bebfa304436" /><Relationship Type="http://schemas.openxmlformats.org/officeDocument/2006/relationships/notesSlide" Target="/ppt/notesSlides/notesSlide7.xml" Id="Re15fe3c99bfc4c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83717ff334031" /><Relationship Type="http://schemas.openxmlformats.org/officeDocument/2006/relationships/notesSlide" Target="/ppt/notesSlides/notesSlide8.xml" Id="R9363bf61089047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e92e6d4a74234" /><Relationship Type="http://schemas.openxmlformats.org/officeDocument/2006/relationships/notesSlide" Target="/ppt/notesSlides/notesSlide9.xml" Id="Rf12353bbf18644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08e2d6b0c44f0" /><Relationship Type="http://schemas.openxmlformats.org/officeDocument/2006/relationships/notesSlide" Target="/ppt/notesSlides/notesSlide10.xml" Id="Ra14029dae8bb49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e48d28f6c4e73"/>
          <a:stretch xmlns:a="http://schemas.openxmlformats.org/drawingml/2006/main"/>
        </p:blipFill>
        <p:spPr>
          <a:xfrm xmlns:a="http://schemas.openxmlformats.org/drawingml/2006/main">
            <a:off x="609600" y="545418"/>
            <a:ext cx="6858000" cy="112848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63C7A-AC89-499B-AC1F-F3FDB28E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DE604-37F5-4552-A740-A0D01378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Boxing, foreach, var y varargs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EDB60-C409-4B08-AF8B-8256B680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0781F-2624-429C-BDC8-D813AB3E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Unidad 1 · 1.1c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30AA0-66FD-4DA7-A89A-4370614A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2070431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BCCC1-5ED7-4730-A25A-72F6827D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41356-3B86-4547-BC97-53C389DD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problema de CampusMonitor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C06CB-DA06-439F-9A98-27041AF8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535A0-6927-4789-95E6-06072C51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5F91C-3CFB-48E1-B787-F7F5AB00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79D34-47E7-4791-9E16-E696465F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catálogo ya usa tipos genéricos. Ahora necesitamos cargar varias lecturas, recorrerlas y calcular un promedio. Esta operación conecta los tipos primitivos con sus envoltorios y obliga a distinguir inferencia local, argumentos de consola y cantidad variable de argumentos.</a:t>
            </a:r>
          </a:p>
        </p:txBody>
      </p:sp>
    </p:spTree>
    <p:extLst>
      <p:ext uri="{BB962C8B-B14F-4D97-AF65-F5344CB8AC3E}">
        <p14:creationId xmlns:p14="http://schemas.microsoft.com/office/powerpoint/2010/main" val="257925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AB070-142A-427D-8586-E5D4FD92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ED840-F634-4CD2-A219-BE7FF5BB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Boxing y unboxing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C962F-3FEC-43F1-A1CA-2175ACBF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E7B7A-933C-4048-9F73-A91D4331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AA38F-FD65-49C3-A266-D36CE596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2951E-17AA-4A12-A4CA-A5CE5E0B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Unboxing de null falla; equals compara valores.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2749D-7AED-4A05-A57F-26978614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048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Boxing convierte un valor primitivo en una instancia de su clase envoltorio, por ejemplo int a Integer. Unboxing recupera el primitivo. El compilador inserta conversiones en asignaciones, argumentos y operaciones aritméticas. List&lt;Integer&gt; almacena referencias a envoltorios. Unboxing de null produce NullPointerException.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CCBE6-357E-4ADE-AE88-D20E01A8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52387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CFD09-719C-4A0C-8115-614F57C5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24175"/>
            <a:ext cx="48196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Integer cantidad = 18; // boxing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int total = cantidad + 2; // unboxing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boolean mismoValor = java.util.Objects.equals(cantidad, 18);</a:t>
            </a:r>
          </a:p>
        </p:txBody>
      </p:sp>
    </p:spTree>
    <p:extLst>
      <p:ext uri="{BB962C8B-B14F-4D97-AF65-F5344CB8AC3E}">
        <p14:creationId xmlns:p14="http://schemas.microsoft.com/office/powerpoint/2010/main" val="7300497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43815-55E4-4001-93D2-D41F5B90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2940D-A64E-4165-AEC5-5C1C9AED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foreach y modificación de colecciones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4A378-6D82-44C6-957E-03F912A7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AC643-CA3B-4856-897C-ACAFB36D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E02DC-94D1-4234-98F9-6344ABA8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15610-B9DB-4EA3-B2A7-F303129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foreach recorre elementos sin exponer el índice.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64B7B-3D25-4BBE-A315-40CE234B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048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foreach facilita recorrer arreglos y objetos Iterable. La variable del bucle recibe cada valor o referencia. Reasignar esa variable no reemplaza la posición original del arreglo o de la lista. Si el elemento es mutable, llamar a sus métodos sí puede modificar el objeto compartido.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1FEDA-9271-4B37-BFD8-07BCC580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52387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95BF3-6F71-47C2-9D0E-5E273D24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24175"/>
            <a:ext cx="48196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for (Double valor : valores) {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System.out.println(valor);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}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valores.removeIf(v -&gt; v == null);</a:t>
            </a:r>
          </a:p>
        </p:txBody>
      </p:sp>
    </p:spTree>
    <p:extLst>
      <p:ext uri="{BB962C8B-B14F-4D97-AF65-F5344CB8AC3E}">
        <p14:creationId xmlns:p14="http://schemas.microsoft.com/office/powerpoint/2010/main" val="17695835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CD5CC-BC99-4C4D-BD8A-71B34C02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3E348-278C-4909-BC3B-66F91B0D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var, args y varargs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F886B-C519-4F8A-A5B7-653AD1C8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5FCF0-F292-4EA6-BC8E-792EA540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1A76C-5C0C-45E8-9B38-87D7414C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E4CE5-C39A-4BAB-8C5C-33A8D277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var infiere un tipo local; args y varargs cumplen roles distintos.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D856D-AB90-43D5-BE6A-1F543ED9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048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var permite inferir el tipo de una variable local inicializada. No significa Object, no admite inicialización con null sin tipo y no se utiliza para campos o parámetros ordinarios. Si escribes var lista = new ArrayList&lt;String&gt;(), el tipo estático de lista es ArrayList&lt;String&gt;.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9E080-9359-41FD-9B4E-BAA2DDBF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52387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7364D-9D9A-48A7-85E7-3E378E4F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24175"/>
            <a:ext cx="48196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static int contar(String... ids) { return ids.length; }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var n = contar("S01", "S02");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// main(String[] args) recibe textos desde la consola.</a:t>
            </a:r>
          </a:p>
        </p:txBody>
      </p:sp>
    </p:spTree>
    <p:extLst>
      <p:ext uri="{BB962C8B-B14F-4D97-AF65-F5344CB8AC3E}">
        <p14:creationId xmlns:p14="http://schemas.microsoft.com/office/powerpoint/2010/main" val="6764233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8121E-C2AC-423F-8429-EB77303D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F3B67-DC02-423D-93E0-0D6CCF96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Varargs genéricos y heap pollution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AD5AE-B518-4808-891B-88762C9B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43A7E-3C9D-41EA-BB37-FE16779A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01C52-7F6D-4BD4-9C6C-E9E01B3D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1E2EB-2563-4670-9FF3-F58B806A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 arreglo varargs genérico exige evitar heap pollution.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86BFC-07C3-44F4-B370-76AFA789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Los arreglos comprueban su tipo de componente en ejecución, mientras los genéricos emplean borrado. Mezclarlos puede introducir contaminación del heap: una variable parametrizada contiene un objeto incompatible debido a operaciones no seguras. @SafeVarargs documenta que la implementación no realiza esas operaciones, pero la anotación no corrige código inseguro.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F5494-08A5-4660-8F48-A9AF25AF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7977A-3CCD-4EF0-B390-15F8054B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Úsala solo en métodos o constructores permitidos y realmente seguros. En el ejemplo, el método static recorre los argumentos, valida cada elemento y copia las referencias a una lista nueva.</a:t>
            </a:r>
          </a:p>
        </p:txBody>
      </p:sp>
    </p:spTree>
    <p:extLst>
      <p:ext uri="{BB962C8B-B14F-4D97-AF65-F5344CB8AC3E}">
        <p14:creationId xmlns:p14="http://schemas.microsoft.com/office/powerpoint/2010/main" val="8704562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5CF1C-763B-4F2B-BBCB-AD366FBE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B6098-224D-49F5-87AB-5F0625FD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resuelta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D7746-1C50-44DA-ACAD-83C67CED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5EBED-8171-4C22-BE60-FA85BCDC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0015F-36ED-40FE-9B86-4C8E54B1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FBD1B-91C1-4564-AD07-A285ABF6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90675"/>
            <a:ext cx="1095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BE351-C683-4501-A307-B6A3580C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0477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static OptionalDouble promedio(List&lt;Double&gt; valores)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if (valores.isEmpty()) return OptionalDouble.empty();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double suma = 0;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for (Double valor : valores) suma += Objects.requireNonNull(valor);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return OptionalDouble.of(suma / valores.size());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public static void main(String[] args)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var temperaturas = lote(22.0, 24.0, 26.0);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System.out.println(promedio(temperaturas).orElseThrow());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System.out.println("Argumentos de consola: " + args.length);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System.out.println(promedio(List.of()));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try { lote(22.0, null); 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catch (NullPointerException e) { System.out.println(e.getMessage()); 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AE623-3079-48C3-83D1-56A441E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BoxingDemo.java. Código completo y ejecución en material.md.</a:t>
            </a:r>
          </a:p>
        </p:txBody>
      </p:sp>
    </p:spTree>
    <p:extLst>
      <p:ext uri="{BB962C8B-B14F-4D97-AF65-F5344CB8AC3E}">
        <p14:creationId xmlns:p14="http://schemas.microsoft.com/office/powerpoint/2010/main" val="9176177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D66E3-F623-4942-934D-44B58B91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000E4-0FF1-4A8A-9BEC-415BFDB5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0CF7B-9AAC-45E9-829A-6BD05C20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D9A23-08EF-4AAD-95D3-073914CF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F9B67-411B-4A35-BA05-EF9ED136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629400"/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Comportamiento requerido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promedio 20 22 24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22.0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promedio sin valores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Mensaje de lote vacío, sin división por cero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promedio NaN o texto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rechazada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870F5-16DB-436B-8892-BFB21CE6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Salida de la demostración: 24.0 · Argumentos de consola: 0 · OptionalDouble.empty · Elemento nulo</a:t>
            </a:r>
          </a:p>
        </p:txBody>
      </p:sp>
    </p:spTree>
    <p:extLst>
      <p:ext uri="{BB962C8B-B14F-4D97-AF65-F5344CB8AC3E}">
        <p14:creationId xmlns:p14="http://schemas.microsoft.com/office/powerpoint/2010/main" val="1977620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D3A3D-6974-4D5F-A431-02D48115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646BC-E8C3-4B4A-916E-926D53F7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PC1.1c · Ampliación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0285A-13BA-4699-A32F-8C1BF16B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C0210-80C2-4F0D-9370-68EA3932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091AE-CA5D-457E-9947-25E45DBE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E2040-0B85-4406-8A08-035CE76B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3C0BB-A902-44F2-ACAE-864C85FA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Agrega un comando promedio que convierta los argumentos de consola a Double, valide valores finitos y calcule el promedio de un lote.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4B895-C6B2-44D7-9983-BCCAEA93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E8D61-9E60-4071-AD54-AF44D1FC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24175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una fábrica varargs de Lectura&lt;Double&gt; que no exponga el arreglo recibido. Rechaza elementos nulos con un mensaje concreto.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25A5B-B5B0-4D57-A370-B14123F3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4B640-E5A8-4F99-884E-833A8B10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Compara en la evidencia un foreach que reasigna su variable con una operación que reemplaza la posición de una lista. Explica los resultados.</a:t>
            </a:r>
          </a:p>
        </p:txBody>
      </p:sp>
    </p:spTree>
    <p:extLst>
      <p:ext uri="{BB962C8B-B14F-4D97-AF65-F5344CB8AC3E}">
        <p14:creationId xmlns:p14="http://schemas.microsoft.com/office/powerpoint/2010/main" val="13967168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91BDE-CCC4-4C8B-9546-F70A9E2E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09A37-9285-42FE-AFF2-E5AE3B06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E8862-21E6-4951-AB9B-35683D15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7E176-951E-4A0B-A929-57A514F6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1.1c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160D3-11AD-4586-810E-5D7FDA9C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8F216-1182-4BCC-8A97-AF10E823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Unboxing de null falla; equals compara valores.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0DF34-AE4E-488A-8990-CCFBF47A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foreach recorre elementos sin exponer el índice.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74FE1-222A-4A0C-BDDE-91BC0E51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var infiere un tipo local; args y varargs cumplen roles distintos.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F2160-D876-45BB-BDBD-80221042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arreglo varargs genérico exige evitar heap pollution.</a:t>
            </a:r>
          </a:p>
        </p:txBody>
      </p:sp>
    </p:spTree>
    <p:extLst>
      <p:ext uri="{BB962C8B-B14F-4D97-AF65-F5344CB8AC3E}">
        <p14:creationId xmlns:p14="http://schemas.microsoft.com/office/powerpoint/2010/main" val="1842633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2026-09-10T23:05:42.5010000Z</dcterms:created>
  <dcterms:modified xsi:type="dcterms:W3CDTF">2026-09-10T23:05:42.5010000Z</dcterms:modified>
</coreProperties>
</file>